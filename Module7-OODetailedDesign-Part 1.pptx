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453" r:id="rId3"/>
    <p:sldId id="735" r:id="rId4"/>
    <p:sldId id="649" r:id="rId5"/>
    <p:sldId id="654" r:id="rId6"/>
    <p:sldId id="651" r:id="rId7"/>
    <p:sldId id="725" r:id="rId8"/>
    <p:sldId id="726" r:id="rId9"/>
    <p:sldId id="727" r:id="rId10"/>
    <p:sldId id="728" r:id="rId11"/>
    <p:sldId id="729" r:id="rId12"/>
    <p:sldId id="731" r:id="rId13"/>
    <p:sldId id="7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rsham Idris" initials="NI" lastIdx="1" clrIdx="0">
    <p:extLst>
      <p:ext uri="{19B8F6BF-5375-455C-9EA6-DF929625EA0E}">
        <p15:presenceInfo xmlns:p15="http://schemas.microsoft.com/office/powerpoint/2012/main" userId="Norsham Idri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4-20T11:16:06.625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1CDE75-3367-4210-A28B-FA1853C04936}" type="datetimeFigureOut">
              <a:rPr lang="en-MY" smtClean="0"/>
              <a:t>20/4/2020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72F7C-E08F-41A1-8A4A-C10F1032C7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2994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80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11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Times" pitchFamily="18" charset="0"/>
              </a:rPr>
              <a:t>What kind of model is good for describing layers and partitions? UML Class diagrams!</a:t>
            </a:r>
          </a:p>
        </p:txBody>
      </p:sp>
    </p:spTree>
    <p:extLst>
      <p:ext uri="{BB962C8B-B14F-4D97-AF65-F5344CB8AC3E}">
        <p14:creationId xmlns:p14="http://schemas.microsoft.com/office/powerpoint/2010/main" val="3055777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Times" pitchFamily="18" charset="0"/>
              </a:rPr>
              <a:t>What kind of model is good for describing layers and partitions? UML Class diagrams!</a:t>
            </a:r>
          </a:p>
        </p:txBody>
      </p:sp>
    </p:spTree>
    <p:extLst>
      <p:ext uri="{BB962C8B-B14F-4D97-AF65-F5344CB8AC3E}">
        <p14:creationId xmlns:p14="http://schemas.microsoft.com/office/powerpoint/2010/main" val="3275290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6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15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1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8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42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5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9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1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3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94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Module 7: </a:t>
            </a:r>
            <a:r>
              <a:rPr lang="en-US">
                <a:ea typeface="ＭＳ Ｐゴシック" panose="020B0600070205080204" pitchFamily="34" charset="-128"/>
              </a:rPr>
              <a:t>Object-Oriented Detailed </a:t>
            </a:r>
            <a:r>
              <a:rPr lang="en-US" dirty="0">
                <a:ea typeface="ＭＳ Ｐゴシック" panose="020B0600070205080204" pitchFamily="34" charset="-128"/>
              </a:rPr>
              <a:t>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Software Engineering</a:t>
            </a:r>
          </a:p>
          <a:p>
            <a:r>
              <a:rPr lang="en-US" sz="2800" dirty="0"/>
              <a:t>School of Computing, Faculty of Engineering</a:t>
            </a:r>
          </a:p>
          <a:p>
            <a:r>
              <a:rPr lang="en-US" sz="2800" dirty="0" err="1"/>
              <a:t>Universiti</a:t>
            </a:r>
            <a:r>
              <a:rPr lang="en-US" sz="2800" dirty="0"/>
              <a:t> </a:t>
            </a:r>
            <a:r>
              <a:rPr lang="en-US" sz="2800" dirty="0" err="1"/>
              <a:t>Teknologi</a:t>
            </a:r>
            <a:r>
              <a:rPr lang="en-US" sz="2800" dirty="0"/>
              <a:t> Malaysia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C398885F-3365-4C7E-ADA5-15A9B6AC77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220"/>
    </mc:Choice>
    <mc:Fallback>
      <p:transition spd="slow" advTm="372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To understand the relationship among analysis, design and implementation</a:t>
            </a:r>
          </a:p>
          <a:p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To comprehend object-oriented design principles</a:t>
            </a:r>
          </a:p>
          <a:p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To further understand object-oriented design using UML</a:t>
            </a:r>
          </a:p>
          <a:p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To elaborate the related diagrams from analysis in design phase in use case realization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5714" y="6033378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References: Sommerville (2016), </a:t>
            </a:r>
            <a:r>
              <a:rPr lang="en-MY" dirty="0" err="1">
                <a:solidFill>
                  <a:srgbClr val="C00000"/>
                </a:solidFill>
                <a:latin typeface="Calibri"/>
              </a:rPr>
              <a:t>Arlow</a:t>
            </a:r>
            <a:r>
              <a:rPr lang="en-MY" dirty="0">
                <a:solidFill>
                  <a:srgbClr val="C00000"/>
                </a:solidFill>
                <a:latin typeface="Calibri"/>
              </a:rPr>
              <a:t> and Neustadt</a:t>
            </a:r>
            <a:r>
              <a:rPr lang="en-MY" dirty="0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 (2002), </a:t>
            </a:r>
            <a:r>
              <a:rPr lang="en-MY" dirty="0" err="1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Satzinger</a:t>
            </a:r>
            <a:r>
              <a:rPr lang="en-MY" dirty="0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 (2011)</a:t>
            </a:r>
            <a:endParaRPr lang="en-MY" dirty="0">
              <a:solidFill>
                <a:srgbClr val="C00000"/>
              </a:solidFill>
              <a:latin typeface="Calibri"/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A477B058-9322-4B48-BE47-CC96D9FB23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88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181"/>
    </mc:Choice>
    <mc:Fallback>
      <p:transition spd="slow" advTm="28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MY"/>
              <a:t>Relationships among analysis, design and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MY" dirty="0"/>
              <a:t>Objective 1:</a:t>
            </a:r>
          </a:p>
        </p:txBody>
      </p:sp>
      <p:sp>
        <p:nvSpPr>
          <p:cNvPr id="512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512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512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3789E4DB-563A-40E4-9A1B-66379F2CD0D2}" type="slidenum">
              <a:rPr lang="en-US">
                <a:solidFill>
                  <a:srgbClr val="000000"/>
                </a:solidFill>
              </a:rPr>
              <a:pPr/>
              <a:t>3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D29B4A95-8489-45A6-9D5B-7AAE93447B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86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53"/>
    </mc:Choice>
    <mc:Fallback>
      <p:transition spd="slow" advTm="122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Design and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design and implementation is the stage in the software engineering process at which an </a:t>
            </a:r>
            <a:r>
              <a:rPr lang="en-US" b="1" dirty="0">
                <a:solidFill>
                  <a:srgbClr val="C00000"/>
                </a:solidFill>
              </a:rPr>
              <a:t>executable software system </a:t>
            </a:r>
            <a:r>
              <a:rPr lang="en-US" dirty="0"/>
              <a:t>is developed</a:t>
            </a:r>
          </a:p>
          <a:p>
            <a:r>
              <a:rPr lang="en-US" dirty="0"/>
              <a:t>Software design and implementation activities are invariably </a:t>
            </a:r>
            <a:r>
              <a:rPr lang="en-US" b="1" dirty="0">
                <a:solidFill>
                  <a:srgbClr val="C00000"/>
                </a:solidFill>
              </a:rPr>
              <a:t>inter-leaved:</a:t>
            </a:r>
            <a:endParaRPr lang="en-US" dirty="0"/>
          </a:p>
          <a:p>
            <a:pPr lvl="1"/>
            <a:r>
              <a:rPr lang="en-US" dirty="0"/>
              <a:t>Software </a:t>
            </a:r>
            <a:r>
              <a:rPr lang="en-US" b="1" dirty="0">
                <a:solidFill>
                  <a:srgbClr val="C00000"/>
                </a:solidFill>
              </a:rPr>
              <a:t>design is a creative activity </a:t>
            </a:r>
            <a:r>
              <a:rPr lang="en-US" dirty="0"/>
              <a:t>that identifies software components and their relationships, based on a customer’s requirements</a:t>
            </a:r>
          </a:p>
          <a:p>
            <a:pPr lvl="1"/>
            <a:r>
              <a:rPr lang="en-US" dirty="0"/>
              <a:t>Implementation is the process of </a:t>
            </a:r>
            <a:r>
              <a:rPr lang="en-US" b="1" dirty="0">
                <a:solidFill>
                  <a:srgbClr val="C00000"/>
                </a:solidFill>
              </a:rPr>
              <a:t>realizing the design </a:t>
            </a:r>
            <a:r>
              <a:rPr lang="en-US" dirty="0"/>
              <a:t>as a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E259FD95-EBFE-4E94-A294-8EB454BECE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85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762"/>
    </mc:Choice>
    <mc:Fallback>
      <p:transition spd="slow" advTm="497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Recap on Design Stage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1583526"/>
            <a:ext cx="6577145" cy="4817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214258" y="3276600"/>
            <a:ext cx="2970519" cy="1447800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00602" y="5304972"/>
            <a:ext cx="4419599" cy="762000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ABB5174B-0B7E-4954-AFE7-8664344E13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00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338"/>
    </mc:Choice>
    <mc:Fallback>
      <p:transition spd="slow" advTm="703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Object-Oriented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Structured object-oriented design processes involve developing a number of </a:t>
            </a:r>
            <a:r>
              <a:rPr lang="en-US" b="1" dirty="0">
                <a:solidFill>
                  <a:srgbClr val="C00000"/>
                </a:solidFill>
              </a:rPr>
              <a:t>different system models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They </a:t>
            </a:r>
            <a:r>
              <a:rPr lang="en-US" b="1" dirty="0">
                <a:solidFill>
                  <a:srgbClr val="C00000"/>
                </a:solidFill>
              </a:rPr>
              <a:t>require a lot of effort </a:t>
            </a:r>
            <a:r>
              <a:rPr lang="en-US" dirty="0"/>
              <a:t>for development and maintenance of these models and, for </a:t>
            </a:r>
            <a:r>
              <a:rPr lang="en-US" b="1" dirty="0">
                <a:solidFill>
                  <a:srgbClr val="C00000"/>
                </a:solidFill>
              </a:rPr>
              <a:t>small systems</a:t>
            </a:r>
            <a:r>
              <a:rPr lang="en-US" dirty="0"/>
              <a:t>, this </a:t>
            </a:r>
            <a:r>
              <a:rPr lang="en-US" b="1" dirty="0">
                <a:solidFill>
                  <a:srgbClr val="C00000"/>
                </a:solidFill>
              </a:rPr>
              <a:t>may not be cost-effective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However, for </a:t>
            </a:r>
            <a:r>
              <a:rPr lang="en-US" b="1" dirty="0">
                <a:solidFill>
                  <a:srgbClr val="C00000"/>
                </a:solidFill>
              </a:rPr>
              <a:t>large systems </a:t>
            </a:r>
            <a:r>
              <a:rPr lang="en-US" dirty="0"/>
              <a:t>developed by different groups, design models are an important </a:t>
            </a:r>
            <a:r>
              <a:rPr lang="en-US" b="1" dirty="0">
                <a:solidFill>
                  <a:srgbClr val="C00000"/>
                </a:solidFill>
              </a:rPr>
              <a:t>communication mechanism</a:t>
            </a:r>
            <a:endParaRPr lang="en-US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49408101-E0D1-4CA1-B359-7410301318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59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968"/>
    </mc:Choice>
    <mc:Fallback>
      <p:transition spd="slow" advTm="569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MY"/>
              <a:t>Object-oriented design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MY" dirty="0"/>
              <a:t>Objective 2:</a:t>
            </a:r>
          </a:p>
        </p:txBody>
      </p:sp>
      <p:sp>
        <p:nvSpPr>
          <p:cNvPr id="3686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3686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3687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6B2EB338-E5F8-4F7E-9884-A7BC6D3EA431}" type="slidenum">
              <a:rPr lang="en-US">
                <a:solidFill>
                  <a:srgbClr val="000000"/>
                </a:solidFill>
              </a:rPr>
              <a:pPr/>
              <a:t>7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DF9A71A-21C7-4B4C-9BA4-B81EBD369D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68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64"/>
    </mc:Choice>
    <mc:Fallback>
      <p:transition spd="slow" advTm="83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Well-Formed Design Class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/>
              <a:t>Four minimal characteristics that a design class must have to be considered </a:t>
            </a:r>
            <a:r>
              <a:rPr lang="en-MY" b="1">
                <a:solidFill>
                  <a:srgbClr val="C00000"/>
                </a:solidFill>
              </a:rPr>
              <a:t>well-formed</a:t>
            </a:r>
            <a:r>
              <a:rPr lang="en-MY"/>
              <a:t>:</a:t>
            </a:r>
          </a:p>
          <a:p>
            <a:pPr lvl="1"/>
            <a:r>
              <a:rPr lang="en-MY"/>
              <a:t>complete and sufficient</a:t>
            </a:r>
          </a:p>
          <a:p>
            <a:pPr lvl="1"/>
            <a:r>
              <a:rPr lang="en-MY"/>
              <a:t>primitive</a:t>
            </a:r>
          </a:p>
          <a:p>
            <a:pPr lvl="1"/>
            <a:r>
              <a:rPr lang="en-MY"/>
              <a:t>high cohesion</a:t>
            </a:r>
          </a:p>
          <a:p>
            <a:pPr lvl="1"/>
            <a:r>
              <a:rPr lang="en-MY"/>
              <a:t>low coupling</a:t>
            </a:r>
          </a:p>
        </p:txBody>
      </p:sp>
      <p:sp>
        <p:nvSpPr>
          <p:cNvPr id="37892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3789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3789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E6CD3CA7-D005-4981-BFFD-21E1D763482F}" type="slidenum">
              <a:rPr lang="en-US">
                <a:solidFill>
                  <a:srgbClr val="000000"/>
                </a:solidFill>
              </a:rPr>
              <a:pPr/>
              <a:t>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7895" name="TextBox 6"/>
          <p:cNvSpPr txBox="1">
            <a:spLocks noChangeArrowheads="1"/>
          </p:cNvSpPr>
          <p:nvPr/>
        </p:nvSpPr>
        <p:spPr bwMode="auto">
          <a:xfrm>
            <a:off x="2495550" y="5938839"/>
            <a:ext cx="3448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MY">
                <a:solidFill>
                  <a:srgbClr val="C00000"/>
                </a:solidFill>
                <a:ea typeface="ＭＳ Ｐゴシック" pitchFamily="34" charset="-128"/>
              </a:rPr>
              <a:t>Source: </a:t>
            </a:r>
            <a:r>
              <a:rPr lang="en-MY">
                <a:solidFill>
                  <a:srgbClr val="C00000"/>
                </a:solidFill>
              </a:rPr>
              <a:t>Arlow and Neustadt</a:t>
            </a:r>
            <a:r>
              <a:rPr lang="en-MY">
                <a:solidFill>
                  <a:srgbClr val="C00000"/>
                </a:solidFill>
                <a:ea typeface="ＭＳ Ｐゴシック" pitchFamily="34" charset="-128"/>
              </a:rPr>
              <a:t> (2002)</a:t>
            </a:r>
            <a:endParaRPr lang="en-MY">
              <a:solidFill>
                <a:srgbClr val="C00000"/>
              </a:solidFill>
            </a:endParaRPr>
          </a:p>
        </p:txBody>
      </p:sp>
      <p:pic>
        <p:nvPicPr>
          <p:cNvPr id="37896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620963"/>
            <a:ext cx="192405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7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863" y="2817814"/>
            <a:ext cx="188595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138" y="4202114"/>
            <a:ext cx="180975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9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4" y="4494213"/>
            <a:ext cx="185737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/>
          <p:cNvCxnSpPr/>
          <p:nvPr/>
        </p:nvCxnSpPr>
        <p:spPr>
          <a:xfrm>
            <a:off x="4784726" y="4570413"/>
            <a:ext cx="1768475" cy="7985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932364" y="4054475"/>
            <a:ext cx="3552825" cy="51593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DFE2A32D-E385-4735-9E09-9734FC3C22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05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9121"/>
    </mc:Choice>
    <mc:Fallback>
      <p:transition spd="slow" advTm="1791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Some Fundamental </a:t>
            </a:r>
            <a:r>
              <a:rPr lang="en-US" altLang="en-US"/>
              <a:t>Design Principles…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en-US" dirty="0"/>
              <a:t>Encapsulation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/>
              <a:t>Each object is a self-contained unit containing both data and program logic</a:t>
            </a:r>
          </a:p>
          <a:p>
            <a:pPr>
              <a:lnSpc>
                <a:spcPct val="90000"/>
              </a:lnSpc>
              <a:defRPr/>
            </a:pPr>
            <a:r>
              <a:rPr lang="en-US" altLang="en-US" dirty="0"/>
              <a:t>Object reuse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/>
              <a:t>Standard objects can be used over and over again within a system</a:t>
            </a:r>
          </a:p>
          <a:p>
            <a:pPr>
              <a:lnSpc>
                <a:spcPct val="90000"/>
              </a:lnSpc>
              <a:defRPr/>
            </a:pPr>
            <a:r>
              <a:rPr lang="en-US" altLang="en-US" dirty="0"/>
              <a:t>Information hiding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/>
              <a:t>Data associated with an object is not visible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/>
              <a:t>Methods provide access to data</a:t>
            </a:r>
          </a:p>
          <a:p>
            <a:pPr marL="0" indent="0">
              <a:buNone/>
              <a:defRPr/>
            </a:pPr>
            <a:endParaRPr lang="en-MY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3FB0385F-CF0C-460E-8956-EB72BAE46884}" type="slidenum">
              <a:rPr lang="en-US">
                <a:solidFill>
                  <a:srgbClr val="000000"/>
                </a:solidFill>
              </a:rPr>
              <a:pPr/>
              <a:t>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8917" name="Date Placeholder 4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38918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7B1E8C03-CEB5-43E5-9675-17404AA3C6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94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086"/>
    </mc:Choice>
    <mc:Fallback>
      <p:transition spd="slow" advTm="970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Some Fundamental </a:t>
            </a:r>
            <a:r>
              <a:rPr lang="en-US" altLang="en-US"/>
              <a:t>Design Principles</a:t>
            </a:r>
            <a:endParaRPr lang="en-MY" dirty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Navigation visibility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Describes which objects can interact with each other</a:t>
            </a:r>
          </a:p>
          <a:p>
            <a:pPr>
              <a:lnSpc>
                <a:spcPct val="90000"/>
              </a:lnSpc>
            </a:pPr>
            <a:r>
              <a:rPr lang="en-US" altLang="en-US"/>
              <a:t>Coupling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Measures how closely classes are linked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Cohesion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Measures the consistency of functions in a class</a:t>
            </a:r>
          </a:p>
          <a:p>
            <a:pPr>
              <a:lnSpc>
                <a:spcPct val="90000"/>
              </a:lnSpc>
            </a:pPr>
            <a:r>
              <a:rPr lang="en-US" altLang="en-US"/>
              <a:t>Separation of responsibilities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Divides a class into several highly cohesive classes</a:t>
            </a:r>
          </a:p>
          <a:p>
            <a:endParaRPr lang="en-MY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07BB4921-70B4-4580-93E4-FDAB76384852}" type="slidenum">
              <a:rPr lang="en-US">
                <a:solidFill>
                  <a:srgbClr val="000000"/>
                </a:solidFill>
              </a:rPr>
              <a:pPr/>
              <a:t>10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9941" name="Date Placeholder 4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39942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46DA9495-022D-4B14-BC7F-6E87C1FBBD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20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843"/>
    </mc:Choice>
    <mc:Fallback>
      <p:transition spd="slow" advTm="708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Coupling and Cohesion of Subsystems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>
              <a:defRPr/>
            </a:pPr>
            <a:r>
              <a:rPr lang="en-US"/>
              <a:t>Goal: Reduce system complexity while allowing change</a:t>
            </a:r>
          </a:p>
          <a:p>
            <a:pPr>
              <a:defRPr/>
            </a:pPr>
            <a:r>
              <a:rPr lang="en-US"/>
              <a:t>Coherence measures dependency among classes</a:t>
            </a:r>
          </a:p>
          <a:p>
            <a:pPr lvl="1">
              <a:defRPr/>
            </a:pPr>
            <a:r>
              <a:rPr lang="en-US" b="1">
                <a:solidFill>
                  <a:srgbClr val="C00000"/>
                </a:solidFill>
              </a:rPr>
              <a:t>High cohesion: </a:t>
            </a:r>
            <a:r>
              <a:rPr lang="en-US"/>
              <a:t>The classes in the subsystem perform similar tasks and are related to each other via associations</a:t>
            </a:r>
          </a:p>
          <a:p>
            <a:pPr lvl="1">
              <a:defRPr/>
            </a:pPr>
            <a:r>
              <a:rPr lang="en-US"/>
              <a:t>Low cohesion: Lots of miscellaneous and auxiliary classes, no associations</a:t>
            </a:r>
          </a:p>
          <a:p>
            <a:pPr>
              <a:defRPr/>
            </a:pPr>
            <a:r>
              <a:rPr lang="en-US"/>
              <a:t>Coupling measures dependency among subsystems</a:t>
            </a:r>
          </a:p>
          <a:p>
            <a:pPr lvl="1">
              <a:defRPr/>
            </a:pPr>
            <a:r>
              <a:rPr lang="en-US"/>
              <a:t>High coupling: Changes to one subsystem will have high impact on the other subsystem </a:t>
            </a:r>
          </a:p>
          <a:p>
            <a:pPr lvl="1">
              <a:defRPr/>
            </a:pPr>
            <a:r>
              <a:rPr lang="en-US" b="1">
                <a:solidFill>
                  <a:srgbClr val="C00000"/>
                </a:solidFill>
              </a:rPr>
              <a:t>Low coupling:</a:t>
            </a:r>
            <a:r>
              <a:rPr lang="en-US"/>
              <a:t> A change in one subsystem does not affect any other subsystem</a:t>
            </a:r>
          </a:p>
          <a:p>
            <a:pPr>
              <a:defRPr/>
            </a:pPr>
            <a:endParaRPr lang="en-MY"/>
          </a:p>
        </p:txBody>
      </p:sp>
      <p:sp>
        <p:nvSpPr>
          <p:cNvPr id="4403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4403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4403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D17194B8-15CC-43BA-8F88-65CF83D463A9}" type="slidenum">
              <a:rPr lang="en-US">
                <a:solidFill>
                  <a:srgbClr val="000000"/>
                </a:solidFill>
              </a:rPr>
              <a:pPr/>
              <a:t>11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4039" name="AutoShape 4"/>
          <p:cNvSpPr>
            <a:spLocks noChangeArrowheads="1"/>
          </p:cNvSpPr>
          <p:nvPr/>
        </p:nvSpPr>
        <p:spPr bwMode="auto">
          <a:xfrm>
            <a:off x="1711325" y="2506664"/>
            <a:ext cx="698500" cy="465137"/>
          </a:xfrm>
          <a:prstGeom prst="rightArrow">
            <a:avLst>
              <a:gd name="adj1" fmla="val 50000"/>
              <a:gd name="adj2" fmla="val 72388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040" name="AutoShape 5"/>
          <p:cNvSpPr>
            <a:spLocks noChangeArrowheads="1"/>
          </p:cNvSpPr>
          <p:nvPr/>
        </p:nvSpPr>
        <p:spPr bwMode="auto">
          <a:xfrm>
            <a:off x="1652588" y="5162550"/>
            <a:ext cx="698500" cy="476250"/>
          </a:xfrm>
          <a:prstGeom prst="rightArrow">
            <a:avLst>
              <a:gd name="adj1" fmla="val 50000"/>
              <a:gd name="adj2" fmla="val 7236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752601" y="1220788"/>
            <a:ext cx="1744663" cy="393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Calibri"/>
              </a:rPr>
              <a:t>Good Design</a:t>
            </a:r>
          </a:p>
        </p:txBody>
      </p:sp>
      <p:sp>
        <p:nvSpPr>
          <p:cNvPr id="44042" name="TextBox 9"/>
          <p:cNvSpPr txBox="1">
            <a:spLocks noChangeArrowheads="1"/>
          </p:cNvSpPr>
          <p:nvPr/>
        </p:nvSpPr>
        <p:spPr bwMode="auto">
          <a:xfrm>
            <a:off x="2209800" y="6034088"/>
            <a:ext cx="403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MY">
                <a:solidFill>
                  <a:srgbClr val="C00000"/>
                </a:solidFill>
              </a:rPr>
              <a:t>Source: Bennett et al. (2010)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6FFBC7D9-7CEE-4D14-87A7-A9DECC19B8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84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488"/>
    </mc:Choice>
    <mc:Fallback>
      <p:transition spd="slow" advTm="1914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9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Achieve High Cohesion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High cohesion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/>
              <a:t>can be achieved if </a:t>
            </a:r>
            <a:r>
              <a:rPr lang="en-US" b="1" dirty="0">
                <a:solidFill>
                  <a:srgbClr val="C00000"/>
                </a:solidFill>
              </a:rPr>
              <a:t>most of the interaction is within subsystems</a:t>
            </a:r>
            <a:r>
              <a:rPr lang="en-US" dirty="0"/>
              <a:t>, rather than across subsystem boundaries</a:t>
            </a:r>
          </a:p>
          <a:p>
            <a:pPr>
              <a:defRPr/>
            </a:pPr>
            <a:r>
              <a:rPr lang="en-US" dirty="0"/>
              <a:t>Questions to ask:</a:t>
            </a:r>
          </a:p>
          <a:p>
            <a:pPr lvl="1">
              <a:defRPr/>
            </a:pPr>
            <a:r>
              <a:rPr lang="en-US" dirty="0"/>
              <a:t>Does one subsystem always call another one for a specific service?</a:t>
            </a:r>
          </a:p>
          <a:p>
            <a:pPr lvl="2">
              <a:defRPr/>
            </a:pPr>
            <a:r>
              <a:rPr lang="en-US" dirty="0"/>
              <a:t>Yes: Consider moving them together into the same </a:t>
            </a:r>
            <a:r>
              <a:rPr lang="en-US" dirty="0" err="1"/>
              <a:t>subystem</a:t>
            </a:r>
            <a:endParaRPr lang="en-US" dirty="0"/>
          </a:p>
          <a:p>
            <a:pPr lvl="1">
              <a:defRPr/>
            </a:pPr>
            <a:r>
              <a:rPr lang="en-US" dirty="0"/>
              <a:t>Which of the subsystems call each other for services?</a:t>
            </a:r>
          </a:p>
          <a:p>
            <a:pPr lvl="2">
              <a:defRPr/>
            </a:pPr>
            <a:r>
              <a:rPr lang="en-US" dirty="0"/>
              <a:t>Can this be avoided by restructuring the subsystems or changing the subsystem interface?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608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4608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4608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C1E5069C-62BD-48C4-97ED-6911E44C8DE4}" type="slidenum">
              <a:rPr lang="en-US">
                <a:solidFill>
                  <a:srgbClr val="000000"/>
                </a:solidFill>
              </a:rPr>
              <a:pPr/>
              <a:t>12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E8D4CBAE-5519-4ECB-A565-49F0FB9834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57166"/>
      </p:ext>
    </p:extLst>
  </p:cSld>
  <p:clrMapOvr>
    <a:masterClrMapping/>
  </p:clrMapOvr>
  <p:transition advTm="5289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Achieve Low Coupling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9925" y="1524001"/>
            <a:ext cx="8270875" cy="3000375"/>
          </a:xfrm>
        </p:spPr>
        <p:txBody>
          <a:bodyPr>
            <a:noAutofit/>
          </a:bodyPr>
          <a:lstStyle/>
          <a:p>
            <a:r>
              <a:rPr lang="en-US" sz="2800" dirty="0"/>
              <a:t>Low coupling can be achieved if a </a:t>
            </a:r>
            <a:r>
              <a:rPr lang="en-US" sz="2800" b="1" dirty="0">
                <a:solidFill>
                  <a:srgbClr val="C00000"/>
                </a:solidFill>
              </a:rPr>
              <a:t>calling class or interface does not need to know anything about the internals</a:t>
            </a:r>
            <a:r>
              <a:rPr lang="en-US" sz="2800" dirty="0"/>
              <a:t> of the called class (Principle of information hiding, </a:t>
            </a:r>
            <a:r>
              <a:rPr lang="en-US" sz="2800" dirty="0" err="1"/>
              <a:t>Parnas</a:t>
            </a:r>
            <a:r>
              <a:rPr lang="en-US" sz="2800" dirty="0"/>
              <a:t>)</a:t>
            </a:r>
          </a:p>
          <a:p>
            <a:r>
              <a:rPr lang="en-US" sz="2800" dirty="0"/>
              <a:t>Questions to ask:</a:t>
            </a:r>
          </a:p>
          <a:p>
            <a:pPr lvl="1"/>
            <a:r>
              <a:rPr lang="en-US" sz="2400" dirty="0"/>
              <a:t>Does the calling class really have to know any attributes of classes in the lower layers?</a:t>
            </a:r>
          </a:p>
          <a:p>
            <a:pPr lvl="1"/>
            <a:r>
              <a:rPr lang="en-US" sz="2400" dirty="0"/>
              <a:t>Is it possible that the calling class calls only operations of the lower level classes?</a:t>
            </a:r>
          </a:p>
        </p:txBody>
      </p:sp>
      <p:grpSp>
        <p:nvGrpSpPr>
          <p:cNvPr id="48132" name="Group 7"/>
          <p:cNvGrpSpPr>
            <a:grpSpLocks/>
          </p:cNvGrpSpPr>
          <p:nvPr/>
        </p:nvGrpSpPr>
        <p:grpSpPr bwMode="auto">
          <a:xfrm>
            <a:off x="5703888" y="5005762"/>
            <a:ext cx="4506913" cy="1379538"/>
            <a:chOff x="1836" y="2971"/>
            <a:chExt cx="2839" cy="869"/>
          </a:xfrm>
        </p:grpSpPr>
        <p:pic>
          <p:nvPicPr>
            <p:cNvPr id="48136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1" y="2971"/>
              <a:ext cx="724" cy="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7" name="Text Box 6"/>
            <p:cNvSpPr txBox="1">
              <a:spLocks noChangeArrowheads="1"/>
            </p:cNvSpPr>
            <p:nvPr/>
          </p:nvSpPr>
          <p:spPr bwMode="auto">
            <a:xfrm>
              <a:off x="1836" y="3208"/>
              <a:ext cx="1980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dirty="0">
                  <a:solidFill>
                    <a:prstClr val="black"/>
                  </a:solidFill>
                  <a:latin typeface="Verdana" pitchFamily="34" charset="0"/>
                  <a:ea typeface="ＭＳ Ｐゴシック" pitchFamily="34" charset="-128"/>
                </a:rPr>
                <a:t>David </a:t>
              </a:r>
              <a:r>
                <a:rPr lang="en-US" dirty="0" err="1">
                  <a:solidFill>
                    <a:prstClr val="black"/>
                  </a:solidFill>
                  <a:latin typeface="Verdana" pitchFamily="34" charset="0"/>
                  <a:ea typeface="ＭＳ Ｐゴシック" pitchFamily="34" charset="-128"/>
                </a:rPr>
                <a:t>Parnas</a:t>
              </a:r>
              <a:r>
                <a:rPr lang="en-US" dirty="0">
                  <a:solidFill>
                    <a:prstClr val="black"/>
                  </a:solidFill>
                  <a:latin typeface="Verdana" pitchFamily="34" charset="0"/>
                  <a:ea typeface="ＭＳ Ｐゴシック" pitchFamily="34" charset="-128"/>
                </a:rPr>
                <a:t>, *1941, </a:t>
              </a:r>
            </a:p>
            <a:p>
              <a:pPr algn="ctr"/>
              <a:r>
                <a:rPr lang="en-US" dirty="0">
                  <a:solidFill>
                    <a:prstClr val="black"/>
                  </a:solidFill>
                  <a:latin typeface="Verdana" pitchFamily="34" charset="0"/>
                  <a:ea typeface="ＭＳ Ｐゴシック" pitchFamily="34" charset="-128"/>
                </a:rPr>
                <a:t>Developed the concept of</a:t>
              </a:r>
            </a:p>
            <a:p>
              <a:pPr algn="ctr"/>
              <a:r>
                <a:rPr lang="en-US" dirty="0">
                  <a:solidFill>
                    <a:prstClr val="black"/>
                  </a:solidFill>
                  <a:latin typeface="Verdana" pitchFamily="34" charset="0"/>
                  <a:ea typeface="ＭＳ Ｐゴシック" pitchFamily="34" charset="-128"/>
                </a:rPr>
                <a:t>modularity in design</a:t>
              </a:r>
            </a:p>
          </p:txBody>
        </p:sp>
      </p:grpSp>
      <p:sp>
        <p:nvSpPr>
          <p:cNvPr id="48133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4813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4813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04831E9C-A2DE-447B-84DD-1F23B4F756CC}" type="slidenum">
              <a:rPr lang="en-US">
                <a:solidFill>
                  <a:srgbClr val="000000"/>
                </a:solidFill>
              </a:rPr>
              <a:pPr/>
              <a:t>13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FECD3C70-5801-4DB8-9B34-D65485C269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94167"/>
      </p:ext>
    </p:extLst>
  </p:cSld>
  <p:clrMapOvr>
    <a:masterClrMapping/>
  </p:clrMapOvr>
  <p:transition advTm="7395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667</Words>
  <Application>Microsoft Office PowerPoint</Application>
  <PresentationFormat>Widescreen</PresentationFormat>
  <Paragraphs>113</Paragraphs>
  <Slides>13</Slides>
  <Notes>4</Notes>
  <HiddenSlides>0</HiddenSlides>
  <MMClips>13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</vt:lpstr>
      <vt:lpstr>Verdana</vt:lpstr>
      <vt:lpstr>1_Office Theme</vt:lpstr>
      <vt:lpstr>Module 7: Object-Oriented Detailed Design</vt:lpstr>
      <vt:lpstr>Objectives</vt:lpstr>
      <vt:lpstr>Relationships among analysis, design and implementation</vt:lpstr>
      <vt:lpstr>Design and Implementation</vt:lpstr>
      <vt:lpstr>Recap on Design Stage</vt:lpstr>
      <vt:lpstr>Object-Oriented Design Process</vt:lpstr>
      <vt:lpstr>Object-oriented design principles</vt:lpstr>
      <vt:lpstr>Well-Formed Design Class</vt:lpstr>
      <vt:lpstr>Some Fundamental Design Principles…</vt:lpstr>
      <vt:lpstr>Some Fundamental Design Principles</vt:lpstr>
      <vt:lpstr>Coupling and Cohesion of Subsystems</vt:lpstr>
      <vt:lpstr>How to Achieve High Cohesion</vt:lpstr>
      <vt:lpstr>How to Achieve Low Coupling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Norsham Idris</dc:creator>
  <cp:lastModifiedBy>Norsham Idris</cp:lastModifiedBy>
  <cp:revision>7</cp:revision>
  <dcterms:created xsi:type="dcterms:W3CDTF">2020-04-20T01:49:27Z</dcterms:created>
  <dcterms:modified xsi:type="dcterms:W3CDTF">2020-04-20T04:24:37Z</dcterms:modified>
</cp:coreProperties>
</file>