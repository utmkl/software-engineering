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102"/>
  </p:notesMasterIdLst>
  <p:sldIdLst>
    <p:sldId id="256" r:id="rId3"/>
    <p:sldId id="270" r:id="rId4"/>
    <p:sldId id="287" r:id="rId5"/>
    <p:sldId id="568" r:id="rId6"/>
    <p:sldId id="542" r:id="rId7"/>
    <p:sldId id="543" r:id="rId8"/>
    <p:sldId id="544" r:id="rId9"/>
    <p:sldId id="615" r:id="rId10"/>
    <p:sldId id="545" r:id="rId11"/>
    <p:sldId id="546" r:id="rId12"/>
    <p:sldId id="292" r:id="rId13"/>
    <p:sldId id="575" r:id="rId14"/>
    <p:sldId id="569" r:id="rId15"/>
    <p:sldId id="570" r:id="rId16"/>
    <p:sldId id="606" r:id="rId17"/>
    <p:sldId id="547" r:id="rId18"/>
    <p:sldId id="571" r:id="rId19"/>
    <p:sldId id="548" r:id="rId20"/>
    <p:sldId id="551" r:id="rId21"/>
    <p:sldId id="552" r:id="rId22"/>
    <p:sldId id="549" r:id="rId23"/>
    <p:sldId id="550" r:id="rId24"/>
    <p:sldId id="634" r:id="rId25"/>
    <p:sldId id="635" r:id="rId26"/>
    <p:sldId id="636" r:id="rId27"/>
    <p:sldId id="581" r:id="rId28"/>
    <p:sldId id="582" r:id="rId29"/>
    <p:sldId id="583" r:id="rId30"/>
    <p:sldId id="498" r:id="rId31"/>
    <p:sldId id="554" r:id="rId32"/>
    <p:sldId id="553" r:id="rId33"/>
    <p:sldId id="555" r:id="rId34"/>
    <p:sldId id="607" r:id="rId35"/>
    <p:sldId id="556" r:id="rId36"/>
    <p:sldId id="557" r:id="rId37"/>
    <p:sldId id="558" r:id="rId38"/>
    <p:sldId id="561" r:id="rId39"/>
    <p:sldId id="559" r:id="rId40"/>
    <p:sldId id="585" r:id="rId41"/>
    <p:sldId id="586" r:id="rId42"/>
    <p:sldId id="562" r:id="rId43"/>
    <p:sldId id="587" r:id="rId44"/>
    <p:sldId id="588" r:id="rId45"/>
    <p:sldId id="584" r:id="rId46"/>
    <p:sldId id="638" r:id="rId47"/>
    <p:sldId id="589" r:id="rId48"/>
    <p:sldId id="590" r:id="rId49"/>
    <p:sldId id="620" r:id="rId50"/>
    <p:sldId id="619" r:id="rId51"/>
    <p:sldId id="566" r:id="rId52"/>
    <p:sldId id="567" r:id="rId53"/>
    <p:sldId id="565" r:id="rId54"/>
    <p:sldId id="622" r:id="rId55"/>
    <p:sldId id="623" r:id="rId56"/>
    <p:sldId id="625" r:id="rId57"/>
    <p:sldId id="626" r:id="rId58"/>
    <p:sldId id="627" r:id="rId59"/>
    <p:sldId id="624" r:id="rId60"/>
    <p:sldId id="632" r:id="rId61"/>
    <p:sldId id="633" r:id="rId62"/>
    <p:sldId id="628" r:id="rId63"/>
    <p:sldId id="594" r:id="rId64"/>
    <p:sldId id="608" r:id="rId65"/>
    <p:sldId id="640" r:id="rId66"/>
    <p:sldId id="621" r:id="rId67"/>
    <p:sldId id="616" r:id="rId68"/>
    <p:sldId id="595" r:id="rId69"/>
    <p:sldId id="596" r:id="rId70"/>
    <p:sldId id="605" r:id="rId71"/>
    <p:sldId id="617" r:id="rId72"/>
    <p:sldId id="618" r:id="rId73"/>
    <p:sldId id="598" r:id="rId74"/>
    <p:sldId id="599" r:id="rId75"/>
    <p:sldId id="600" r:id="rId76"/>
    <p:sldId id="601" r:id="rId77"/>
    <p:sldId id="602" r:id="rId78"/>
    <p:sldId id="603" r:id="rId79"/>
    <p:sldId id="597" r:id="rId80"/>
    <p:sldId id="604" r:id="rId81"/>
    <p:sldId id="462" r:id="rId82"/>
    <p:sldId id="613" r:id="rId83"/>
    <p:sldId id="614" r:id="rId84"/>
    <p:sldId id="524" r:id="rId85"/>
    <p:sldId id="525" r:id="rId86"/>
    <p:sldId id="526" r:id="rId87"/>
    <p:sldId id="527" r:id="rId88"/>
    <p:sldId id="528" r:id="rId89"/>
    <p:sldId id="529" r:id="rId90"/>
    <p:sldId id="530" r:id="rId91"/>
    <p:sldId id="531" r:id="rId92"/>
    <p:sldId id="532" r:id="rId93"/>
    <p:sldId id="533" r:id="rId94"/>
    <p:sldId id="534" r:id="rId95"/>
    <p:sldId id="535" r:id="rId96"/>
    <p:sldId id="536" r:id="rId97"/>
    <p:sldId id="537" r:id="rId98"/>
    <p:sldId id="538" r:id="rId99"/>
    <p:sldId id="539" r:id="rId100"/>
    <p:sldId id="540"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2" d="100"/>
          <a:sy n="72" d="100"/>
        </p:scale>
        <p:origin x="-1096"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4/4/2020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2</a:t>
            </a:fld>
            <a:endParaRPr lang="en-US"/>
          </a:p>
        </p:txBody>
      </p:sp>
    </p:spTree>
    <p:extLst>
      <p:ext uri="{BB962C8B-B14F-4D97-AF65-F5344CB8AC3E}">
        <p14:creationId xmlns:p14="http://schemas.microsoft.com/office/powerpoint/2010/main" val="3511185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5</a:t>
            </a:fld>
            <a:endParaRPr lang="en-US"/>
          </a:p>
        </p:txBody>
      </p:sp>
    </p:spTree>
    <p:extLst>
      <p:ext uri="{BB962C8B-B14F-4D97-AF65-F5344CB8AC3E}">
        <p14:creationId xmlns:p14="http://schemas.microsoft.com/office/powerpoint/2010/main" val="1039833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45</a:t>
            </a:fld>
            <a:endParaRPr lang="en-US"/>
          </a:p>
        </p:txBody>
      </p:sp>
    </p:spTree>
    <p:extLst>
      <p:ext uri="{BB962C8B-B14F-4D97-AF65-F5344CB8AC3E}">
        <p14:creationId xmlns:p14="http://schemas.microsoft.com/office/powerpoint/2010/main" val="3335893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18F6A6-5BDF-41D7-9B84-3DCB4D0C04F4}" type="slidenum">
              <a:rPr lang="en-US" smtClean="0"/>
              <a:pPr/>
              <a:t>49</a:t>
            </a:fld>
            <a:endParaRPr lang="en-US"/>
          </a:p>
        </p:txBody>
      </p:sp>
    </p:spTree>
    <p:extLst>
      <p:ext uri="{BB962C8B-B14F-4D97-AF65-F5344CB8AC3E}">
        <p14:creationId xmlns:p14="http://schemas.microsoft.com/office/powerpoint/2010/main" val="736024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56</a:t>
            </a:fld>
            <a:endParaRPr lang="en-US"/>
          </a:p>
        </p:txBody>
      </p:sp>
    </p:spTree>
    <p:extLst>
      <p:ext uri="{BB962C8B-B14F-4D97-AF65-F5344CB8AC3E}">
        <p14:creationId xmlns:p14="http://schemas.microsoft.com/office/powerpoint/2010/main" val="2163003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66</a:t>
            </a:fld>
            <a:endParaRPr lang="en-US"/>
          </a:p>
        </p:txBody>
      </p:sp>
    </p:spTree>
    <p:extLst>
      <p:ext uri="{BB962C8B-B14F-4D97-AF65-F5344CB8AC3E}">
        <p14:creationId xmlns:p14="http://schemas.microsoft.com/office/powerpoint/2010/main" val="3817175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10"/>
          </p:nvPr>
        </p:nvSpPr>
        <p:spPr/>
        <p:txBody>
          <a:bodyPr/>
          <a:lstStyle/>
          <a:p>
            <a:fld id="{2818F6A6-5BDF-41D7-9B84-3DCB4D0C04F4}" type="slidenum">
              <a:rPr lang="en-US" smtClean="0"/>
              <a:pPr/>
              <a:t>85</a:t>
            </a:fld>
            <a:endParaRPr lang="en-US"/>
          </a:p>
        </p:txBody>
      </p:sp>
    </p:spTree>
    <p:extLst>
      <p:ext uri="{BB962C8B-B14F-4D97-AF65-F5344CB8AC3E}">
        <p14:creationId xmlns:p14="http://schemas.microsoft.com/office/powerpoint/2010/main" val="39880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MY"/>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2020</a:t>
            </a:r>
          </a:p>
        </p:txBody>
      </p:sp>
      <p:sp>
        <p:nvSpPr>
          <p:cNvPr id="8" name="Footer Placeholder 7"/>
          <p:cNvSpPr>
            <a:spLocks noGrp="1"/>
          </p:cNvSpPr>
          <p:nvPr>
            <p:ph type="ftr" sz="quarter" idx="11"/>
          </p:nvPr>
        </p:nvSpPr>
        <p:spPr/>
        <p:txBody>
          <a:bodyPr/>
          <a:lstStyle/>
          <a:p>
            <a:r>
              <a:rPr lang="en-MY"/>
              <a:t>Software Engineering</a:t>
            </a:r>
            <a:endParaRPr lang="en-US"/>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2020</a:t>
            </a:r>
          </a:p>
        </p:txBody>
      </p:sp>
      <p:sp>
        <p:nvSpPr>
          <p:cNvPr id="4" name="Footer Placeholder 3"/>
          <p:cNvSpPr>
            <a:spLocks noGrp="1"/>
          </p:cNvSpPr>
          <p:nvPr>
            <p:ph type="ftr" sz="quarter" idx="11"/>
          </p:nvPr>
        </p:nvSpPr>
        <p:spPr/>
        <p:txBody>
          <a:bodyPr/>
          <a:lstStyle/>
          <a:p>
            <a:r>
              <a:rPr lang="en-MY"/>
              <a:t>Software Engineering</a:t>
            </a:r>
            <a:endParaRPr lang="en-US"/>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2020</a:t>
            </a:r>
          </a:p>
        </p:txBody>
      </p:sp>
      <p:sp>
        <p:nvSpPr>
          <p:cNvPr id="3" name="Footer Placeholder 2"/>
          <p:cNvSpPr>
            <a:spLocks noGrp="1"/>
          </p:cNvSpPr>
          <p:nvPr>
            <p:ph type="ftr" sz="quarter" idx="11"/>
          </p:nvPr>
        </p:nvSpPr>
        <p:spPr/>
        <p:txBody>
          <a:bodyPr/>
          <a:lstStyle/>
          <a:p>
            <a:r>
              <a:rPr lang="en-MY"/>
              <a:t>Software Engineering</a:t>
            </a:r>
            <a:endParaRPr lang="en-US"/>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MY"/>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2020</a:t>
            </a:r>
          </a:p>
        </p:txBody>
      </p:sp>
      <p:sp>
        <p:nvSpPr>
          <p:cNvPr id="6" name="Footer Placeholder 5"/>
          <p:cNvSpPr>
            <a:spLocks noGrp="1"/>
          </p:cNvSpPr>
          <p:nvPr>
            <p:ph type="ftr" sz="quarter" idx="11"/>
          </p:nvPr>
        </p:nvSpPr>
        <p:spPr/>
        <p:txBody>
          <a:bodyPr/>
          <a:lstStyle/>
          <a:p>
            <a:r>
              <a:rPr lang="en-MY"/>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r>
              <a:rPr lang="en-US"/>
              <a:t>2020</a:t>
            </a:r>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200">
                <a:solidFill>
                  <a:sysClr val="windowText" lastClr="000000"/>
                </a:solidFill>
              </a:defRPr>
            </a:lvl1pPr>
          </a:lstStyle>
          <a:p>
            <a:r>
              <a:rPr lang="en-MY"/>
              <a:t>Software Engineering</a:t>
            </a:r>
            <a:endParaRPr lang="en-US"/>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0362C787-829C-4B6B-B21B-90D8981190F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2020</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MY"/>
              <a:t>Software Engineering</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hyperlink" Target="https://www.bbconsult.co.uk/blog/event-driven-applications"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6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7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9.em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10.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12.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14.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5.em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16.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17.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Module 5: </a:t>
            </a:r>
            <a:r>
              <a:rPr lang="en-US" dirty="0">
                <a:ea typeface="ＭＳ Ｐゴシック" pitchFamily="-110" charset="-128"/>
                <a:cs typeface="ＭＳ Ｐゴシック" pitchFamily="-110" charset="-128"/>
              </a:rPr>
              <a:t>Requirements Analysis and Modeling</a:t>
            </a:r>
            <a:endParaRPr lang="en-US" dirty="0"/>
          </a:p>
        </p:txBody>
      </p:sp>
      <p:sp>
        <p:nvSpPr>
          <p:cNvPr id="3" name="Subtitle 2"/>
          <p:cNvSpPr>
            <a:spLocks noGrp="1"/>
          </p:cNvSpPr>
          <p:nvPr>
            <p:ph type="subTitle" idx="1"/>
          </p:nvPr>
        </p:nvSpPr>
        <p:spPr/>
        <p:txBody>
          <a:bodyPr>
            <a:normAutofit fontScale="92500"/>
          </a:bodyPr>
          <a:lstStyle/>
          <a:p>
            <a:r>
              <a:rPr lang="en-US" sz="4000" dirty="0">
                <a:solidFill>
                  <a:schemeClr val="tx2"/>
                </a:solidFill>
              </a:rPr>
              <a:t>Software Engineering</a:t>
            </a:r>
          </a:p>
          <a:p>
            <a:r>
              <a:rPr lang="en-US" sz="2800" dirty="0"/>
              <a:t>School of Computing, Faculty of Engineering</a:t>
            </a:r>
          </a:p>
          <a:p>
            <a:r>
              <a:rPr lang="en-US" sz="2800" dirty="0" err="1"/>
              <a:t>Universiti</a:t>
            </a:r>
            <a:r>
              <a:rPr lang="en-US" sz="2800" dirty="0"/>
              <a:t> </a:t>
            </a:r>
            <a:r>
              <a:rPr lang="en-US" sz="2800" dirty="0" err="1"/>
              <a:t>Teknologi</a:t>
            </a:r>
            <a:r>
              <a:rPr lang="en-US" sz="2800" dirty="0"/>
              <a:t> Malaysia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Outline</a:t>
            </a:r>
            <a:endParaRPr lang="en-MY" dirty="0"/>
          </a:p>
        </p:txBody>
      </p:sp>
      <p:sp>
        <p:nvSpPr>
          <p:cNvPr id="3" name="Content Placeholder 2"/>
          <p:cNvSpPr>
            <a:spLocks noGrp="1"/>
          </p:cNvSpPr>
          <p:nvPr>
            <p:ph idx="1"/>
          </p:nvPr>
        </p:nvSpPr>
        <p:spPr/>
        <p:txBody>
          <a:bodyPr>
            <a:normAutofit/>
          </a:bodyPr>
          <a:lstStyle/>
          <a:p>
            <a:r>
              <a:rPr lang="en-US" dirty="0">
                <a:ea typeface="ＭＳ Ｐゴシック" panose="020B0600070205080204" pitchFamily="34" charset="-128"/>
              </a:rPr>
              <a:t>Part I: Requirements Modeling Concept</a:t>
            </a:r>
          </a:p>
          <a:p>
            <a:pPr lvl="1"/>
            <a:r>
              <a:rPr lang="en-US" dirty="0">
                <a:ea typeface="ＭＳ Ｐゴシック" panose="020B0600070205080204" pitchFamily="34" charset="-128"/>
              </a:rPr>
              <a:t>Use Case Modeling and Specification</a:t>
            </a:r>
          </a:p>
          <a:p>
            <a:pPr lvl="1"/>
            <a:r>
              <a:rPr lang="en-US" dirty="0">
                <a:ea typeface="ＭＳ Ｐゴシック" panose="020B0600070205080204" pitchFamily="34" charset="-128"/>
              </a:rPr>
              <a:t>Domain Modeling</a:t>
            </a:r>
          </a:p>
          <a:p>
            <a:pPr lvl="1"/>
            <a:r>
              <a:rPr lang="en-US" dirty="0">
                <a:ea typeface="ＭＳ Ｐゴシック" panose="020B0600070205080204" pitchFamily="34" charset="-128"/>
              </a:rPr>
              <a:t>Activity Diagram</a:t>
            </a:r>
          </a:p>
          <a:p>
            <a:pPr lvl="1"/>
            <a:r>
              <a:rPr lang="en-US" dirty="0">
                <a:ea typeface="ＭＳ Ｐゴシック" panose="020B0600070205080204" pitchFamily="34" charset="-128"/>
              </a:rPr>
              <a:t>Sequence Diagram</a:t>
            </a:r>
          </a:p>
          <a:p>
            <a:pPr lvl="1"/>
            <a:r>
              <a:rPr lang="en-US" dirty="0">
                <a:ea typeface="ＭＳ Ｐゴシック" panose="020B0600070205080204" pitchFamily="34" charset="-128"/>
              </a:rPr>
              <a:t>State Chart/State Machine Diagram</a:t>
            </a:r>
          </a:p>
          <a:p>
            <a:r>
              <a:rPr lang="en-US" dirty="0">
                <a:ea typeface="ＭＳ Ｐゴシック" panose="020B0600070205080204" pitchFamily="34" charset="-128"/>
              </a:rPr>
              <a:t>Part II: Requirements Document </a:t>
            </a:r>
          </a:p>
          <a:p>
            <a:pPr lvl="1"/>
            <a:r>
              <a:rPr lang="en-US" dirty="0">
                <a:ea typeface="ＭＳ Ｐゴシック" panose="020B0600070205080204" pitchFamily="34" charset="-128"/>
              </a:rPr>
              <a:t>Software Requirements Specification (SRS)</a:t>
            </a:r>
            <a:endParaRPr lang="en-MY" dirty="0"/>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2</a:t>
            </a:fld>
            <a:endParaRPr lang="en-US"/>
          </a:p>
        </p:txBody>
      </p:sp>
      <p:sp>
        <p:nvSpPr>
          <p:cNvPr id="4" name="Date Placeholder 3"/>
          <p:cNvSpPr>
            <a:spLocks noGrp="1"/>
          </p:cNvSpPr>
          <p:nvPr>
            <p:ph type="dt" sz="half" idx="10"/>
          </p:nvPr>
        </p:nvSpPr>
        <p:spPr/>
        <p:txBody>
          <a:bodyPr/>
          <a:lstStyle/>
          <a:p>
            <a:r>
              <a:rPr lang="en-US"/>
              <a:t>2020</a:t>
            </a:r>
          </a:p>
        </p:txBody>
      </p:sp>
      <p:sp>
        <p:nvSpPr>
          <p:cNvPr id="7" name="TextBox 6"/>
          <p:cNvSpPr txBox="1"/>
          <p:nvPr/>
        </p:nvSpPr>
        <p:spPr>
          <a:xfrm>
            <a:off x="478974" y="5803032"/>
            <a:ext cx="8392886" cy="646331"/>
          </a:xfrm>
          <a:prstGeom prst="rect">
            <a:avLst/>
          </a:prstGeom>
          <a:noFill/>
        </p:spPr>
        <p:txBody>
          <a:bodyPr wrap="square" rtlCol="0">
            <a:spAutoFit/>
          </a:bodyPr>
          <a:lstStyle/>
          <a:p>
            <a:r>
              <a:rPr lang="en-MY" dirty="0">
                <a:solidFill>
                  <a:srgbClr val="C00000"/>
                </a:solidFill>
              </a:rPr>
              <a:t>Note: The overall contents of the slide are based on the main reference that is Sommerville (2016) with other references specified directly in respective slides (if any)</a:t>
            </a:r>
          </a:p>
        </p:txBody>
      </p:sp>
    </p:spTree>
    <p:extLst>
      <p:ext uri="{BB962C8B-B14F-4D97-AF65-F5344CB8AC3E}">
        <p14:creationId xmlns:p14="http://schemas.microsoft.com/office/powerpoint/2010/main" val="1798927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Part I: Requirements </a:t>
            </a:r>
            <a:r>
              <a:rPr lang="en-MY" dirty="0" err="1"/>
              <a:t>modeling</a:t>
            </a:r>
            <a:r>
              <a:rPr lang="en-MY" dirty="0"/>
              <a:t> concept</a:t>
            </a:r>
          </a:p>
        </p:txBody>
      </p:sp>
      <p:sp>
        <p:nvSpPr>
          <p:cNvPr id="3" name="Text Placeholder 2"/>
          <p:cNvSpPr>
            <a:spLocks noGrp="1"/>
          </p:cNvSpPr>
          <p:nvPr>
            <p:ph type="body" idx="1"/>
          </p:nvPr>
        </p:nvSpPr>
        <p:spPr/>
        <p:txBody>
          <a:bodyPr/>
          <a:lstStyle/>
          <a:p>
            <a:r>
              <a:rPr lang="en-MY" dirty="0">
                <a:ea typeface="ＭＳ Ｐゴシック" panose="020B0600070205080204" pitchFamily="34" charset="-128"/>
              </a:rPr>
              <a:t>Use Case </a:t>
            </a:r>
            <a:r>
              <a:rPr lang="en-MY" dirty="0" err="1">
                <a:ea typeface="ＭＳ Ｐゴシック" panose="020B0600070205080204" pitchFamily="34" charset="-128"/>
              </a:rPr>
              <a:t>Modeling</a:t>
            </a:r>
            <a:r>
              <a:rPr lang="en-MY" dirty="0">
                <a:ea typeface="ＭＳ Ｐゴシック" panose="020B0600070205080204" pitchFamily="34" charset="-128"/>
              </a:rPr>
              <a:t> and Specification, Sequence Diagram, Activity Diagram, Domain </a:t>
            </a:r>
            <a:r>
              <a:rPr lang="en-MY" dirty="0" err="1">
                <a:ea typeface="ＭＳ Ｐゴシック" panose="020B0600070205080204" pitchFamily="34" charset="-128"/>
              </a:rPr>
              <a:t>Modeling</a:t>
            </a:r>
            <a:r>
              <a:rPr lang="en-MY" dirty="0">
                <a:ea typeface="ＭＳ Ｐゴシック" panose="020B0600070205080204" pitchFamily="34" charset="-128"/>
              </a:rPr>
              <a:t>, State Chart/Machine Diagram</a:t>
            </a:r>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3</a:t>
            </a:fld>
            <a:endParaRPr lang="en-US"/>
          </a:p>
        </p:txBody>
      </p:sp>
      <p:sp>
        <p:nvSpPr>
          <p:cNvPr id="4" name="Date Placeholder 3"/>
          <p:cNvSpPr>
            <a:spLocks noGrp="1"/>
          </p:cNvSpPr>
          <p:nvPr>
            <p:ph type="dt" sz="half" idx="10"/>
          </p:nvPr>
        </p:nvSpPr>
        <p:spPr/>
        <p:txBody>
          <a:bodyPr/>
          <a:lstStyle/>
          <a:p>
            <a:r>
              <a:rPr lang="en-US"/>
              <a:t>2020</a:t>
            </a:r>
          </a:p>
        </p:txBody>
      </p:sp>
      <p:sp>
        <p:nvSpPr>
          <p:cNvPr id="7" name="TextBox 6"/>
          <p:cNvSpPr txBox="1"/>
          <p:nvPr/>
        </p:nvSpPr>
        <p:spPr>
          <a:xfrm>
            <a:off x="762000" y="6070900"/>
            <a:ext cx="7924800" cy="369332"/>
          </a:xfrm>
          <a:prstGeom prst="rect">
            <a:avLst/>
          </a:prstGeom>
          <a:noFill/>
        </p:spPr>
        <p:txBody>
          <a:bodyPr wrap="square" rtlCol="0">
            <a:spAutoFit/>
          </a:bodyPr>
          <a:lstStyle/>
          <a:p>
            <a:r>
              <a:rPr lang="en-MY" dirty="0">
                <a:solidFill>
                  <a:srgbClr val="C00000"/>
                </a:solidFill>
                <a:ea typeface="ＭＳ Ｐゴシック" panose="020B0600070205080204" pitchFamily="34" charset="-128"/>
              </a:rPr>
              <a:t>Note: Main reference for Part I: Sommerville (2016), </a:t>
            </a:r>
            <a:r>
              <a:rPr lang="en-MY" dirty="0" err="1">
                <a:solidFill>
                  <a:srgbClr val="C00000"/>
                </a:solidFill>
              </a:rPr>
              <a:t>Arlow</a:t>
            </a:r>
            <a:r>
              <a:rPr lang="en-MY" dirty="0">
                <a:solidFill>
                  <a:srgbClr val="C00000"/>
                </a:solidFill>
              </a:rPr>
              <a:t> and Neustadt</a:t>
            </a:r>
            <a:r>
              <a:rPr lang="en-MY" dirty="0">
                <a:solidFill>
                  <a:srgbClr val="C00000"/>
                </a:solidFill>
                <a:ea typeface="ＭＳ Ｐゴシック" panose="020B0600070205080204" pitchFamily="34" charset="-128"/>
              </a:rPr>
              <a:t> (2002)</a:t>
            </a:r>
            <a:endParaRPr lang="en-MY" dirty="0">
              <a:solidFill>
                <a:srgbClr val="C00000"/>
              </a:solidFill>
            </a:endParaRPr>
          </a:p>
        </p:txBody>
      </p:sp>
    </p:spTree>
    <p:extLst>
      <p:ext uri="{BB962C8B-B14F-4D97-AF65-F5344CB8AC3E}">
        <p14:creationId xmlns:p14="http://schemas.microsoft.com/office/powerpoint/2010/main" val="55580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Objectives</a:t>
            </a:r>
          </a:p>
        </p:txBody>
      </p:sp>
      <p:sp>
        <p:nvSpPr>
          <p:cNvPr id="3" name="Content Placeholder 2"/>
          <p:cNvSpPr>
            <a:spLocks noGrp="1"/>
          </p:cNvSpPr>
          <p:nvPr>
            <p:ph idx="1"/>
          </p:nvPr>
        </p:nvSpPr>
        <p:spPr/>
        <p:txBody>
          <a:bodyPr>
            <a:normAutofit/>
          </a:bodyPr>
          <a:lstStyle/>
          <a:p>
            <a:pPr>
              <a:spcBef>
                <a:spcPts val="0"/>
              </a:spcBef>
            </a:pPr>
            <a:r>
              <a:rPr lang="en-US" altLang="en-US" dirty="0">
                <a:solidFill>
                  <a:srgbClr val="292526"/>
                </a:solidFill>
                <a:cs typeface="Times New Roman" panose="02020603050405020304" pitchFamily="18" charset="0"/>
              </a:rPr>
              <a:t>To define requirements using </a:t>
            </a:r>
            <a:r>
              <a:rPr lang="en-US" altLang="en-US" b="1" dirty="0">
                <a:solidFill>
                  <a:srgbClr val="C00000"/>
                </a:solidFill>
                <a:cs typeface="Times New Roman" panose="02020603050405020304" pitchFamily="18" charset="0"/>
              </a:rPr>
              <a:t>use cases </a:t>
            </a:r>
            <a:r>
              <a:rPr lang="en-US" altLang="en-US" dirty="0">
                <a:solidFill>
                  <a:srgbClr val="292526"/>
                </a:solidFill>
                <a:cs typeface="Times New Roman" panose="02020603050405020304" pitchFamily="18" charset="0"/>
              </a:rPr>
              <a:t>and problem </a:t>
            </a:r>
            <a:r>
              <a:rPr lang="en-US" altLang="en-US" b="1" dirty="0">
                <a:solidFill>
                  <a:srgbClr val="C00000"/>
                </a:solidFill>
                <a:cs typeface="Times New Roman" panose="02020603050405020304" pitchFamily="18" charset="0"/>
              </a:rPr>
              <a:t>domain classes</a:t>
            </a:r>
          </a:p>
          <a:p>
            <a:pPr>
              <a:spcBef>
                <a:spcPts val="0"/>
              </a:spcBef>
            </a:pPr>
            <a:r>
              <a:rPr lang="en-US" altLang="en-US" dirty="0">
                <a:solidFill>
                  <a:srgbClr val="292526"/>
                </a:solidFill>
                <a:cs typeface="Times New Roman" panose="02020603050405020304" pitchFamily="18" charset="0"/>
              </a:rPr>
              <a:t>To identify and analyze events and resulting </a:t>
            </a:r>
            <a:r>
              <a:rPr lang="en-US" altLang="en-US">
                <a:solidFill>
                  <a:srgbClr val="292526"/>
                </a:solidFill>
                <a:cs typeface="Times New Roman" panose="02020603050405020304" pitchFamily="18" charset="0"/>
              </a:rPr>
              <a:t>use cases </a:t>
            </a:r>
            <a:r>
              <a:rPr lang="en-US" altLang="en-US" dirty="0">
                <a:solidFill>
                  <a:srgbClr val="292526"/>
                </a:solidFill>
                <a:cs typeface="Times New Roman" panose="02020603050405020304" pitchFamily="18" charset="0"/>
              </a:rPr>
              <a:t>for </a:t>
            </a:r>
            <a:r>
              <a:rPr lang="en-US" altLang="en-US" b="1" dirty="0">
                <a:solidFill>
                  <a:srgbClr val="C00000"/>
                </a:solidFill>
                <a:cs typeface="Times New Roman" panose="02020603050405020304" pitchFamily="18" charset="0"/>
              </a:rPr>
              <a:t>use case diagram</a:t>
            </a:r>
          </a:p>
          <a:p>
            <a:pPr>
              <a:spcBef>
                <a:spcPts val="0"/>
              </a:spcBef>
            </a:pPr>
            <a:r>
              <a:rPr lang="en-US" altLang="en-US" dirty="0">
                <a:solidFill>
                  <a:srgbClr val="292526"/>
                </a:solidFill>
                <a:cs typeface="Times New Roman" panose="02020603050405020304" pitchFamily="18" charset="0"/>
              </a:rPr>
              <a:t>To identify and analyze domain classes for </a:t>
            </a:r>
            <a:r>
              <a:rPr lang="en-US" altLang="en-US" b="1" dirty="0">
                <a:solidFill>
                  <a:srgbClr val="C00000"/>
                </a:solidFill>
                <a:cs typeface="Times New Roman" panose="02020603050405020304" pitchFamily="18" charset="0"/>
              </a:rPr>
              <a:t>domain model class diagram</a:t>
            </a:r>
          </a:p>
          <a:p>
            <a:pPr>
              <a:spcBef>
                <a:spcPts val="0"/>
              </a:spcBef>
            </a:pPr>
            <a:r>
              <a:rPr lang="en-US" altLang="en-US" dirty="0">
                <a:solidFill>
                  <a:srgbClr val="292526"/>
                </a:solidFill>
                <a:cs typeface="Times New Roman" panose="02020603050405020304" pitchFamily="18" charset="0"/>
              </a:rPr>
              <a:t>To produce </a:t>
            </a:r>
            <a:r>
              <a:rPr lang="en-US" altLang="en-US" b="1" dirty="0">
                <a:solidFill>
                  <a:srgbClr val="C00000"/>
                </a:solidFill>
                <a:cs typeface="Times New Roman" panose="02020603050405020304" pitchFamily="18" charset="0"/>
              </a:rPr>
              <a:t>detail requirements </a:t>
            </a:r>
            <a:r>
              <a:rPr lang="en-US" altLang="en-US">
                <a:solidFill>
                  <a:srgbClr val="292526"/>
                </a:solidFill>
                <a:cs typeface="Times New Roman" panose="02020603050405020304" pitchFamily="18" charset="0"/>
              </a:rPr>
              <a:t>using sequence </a:t>
            </a:r>
            <a:r>
              <a:rPr lang="en-US" altLang="en-US" dirty="0">
                <a:solidFill>
                  <a:srgbClr val="292526"/>
                </a:solidFill>
                <a:cs typeface="Times New Roman" panose="02020603050405020304" pitchFamily="18" charset="0"/>
              </a:rPr>
              <a:t>diagram, activity diagram and </a:t>
            </a:r>
            <a:r>
              <a:rPr lang="en-US" altLang="en-US">
                <a:solidFill>
                  <a:srgbClr val="292526"/>
                </a:solidFill>
                <a:cs typeface="Times New Roman" panose="02020603050405020304" pitchFamily="18" charset="0"/>
              </a:rPr>
              <a:t>state chart/state </a:t>
            </a:r>
            <a:r>
              <a:rPr lang="en-US" altLang="en-US" dirty="0">
                <a:solidFill>
                  <a:srgbClr val="292526"/>
                </a:solidFill>
                <a:cs typeface="Times New Roman" panose="02020603050405020304" pitchFamily="18" charset="0"/>
              </a:rPr>
              <a:t>machine diagram</a:t>
            </a:r>
            <a:endParaRPr lang="en-US" altLang="en-US" dirty="0">
              <a:solidFill>
                <a:srgbClr val="000000"/>
              </a:solidFill>
              <a:cs typeface="Times New Roman" panose="02020603050405020304" pitchFamily="18" charset="0"/>
            </a:endParaRPr>
          </a:p>
          <a:p>
            <a:endParaRPr lang="en-MY" dirty="0"/>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4</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4254666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a:xfrm>
            <a:off x="457200" y="1600200"/>
            <a:ext cx="8458200" cy="4525963"/>
          </a:xfrm>
        </p:spPr>
        <p:txBody>
          <a:bodyPr>
            <a:noAutofit/>
          </a:bodyPr>
          <a:lstStyle/>
          <a:p>
            <a:r>
              <a:rPr lang="en-US" sz="2800" dirty="0"/>
              <a:t>System modeling is the process of developing </a:t>
            </a:r>
            <a:r>
              <a:rPr lang="en-US" sz="2800" dirty="0">
                <a:solidFill>
                  <a:srgbClr val="C00000"/>
                </a:solidFill>
              </a:rPr>
              <a:t>abstract models of a system</a:t>
            </a:r>
            <a:r>
              <a:rPr lang="en-US" sz="2800" dirty="0"/>
              <a:t>, with each model presenting a different view or perspective of that system</a:t>
            </a:r>
          </a:p>
          <a:p>
            <a:r>
              <a:rPr lang="en-US" sz="2800" dirty="0"/>
              <a:t>System modeling represents a system using </a:t>
            </a:r>
            <a:r>
              <a:rPr lang="en-US" sz="2800" dirty="0">
                <a:solidFill>
                  <a:srgbClr val="C00000"/>
                </a:solidFill>
              </a:rPr>
              <a:t>graphical notation</a:t>
            </a:r>
            <a:r>
              <a:rPr lang="en-US" sz="2800" dirty="0"/>
              <a:t>, which is now almost always based on notations in the </a:t>
            </a:r>
            <a:r>
              <a:rPr lang="en-US" sz="2800" dirty="0">
                <a:solidFill>
                  <a:srgbClr val="C00000"/>
                </a:solidFill>
              </a:rPr>
              <a:t>Unified Modeling Language (UML)</a:t>
            </a:r>
            <a:endParaRPr lang="en-US" sz="2800" dirty="0"/>
          </a:p>
          <a:p>
            <a:r>
              <a:rPr lang="en-GB" sz="2800" dirty="0"/>
              <a:t>System </a:t>
            </a:r>
            <a:r>
              <a:rPr lang="en-GB" sz="2800" dirty="0" err="1"/>
              <a:t>modeling</a:t>
            </a:r>
            <a:r>
              <a:rPr lang="en-GB" sz="2800" dirty="0"/>
              <a:t> helps the analyst to understand the </a:t>
            </a:r>
            <a:r>
              <a:rPr lang="en-GB" sz="2800" dirty="0">
                <a:solidFill>
                  <a:srgbClr val="C00000"/>
                </a:solidFill>
              </a:rPr>
              <a:t>functionality of the system </a:t>
            </a:r>
            <a:r>
              <a:rPr lang="en-GB" sz="2800" dirty="0"/>
              <a:t>and models are used to communicate with customers</a:t>
            </a:r>
          </a:p>
          <a:p>
            <a:endParaRPr lang="en-US" sz="2800" dirty="0"/>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6" name="Date Placeholder 5"/>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1890003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normAutofit fontScale="90000"/>
          </a:bodyPr>
          <a:lstStyle/>
          <a:p>
            <a:r>
              <a:rPr lang="en-GB" dirty="0"/>
              <a:t>Existing </a:t>
            </a:r>
            <a:r>
              <a:rPr lang="en-GB"/>
              <a:t>and Planned System Models</a:t>
            </a:r>
            <a:endParaRPr lang="en-GB" dirty="0"/>
          </a:p>
        </p:txBody>
      </p:sp>
      <p:sp>
        <p:nvSpPr>
          <p:cNvPr id="7171" name="Rectangle 3"/>
          <p:cNvSpPr>
            <a:spLocks noGrp="1" noChangeArrowheads="1"/>
          </p:cNvSpPr>
          <p:nvPr>
            <p:ph idx="1"/>
          </p:nvPr>
        </p:nvSpPr>
        <p:spPr>
          <a:xfrm>
            <a:off x="457200" y="1600200"/>
            <a:ext cx="8534400" cy="4525963"/>
          </a:xfrm>
          <a:noFill/>
          <a:ln/>
        </p:spPr>
        <p:txBody>
          <a:bodyPr lIns="90487" tIns="44450" rIns="90487" bIns="44450">
            <a:noAutofit/>
          </a:bodyPr>
          <a:lstStyle/>
          <a:p>
            <a:r>
              <a:rPr lang="en-US" sz="2800" dirty="0"/>
              <a:t>Models of the </a:t>
            </a:r>
            <a:r>
              <a:rPr lang="en-US" sz="2800" dirty="0">
                <a:solidFill>
                  <a:srgbClr val="C00000"/>
                </a:solidFill>
              </a:rPr>
              <a:t>existing system </a:t>
            </a:r>
            <a:r>
              <a:rPr lang="en-US" sz="2800" dirty="0"/>
              <a:t>are used during requirements engineering</a:t>
            </a:r>
          </a:p>
          <a:p>
            <a:pPr lvl="1"/>
            <a:r>
              <a:rPr lang="en-US" sz="2400" dirty="0"/>
              <a:t>They help clarify what the existing system does and can be used as a </a:t>
            </a:r>
            <a:r>
              <a:rPr lang="en-US" sz="2400" dirty="0">
                <a:solidFill>
                  <a:srgbClr val="C00000"/>
                </a:solidFill>
              </a:rPr>
              <a:t>basis for discussing its strengths and weaknesses</a:t>
            </a:r>
            <a:endParaRPr lang="en-US" sz="2400" dirty="0"/>
          </a:p>
          <a:p>
            <a:pPr lvl="1"/>
            <a:r>
              <a:rPr lang="en-US" sz="2400" dirty="0"/>
              <a:t>These then lead to requirements for the new system</a:t>
            </a:r>
            <a:endParaRPr lang="en-GB" sz="2400" dirty="0"/>
          </a:p>
          <a:p>
            <a:r>
              <a:rPr lang="en-US" sz="2800" dirty="0"/>
              <a:t>Models of the </a:t>
            </a:r>
            <a:r>
              <a:rPr lang="en-US" sz="2800" dirty="0">
                <a:solidFill>
                  <a:srgbClr val="C00000"/>
                </a:solidFill>
              </a:rPr>
              <a:t>new system </a:t>
            </a:r>
            <a:r>
              <a:rPr lang="en-US" sz="2800" dirty="0"/>
              <a:t>are used during requirements engineering to help </a:t>
            </a:r>
            <a:r>
              <a:rPr lang="en-US" sz="2800" dirty="0">
                <a:solidFill>
                  <a:srgbClr val="C00000"/>
                </a:solidFill>
              </a:rPr>
              <a:t>explain the proposed requirements to other system stakeholders</a:t>
            </a:r>
          </a:p>
          <a:p>
            <a:pPr lvl="1"/>
            <a:r>
              <a:rPr lang="en-US" sz="2400" dirty="0"/>
              <a:t>Engineers use these models to discuss design proposals and to document the system for implementation</a:t>
            </a:r>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2" name="Date Placeholder 1"/>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124199104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System Perspectives</a:t>
            </a:r>
            <a:endParaRPr lang="en-US" dirty="0"/>
          </a:p>
        </p:txBody>
      </p:sp>
      <p:sp>
        <p:nvSpPr>
          <p:cNvPr id="3" name="Content Placeholder 2"/>
          <p:cNvSpPr>
            <a:spLocks noGrp="1"/>
          </p:cNvSpPr>
          <p:nvPr>
            <p:ph idx="1"/>
          </p:nvPr>
        </p:nvSpPr>
        <p:spPr>
          <a:xfrm>
            <a:off x="457200" y="1600200"/>
            <a:ext cx="8229600" cy="4724400"/>
          </a:xfrm>
        </p:spPr>
        <p:txBody>
          <a:bodyPr>
            <a:normAutofit fontScale="85000" lnSpcReduction="10000"/>
          </a:bodyPr>
          <a:lstStyle/>
          <a:p>
            <a:r>
              <a:rPr lang="en-US" dirty="0"/>
              <a:t>An </a:t>
            </a:r>
            <a:r>
              <a:rPr lang="en-US" b="1" dirty="0">
                <a:solidFill>
                  <a:srgbClr val="C00000"/>
                </a:solidFill>
              </a:rPr>
              <a:t>external</a:t>
            </a:r>
            <a:r>
              <a:rPr lang="en-US" dirty="0"/>
              <a:t> perspective: model the context or environment of the system</a:t>
            </a:r>
            <a:endParaRPr lang="en-GB" dirty="0"/>
          </a:p>
          <a:p>
            <a:r>
              <a:rPr lang="en-US" dirty="0"/>
              <a:t>An </a:t>
            </a:r>
            <a:r>
              <a:rPr lang="en-US" b="1" dirty="0">
                <a:solidFill>
                  <a:srgbClr val="C00000"/>
                </a:solidFill>
              </a:rPr>
              <a:t>interaction</a:t>
            </a:r>
            <a:r>
              <a:rPr lang="en-US" dirty="0"/>
              <a:t> perspective: model the interactions between a system and its environment, or between the components of a system</a:t>
            </a:r>
            <a:endParaRPr lang="en-GB" dirty="0"/>
          </a:p>
          <a:p>
            <a:r>
              <a:rPr lang="en-US" dirty="0"/>
              <a:t>A </a:t>
            </a:r>
            <a:r>
              <a:rPr lang="en-US" b="1" dirty="0">
                <a:solidFill>
                  <a:srgbClr val="C00000"/>
                </a:solidFill>
              </a:rPr>
              <a:t>structural</a:t>
            </a:r>
            <a:r>
              <a:rPr lang="en-US" dirty="0"/>
              <a:t> perspective: model the organization of a system or the structure of the data that is processed by the system</a:t>
            </a:r>
            <a:endParaRPr lang="en-GB" dirty="0"/>
          </a:p>
          <a:p>
            <a:r>
              <a:rPr lang="en-US" dirty="0"/>
              <a:t>A </a:t>
            </a:r>
            <a:r>
              <a:rPr lang="en-US" b="1" dirty="0">
                <a:solidFill>
                  <a:srgbClr val="C00000"/>
                </a:solidFill>
              </a:rPr>
              <a:t>behavioral </a:t>
            </a:r>
            <a:r>
              <a:rPr lang="en-US" dirty="0"/>
              <a:t>perspective: model the dynamic behavior of the system and how it responds to events</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3876525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Context Model</a:t>
            </a:r>
          </a:p>
        </p:txBody>
      </p:sp>
      <p:sp>
        <p:nvSpPr>
          <p:cNvPr id="3" name="Content Placeholder 2"/>
          <p:cNvSpPr>
            <a:spLocks noGrp="1"/>
          </p:cNvSpPr>
          <p:nvPr>
            <p:ph idx="1"/>
          </p:nvPr>
        </p:nvSpPr>
        <p:spPr>
          <a:xfrm>
            <a:off x="457200" y="1600201"/>
            <a:ext cx="8229600" cy="2590800"/>
          </a:xfrm>
        </p:spPr>
        <p:txBody>
          <a:bodyPr>
            <a:normAutofit fontScale="85000" lnSpcReduction="20000"/>
          </a:bodyPr>
          <a:lstStyle/>
          <a:p>
            <a:r>
              <a:rPr lang="en-GB" dirty="0"/>
              <a:t>Context models are used to illustrate the </a:t>
            </a:r>
            <a:r>
              <a:rPr lang="en-GB" b="1" dirty="0">
                <a:solidFill>
                  <a:srgbClr val="C00000"/>
                </a:solidFill>
              </a:rPr>
              <a:t>operational context of a system </a:t>
            </a:r>
            <a:r>
              <a:rPr lang="en-GB" dirty="0"/>
              <a:t>- they show what lies outside the system boundaries</a:t>
            </a:r>
          </a:p>
          <a:p>
            <a:r>
              <a:rPr lang="en-GB" dirty="0"/>
              <a:t>Social and organisational concerns may affect the decision on where to position system boundaries</a:t>
            </a:r>
          </a:p>
          <a:p>
            <a:r>
              <a:rPr lang="en-GB" dirty="0"/>
              <a:t>Architectural models show the system and its relationship with other systems</a:t>
            </a:r>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8</a:t>
            </a:fld>
            <a:endParaRPr lang="en-US"/>
          </a:p>
        </p:txBody>
      </p:sp>
      <p:pic>
        <p:nvPicPr>
          <p:cNvPr id="7" name="Picture 6" descr="5.1 Mentcare contex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3457" y="4191001"/>
            <a:ext cx="3429000" cy="2160000"/>
          </a:xfrm>
          <a:prstGeom prst="rect">
            <a:avLst/>
          </a:prstGeom>
        </p:spPr>
      </p:pic>
      <p:sp>
        <p:nvSpPr>
          <p:cNvPr id="8" name="TextBox 7"/>
          <p:cNvSpPr txBox="1"/>
          <p:nvPr/>
        </p:nvSpPr>
        <p:spPr>
          <a:xfrm>
            <a:off x="6248400" y="4572000"/>
            <a:ext cx="1905000" cy="646331"/>
          </a:xfrm>
          <a:prstGeom prst="rect">
            <a:avLst/>
          </a:prstGeom>
          <a:noFill/>
        </p:spPr>
        <p:txBody>
          <a:bodyPr wrap="square" rtlCol="0">
            <a:spAutoFit/>
          </a:bodyPr>
          <a:lstStyle/>
          <a:p>
            <a:r>
              <a:rPr lang="en-MY"/>
              <a:t>The context of Mentcare system</a:t>
            </a:r>
          </a:p>
        </p:txBody>
      </p:sp>
    </p:spTree>
    <p:extLst>
      <p:ext uri="{BB962C8B-B14F-4D97-AF65-F5344CB8AC3E}">
        <p14:creationId xmlns:p14="http://schemas.microsoft.com/office/powerpoint/2010/main" val="1102608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UML Diagram Types</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solidFill>
                  <a:srgbClr val="C00000"/>
                </a:solidFill>
              </a:rPr>
              <a:t>Activity diagrams</a:t>
            </a:r>
            <a:r>
              <a:rPr lang="en-US" b="1" dirty="0"/>
              <a:t> </a:t>
            </a:r>
            <a:r>
              <a:rPr lang="en-US" dirty="0"/>
              <a:t>show the activities involved in a process or in data processing</a:t>
            </a:r>
            <a:endParaRPr lang="en-GB" dirty="0"/>
          </a:p>
          <a:p>
            <a:r>
              <a:rPr lang="en-US" b="1" dirty="0">
                <a:solidFill>
                  <a:srgbClr val="C00000"/>
                </a:solidFill>
              </a:rPr>
              <a:t>Use case diagrams</a:t>
            </a:r>
            <a:r>
              <a:rPr lang="en-US" b="1" dirty="0"/>
              <a:t> </a:t>
            </a:r>
            <a:r>
              <a:rPr lang="en-US" dirty="0"/>
              <a:t>show the interactions between a system and its environment</a:t>
            </a:r>
            <a:endParaRPr lang="en-GB" dirty="0"/>
          </a:p>
          <a:p>
            <a:r>
              <a:rPr lang="en-US" b="1" dirty="0">
                <a:solidFill>
                  <a:srgbClr val="C00000"/>
                </a:solidFill>
              </a:rPr>
              <a:t>Sequence diagrams</a:t>
            </a:r>
            <a:r>
              <a:rPr lang="en-US" b="1" dirty="0"/>
              <a:t> </a:t>
            </a:r>
            <a:r>
              <a:rPr lang="en-US" dirty="0"/>
              <a:t>show interactions between actors and the system and between system components</a:t>
            </a:r>
            <a:endParaRPr lang="en-GB" dirty="0"/>
          </a:p>
          <a:p>
            <a:r>
              <a:rPr lang="en-US" b="1" dirty="0">
                <a:solidFill>
                  <a:srgbClr val="C00000"/>
                </a:solidFill>
              </a:rPr>
              <a:t>Class diagrams</a:t>
            </a:r>
            <a:r>
              <a:rPr lang="en-US" b="1" dirty="0"/>
              <a:t> </a:t>
            </a:r>
            <a:r>
              <a:rPr lang="en-US" dirty="0"/>
              <a:t>show the object classes in the system and the associations between these classes</a:t>
            </a:r>
            <a:endParaRPr lang="en-GB" dirty="0"/>
          </a:p>
          <a:p>
            <a:r>
              <a:rPr lang="en-US" b="1" dirty="0">
                <a:solidFill>
                  <a:srgbClr val="C00000"/>
                </a:solidFill>
              </a:rPr>
              <a:t>State diagrams </a:t>
            </a:r>
            <a:r>
              <a:rPr lang="en-US" dirty="0"/>
              <a:t>show how the system reacts to internal and external events</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2985442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a:t>
            </a:r>
            <a:r>
              <a:rPr lang="en-US"/>
              <a:t>of Graphical </a:t>
            </a:r>
            <a:r>
              <a:rPr lang="en-US" dirty="0"/>
              <a:t>M</a:t>
            </a:r>
            <a:r>
              <a:rPr lang="en-US"/>
              <a:t>odels</a:t>
            </a:r>
            <a:endParaRPr lang="en-US" dirty="0"/>
          </a:p>
        </p:txBody>
      </p:sp>
      <p:sp>
        <p:nvSpPr>
          <p:cNvPr id="3" name="Content Placeholder 2"/>
          <p:cNvSpPr>
            <a:spLocks noGrp="1"/>
          </p:cNvSpPr>
          <p:nvPr>
            <p:ph idx="1"/>
          </p:nvPr>
        </p:nvSpPr>
        <p:spPr/>
        <p:txBody>
          <a:bodyPr>
            <a:normAutofit fontScale="92500" lnSpcReduction="10000"/>
          </a:bodyPr>
          <a:lstStyle/>
          <a:p>
            <a:r>
              <a:rPr lang="en-US" dirty="0"/>
              <a:t>As a means of </a:t>
            </a:r>
            <a:r>
              <a:rPr lang="en-US" dirty="0">
                <a:solidFill>
                  <a:srgbClr val="C00000"/>
                </a:solidFill>
              </a:rPr>
              <a:t>facilitating discussion </a:t>
            </a:r>
            <a:r>
              <a:rPr lang="en-US" dirty="0"/>
              <a:t>about an existing or proposed system</a:t>
            </a:r>
          </a:p>
          <a:p>
            <a:pPr lvl="1"/>
            <a:r>
              <a:rPr lang="en-US" dirty="0"/>
              <a:t>Incomplete and incorrect models are fine at the early stage as their role is to support discussion</a:t>
            </a:r>
            <a:endParaRPr lang="en-GB" dirty="0"/>
          </a:p>
          <a:p>
            <a:r>
              <a:rPr lang="en-US" dirty="0"/>
              <a:t>As a way of </a:t>
            </a:r>
            <a:r>
              <a:rPr lang="en-US" dirty="0">
                <a:solidFill>
                  <a:srgbClr val="C00000"/>
                </a:solidFill>
              </a:rPr>
              <a:t>documenting</a:t>
            </a:r>
            <a:r>
              <a:rPr lang="en-US" dirty="0"/>
              <a:t> an existing system</a:t>
            </a:r>
          </a:p>
          <a:p>
            <a:pPr lvl="1"/>
            <a:r>
              <a:rPr lang="en-US" dirty="0"/>
              <a:t>Models should be an accurate representation of the system but need not be complete</a:t>
            </a:r>
            <a:endParaRPr lang="en-GB" dirty="0"/>
          </a:p>
          <a:p>
            <a:r>
              <a:rPr lang="en-US" dirty="0"/>
              <a:t>As a </a:t>
            </a:r>
            <a:r>
              <a:rPr lang="en-US" dirty="0">
                <a:solidFill>
                  <a:srgbClr val="C00000"/>
                </a:solidFill>
              </a:rPr>
              <a:t>detailed system description </a:t>
            </a:r>
            <a:r>
              <a:rPr lang="en-US" dirty="0"/>
              <a:t>that can be used to generate a system implementation</a:t>
            </a:r>
          </a:p>
          <a:p>
            <a:pPr lvl="1"/>
            <a:r>
              <a:rPr lang="en-US" dirty="0"/>
              <a:t>Models have to be both correct and complete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Software Engineering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US"/>
              <a:t>2020</a:t>
            </a:r>
          </a:p>
        </p:txBody>
      </p:sp>
    </p:spTree>
    <p:extLst>
      <p:ext uri="{BB962C8B-B14F-4D97-AF65-F5344CB8AC3E}">
        <p14:creationId xmlns:p14="http://schemas.microsoft.com/office/powerpoint/2010/main" val="4107246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noAutofit/>
          </a:bodyPr>
          <a:lstStyle/>
          <a:p>
            <a:r>
              <a:rPr lang="en-US" dirty="0"/>
              <a:t>Ways of Writing a System Requirements Specification </a:t>
            </a:r>
            <a:endParaRPr lang="en-MY" dirty="0"/>
          </a:p>
        </p:txBody>
      </p:sp>
      <p:graphicFrame>
        <p:nvGraphicFramePr>
          <p:cNvPr id="9" name="Content Placeholder 8"/>
          <p:cNvGraphicFramePr>
            <a:graphicFrameLocks noGrp="1"/>
          </p:cNvGraphicFramePr>
          <p:nvPr>
            <p:ph idx="1"/>
          </p:nvPr>
        </p:nvGraphicFramePr>
        <p:xfrm>
          <a:off x="457200" y="1600200"/>
          <a:ext cx="8229600" cy="4724399"/>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xmlns="" val="20000"/>
                    </a:ext>
                  </a:extLst>
                </a:gridCol>
                <a:gridCol w="5867400">
                  <a:extLst>
                    <a:ext uri="{9D8B030D-6E8A-4147-A177-3AD203B41FA5}">
                      <a16:colId xmlns:a16="http://schemas.microsoft.com/office/drawing/2014/main" xmlns="" val="20001"/>
                    </a:ext>
                  </a:extLst>
                </a:gridCol>
              </a:tblGrid>
              <a:tr h="393251">
                <a:tc>
                  <a:txBody>
                    <a:bodyPr/>
                    <a:lstStyle/>
                    <a:p>
                      <a:pPr algn="ctr"/>
                      <a:r>
                        <a:rPr lang="en-MY" sz="1400" dirty="0">
                          <a:solidFill>
                            <a:schemeClr val="tx1"/>
                          </a:solidFill>
                          <a:latin typeface="Arial" panose="020B0604020202020204" pitchFamily="34" charset="0"/>
                          <a:cs typeface="Arial" panose="020B0604020202020204" pitchFamily="34" charset="0"/>
                        </a:rPr>
                        <a:t>Notation </a:t>
                      </a:r>
                    </a:p>
                  </a:txBody>
                  <a:tcPr/>
                </a:tc>
                <a:tc>
                  <a:txBody>
                    <a:bodyPr/>
                    <a:lstStyle/>
                    <a:p>
                      <a:pPr algn="ctr"/>
                      <a:r>
                        <a:rPr lang="en-MY" sz="1400" dirty="0">
                          <a:solidFill>
                            <a:schemeClr val="tx1"/>
                          </a:solidFill>
                          <a:latin typeface="Arial" panose="020B0604020202020204" pitchFamily="34" charset="0"/>
                          <a:cs typeface="Arial" panose="020B0604020202020204" pitchFamily="34" charset="0"/>
                        </a:rPr>
                        <a:t>Description </a:t>
                      </a:r>
                    </a:p>
                  </a:txBody>
                  <a:tcPr/>
                </a:tc>
                <a:extLst>
                  <a:ext uri="{0D108BD9-81ED-4DB2-BD59-A6C34878D82A}">
                    <a16:rowId xmlns:a16="http://schemas.microsoft.com/office/drawing/2014/main" xmlns="" val="10000"/>
                  </a:ext>
                </a:extLst>
              </a:tr>
              <a:tr h="549474">
                <a:tc>
                  <a:txBody>
                    <a:bodyPr/>
                    <a:lstStyle/>
                    <a:p>
                      <a:pPr algn="l"/>
                      <a:r>
                        <a:rPr lang="en-MY" sz="1400" dirty="0">
                          <a:latin typeface="Arial" panose="020B0604020202020204" pitchFamily="34" charset="0"/>
                          <a:cs typeface="Arial" panose="020B0604020202020204" pitchFamily="34" charset="0"/>
                        </a:rPr>
                        <a:t>Natural language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The requirements are written using numbered sentences in natural language. Each sentence should express one requirement.</a:t>
                      </a:r>
                      <a:endParaRPr lang="en-MY"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1"/>
                  </a:ext>
                </a:extLst>
              </a:tr>
              <a:tr h="775728">
                <a:tc>
                  <a:txBody>
                    <a:bodyPr/>
                    <a:lstStyle/>
                    <a:p>
                      <a:pPr algn="l"/>
                      <a:r>
                        <a:rPr lang="en-MY" sz="1400" dirty="0">
                          <a:latin typeface="Arial" panose="020B0604020202020204" pitchFamily="34" charset="0"/>
                          <a:cs typeface="Arial" panose="020B0604020202020204" pitchFamily="34" charset="0"/>
                        </a:rPr>
                        <a:t>Structured natural language</a:t>
                      </a:r>
                    </a:p>
                  </a:txBody>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The requirements are written in natural language on a standard form or template. Each field provides information about an aspect of the requirement.</a:t>
                      </a:r>
                    </a:p>
                  </a:txBody>
                  <a:tcPr/>
                </a:tc>
                <a:extLst>
                  <a:ext uri="{0D108BD9-81ED-4DB2-BD59-A6C34878D82A}">
                    <a16:rowId xmlns:a16="http://schemas.microsoft.com/office/drawing/2014/main" xmlns="" val="10002"/>
                  </a:ext>
                </a:extLst>
              </a:tr>
              <a:tr h="1001982">
                <a:tc>
                  <a:txBody>
                    <a:bodyPr/>
                    <a:lstStyle/>
                    <a:p>
                      <a:pPr algn="l"/>
                      <a:r>
                        <a:rPr lang="en-MY" sz="1400" dirty="0">
                          <a:latin typeface="Arial" panose="020B0604020202020204" pitchFamily="34" charset="0"/>
                          <a:cs typeface="Arial" panose="020B0604020202020204" pitchFamily="34" charset="0"/>
                        </a:rPr>
                        <a:t>Design description language</a:t>
                      </a:r>
                    </a:p>
                  </a:txBody>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a:tc>
                <a:extLst>
                  <a:ext uri="{0D108BD9-81ED-4DB2-BD59-A6C34878D82A}">
                    <a16:rowId xmlns:a16="http://schemas.microsoft.com/office/drawing/2014/main" xmlns="" val="10003"/>
                  </a:ext>
                </a:extLst>
              </a:tr>
              <a:tr h="775728">
                <a:tc>
                  <a:txBody>
                    <a:bodyPr/>
                    <a:lstStyle/>
                    <a:p>
                      <a:pPr algn="l"/>
                      <a:r>
                        <a:rPr lang="en-MY" sz="1400" dirty="0">
                          <a:latin typeface="Arial" panose="020B0604020202020204" pitchFamily="34" charset="0"/>
                          <a:cs typeface="Arial" panose="020B0604020202020204" pitchFamily="34" charset="0"/>
                        </a:rPr>
                        <a:t>Graphical notations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Graphical models, supplemented by text annotations, are used to define the functional requirements for the system; UML use case and sequence diagrams are commonly used.</a:t>
                      </a:r>
                      <a:endParaRPr lang="en-MY"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xmlns="" val="10004"/>
                  </a:ext>
                </a:extLst>
              </a:tr>
              <a:tr h="1228236">
                <a:tc>
                  <a:txBody>
                    <a:bodyPr/>
                    <a:lstStyle/>
                    <a:p>
                      <a:pPr algn="l"/>
                      <a:r>
                        <a:rPr lang="en-MY" sz="1400" dirty="0">
                          <a:latin typeface="Arial" panose="020B0604020202020204" pitchFamily="34" charset="0"/>
                          <a:cs typeface="Arial" panose="020B0604020202020204" pitchFamily="34" charset="0"/>
                        </a:rPr>
                        <a:t>Mathematical</a:t>
                      </a:r>
                      <a:r>
                        <a:rPr lang="en-MY" sz="1400" baseline="0" dirty="0">
                          <a:latin typeface="Arial" panose="020B0604020202020204" pitchFamily="34" charset="0"/>
                          <a:cs typeface="Arial" panose="020B0604020202020204" pitchFamily="34" charset="0"/>
                        </a:rPr>
                        <a:t> specifications</a:t>
                      </a:r>
                      <a:endParaRPr lang="en-MY" sz="1400" dirty="0">
                        <a:latin typeface="Arial" panose="020B0604020202020204" pitchFamily="34" charset="0"/>
                        <a:cs typeface="Arial" panose="020B0604020202020204" pitchFamily="34" charset="0"/>
                      </a:endParaRPr>
                    </a:p>
                  </a:txBody>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These notations are based on mathematical concepts such as finite-state machines or sets. Although these unambiguous specifications can reduce the ambiguity in a requirements document, most customers don</a:t>
                      </a:r>
                      <a:r>
                        <a:rPr kumimoji="0" lang="en-GB" altLang="en-US"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a:t>
                      </a:r>
                      <a:r>
                        <a:rPr kumimoji="0" lang="en-GB" sz="14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t understand a formal specification. They cannot check that it represents what they want and are reluctant to accept it as a system contract.</a:t>
                      </a:r>
                    </a:p>
                  </a:txBody>
                  <a:tcPr/>
                </a:tc>
                <a:extLst>
                  <a:ext uri="{0D108BD9-81ED-4DB2-BD59-A6C34878D82A}">
                    <a16:rowId xmlns:a16="http://schemas.microsoft.com/office/drawing/2014/main" xmlns="" val="10005"/>
                  </a:ext>
                </a:extLst>
              </a:tr>
            </a:tbl>
          </a:graphicData>
        </a:graphic>
      </p:graphicFrame>
      <p:sp>
        <p:nvSpPr>
          <p:cNvPr id="7" name="Oval Callout 6"/>
          <p:cNvSpPr/>
          <p:nvPr/>
        </p:nvSpPr>
        <p:spPr>
          <a:xfrm>
            <a:off x="7848600" y="723900"/>
            <a:ext cx="1219200" cy="612648"/>
          </a:xfrm>
          <a:prstGeom prst="wedgeEllipseCallout">
            <a:avLst>
              <a:gd name="adj1" fmla="val -61184"/>
              <a:gd name="adj2" fmla="val 782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Recall</a:t>
            </a:r>
          </a:p>
        </p:txBody>
      </p:sp>
      <p:sp>
        <p:nvSpPr>
          <p:cNvPr id="3" name="Rectangle 2"/>
          <p:cNvSpPr/>
          <p:nvPr/>
        </p:nvSpPr>
        <p:spPr>
          <a:xfrm>
            <a:off x="320842" y="2514600"/>
            <a:ext cx="8458200" cy="838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Rectangle 9"/>
          <p:cNvSpPr/>
          <p:nvPr/>
        </p:nvSpPr>
        <p:spPr>
          <a:xfrm>
            <a:off x="328864" y="4287252"/>
            <a:ext cx="8458200" cy="838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Footer Placeholder 13"/>
          <p:cNvSpPr>
            <a:spLocks noGrp="1"/>
          </p:cNvSpPr>
          <p:nvPr>
            <p:ph type="ftr" sz="quarter" idx="11"/>
          </p:nvPr>
        </p:nvSpPr>
        <p:spPr/>
        <p:txBody>
          <a:bodyPr/>
          <a:lstStyle/>
          <a:p>
            <a:r>
              <a:rPr lang="en-MY"/>
              <a:t>Software Engineering</a:t>
            </a:r>
            <a:endParaRPr lang="en-US"/>
          </a:p>
        </p:txBody>
      </p:sp>
      <p:sp>
        <p:nvSpPr>
          <p:cNvPr id="15" name="Slide Number Placeholder 14"/>
          <p:cNvSpPr>
            <a:spLocks noGrp="1"/>
          </p:cNvSpPr>
          <p:nvPr>
            <p:ph type="sldNum" sz="quarter" idx="12"/>
          </p:nvPr>
        </p:nvSpPr>
        <p:spPr/>
        <p:txBody>
          <a:bodyPr/>
          <a:lstStyle/>
          <a:p>
            <a:fld id="{0362C787-829C-4B6B-B21B-90D8981190F3}" type="slidenum">
              <a:rPr lang="en-US" smtClean="0"/>
              <a:pPr/>
              <a:t>11</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76144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Interaction model</a:t>
            </a:r>
          </a:p>
        </p:txBody>
      </p:sp>
      <p:sp>
        <p:nvSpPr>
          <p:cNvPr id="3" name="Text Placeholder 2"/>
          <p:cNvSpPr>
            <a:spLocks noGrp="1"/>
          </p:cNvSpPr>
          <p:nvPr>
            <p:ph type="body" idx="1"/>
          </p:nvPr>
        </p:nvSpPr>
        <p:spPr/>
        <p:txBody>
          <a:bodyPr/>
          <a:lstStyle/>
          <a:p>
            <a:r>
              <a:rPr lang="en-MY"/>
              <a:t>Use Case Diagram</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12</a:t>
            </a:fld>
            <a:endParaRPr lang="en-US"/>
          </a:p>
        </p:txBody>
      </p:sp>
    </p:spTree>
    <p:extLst>
      <p:ext uri="{BB962C8B-B14F-4D97-AF65-F5344CB8AC3E}">
        <p14:creationId xmlns:p14="http://schemas.microsoft.com/office/powerpoint/2010/main" val="2125309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Interaction Model</a:t>
            </a:r>
          </a:p>
        </p:txBody>
      </p:sp>
      <p:sp>
        <p:nvSpPr>
          <p:cNvPr id="3" name="Content Placeholder 2"/>
          <p:cNvSpPr>
            <a:spLocks noGrp="1"/>
          </p:cNvSpPr>
          <p:nvPr>
            <p:ph idx="1"/>
          </p:nvPr>
        </p:nvSpPr>
        <p:spPr/>
        <p:txBody>
          <a:bodyPr>
            <a:normAutofit fontScale="85000" lnSpcReduction="10000"/>
          </a:bodyPr>
          <a:lstStyle/>
          <a:p>
            <a:r>
              <a:rPr lang="en-US" dirty="0"/>
              <a:t>Modeling </a:t>
            </a:r>
            <a:r>
              <a:rPr lang="en-US" dirty="0">
                <a:solidFill>
                  <a:srgbClr val="C00000"/>
                </a:solidFill>
              </a:rPr>
              <a:t>user interaction</a:t>
            </a:r>
            <a:r>
              <a:rPr lang="en-US" dirty="0"/>
              <a:t> is important as it helps to identify user requirements</a:t>
            </a:r>
          </a:p>
          <a:p>
            <a:r>
              <a:rPr lang="en-US" dirty="0"/>
              <a:t>Modeling </a:t>
            </a:r>
            <a:r>
              <a:rPr lang="en-US" dirty="0">
                <a:solidFill>
                  <a:srgbClr val="C00000"/>
                </a:solidFill>
              </a:rPr>
              <a:t>system-to-system interaction</a:t>
            </a:r>
            <a:r>
              <a:rPr lang="en-US" dirty="0"/>
              <a:t> highlights the communication problems that may arise</a:t>
            </a:r>
          </a:p>
          <a:p>
            <a:r>
              <a:rPr lang="en-US" dirty="0"/>
              <a:t>Modeling </a:t>
            </a:r>
            <a:r>
              <a:rPr lang="en-US" dirty="0">
                <a:solidFill>
                  <a:srgbClr val="C00000"/>
                </a:solidFill>
              </a:rPr>
              <a:t>component interaction</a:t>
            </a:r>
            <a:r>
              <a:rPr lang="en-US" dirty="0"/>
              <a:t> helps us understand if a proposed system structure is likely to deliver the required system performance and dependability</a:t>
            </a:r>
            <a:endParaRPr lang="en-GB" dirty="0"/>
          </a:p>
          <a:p>
            <a:r>
              <a:rPr lang="en-GB" dirty="0">
                <a:solidFill>
                  <a:srgbClr val="C00000"/>
                </a:solidFill>
              </a:rPr>
              <a:t>Use case diagrams </a:t>
            </a:r>
            <a:r>
              <a:rPr lang="en-GB" dirty="0"/>
              <a:t>and </a:t>
            </a:r>
            <a:r>
              <a:rPr lang="en-GB" dirty="0">
                <a:solidFill>
                  <a:srgbClr val="C00000"/>
                </a:solidFill>
              </a:rPr>
              <a:t>sequence diagrams </a:t>
            </a:r>
            <a:r>
              <a:rPr lang="en-GB" dirty="0"/>
              <a:t>may be used for interaction </a:t>
            </a:r>
            <a:r>
              <a:rPr lang="en-GB" dirty="0" err="1"/>
              <a:t>modeling</a:t>
            </a:r>
            <a:endParaRPr lang="en-GB" dirty="0"/>
          </a:p>
          <a:p>
            <a:r>
              <a:rPr lang="en-GB" dirty="0"/>
              <a:t>For the scope of this course, </a:t>
            </a:r>
            <a:r>
              <a:rPr lang="en-GB" dirty="0">
                <a:solidFill>
                  <a:srgbClr val="C00000"/>
                </a:solidFill>
              </a:rPr>
              <a:t>sequence diagrams </a:t>
            </a:r>
            <a:r>
              <a:rPr lang="en-GB" dirty="0"/>
              <a:t>will be discussed later under </a:t>
            </a:r>
            <a:r>
              <a:rPr lang="en-GB" dirty="0">
                <a:solidFill>
                  <a:srgbClr val="C00000"/>
                </a:solidFill>
              </a:rPr>
              <a:t>behavioural model</a:t>
            </a:r>
            <a:endParaRPr lang="en-GB" dirty="0"/>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13</a:t>
            </a:fld>
            <a:endParaRPr lang="en-US"/>
          </a:p>
        </p:txBody>
      </p:sp>
    </p:spTree>
    <p:extLst>
      <p:ext uri="{BB962C8B-B14F-4D97-AF65-F5344CB8AC3E}">
        <p14:creationId xmlns:p14="http://schemas.microsoft.com/office/powerpoint/2010/main" val="2850272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Use Case Modeling</a:t>
            </a:r>
          </a:p>
        </p:txBody>
      </p:sp>
      <p:sp>
        <p:nvSpPr>
          <p:cNvPr id="3" name="Content Placeholder 2"/>
          <p:cNvSpPr>
            <a:spLocks noGrp="1"/>
          </p:cNvSpPr>
          <p:nvPr>
            <p:ph idx="1"/>
          </p:nvPr>
        </p:nvSpPr>
        <p:spPr/>
        <p:txBody>
          <a:bodyPr>
            <a:normAutofit fontScale="92500" lnSpcReduction="10000"/>
          </a:bodyPr>
          <a:lstStyle/>
          <a:p>
            <a:r>
              <a:rPr lang="en-US" dirty="0"/>
              <a:t>Use cases were developed originally to support requirements elicitation and now incorporated into the UML</a:t>
            </a:r>
          </a:p>
          <a:p>
            <a:r>
              <a:rPr lang="en-US" dirty="0"/>
              <a:t>Each use case represents a </a:t>
            </a:r>
            <a:r>
              <a:rPr lang="en-US" b="1" dirty="0">
                <a:solidFill>
                  <a:srgbClr val="C00000"/>
                </a:solidFill>
              </a:rPr>
              <a:t>discrete task </a:t>
            </a:r>
            <a:r>
              <a:rPr lang="en-US" dirty="0"/>
              <a:t>that involves external interaction with a system</a:t>
            </a:r>
          </a:p>
          <a:p>
            <a:r>
              <a:rPr lang="en-US" dirty="0"/>
              <a:t>Actors in a use case may be people or other systems</a:t>
            </a:r>
          </a:p>
          <a:p>
            <a:r>
              <a:rPr lang="en-US" dirty="0"/>
              <a:t>Represented </a:t>
            </a:r>
            <a:r>
              <a:rPr lang="en-US" b="1" dirty="0">
                <a:solidFill>
                  <a:srgbClr val="C00000"/>
                </a:solidFill>
              </a:rPr>
              <a:t>diagrammatically</a:t>
            </a:r>
            <a:r>
              <a:rPr lang="en-US" dirty="0"/>
              <a:t> to provide an overview of the use case and in a more detailed </a:t>
            </a:r>
            <a:r>
              <a:rPr lang="en-US" b="1" dirty="0">
                <a:solidFill>
                  <a:srgbClr val="C00000"/>
                </a:solidFill>
              </a:rPr>
              <a:t>textual form</a:t>
            </a:r>
            <a:endParaRPr lang="en-US" dirty="0"/>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14</a:t>
            </a:fld>
            <a:endParaRPr lang="en-US"/>
          </a:p>
        </p:txBody>
      </p:sp>
    </p:spTree>
    <p:extLst>
      <p:ext uri="{BB962C8B-B14F-4D97-AF65-F5344CB8AC3E}">
        <p14:creationId xmlns:p14="http://schemas.microsoft.com/office/powerpoint/2010/main" val="519952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Stereotypes in UML</a:t>
            </a:r>
          </a:p>
        </p:txBody>
      </p:sp>
      <p:sp>
        <p:nvSpPr>
          <p:cNvPr id="3" name="Content Placeholder 2"/>
          <p:cNvSpPr>
            <a:spLocks noGrp="1"/>
          </p:cNvSpPr>
          <p:nvPr>
            <p:ph idx="1"/>
          </p:nvPr>
        </p:nvSpPr>
        <p:spPr/>
        <p:txBody>
          <a:bodyPr>
            <a:normAutofit fontScale="92500" lnSpcReduction="20000"/>
          </a:bodyPr>
          <a:lstStyle/>
          <a:p>
            <a:r>
              <a:rPr lang="en-MY" dirty="0"/>
              <a:t>Stereotypes allow us to </a:t>
            </a:r>
            <a:r>
              <a:rPr lang="en-MY" dirty="0">
                <a:solidFill>
                  <a:srgbClr val="C00000"/>
                </a:solidFill>
              </a:rPr>
              <a:t>introduce new </a:t>
            </a:r>
            <a:r>
              <a:rPr lang="en-MY" dirty="0" err="1">
                <a:solidFill>
                  <a:srgbClr val="C00000"/>
                </a:solidFill>
              </a:rPr>
              <a:t>modeling</a:t>
            </a:r>
            <a:r>
              <a:rPr lang="en-MY" dirty="0">
                <a:solidFill>
                  <a:srgbClr val="C00000"/>
                </a:solidFill>
              </a:rPr>
              <a:t> elements</a:t>
            </a:r>
            <a:r>
              <a:rPr lang="en-MY" dirty="0"/>
              <a:t> based on existing elements</a:t>
            </a:r>
          </a:p>
          <a:p>
            <a:r>
              <a:rPr lang="en-MY" dirty="0"/>
              <a:t>Can do this by appending the stereotype name in </a:t>
            </a:r>
            <a:r>
              <a:rPr lang="en-MY" dirty="0">
                <a:solidFill>
                  <a:srgbClr val="C00000"/>
                </a:solidFill>
              </a:rPr>
              <a:t>guillemots («…») </a:t>
            </a:r>
            <a:r>
              <a:rPr lang="en-MY" dirty="0"/>
              <a:t>to the new element</a:t>
            </a:r>
          </a:p>
          <a:p>
            <a:r>
              <a:rPr lang="en-MY" dirty="0"/>
              <a:t>Each model element can have at most one stereotype</a:t>
            </a:r>
          </a:p>
          <a:p>
            <a:r>
              <a:rPr lang="en-MY" dirty="0"/>
              <a:t>Examples: </a:t>
            </a:r>
          </a:p>
          <a:p>
            <a:pPr marL="971550" lvl="1" indent="-514350">
              <a:buFont typeface="+mj-lt"/>
              <a:buAutoNum type="arabicPeriod"/>
            </a:pPr>
            <a:r>
              <a:rPr lang="en-MY" dirty="0"/>
              <a:t>&lt;&lt;include&gt;&gt;, &lt;&lt;extend&gt;&gt; in use case relationship</a:t>
            </a:r>
          </a:p>
          <a:p>
            <a:pPr marL="971550" lvl="1" indent="-514350">
              <a:buFont typeface="+mj-lt"/>
              <a:buAutoNum type="arabicPeriod"/>
            </a:pPr>
            <a:r>
              <a:rPr lang="en-MY" dirty="0"/>
              <a:t>&lt;&lt;entity&gt;&gt;, &lt;&lt;controller&gt;&gt;, &lt;&lt;boundary&gt;&gt; in class diagram as class stereotypes</a:t>
            </a:r>
          </a:p>
          <a:p>
            <a:pPr marL="971550" lvl="1" indent="-514350">
              <a:buFont typeface="+mj-lt"/>
              <a:buAutoNum type="arabicPeriod"/>
            </a:pPr>
            <a:r>
              <a:rPr lang="en-MY" dirty="0"/>
              <a:t>&lt;&lt;package&gt;&gt;, &lt;&lt;subsystem&gt;&gt; in package diagram </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15</a:t>
            </a:fld>
            <a:endParaRPr lang="en-US"/>
          </a:p>
        </p:txBody>
      </p:sp>
    </p:spTree>
    <p:extLst>
      <p:ext uri="{BB962C8B-B14F-4D97-AF65-F5344CB8AC3E}">
        <p14:creationId xmlns:p14="http://schemas.microsoft.com/office/powerpoint/2010/main" val="3764306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Use Case Diagram: Notation</a:t>
            </a:r>
          </a:p>
        </p:txBody>
      </p:sp>
      <p:pic>
        <p:nvPicPr>
          <p:cNvPr id="7" name="Content Placeholder 6"/>
          <p:cNvPicPr>
            <a:picLocks noGrp="1" noChangeAspect="1"/>
          </p:cNvPicPr>
          <p:nvPr>
            <p:ph idx="1"/>
          </p:nvPr>
        </p:nvPicPr>
        <p:blipFill>
          <a:blip r:embed="rId2"/>
          <a:stretch>
            <a:fillRect/>
          </a:stretch>
        </p:blipFill>
        <p:spPr>
          <a:xfrm>
            <a:off x="2064654" y="1899910"/>
            <a:ext cx="6896100" cy="414337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16</a:t>
            </a:fld>
            <a:endParaRPr lang="en-US"/>
          </a:p>
        </p:txBody>
      </p:sp>
      <p:pic>
        <p:nvPicPr>
          <p:cNvPr id="8" name="Picture 7"/>
          <p:cNvPicPr>
            <a:picLocks noChangeAspect="1"/>
          </p:cNvPicPr>
          <p:nvPr/>
        </p:nvPicPr>
        <p:blipFill>
          <a:blip r:embed="rId3"/>
          <a:stretch>
            <a:fillRect/>
          </a:stretch>
        </p:blipFill>
        <p:spPr>
          <a:xfrm>
            <a:off x="235856" y="2496584"/>
            <a:ext cx="1905000" cy="1409700"/>
          </a:xfrm>
          <a:prstGeom prst="rect">
            <a:avLst/>
          </a:prstGeom>
        </p:spPr>
      </p:pic>
      <p:pic>
        <p:nvPicPr>
          <p:cNvPr id="9" name="Picture 8"/>
          <p:cNvPicPr>
            <a:picLocks noChangeAspect="1"/>
          </p:cNvPicPr>
          <p:nvPr/>
        </p:nvPicPr>
        <p:blipFill>
          <a:blip r:embed="rId4"/>
          <a:stretch>
            <a:fillRect/>
          </a:stretch>
        </p:blipFill>
        <p:spPr>
          <a:xfrm>
            <a:off x="257627" y="3961074"/>
            <a:ext cx="1838325" cy="1638300"/>
          </a:xfrm>
          <a:prstGeom prst="rect">
            <a:avLst/>
          </a:prstGeom>
        </p:spPr>
      </p:pic>
    </p:spTree>
    <p:extLst>
      <p:ext uri="{BB962C8B-B14F-4D97-AF65-F5344CB8AC3E}">
        <p14:creationId xmlns:p14="http://schemas.microsoft.com/office/powerpoint/2010/main" val="1345067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Use Case Diagram for </a:t>
            </a:r>
            <a:r>
              <a:rPr lang="en-US" dirty="0" err="1"/>
              <a:t>Mentcare</a:t>
            </a:r>
            <a:r>
              <a:rPr lang="en-US" dirty="0"/>
              <a:t> System</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17</a:t>
            </a:fld>
            <a:endParaRPr lang="en-US"/>
          </a:p>
        </p:txBody>
      </p:sp>
      <p:pic>
        <p:nvPicPr>
          <p:cNvPr id="7" name="Content Placeholder 6" descr="5.5 RecepUseCases.eps"/>
          <p:cNvPicPr>
            <a:picLocks noGrp="1" noChangeAspect="1"/>
          </p:cNvPicPr>
          <p:nvPr>
            <p:ph idx="1"/>
          </p:nvPr>
        </p:nvPicPr>
        <p:blipFill>
          <a:blip r:embed="rId2"/>
          <a:stretch>
            <a:fillRect/>
          </a:stretch>
        </p:blipFill>
        <p:spPr>
          <a:xfrm>
            <a:off x="2546604" y="1927859"/>
            <a:ext cx="3854195" cy="4161301"/>
          </a:xfrm>
          <a:prstGeom prst="rect">
            <a:avLst/>
          </a:prstGeom>
        </p:spPr>
      </p:pic>
      <p:sp>
        <p:nvSpPr>
          <p:cNvPr id="8" name="TextBox 7"/>
          <p:cNvSpPr txBox="1"/>
          <p:nvPr/>
        </p:nvSpPr>
        <p:spPr>
          <a:xfrm>
            <a:off x="838200" y="6033543"/>
            <a:ext cx="8077200" cy="369332"/>
          </a:xfrm>
          <a:prstGeom prst="rect">
            <a:avLst/>
          </a:prstGeom>
          <a:noFill/>
        </p:spPr>
        <p:txBody>
          <a:bodyPr wrap="square" rtlCol="0">
            <a:spAutoFit/>
          </a:bodyPr>
          <a:lstStyle/>
          <a:p>
            <a:r>
              <a:rPr lang="en-US"/>
              <a:t>Note: Use cases in the Mentcare system involving the role ‘Medical Receptionist’</a:t>
            </a:r>
            <a:endParaRPr lang="en-MY"/>
          </a:p>
        </p:txBody>
      </p:sp>
      <p:grpSp>
        <p:nvGrpSpPr>
          <p:cNvPr id="10" name="Group 9">
            <a:extLst>
              <a:ext uri="{FF2B5EF4-FFF2-40B4-BE49-F238E27FC236}">
                <a16:creationId xmlns:a16="http://schemas.microsoft.com/office/drawing/2014/main" xmlns="" id="{266CBFFF-8743-4FE8-801F-3D89660BCE24}"/>
              </a:ext>
            </a:extLst>
          </p:cNvPr>
          <p:cNvGrpSpPr/>
          <p:nvPr/>
        </p:nvGrpSpPr>
        <p:grpSpPr>
          <a:xfrm>
            <a:off x="3657600" y="1499513"/>
            <a:ext cx="2895600" cy="4461454"/>
            <a:chOff x="3657600" y="1499513"/>
            <a:chExt cx="2895600" cy="4461454"/>
          </a:xfrm>
        </p:grpSpPr>
        <p:sp>
          <p:nvSpPr>
            <p:cNvPr id="3" name="Rectangle 2">
              <a:extLst>
                <a:ext uri="{FF2B5EF4-FFF2-40B4-BE49-F238E27FC236}">
                  <a16:creationId xmlns:a16="http://schemas.microsoft.com/office/drawing/2014/main" xmlns="" id="{7B5C3D3C-7621-4F96-B383-A8C9B5040CE9}"/>
                </a:ext>
              </a:extLst>
            </p:cNvPr>
            <p:cNvSpPr/>
            <p:nvPr/>
          </p:nvSpPr>
          <p:spPr>
            <a:xfrm>
              <a:off x="3657600" y="1509410"/>
              <a:ext cx="2895600" cy="445155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xmlns="" id="{A75AD4DB-042A-4FAE-B61B-3C15DADF41D2}"/>
                </a:ext>
              </a:extLst>
            </p:cNvPr>
            <p:cNvSpPr txBox="1"/>
            <p:nvPr/>
          </p:nvSpPr>
          <p:spPr>
            <a:xfrm>
              <a:off x="4200665" y="1499513"/>
              <a:ext cx="1809470" cy="369332"/>
            </a:xfrm>
            <a:prstGeom prst="rect">
              <a:avLst/>
            </a:prstGeom>
            <a:noFill/>
          </p:spPr>
          <p:txBody>
            <a:bodyPr wrap="none" rtlCol="0">
              <a:spAutoFit/>
            </a:bodyPr>
            <a:lstStyle/>
            <a:p>
              <a:r>
                <a:rPr lang="en-MY" dirty="0" err="1"/>
                <a:t>Mentcare</a:t>
              </a:r>
              <a:r>
                <a:rPr lang="en-MY" dirty="0"/>
                <a:t> System</a:t>
              </a:r>
              <a:endParaRPr lang="en-GB" dirty="0"/>
            </a:p>
          </p:txBody>
        </p:sp>
      </p:grpSp>
    </p:spTree>
    <p:extLst>
      <p:ext uri="{BB962C8B-B14F-4D97-AF65-F5344CB8AC3E}">
        <p14:creationId xmlns:p14="http://schemas.microsoft.com/office/powerpoint/2010/main" val="949802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Use Case Description</a:t>
            </a:r>
          </a:p>
        </p:txBody>
      </p:sp>
      <p:pic>
        <p:nvPicPr>
          <p:cNvPr id="7" name="Content Placeholder 6"/>
          <p:cNvPicPr>
            <a:picLocks noGrp="1" noChangeAspect="1"/>
          </p:cNvPicPr>
          <p:nvPr>
            <p:ph idx="1"/>
          </p:nvPr>
        </p:nvPicPr>
        <p:blipFill>
          <a:blip r:embed="rId2"/>
          <a:stretch>
            <a:fillRect/>
          </a:stretch>
        </p:blipFill>
        <p:spPr>
          <a:xfrm>
            <a:off x="2590800" y="1684711"/>
            <a:ext cx="6477000" cy="441960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18</a:t>
            </a:fld>
            <a:endParaRPr lang="en-US"/>
          </a:p>
        </p:txBody>
      </p:sp>
      <p:pic>
        <p:nvPicPr>
          <p:cNvPr id="8" name="Picture 7"/>
          <p:cNvPicPr>
            <a:picLocks noChangeAspect="1"/>
          </p:cNvPicPr>
          <p:nvPr/>
        </p:nvPicPr>
        <p:blipFill>
          <a:blip r:embed="rId3"/>
          <a:stretch>
            <a:fillRect/>
          </a:stretch>
        </p:blipFill>
        <p:spPr>
          <a:xfrm>
            <a:off x="271008" y="1790826"/>
            <a:ext cx="1943100" cy="2457450"/>
          </a:xfrm>
          <a:prstGeom prst="rect">
            <a:avLst/>
          </a:prstGeom>
        </p:spPr>
      </p:pic>
      <p:pic>
        <p:nvPicPr>
          <p:cNvPr id="9" name="Picture 8"/>
          <p:cNvPicPr>
            <a:picLocks noChangeAspect="1"/>
          </p:cNvPicPr>
          <p:nvPr/>
        </p:nvPicPr>
        <p:blipFill>
          <a:blip r:embed="rId4"/>
          <a:stretch>
            <a:fillRect/>
          </a:stretch>
        </p:blipFill>
        <p:spPr>
          <a:xfrm>
            <a:off x="342446" y="4572000"/>
            <a:ext cx="1800225" cy="1038225"/>
          </a:xfrm>
          <a:prstGeom prst="rect">
            <a:avLst/>
          </a:prstGeom>
        </p:spPr>
      </p:pic>
    </p:spTree>
    <p:extLst>
      <p:ext uri="{BB962C8B-B14F-4D97-AF65-F5344CB8AC3E}">
        <p14:creationId xmlns:p14="http://schemas.microsoft.com/office/powerpoint/2010/main" val="704943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Branching within a Flow and </a:t>
            </a:r>
            <a:br>
              <a:rPr lang="en-MY"/>
            </a:br>
            <a:r>
              <a:rPr lang="en-MY"/>
              <a:t>Alternative Flow</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19</a:t>
            </a:fld>
            <a:endParaRPr lang="en-US"/>
          </a:p>
        </p:txBody>
      </p:sp>
      <p:pic>
        <p:nvPicPr>
          <p:cNvPr id="8" name="Picture 7"/>
          <p:cNvPicPr>
            <a:picLocks noChangeAspect="1"/>
          </p:cNvPicPr>
          <p:nvPr/>
        </p:nvPicPr>
        <p:blipFill>
          <a:blip r:embed="rId2"/>
          <a:stretch>
            <a:fillRect/>
          </a:stretch>
        </p:blipFill>
        <p:spPr>
          <a:xfrm>
            <a:off x="551541" y="1660663"/>
            <a:ext cx="4538517" cy="4405031"/>
          </a:xfrm>
          <a:prstGeom prst="rect">
            <a:avLst/>
          </a:prstGeom>
        </p:spPr>
      </p:pic>
      <p:pic>
        <p:nvPicPr>
          <p:cNvPr id="10" name="Content Placeholder 9"/>
          <p:cNvPicPr>
            <a:picLocks noGrp="1" noChangeAspect="1"/>
          </p:cNvPicPr>
          <p:nvPr>
            <p:ph idx="1"/>
          </p:nvPr>
        </p:nvPicPr>
        <p:blipFill>
          <a:blip r:embed="rId3"/>
          <a:stretch>
            <a:fillRect/>
          </a:stretch>
        </p:blipFill>
        <p:spPr>
          <a:xfrm>
            <a:off x="5439228" y="1660663"/>
            <a:ext cx="2958500" cy="4525963"/>
          </a:xfrm>
          <a:prstGeom prst="rect">
            <a:avLst/>
          </a:prstGeom>
        </p:spPr>
      </p:pic>
    </p:spTree>
    <p:extLst>
      <p:ext uri="{BB962C8B-B14F-4D97-AF65-F5344CB8AC3E}">
        <p14:creationId xmlns:p14="http://schemas.microsoft.com/office/powerpoint/2010/main" val="3097011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Repitition within a Flow: For/While</a:t>
            </a:r>
          </a:p>
        </p:txBody>
      </p:sp>
      <p:pic>
        <p:nvPicPr>
          <p:cNvPr id="7" name="Content Placeholder 6"/>
          <p:cNvPicPr>
            <a:picLocks noGrp="1" noChangeAspect="1"/>
          </p:cNvPicPr>
          <p:nvPr>
            <p:ph idx="1"/>
          </p:nvPr>
        </p:nvPicPr>
        <p:blipFill>
          <a:blip r:embed="rId2"/>
          <a:stretch>
            <a:fillRect/>
          </a:stretch>
        </p:blipFill>
        <p:spPr>
          <a:xfrm>
            <a:off x="205164" y="1676400"/>
            <a:ext cx="4376366" cy="423960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20</a:t>
            </a:fld>
            <a:endParaRPr lang="en-US"/>
          </a:p>
        </p:txBody>
      </p:sp>
      <p:pic>
        <p:nvPicPr>
          <p:cNvPr id="8" name="Picture 7"/>
          <p:cNvPicPr>
            <a:picLocks noChangeAspect="1"/>
          </p:cNvPicPr>
          <p:nvPr/>
        </p:nvPicPr>
        <p:blipFill>
          <a:blip r:embed="rId3"/>
          <a:stretch>
            <a:fillRect/>
          </a:stretch>
        </p:blipFill>
        <p:spPr>
          <a:xfrm>
            <a:off x="4724400" y="1676400"/>
            <a:ext cx="4191376" cy="3672855"/>
          </a:xfrm>
          <a:prstGeom prst="rect">
            <a:avLst/>
          </a:prstGeom>
        </p:spPr>
      </p:pic>
    </p:spTree>
    <p:extLst>
      <p:ext uri="{BB962C8B-B14F-4D97-AF65-F5344CB8AC3E}">
        <p14:creationId xmlns:p14="http://schemas.microsoft.com/office/powerpoint/2010/main" val="3371854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&lt;&lt;include&gt;&gt; Relationship</a:t>
            </a:r>
          </a:p>
        </p:txBody>
      </p:sp>
      <p:pic>
        <p:nvPicPr>
          <p:cNvPr id="7" name="Content Placeholder 6"/>
          <p:cNvPicPr>
            <a:picLocks noGrp="1" noChangeAspect="1"/>
          </p:cNvPicPr>
          <p:nvPr>
            <p:ph idx="1"/>
          </p:nvPr>
        </p:nvPicPr>
        <p:blipFill>
          <a:blip r:embed="rId2"/>
          <a:stretch>
            <a:fillRect/>
          </a:stretch>
        </p:blipFill>
        <p:spPr>
          <a:xfrm>
            <a:off x="2971800" y="1539866"/>
            <a:ext cx="5140761" cy="2179634"/>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21</a:t>
            </a:fld>
            <a:endParaRPr lang="en-US"/>
          </a:p>
        </p:txBody>
      </p:sp>
      <p:pic>
        <p:nvPicPr>
          <p:cNvPr id="8" name="Picture 7"/>
          <p:cNvPicPr>
            <a:picLocks noChangeAspect="1"/>
          </p:cNvPicPr>
          <p:nvPr/>
        </p:nvPicPr>
        <p:blipFill>
          <a:blip r:embed="rId3"/>
          <a:stretch>
            <a:fillRect/>
          </a:stretch>
        </p:blipFill>
        <p:spPr>
          <a:xfrm>
            <a:off x="838200" y="1672288"/>
            <a:ext cx="1962150" cy="1857375"/>
          </a:xfrm>
          <a:prstGeom prst="rect">
            <a:avLst/>
          </a:prstGeom>
        </p:spPr>
      </p:pic>
      <p:pic>
        <p:nvPicPr>
          <p:cNvPr id="9" name="Picture 8"/>
          <p:cNvPicPr>
            <a:picLocks noChangeAspect="1"/>
          </p:cNvPicPr>
          <p:nvPr/>
        </p:nvPicPr>
        <p:blipFill>
          <a:blip r:embed="rId4"/>
          <a:stretch>
            <a:fillRect/>
          </a:stretch>
        </p:blipFill>
        <p:spPr>
          <a:xfrm>
            <a:off x="0" y="3779556"/>
            <a:ext cx="9144000" cy="2615259"/>
          </a:xfrm>
          <a:prstGeom prst="rect">
            <a:avLst/>
          </a:prstGeom>
        </p:spPr>
      </p:pic>
    </p:spTree>
    <p:extLst>
      <p:ext uri="{BB962C8B-B14F-4D97-AF65-F5344CB8AC3E}">
        <p14:creationId xmlns:p14="http://schemas.microsoft.com/office/powerpoint/2010/main" val="781476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&lt;&lt;extend&gt;&gt; Relationship</a:t>
            </a:r>
          </a:p>
        </p:txBody>
      </p:sp>
      <p:pic>
        <p:nvPicPr>
          <p:cNvPr id="7" name="Content Placeholder 6"/>
          <p:cNvPicPr>
            <a:picLocks noGrp="1" noChangeAspect="1"/>
          </p:cNvPicPr>
          <p:nvPr>
            <p:ph idx="1"/>
          </p:nvPr>
        </p:nvPicPr>
        <p:blipFill>
          <a:blip r:embed="rId2"/>
          <a:stretch>
            <a:fillRect/>
          </a:stretch>
        </p:blipFill>
        <p:spPr>
          <a:xfrm>
            <a:off x="4542972" y="1469572"/>
            <a:ext cx="4572000" cy="2180683"/>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22</a:t>
            </a:fld>
            <a:endParaRPr lang="en-US"/>
          </a:p>
        </p:txBody>
      </p:sp>
      <p:pic>
        <p:nvPicPr>
          <p:cNvPr id="8" name="Picture 7"/>
          <p:cNvPicPr>
            <a:picLocks noChangeAspect="1"/>
          </p:cNvPicPr>
          <p:nvPr/>
        </p:nvPicPr>
        <p:blipFill>
          <a:blip r:embed="rId3"/>
          <a:stretch>
            <a:fillRect/>
          </a:stretch>
        </p:blipFill>
        <p:spPr>
          <a:xfrm>
            <a:off x="1981200" y="1594075"/>
            <a:ext cx="1876425" cy="1314450"/>
          </a:xfrm>
          <a:prstGeom prst="rect">
            <a:avLst/>
          </a:prstGeom>
        </p:spPr>
      </p:pic>
      <p:pic>
        <p:nvPicPr>
          <p:cNvPr id="3" name="Picture 2">
            <a:extLst>
              <a:ext uri="{FF2B5EF4-FFF2-40B4-BE49-F238E27FC236}">
                <a16:creationId xmlns:a16="http://schemas.microsoft.com/office/drawing/2014/main" xmlns="" id="{6568E2AC-B1D7-45E2-B721-155E605DBB69}"/>
              </a:ext>
            </a:extLst>
          </p:cNvPr>
          <p:cNvPicPr>
            <a:picLocks noChangeAspect="1"/>
          </p:cNvPicPr>
          <p:nvPr/>
        </p:nvPicPr>
        <p:blipFill>
          <a:blip r:embed="rId4"/>
          <a:stretch>
            <a:fillRect/>
          </a:stretch>
        </p:blipFill>
        <p:spPr>
          <a:xfrm>
            <a:off x="445770" y="3092582"/>
            <a:ext cx="3576584" cy="3185699"/>
          </a:xfrm>
          <a:prstGeom prst="rect">
            <a:avLst/>
          </a:prstGeom>
        </p:spPr>
      </p:pic>
    </p:spTree>
    <p:extLst>
      <p:ext uri="{BB962C8B-B14F-4D97-AF65-F5344CB8AC3E}">
        <p14:creationId xmlns:p14="http://schemas.microsoft.com/office/powerpoint/2010/main" val="2593273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Use Case Diagram for </a:t>
            </a:r>
            <a:br>
              <a:rPr lang="en-MY"/>
            </a:br>
            <a:r>
              <a:rPr lang="en-MY"/>
              <a:t>e-Commerce System</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23</a:t>
            </a:fld>
            <a:endParaRPr lang="en-US"/>
          </a:p>
        </p:txBody>
      </p:sp>
      <p:pic>
        <p:nvPicPr>
          <p:cNvPr id="13" name="Content Placeholder 12">
            <a:extLst>
              <a:ext uri="{FF2B5EF4-FFF2-40B4-BE49-F238E27FC236}">
                <a16:creationId xmlns:a16="http://schemas.microsoft.com/office/drawing/2014/main" xmlns="" id="{E227AC87-EF93-43D8-8945-3E10B3875666}"/>
              </a:ext>
            </a:extLst>
          </p:cNvPr>
          <p:cNvPicPr>
            <a:picLocks noGrp="1" noChangeAspect="1"/>
          </p:cNvPicPr>
          <p:nvPr>
            <p:ph idx="1"/>
          </p:nvPr>
        </p:nvPicPr>
        <p:blipFill>
          <a:blip r:embed="rId2"/>
          <a:stretch>
            <a:fillRect/>
          </a:stretch>
        </p:blipFill>
        <p:spPr>
          <a:xfrm>
            <a:off x="1972744" y="1520190"/>
            <a:ext cx="5133473" cy="4876800"/>
          </a:xfrm>
          <a:prstGeom prst="rect">
            <a:avLst/>
          </a:prstGeom>
        </p:spPr>
      </p:pic>
    </p:spTree>
    <p:extLst>
      <p:ext uri="{BB962C8B-B14F-4D97-AF65-F5344CB8AC3E}">
        <p14:creationId xmlns:p14="http://schemas.microsoft.com/office/powerpoint/2010/main" val="1730400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Use Case Description for GoToCheckout</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24</a:t>
            </a:fld>
            <a:endParaRPr lang="en-US"/>
          </a:p>
        </p:txBody>
      </p:sp>
      <p:pic>
        <p:nvPicPr>
          <p:cNvPr id="8" name="Picture 7"/>
          <p:cNvPicPr>
            <a:picLocks noChangeAspect="1"/>
          </p:cNvPicPr>
          <p:nvPr/>
        </p:nvPicPr>
        <p:blipFill>
          <a:blip r:embed="rId2"/>
          <a:stretch>
            <a:fillRect/>
          </a:stretch>
        </p:blipFill>
        <p:spPr>
          <a:xfrm>
            <a:off x="4829718" y="1719943"/>
            <a:ext cx="4231770" cy="3918857"/>
          </a:xfrm>
          <a:prstGeom prst="rect">
            <a:avLst/>
          </a:prstGeom>
        </p:spPr>
      </p:pic>
      <p:pic>
        <p:nvPicPr>
          <p:cNvPr id="11" name="Content Placeholder 10">
            <a:extLst>
              <a:ext uri="{FF2B5EF4-FFF2-40B4-BE49-F238E27FC236}">
                <a16:creationId xmlns:a16="http://schemas.microsoft.com/office/drawing/2014/main" xmlns="" id="{A6507D30-AD75-40C0-82BA-200E04707B91}"/>
              </a:ext>
            </a:extLst>
          </p:cNvPr>
          <p:cNvPicPr>
            <a:picLocks noGrp="1" noChangeAspect="1"/>
          </p:cNvPicPr>
          <p:nvPr>
            <p:ph idx="1"/>
          </p:nvPr>
        </p:nvPicPr>
        <p:blipFill>
          <a:blip r:embed="rId3"/>
          <a:stretch>
            <a:fillRect/>
          </a:stretch>
        </p:blipFill>
        <p:spPr>
          <a:xfrm>
            <a:off x="0" y="2141083"/>
            <a:ext cx="4714875" cy="3076575"/>
          </a:xfrm>
          <a:prstGeom prst="rect">
            <a:avLst/>
          </a:prstGeom>
        </p:spPr>
      </p:pic>
      <p:sp>
        <p:nvSpPr>
          <p:cNvPr id="7" name="TextBox 6">
            <a:extLst>
              <a:ext uri="{FF2B5EF4-FFF2-40B4-BE49-F238E27FC236}">
                <a16:creationId xmlns:a16="http://schemas.microsoft.com/office/drawing/2014/main" xmlns="" id="{FFB4070B-AEB8-443D-B7AF-E385E9284CAB}"/>
              </a:ext>
            </a:extLst>
          </p:cNvPr>
          <p:cNvSpPr txBox="1"/>
          <p:nvPr/>
        </p:nvSpPr>
        <p:spPr>
          <a:xfrm>
            <a:off x="457200" y="5716336"/>
            <a:ext cx="8518236" cy="646331"/>
          </a:xfrm>
          <a:prstGeom prst="rect">
            <a:avLst/>
          </a:prstGeom>
          <a:noFill/>
        </p:spPr>
        <p:txBody>
          <a:bodyPr wrap="square" rtlCol="0">
            <a:spAutoFit/>
          </a:bodyPr>
          <a:lstStyle/>
          <a:p>
            <a:r>
              <a:rPr lang="en-MY" dirty="0">
                <a:solidFill>
                  <a:srgbClr val="FF0000"/>
                </a:solidFill>
              </a:rPr>
              <a:t>Note: Extension points for &lt;&lt;extend&gt;&gt; relationship can be stated before preconditions in the use case description and in the flow of events where the extension occurs</a:t>
            </a:r>
            <a:endParaRPr lang="en-GB" dirty="0">
              <a:solidFill>
                <a:srgbClr val="FF0000"/>
              </a:solidFill>
            </a:endParaRPr>
          </a:p>
        </p:txBody>
      </p:sp>
      <p:cxnSp>
        <p:nvCxnSpPr>
          <p:cNvPr id="10" name="Straight Arrow Connector 9">
            <a:extLst>
              <a:ext uri="{FF2B5EF4-FFF2-40B4-BE49-F238E27FC236}">
                <a16:creationId xmlns:a16="http://schemas.microsoft.com/office/drawing/2014/main" xmlns="" id="{22DFEC40-4DE9-4279-9247-C8F6C0A1D295}"/>
              </a:ext>
            </a:extLst>
          </p:cNvPr>
          <p:cNvCxnSpPr>
            <a:cxnSpLocks/>
          </p:cNvCxnSpPr>
          <p:nvPr/>
        </p:nvCxnSpPr>
        <p:spPr>
          <a:xfrm flipV="1">
            <a:off x="4495800" y="3200400"/>
            <a:ext cx="333918" cy="2438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xmlns="" id="{35F26CB8-E686-41D8-A4D7-23135FE3D434}"/>
              </a:ext>
            </a:extLst>
          </p:cNvPr>
          <p:cNvCxnSpPr/>
          <p:nvPr/>
        </p:nvCxnSpPr>
        <p:spPr>
          <a:xfrm flipV="1">
            <a:off x="4495800" y="5217658"/>
            <a:ext cx="762000" cy="42114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72512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MY" sz="3600"/>
              <a:t>Use Case Description for AcceptPaymentByCard and DisplayBasket</a:t>
            </a:r>
          </a:p>
        </p:txBody>
      </p:sp>
      <p:pic>
        <p:nvPicPr>
          <p:cNvPr id="7" name="Content Placeholder 6"/>
          <p:cNvPicPr>
            <a:picLocks noGrp="1" noChangeAspect="1"/>
          </p:cNvPicPr>
          <p:nvPr>
            <p:ph idx="1"/>
          </p:nvPr>
        </p:nvPicPr>
        <p:blipFill>
          <a:blip r:embed="rId2"/>
          <a:stretch>
            <a:fillRect/>
          </a:stretch>
        </p:blipFill>
        <p:spPr>
          <a:xfrm>
            <a:off x="148327" y="1553201"/>
            <a:ext cx="4422767" cy="312420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25</a:t>
            </a:fld>
            <a:endParaRPr lang="en-US"/>
          </a:p>
        </p:txBody>
      </p:sp>
      <p:pic>
        <p:nvPicPr>
          <p:cNvPr id="8" name="Picture 7">
            <a:extLst>
              <a:ext uri="{FF2B5EF4-FFF2-40B4-BE49-F238E27FC236}">
                <a16:creationId xmlns:a16="http://schemas.microsoft.com/office/drawing/2014/main" xmlns="" id="{E55F39CB-9DBF-4F60-A989-D82A89E8DF8E}"/>
              </a:ext>
            </a:extLst>
          </p:cNvPr>
          <p:cNvPicPr>
            <a:picLocks noChangeAspect="1"/>
          </p:cNvPicPr>
          <p:nvPr/>
        </p:nvPicPr>
        <p:blipFill>
          <a:blip r:embed="rId3"/>
          <a:stretch>
            <a:fillRect/>
          </a:stretch>
        </p:blipFill>
        <p:spPr>
          <a:xfrm>
            <a:off x="4658896" y="1534151"/>
            <a:ext cx="4314825" cy="3457575"/>
          </a:xfrm>
          <a:prstGeom prst="rect">
            <a:avLst/>
          </a:prstGeom>
        </p:spPr>
      </p:pic>
    </p:spTree>
    <p:extLst>
      <p:ext uri="{BB962C8B-B14F-4D97-AF65-F5344CB8AC3E}">
        <p14:creationId xmlns:p14="http://schemas.microsoft.com/office/powerpoint/2010/main" val="3436595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Structural model</a:t>
            </a:r>
          </a:p>
        </p:txBody>
      </p:sp>
      <p:sp>
        <p:nvSpPr>
          <p:cNvPr id="3" name="Text Placeholder 2"/>
          <p:cNvSpPr>
            <a:spLocks noGrp="1"/>
          </p:cNvSpPr>
          <p:nvPr>
            <p:ph type="body" idx="1"/>
          </p:nvPr>
        </p:nvSpPr>
        <p:spPr/>
        <p:txBody>
          <a:bodyPr/>
          <a:lstStyle/>
          <a:p>
            <a:r>
              <a:rPr lang="en-MY"/>
              <a:t>Class Diagram</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26</a:t>
            </a:fld>
            <a:endParaRPr lang="en-US"/>
          </a:p>
        </p:txBody>
      </p:sp>
    </p:spTree>
    <p:extLst>
      <p:ext uri="{BB962C8B-B14F-4D97-AF65-F5344CB8AC3E}">
        <p14:creationId xmlns:p14="http://schemas.microsoft.com/office/powerpoint/2010/main" val="3353706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Structural Models</a:t>
            </a:r>
          </a:p>
        </p:txBody>
      </p:sp>
      <p:sp>
        <p:nvSpPr>
          <p:cNvPr id="3" name="Content Placeholder 2"/>
          <p:cNvSpPr>
            <a:spLocks noGrp="1"/>
          </p:cNvSpPr>
          <p:nvPr>
            <p:ph idx="1"/>
          </p:nvPr>
        </p:nvSpPr>
        <p:spPr/>
        <p:txBody>
          <a:bodyPr>
            <a:normAutofit fontScale="92500" lnSpcReduction="10000"/>
          </a:bodyPr>
          <a:lstStyle/>
          <a:p>
            <a:r>
              <a:rPr lang="en-US" dirty="0"/>
              <a:t>Structural models of software display the </a:t>
            </a:r>
            <a:r>
              <a:rPr lang="en-US" b="1" dirty="0">
                <a:solidFill>
                  <a:srgbClr val="C00000"/>
                </a:solidFill>
              </a:rPr>
              <a:t>organization of a system </a:t>
            </a:r>
            <a:r>
              <a:rPr lang="en-US" dirty="0"/>
              <a:t>in terms of the components that make up that system and their relationships</a:t>
            </a:r>
          </a:p>
          <a:p>
            <a:r>
              <a:rPr lang="en-US" dirty="0"/>
              <a:t>Structural models may be </a:t>
            </a:r>
            <a:r>
              <a:rPr lang="en-US" b="1" dirty="0">
                <a:solidFill>
                  <a:srgbClr val="C00000"/>
                </a:solidFill>
              </a:rPr>
              <a:t>static models</a:t>
            </a:r>
            <a:r>
              <a:rPr lang="en-US" dirty="0"/>
              <a:t>, which show the structure of the system design, or </a:t>
            </a:r>
            <a:r>
              <a:rPr lang="en-US" b="1" dirty="0">
                <a:solidFill>
                  <a:srgbClr val="C00000"/>
                </a:solidFill>
              </a:rPr>
              <a:t>dynamic models</a:t>
            </a:r>
            <a:r>
              <a:rPr lang="en-US" dirty="0"/>
              <a:t>, which show the organization of the system when it is executing</a:t>
            </a:r>
          </a:p>
          <a:p>
            <a:r>
              <a:rPr lang="en-US" dirty="0"/>
              <a:t>Create structural models of a system when discussing and designing the system architecture </a:t>
            </a:r>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27</a:t>
            </a:fld>
            <a:endParaRPr lang="en-US"/>
          </a:p>
        </p:txBody>
      </p:sp>
    </p:spTree>
    <p:extLst>
      <p:ext uri="{BB962C8B-B14F-4D97-AF65-F5344CB8AC3E}">
        <p14:creationId xmlns:p14="http://schemas.microsoft.com/office/powerpoint/2010/main" val="2792820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Class Diagrams</a:t>
            </a:r>
          </a:p>
        </p:txBody>
      </p:sp>
      <p:sp>
        <p:nvSpPr>
          <p:cNvPr id="3" name="Content Placeholder 2"/>
          <p:cNvSpPr>
            <a:spLocks noGrp="1"/>
          </p:cNvSpPr>
          <p:nvPr>
            <p:ph idx="1"/>
          </p:nvPr>
        </p:nvSpPr>
        <p:spPr/>
        <p:txBody>
          <a:bodyPr>
            <a:normAutofit fontScale="85000" lnSpcReduction="10000"/>
          </a:bodyPr>
          <a:lstStyle/>
          <a:p>
            <a:r>
              <a:rPr lang="en-US" dirty="0"/>
              <a:t>Class diagrams are used when developing an object-oriented system model to show the </a:t>
            </a:r>
            <a:r>
              <a:rPr lang="en-US" b="1" dirty="0">
                <a:solidFill>
                  <a:srgbClr val="C00000"/>
                </a:solidFill>
              </a:rPr>
              <a:t>classes</a:t>
            </a:r>
            <a:r>
              <a:rPr lang="en-US" dirty="0"/>
              <a:t> in a system and the </a:t>
            </a:r>
            <a:r>
              <a:rPr lang="en-US" b="1" dirty="0">
                <a:solidFill>
                  <a:srgbClr val="C00000"/>
                </a:solidFill>
              </a:rPr>
              <a:t>associations</a:t>
            </a:r>
            <a:r>
              <a:rPr lang="en-US" dirty="0"/>
              <a:t> between these classes</a:t>
            </a:r>
          </a:p>
          <a:p>
            <a:r>
              <a:rPr lang="en-US" dirty="0"/>
              <a:t>An object class can be thought of as a general definition of one kind of system object</a:t>
            </a:r>
          </a:p>
          <a:p>
            <a:r>
              <a:rPr lang="en-US" dirty="0"/>
              <a:t>An association is a link between classes that indicates that there is some </a:t>
            </a:r>
            <a:r>
              <a:rPr lang="en-US" b="1" dirty="0">
                <a:solidFill>
                  <a:srgbClr val="C00000"/>
                </a:solidFill>
              </a:rPr>
              <a:t>relationship</a:t>
            </a:r>
            <a:r>
              <a:rPr lang="en-US" dirty="0"/>
              <a:t> between these classes</a:t>
            </a:r>
            <a:r>
              <a:rPr lang="en-GB" dirty="0"/>
              <a:t> </a:t>
            </a:r>
          </a:p>
          <a:p>
            <a:r>
              <a:rPr lang="en-US" dirty="0"/>
              <a:t>When developing models during the early stages of the software engineering process, </a:t>
            </a:r>
            <a:r>
              <a:rPr lang="en-US" b="1" dirty="0">
                <a:solidFill>
                  <a:srgbClr val="C00000"/>
                </a:solidFill>
              </a:rPr>
              <a:t>objects represent something in the real world</a:t>
            </a:r>
            <a:r>
              <a:rPr lang="en-US" dirty="0"/>
              <a:t>, such as a patient, a prescription, doctor, etc.</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28</a:t>
            </a:fld>
            <a:endParaRPr lang="en-US"/>
          </a:p>
        </p:txBody>
      </p:sp>
    </p:spTree>
    <p:extLst>
      <p:ext uri="{BB962C8B-B14F-4D97-AF65-F5344CB8AC3E}">
        <p14:creationId xmlns:p14="http://schemas.microsoft.com/office/powerpoint/2010/main" val="2165329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cs typeface="Times New Roman" panose="02020603050405020304" pitchFamily="18" charset="0"/>
              </a:rPr>
              <a:t>Domain Model Class Diagram Notation</a:t>
            </a:r>
            <a:endParaRPr lang="en-MY" dirty="0"/>
          </a:p>
        </p:txBody>
      </p:sp>
      <p:sp>
        <p:nvSpPr>
          <p:cNvPr id="3" name="Content Placeholder 2"/>
          <p:cNvSpPr>
            <a:spLocks noGrp="1"/>
          </p:cNvSpPr>
          <p:nvPr>
            <p:ph idx="1"/>
          </p:nvPr>
        </p:nvSpPr>
        <p:spPr/>
        <p:txBody>
          <a:bodyPr>
            <a:normAutofit fontScale="92500" lnSpcReduction="10000"/>
          </a:bodyPr>
          <a:lstStyle/>
          <a:p>
            <a:pPr>
              <a:lnSpc>
                <a:spcPct val="90000"/>
              </a:lnSpc>
            </a:pPr>
            <a:r>
              <a:rPr lang="en-US" altLang="en-US" dirty="0">
                <a:cs typeface="Times New Roman" panose="02020603050405020304" pitchFamily="18" charset="0"/>
              </a:rPr>
              <a:t>Class diagram key:</a:t>
            </a:r>
          </a:p>
          <a:p>
            <a:pPr lvl="1">
              <a:lnSpc>
                <a:spcPct val="90000"/>
              </a:lnSpc>
            </a:pPr>
            <a:r>
              <a:rPr lang="en-US" altLang="en-US" dirty="0">
                <a:cs typeface="Times New Roman" panose="02020603050405020304" pitchFamily="18" charset="0"/>
              </a:rPr>
              <a:t>General class symbol:  rectangle with three sections</a:t>
            </a:r>
          </a:p>
          <a:p>
            <a:pPr lvl="1">
              <a:lnSpc>
                <a:spcPct val="90000"/>
              </a:lnSpc>
            </a:pPr>
            <a:r>
              <a:rPr lang="en-US" altLang="en-US" dirty="0">
                <a:cs typeface="Times New Roman" panose="02020603050405020304" pitchFamily="18" charset="0"/>
              </a:rPr>
              <a:t>Sections convey name, attributes, and behaviors </a:t>
            </a:r>
          </a:p>
          <a:p>
            <a:pPr lvl="1">
              <a:lnSpc>
                <a:spcPct val="90000"/>
              </a:lnSpc>
            </a:pPr>
            <a:r>
              <a:rPr lang="en-US" altLang="en-US" b="1" dirty="0">
                <a:solidFill>
                  <a:srgbClr val="C00000"/>
                </a:solidFill>
                <a:cs typeface="Times New Roman" panose="02020603050405020304" pitchFamily="18" charset="0"/>
              </a:rPr>
              <a:t>Methods</a:t>
            </a:r>
            <a:r>
              <a:rPr lang="en-US" altLang="en-US" dirty="0">
                <a:cs typeface="Times New Roman" panose="02020603050405020304" pitchFamily="18" charset="0"/>
              </a:rPr>
              <a:t> (behaviors) </a:t>
            </a:r>
            <a:r>
              <a:rPr lang="en-US" altLang="en-US" b="1" dirty="0">
                <a:solidFill>
                  <a:srgbClr val="C00000"/>
                </a:solidFill>
                <a:cs typeface="Times New Roman" panose="02020603050405020304" pitchFamily="18" charset="0"/>
              </a:rPr>
              <a:t>not shown </a:t>
            </a:r>
            <a:r>
              <a:rPr lang="en-US" altLang="en-US" dirty="0">
                <a:cs typeface="Times New Roman" panose="02020603050405020304" pitchFamily="18" charset="0"/>
              </a:rPr>
              <a:t>in domain model class diagram</a:t>
            </a:r>
          </a:p>
          <a:p>
            <a:pPr lvl="1">
              <a:lnSpc>
                <a:spcPct val="90000"/>
              </a:lnSpc>
            </a:pPr>
            <a:r>
              <a:rPr lang="en-US" altLang="en-US" dirty="0">
                <a:cs typeface="Times New Roman" panose="02020603050405020304" pitchFamily="18" charset="0"/>
              </a:rPr>
              <a:t>Lines connecting rectangles show associations</a:t>
            </a:r>
          </a:p>
          <a:p>
            <a:pPr lvl="1">
              <a:lnSpc>
                <a:spcPct val="90000"/>
              </a:lnSpc>
            </a:pPr>
            <a:r>
              <a:rPr lang="en-US" altLang="en-US" dirty="0">
                <a:cs typeface="Times New Roman" panose="02020603050405020304" pitchFamily="18" charset="0"/>
              </a:rPr>
              <a:t>Multiplicity reflected above connecting lines</a:t>
            </a:r>
          </a:p>
          <a:p>
            <a:pPr>
              <a:lnSpc>
                <a:spcPct val="90000"/>
              </a:lnSpc>
            </a:pPr>
            <a:r>
              <a:rPr lang="en-US" altLang="en-US" dirty="0">
                <a:cs typeface="Times New Roman" panose="02020603050405020304" pitchFamily="18" charset="0"/>
              </a:rPr>
              <a:t>Domain class objects reflect business concern, policies, </a:t>
            </a:r>
            <a:r>
              <a:rPr lang="en-US" altLang="en-US">
                <a:cs typeface="Times New Roman" panose="02020603050405020304" pitchFamily="18" charset="0"/>
              </a:rPr>
              <a:t>and constraints</a:t>
            </a:r>
          </a:p>
          <a:p>
            <a:pPr>
              <a:lnSpc>
                <a:spcPct val="90000"/>
              </a:lnSpc>
            </a:pPr>
            <a:r>
              <a:rPr lang="en-US" altLang="en-US">
                <a:cs typeface="Times New Roman" panose="02020603050405020304" pitchFamily="18" charset="0"/>
              </a:rPr>
              <a:t>When moving to design, methods and details of methods are included (design class diagram)</a:t>
            </a:r>
            <a:endParaRPr lang="en-US" altLang="en-US"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29</a:t>
            </a:fld>
            <a:endParaRPr lang="en-US"/>
          </a:p>
        </p:txBody>
      </p:sp>
    </p:spTree>
    <p:extLst>
      <p:ext uri="{BB962C8B-B14F-4D97-AF65-F5344CB8AC3E}">
        <p14:creationId xmlns:p14="http://schemas.microsoft.com/office/powerpoint/2010/main" val="1481588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Class and Object Instantiation</a:t>
            </a:r>
          </a:p>
        </p:txBody>
      </p:sp>
      <p:pic>
        <p:nvPicPr>
          <p:cNvPr id="7" name="Content Placeholder 6"/>
          <p:cNvPicPr>
            <a:picLocks noGrp="1" noChangeAspect="1"/>
          </p:cNvPicPr>
          <p:nvPr>
            <p:ph idx="1"/>
          </p:nvPr>
        </p:nvPicPr>
        <p:blipFill>
          <a:blip r:embed="rId2"/>
          <a:stretch>
            <a:fillRect/>
          </a:stretch>
        </p:blipFill>
        <p:spPr>
          <a:xfrm>
            <a:off x="957262" y="1810544"/>
            <a:ext cx="7229475" cy="410527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30</a:t>
            </a:fld>
            <a:endParaRPr lang="en-US"/>
          </a:p>
        </p:txBody>
      </p:sp>
      <p:pic>
        <p:nvPicPr>
          <p:cNvPr id="10" name="Picture 9"/>
          <p:cNvPicPr>
            <a:picLocks noChangeAspect="1"/>
          </p:cNvPicPr>
          <p:nvPr/>
        </p:nvPicPr>
        <p:blipFill>
          <a:blip r:embed="rId3"/>
          <a:stretch>
            <a:fillRect/>
          </a:stretch>
        </p:blipFill>
        <p:spPr>
          <a:xfrm>
            <a:off x="6781800" y="1774258"/>
            <a:ext cx="1905000" cy="1381125"/>
          </a:xfrm>
          <a:prstGeom prst="rect">
            <a:avLst/>
          </a:prstGeom>
        </p:spPr>
      </p:pic>
    </p:spTree>
    <p:extLst>
      <p:ext uri="{BB962C8B-B14F-4D97-AF65-F5344CB8AC3E}">
        <p14:creationId xmlns:p14="http://schemas.microsoft.com/office/powerpoint/2010/main" val="3526916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Class as a Template of Objects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31</a:t>
            </a:fld>
            <a:endParaRPr lang="en-US"/>
          </a:p>
        </p:txBody>
      </p:sp>
      <p:pic>
        <p:nvPicPr>
          <p:cNvPr id="9" name="Content Placeholder 8"/>
          <p:cNvPicPr>
            <a:picLocks noGrp="1" noChangeAspect="1"/>
          </p:cNvPicPr>
          <p:nvPr>
            <p:ph idx="1"/>
          </p:nvPr>
        </p:nvPicPr>
        <p:blipFill>
          <a:blip r:embed="rId2"/>
          <a:stretch>
            <a:fillRect/>
          </a:stretch>
        </p:blipFill>
        <p:spPr>
          <a:xfrm>
            <a:off x="2374446" y="2515439"/>
            <a:ext cx="4133850" cy="2714625"/>
          </a:xfrm>
          <a:prstGeom prst="rect">
            <a:avLst/>
          </a:prstGeom>
        </p:spPr>
      </p:pic>
      <p:pic>
        <p:nvPicPr>
          <p:cNvPr id="11" name="Picture 10"/>
          <p:cNvPicPr>
            <a:picLocks noChangeAspect="1"/>
          </p:cNvPicPr>
          <p:nvPr/>
        </p:nvPicPr>
        <p:blipFill>
          <a:blip r:embed="rId3"/>
          <a:stretch>
            <a:fillRect/>
          </a:stretch>
        </p:blipFill>
        <p:spPr>
          <a:xfrm>
            <a:off x="280987" y="3021575"/>
            <a:ext cx="1857375" cy="1600200"/>
          </a:xfrm>
          <a:prstGeom prst="rect">
            <a:avLst/>
          </a:prstGeom>
        </p:spPr>
      </p:pic>
      <p:sp>
        <p:nvSpPr>
          <p:cNvPr id="12" name="TextBox 11"/>
          <p:cNvSpPr txBox="1"/>
          <p:nvPr/>
        </p:nvSpPr>
        <p:spPr>
          <a:xfrm>
            <a:off x="934357" y="5657808"/>
            <a:ext cx="7275286" cy="369332"/>
          </a:xfrm>
          <a:prstGeom prst="rect">
            <a:avLst/>
          </a:prstGeom>
          <a:noFill/>
        </p:spPr>
        <p:txBody>
          <a:bodyPr wrap="square" rtlCol="0">
            <a:spAutoFit/>
          </a:bodyPr>
          <a:lstStyle/>
          <a:p>
            <a:r>
              <a:rPr lang="en-MY">
                <a:solidFill>
                  <a:srgbClr val="C00000"/>
                </a:solidFill>
              </a:rPr>
              <a:t>Note: Do not include operation part in analysis stage – only in design stage</a:t>
            </a:r>
          </a:p>
        </p:txBody>
      </p:sp>
      <p:pic>
        <p:nvPicPr>
          <p:cNvPr id="13" name="Picture 12"/>
          <p:cNvPicPr>
            <a:picLocks noChangeAspect="1"/>
          </p:cNvPicPr>
          <p:nvPr/>
        </p:nvPicPr>
        <p:blipFill>
          <a:blip r:embed="rId4"/>
          <a:stretch>
            <a:fillRect/>
          </a:stretch>
        </p:blipFill>
        <p:spPr>
          <a:xfrm>
            <a:off x="6832146" y="2415108"/>
            <a:ext cx="1876425" cy="2743200"/>
          </a:xfrm>
          <a:prstGeom prst="rect">
            <a:avLst/>
          </a:prstGeom>
        </p:spPr>
      </p:pic>
      <p:cxnSp>
        <p:nvCxnSpPr>
          <p:cNvPr id="7" name="Straight Arrow Connector 6"/>
          <p:cNvCxnSpPr/>
          <p:nvPr/>
        </p:nvCxnSpPr>
        <p:spPr>
          <a:xfrm flipV="1">
            <a:off x="2138362" y="4800600"/>
            <a:ext cx="985838" cy="85720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1871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Class Stereotype Syntax</a:t>
            </a:r>
          </a:p>
        </p:txBody>
      </p:sp>
      <p:pic>
        <p:nvPicPr>
          <p:cNvPr id="7" name="Content Placeholder 6"/>
          <p:cNvPicPr>
            <a:picLocks noGrp="1" noChangeAspect="1"/>
          </p:cNvPicPr>
          <p:nvPr>
            <p:ph idx="1"/>
          </p:nvPr>
        </p:nvPicPr>
        <p:blipFill>
          <a:blip r:embed="rId2"/>
          <a:stretch>
            <a:fillRect/>
          </a:stretch>
        </p:blipFill>
        <p:spPr>
          <a:xfrm>
            <a:off x="1090612" y="2663031"/>
            <a:ext cx="6962775" cy="240030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32</a:t>
            </a:fld>
            <a:endParaRPr lang="en-US"/>
          </a:p>
        </p:txBody>
      </p:sp>
    </p:spTree>
    <p:extLst>
      <p:ext uri="{BB962C8B-B14F-4D97-AF65-F5344CB8AC3E}">
        <p14:creationId xmlns:p14="http://schemas.microsoft.com/office/powerpoint/2010/main" val="69742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Types of Class Stereotype</a:t>
            </a:r>
          </a:p>
        </p:txBody>
      </p:sp>
      <p:sp>
        <p:nvSpPr>
          <p:cNvPr id="3" name="Content Placeholder 2"/>
          <p:cNvSpPr>
            <a:spLocks noGrp="1"/>
          </p:cNvSpPr>
          <p:nvPr>
            <p:ph idx="1"/>
          </p:nvPr>
        </p:nvSpPr>
        <p:spPr>
          <a:xfrm>
            <a:off x="280987" y="1600200"/>
            <a:ext cx="5586413" cy="4525963"/>
          </a:xfrm>
        </p:spPr>
        <p:txBody>
          <a:bodyPr>
            <a:normAutofit fontScale="85000" lnSpcReduction="20000"/>
          </a:bodyPr>
          <a:lstStyle/>
          <a:p>
            <a:r>
              <a:rPr lang="en-MY" b="1">
                <a:solidFill>
                  <a:srgbClr val="C00000"/>
                </a:solidFill>
              </a:rPr>
              <a:t>Boundary class</a:t>
            </a:r>
            <a:r>
              <a:rPr lang="en-MY"/>
              <a:t>: interacts with actors outside the system and other objects in the system</a:t>
            </a:r>
          </a:p>
          <a:p>
            <a:r>
              <a:rPr lang="en-MY" b="1">
                <a:solidFill>
                  <a:srgbClr val="C00000"/>
                </a:solidFill>
              </a:rPr>
              <a:t>Entity class</a:t>
            </a:r>
            <a:r>
              <a:rPr lang="en-MY"/>
              <a:t>: a passive class i.e. does not initiate interactions on its own, store and manage information, normally persistent data</a:t>
            </a:r>
          </a:p>
          <a:p>
            <a:r>
              <a:rPr lang="en-MY" b="1">
                <a:solidFill>
                  <a:srgbClr val="C00000"/>
                </a:solidFill>
              </a:rPr>
              <a:t>Control class</a:t>
            </a:r>
            <a:r>
              <a:rPr lang="en-MY"/>
              <a:t>: coordinate boundary and entity object(s) – collect inform from boundary and dispatch to entity, usually has behavior specific for one use case</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33</a:t>
            </a:fld>
            <a:endParaRPr lang="en-US"/>
          </a:p>
        </p:txBody>
      </p:sp>
      <p:pic>
        <p:nvPicPr>
          <p:cNvPr id="7" name="Picture 6"/>
          <p:cNvPicPr>
            <a:picLocks noChangeAspect="1"/>
          </p:cNvPicPr>
          <p:nvPr/>
        </p:nvPicPr>
        <p:blipFill>
          <a:blip r:embed="rId2"/>
          <a:stretch>
            <a:fillRect/>
          </a:stretch>
        </p:blipFill>
        <p:spPr>
          <a:xfrm>
            <a:off x="5944166" y="1585292"/>
            <a:ext cx="2980192" cy="1181337"/>
          </a:xfrm>
          <a:prstGeom prst="rect">
            <a:avLst/>
          </a:prstGeom>
        </p:spPr>
      </p:pic>
      <p:sp>
        <p:nvSpPr>
          <p:cNvPr id="8" name="TextBox 7"/>
          <p:cNvSpPr txBox="1"/>
          <p:nvPr/>
        </p:nvSpPr>
        <p:spPr>
          <a:xfrm>
            <a:off x="280987" y="6128075"/>
            <a:ext cx="8758238" cy="307777"/>
          </a:xfrm>
          <a:prstGeom prst="rect">
            <a:avLst/>
          </a:prstGeom>
          <a:noFill/>
        </p:spPr>
        <p:txBody>
          <a:bodyPr wrap="square" rtlCol="0">
            <a:spAutoFit/>
          </a:bodyPr>
          <a:lstStyle/>
          <a:p>
            <a:r>
              <a:rPr lang="en-MY" sz="1400">
                <a:solidFill>
                  <a:srgbClr val="C00000"/>
                </a:solidFill>
              </a:rPr>
              <a:t>Source: https://www.ibm.com/support/knowledgecenter/en/SS6RBX_11.4.2/com.ibm.sa.oomethod.doc/topics</a:t>
            </a:r>
          </a:p>
        </p:txBody>
      </p:sp>
      <p:pic>
        <p:nvPicPr>
          <p:cNvPr id="9" name="Picture 8"/>
          <p:cNvPicPr>
            <a:picLocks noChangeAspect="1"/>
          </p:cNvPicPr>
          <p:nvPr/>
        </p:nvPicPr>
        <p:blipFill>
          <a:blip r:embed="rId3"/>
          <a:stretch>
            <a:fillRect/>
          </a:stretch>
        </p:blipFill>
        <p:spPr>
          <a:xfrm>
            <a:off x="5835196" y="4612981"/>
            <a:ext cx="3200400" cy="1352550"/>
          </a:xfrm>
          <a:prstGeom prst="rect">
            <a:avLst/>
          </a:prstGeom>
        </p:spPr>
      </p:pic>
      <p:pic>
        <p:nvPicPr>
          <p:cNvPr id="10" name="Picture 9"/>
          <p:cNvPicPr>
            <a:picLocks noChangeAspect="1"/>
          </p:cNvPicPr>
          <p:nvPr/>
        </p:nvPicPr>
        <p:blipFill>
          <a:blip r:embed="rId4"/>
          <a:stretch>
            <a:fillRect/>
          </a:stretch>
        </p:blipFill>
        <p:spPr>
          <a:xfrm>
            <a:off x="5867400" y="2978517"/>
            <a:ext cx="3133725" cy="1143000"/>
          </a:xfrm>
          <a:prstGeom prst="rect">
            <a:avLst/>
          </a:prstGeom>
        </p:spPr>
      </p:pic>
    </p:spTree>
    <p:extLst>
      <p:ext uri="{BB962C8B-B14F-4D97-AF65-F5344CB8AC3E}">
        <p14:creationId xmlns:p14="http://schemas.microsoft.com/office/powerpoint/2010/main" val="3318533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Good Analysis Class</a:t>
            </a:r>
          </a:p>
        </p:txBody>
      </p:sp>
      <p:sp>
        <p:nvSpPr>
          <p:cNvPr id="3" name="Content Placeholder 2"/>
          <p:cNvSpPr>
            <a:spLocks noGrp="1"/>
          </p:cNvSpPr>
          <p:nvPr>
            <p:ph idx="1"/>
          </p:nvPr>
        </p:nvSpPr>
        <p:spPr/>
        <p:txBody>
          <a:bodyPr>
            <a:normAutofit fontScale="92500" lnSpcReduction="10000"/>
          </a:bodyPr>
          <a:lstStyle/>
          <a:p>
            <a:pPr marL="0" indent="0">
              <a:buNone/>
            </a:pPr>
            <a:r>
              <a:rPr lang="en-MY" dirty="0"/>
              <a:t>What makes a good analysis class:</a:t>
            </a:r>
          </a:p>
          <a:p>
            <a:r>
              <a:rPr lang="en-MY" dirty="0"/>
              <a:t>its name reflects its intent</a:t>
            </a:r>
          </a:p>
          <a:p>
            <a:r>
              <a:rPr lang="en-MY" dirty="0"/>
              <a:t>it is a crisp abstraction that models one specific element of the problem domain</a:t>
            </a:r>
          </a:p>
          <a:p>
            <a:r>
              <a:rPr lang="en-MY" dirty="0"/>
              <a:t>it maps on to a clearly identifiable feature of the problem domain</a:t>
            </a:r>
          </a:p>
          <a:p>
            <a:r>
              <a:rPr lang="en-MY" dirty="0"/>
              <a:t>it has a small, well-defined set of responsibilities</a:t>
            </a:r>
          </a:p>
          <a:p>
            <a:r>
              <a:rPr lang="en-MY" dirty="0"/>
              <a:t>it has high cohesion</a:t>
            </a:r>
          </a:p>
          <a:p>
            <a:r>
              <a:rPr lang="en-MY" dirty="0"/>
              <a:t>it has low coupling</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34</a:t>
            </a:fld>
            <a:endParaRPr lang="en-US"/>
          </a:p>
        </p:txBody>
      </p:sp>
      <p:pic>
        <p:nvPicPr>
          <p:cNvPr id="8" name="Picture 7"/>
          <p:cNvPicPr>
            <a:picLocks noChangeAspect="1"/>
          </p:cNvPicPr>
          <p:nvPr/>
        </p:nvPicPr>
        <p:blipFill>
          <a:blip r:embed="rId2"/>
          <a:stretch>
            <a:fillRect/>
          </a:stretch>
        </p:blipFill>
        <p:spPr>
          <a:xfrm>
            <a:off x="6553200" y="4916488"/>
            <a:ext cx="1895475" cy="1209675"/>
          </a:xfrm>
          <a:prstGeom prst="rect">
            <a:avLst/>
          </a:prstGeom>
        </p:spPr>
      </p:pic>
      <p:sp>
        <p:nvSpPr>
          <p:cNvPr id="7" name="TextBox 6"/>
          <p:cNvSpPr txBox="1"/>
          <p:nvPr/>
        </p:nvSpPr>
        <p:spPr>
          <a:xfrm>
            <a:off x="446314" y="5930205"/>
            <a:ext cx="8443686" cy="584775"/>
          </a:xfrm>
          <a:prstGeom prst="rect">
            <a:avLst/>
          </a:prstGeom>
          <a:noFill/>
        </p:spPr>
        <p:txBody>
          <a:bodyPr wrap="square" rtlCol="0">
            <a:spAutoFit/>
          </a:bodyPr>
          <a:lstStyle/>
          <a:p>
            <a:r>
              <a:rPr lang="en-MY" sz="1600">
                <a:solidFill>
                  <a:srgbClr val="C00000"/>
                </a:solidFill>
              </a:rPr>
              <a:t>Note: Our SE course focuses on domain models. Thus, the concepts of high cohesion and low coupling will be elaborated in design stage where we include operations in class diagram.  </a:t>
            </a:r>
          </a:p>
        </p:txBody>
      </p:sp>
    </p:spTree>
    <p:extLst>
      <p:ext uri="{BB962C8B-B14F-4D97-AF65-F5344CB8AC3E}">
        <p14:creationId xmlns:p14="http://schemas.microsoft.com/office/powerpoint/2010/main" val="3852017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Association</a:t>
            </a:r>
          </a:p>
        </p:txBody>
      </p:sp>
      <p:pic>
        <p:nvPicPr>
          <p:cNvPr id="7" name="Content Placeholder 6"/>
          <p:cNvPicPr>
            <a:picLocks noGrp="1" noChangeAspect="1"/>
          </p:cNvPicPr>
          <p:nvPr>
            <p:ph idx="1"/>
          </p:nvPr>
        </p:nvPicPr>
        <p:blipFill>
          <a:blip r:embed="rId2"/>
          <a:stretch>
            <a:fillRect/>
          </a:stretch>
        </p:blipFill>
        <p:spPr>
          <a:xfrm>
            <a:off x="2775075" y="2205666"/>
            <a:ext cx="4000500" cy="151447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35</a:t>
            </a:fld>
            <a:endParaRPr lang="en-US"/>
          </a:p>
        </p:txBody>
      </p:sp>
      <p:pic>
        <p:nvPicPr>
          <p:cNvPr id="8" name="Picture 7"/>
          <p:cNvPicPr>
            <a:picLocks noChangeAspect="1"/>
          </p:cNvPicPr>
          <p:nvPr/>
        </p:nvPicPr>
        <p:blipFill>
          <a:blip r:embed="rId3"/>
          <a:stretch>
            <a:fillRect/>
          </a:stretch>
        </p:blipFill>
        <p:spPr>
          <a:xfrm>
            <a:off x="841953" y="2238963"/>
            <a:ext cx="1866900" cy="1333500"/>
          </a:xfrm>
          <a:prstGeom prst="rect">
            <a:avLst/>
          </a:prstGeom>
        </p:spPr>
      </p:pic>
      <p:pic>
        <p:nvPicPr>
          <p:cNvPr id="9" name="Picture 8"/>
          <p:cNvPicPr>
            <a:picLocks noChangeAspect="1"/>
          </p:cNvPicPr>
          <p:nvPr/>
        </p:nvPicPr>
        <p:blipFill>
          <a:blip r:embed="rId4"/>
          <a:stretch>
            <a:fillRect/>
          </a:stretch>
        </p:blipFill>
        <p:spPr>
          <a:xfrm>
            <a:off x="2746046" y="4188871"/>
            <a:ext cx="4343400" cy="1685925"/>
          </a:xfrm>
          <a:prstGeom prst="rect">
            <a:avLst/>
          </a:prstGeom>
        </p:spPr>
      </p:pic>
      <p:sp>
        <p:nvSpPr>
          <p:cNvPr id="10" name="TextBox 9"/>
          <p:cNvSpPr txBox="1"/>
          <p:nvPr/>
        </p:nvSpPr>
        <p:spPr>
          <a:xfrm>
            <a:off x="5721678" y="3762541"/>
            <a:ext cx="461986" cy="369332"/>
          </a:xfrm>
          <a:prstGeom prst="rect">
            <a:avLst/>
          </a:prstGeom>
          <a:noFill/>
        </p:spPr>
        <p:txBody>
          <a:bodyPr wrap="none" rtlCol="0">
            <a:spAutoFit/>
          </a:bodyPr>
          <a:lstStyle/>
          <a:p>
            <a:r>
              <a:rPr lang="en-MY"/>
              <a:t>OR</a:t>
            </a:r>
          </a:p>
        </p:txBody>
      </p:sp>
      <p:pic>
        <p:nvPicPr>
          <p:cNvPr id="11" name="Picture 10"/>
          <p:cNvPicPr>
            <a:picLocks noChangeAspect="1"/>
          </p:cNvPicPr>
          <p:nvPr/>
        </p:nvPicPr>
        <p:blipFill>
          <a:blip r:embed="rId5"/>
          <a:stretch>
            <a:fillRect/>
          </a:stretch>
        </p:blipFill>
        <p:spPr>
          <a:xfrm>
            <a:off x="841953" y="4041193"/>
            <a:ext cx="1885950" cy="1924050"/>
          </a:xfrm>
          <a:prstGeom prst="rect">
            <a:avLst/>
          </a:prstGeom>
        </p:spPr>
      </p:pic>
      <p:pic>
        <p:nvPicPr>
          <p:cNvPr id="12" name="Picture 11"/>
          <p:cNvPicPr>
            <a:picLocks noChangeAspect="1"/>
          </p:cNvPicPr>
          <p:nvPr/>
        </p:nvPicPr>
        <p:blipFill>
          <a:blip r:embed="rId6"/>
          <a:stretch>
            <a:fillRect/>
          </a:stretch>
        </p:blipFill>
        <p:spPr>
          <a:xfrm>
            <a:off x="7103960" y="2914816"/>
            <a:ext cx="1809750" cy="1695450"/>
          </a:xfrm>
          <a:prstGeom prst="rect">
            <a:avLst/>
          </a:prstGeom>
        </p:spPr>
      </p:pic>
      <p:cxnSp>
        <p:nvCxnSpPr>
          <p:cNvPr id="13" name="Straight Arrow Connector 12"/>
          <p:cNvCxnSpPr/>
          <p:nvPr/>
        </p:nvCxnSpPr>
        <p:spPr>
          <a:xfrm flipH="1">
            <a:off x="6183664" y="2060429"/>
            <a:ext cx="375422" cy="43042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486399" y="1472566"/>
            <a:ext cx="3657601" cy="646331"/>
          </a:xfrm>
          <a:prstGeom prst="rect">
            <a:avLst/>
          </a:prstGeom>
          <a:noFill/>
        </p:spPr>
        <p:txBody>
          <a:bodyPr wrap="square" rtlCol="0">
            <a:spAutoFit/>
          </a:bodyPr>
          <a:lstStyle/>
          <a:p>
            <a:r>
              <a:rPr lang="en-MY">
                <a:solidFill>
                  <a:srgbClr val="C00000"/>
                </a:solidFill>
              </a:rPr>
              <a:t>Note: The arrow head in navigability can be ignored in analysis stage</a:t>
            </a:r>
          </a:p>
        </p:txBody>
      </p:sp>
    </p:spTree>
    <p:extLst>
      <p:ext uri="{BB962C8B-B14F-4D97-AF65-F5344CB8AC3E}">
        <p14:creationId xmlns:p14="http://schemas.microsoft.com/office/powerpoint/2010/main" val="11577881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Multiplicity</a:t>
            </a:r>
          </a:p>
        </p:txBody>
      </p:sp>
      <p:pic>
        <p:nvPicPr>
          <p:cNvPr id="7" name="Content Placeholder 6"/>
          <p:cNvPicPr>
            <a:picLocks noGrp="1" noChangeAspect="1"/>
          </p:cNvPicPr>
          <p:nvPr>
            <p:ph idx="1"/>
          </p:nvPr>
        </p:nvPicPr>
        <p:blipFill>
          <a:blip r:embed="rId2"/>
          <a:stretch>
            <a:fillRect/>
          </a:stretch>
        </p:blipFill>
        <p:spPr>
          <a:xfrm>
            <a:off x="3581400" y="1603808"/>
            <a:ext cx="4905375" cy="220980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36</a:t>
            </a:fld>
            <a:endParaRPr lang="en-US"/>
          </a:p>
        </p:txBody>
      </p:sp>
      <p:pic>
        <p:nvPicPr>
          <p:cNvPr id="8" name="Picture 7"/>
          <p:cNvPicPr>
            <a:picLocks noChangeAspect="1"/>
          </p:cNvPicPr>
          <p:nvPr/>
        </p:nvPicPr>
        <p:blipFill>
          <a:blip r:embed="rId3"/>
          <a:stretch>
            <a:fillRect/>
          </a:stretch>
        </p:blipFill>
        <p:spPr>
          <a:xfrm>
            <a:off x="1236063" y="1687223"/>
            <a:ext cx="1876425" cy="1866900"/>
          </a:xfrm>
          <a:prstGeom prst="rect">
            <a:avLst/>
          </a:prstGeom>
        </p:spPr>
      </p:pic>
      <p:pic>
        <p:nvPicPr>
          <p:cNvPr id="9" name="Picture 8"/>
          <p:cNvPicPr>
            <a:picLocks noChangeAspect="1"/>
          </p:cNvPicPr>
          <p:nvPr/>
        </p:nvPicPr>
        <p:blipFill>
          <a:blip r:embed="rId4"/>
          <a:stretch>
            <a:fillRect/>
          </a:stretch>
        </p:blipFill>
        <p:spPr>
          <a:xfrm>
            <a:off x="1436916" y="3928331"/>
            <a:ext cx="6161314" cy="2273818"/>
          </a:xfrm>
          <a:prstGeom prst="rect">
            <a:avLst/>
          </a:prstGeom>
        </p:spPr>
      </p:pic>
    </p:spTree>
    <p:extLst>
      <p:ext uri="{BB962C8B-B14F-4D97-AF65-F5344CB8AC3E}">
        <p14:creationId xmlns:p14="http://schemas.microsoft.com/office/powerpoint/2010/main" val="30010278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Reflexive Association </a:t>
            </a:r>
          </a:p>
        </p:txBody>
      </p:sp>
      <p:pic>
        <p:nvPicPr>
          <p:cNvPr id="7" name="Content Placeholder 6"/>
          <p:cNvPicPr>
            <a:picLocks noGrp="1" noChangeAspect="1"/>
          </p:cNvPicPr>
          <p:nvPr>
            <p:ph idx="1"/>
          </p:nvPr>
        </p:nvPicPr>
        <p:blipFill>
          <a:blip r:embed="rId2"/>
          <a:stretch>
            <a:fillRect/>
          </a:stretch>
        </p:blipFill>
        <p:spPr>
          <a:xfrm>
            <a:off x="2319829" y="1734016"/>
            <a:ext cx="5292914" cy="4525963"/>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37</a:t>
            </a:fld>
            <a:endParaRPr lang="en-US"/>
          </a:p>
        </p:txBody>
      </p:sp>
      <p:pic>
        <p:nvPicPr>
          <p:cNvPr id="8" name="Picture 7"/>
          <p:cNvPicPr>
            <a:picLocks noChangeAspect="1"/>
          </p:cNvPicPr>
          <p:nvPr/>
        </p:nvPicPr>
        <p:blipFill>
          <a:blip r:embed="rId3"/>
          <a:stretch>
            <a:fillRect/>
          </a:stretch>
        </p:blipFill>
        <p:spPr>
          <a:xfrm>
            <a:off x="228600" y="2362200"/>
            <a:ext cx="1838325" cy="1314450"/>
          </a:xfrm>
          <a:prstGeom prst="rect">
            <a:avLst/>
          </a:prstGeom>
        </p:spPr>
      </p:pic>
    </p:spTree>
    <p:extLst>
      <p:ext uri="{BB962C8B-B14F-4D97-AF65-F5344CB8AC3E}">
        <p14:creationId xmlns:p14="http://schemas.microsoft.com/office/powerpoint/2010/main" val="1122304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Association Class</a:t>
            </a:r>
          </a:p>
        </p:txBody>
      </p:sp>
      <p:pic>
        <p:nvPicPr>
          <p:cNvPr id="7" name="Content Placeholder 6"/>
          <p:cNvPicPr>
            <a:picLocks noGrp="1" noChangeAspect="1"/>
          </p:cNvPicPr>
          <p:nvPr>
            <p:ph idx="1"/>
          </p:nvPr>
        </p:nvPicPr>
        <p:blipFill>
          <a:blip r:embed="rId2"/>
          <a:stretch>
            <a:fillRect/>
          </a:stretch>
        </p:blipFill>
        <p:spPr>
          <a:xfrm>
            <a:off x="2469777" y="2201748"/>
            <a:ext cx="5686425" cy="191452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38</a:t>
            </a:fld>
            <a:endParaRPr lang="en-US"/>
          </a:p>
        </p:txBody>
      </p:sp>
      <p:pic>
        <p:nvPicPr>
          <p:cNvPr id="8" name="Picture 7"/>
          <p:cNvPicPr>
            <a:picLocks noChangeAspect="1"/>
          </p:cNvPicPr>
          <p:nvPr/>
        </p:nvPicPr>
        <p:blipFill>
          <a:blip r:embed="rId3"/>
          <a:stretch>
            <a:fillRect/>
          </a:stretch>
        </p:blipFill>
        <p:spPr>
          <a:xfrm>
            <a:off x="457200" y="2472350"/>
            <a:ext cx="1819275" cy="1076325"/>
          </a:xfrm>
          <a:prstGeom prst="rect">
            <a:avLst/>
          </a:prstGeom>
        </p:spPr>
      </p:pic>
    </p:spTree>
    <p:extLst>
      <p:ext uri="{BB962C8B-B14F-4D97-AF65-F5344CB8AC3E}">
        <p14:creationId xmlns:p14="http://schemas.microsoft.com/office/powerpoint/2010/main" val="760853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Generalization…</a:t>
            </a:r>
          </a:p>
        </p:txBody>
      </p:sp>
      <p:sp>
        <p:nvSpPr>
          <p:cNvPr id="3" name="Content Placeholder 2"/>
          <p:cNvSpPr>
            <a:spLocks noGrp="1"/>
          </p:cNvSpPr>
          <p:nvPr>
            <p:ph idx="1"/>
          </p:nvPr>
        </p:nvSpPr>
        <p:spPr/>
        <p:txBody>
          <a:bodyPr>
            <a:noAutofit/>
          </a:bodyPr>
          <a:lstStyle/>
          <a:p>
            <a:r>
              <a:rPr lang="en-US" sz="2800" dirty="0"/>
              <a:t>Generalization is an everyday technique that can be used to </a:t>
            </a:r>
            <a:r>
              <a:rPr lang="en-US" sz="2800" dirty="0">
                <a:solidFill>
                  <a:srgbClr val="C00000"/>
                </a:solidFill>
              </a:rPr>
              <a:t>manage complexity</a:t>
            </a:r>
            <a:endParaRPr lang="en-US" sz="2800" dirty="0"/>
          </a:p>
          <a:p>
            <a:r>
              <a:rPr lang="en-US" sz="2800" dirty="0"/>
              <a:t>Rather than learning the detailed characteristics of every entity, place these entities in more </a:t>
            </a:r>
            <a:r>
              <a:rPr lang="en-US" sz="2800" dirty="0">
                <a:solidFill>
                  <a:srgbClr val="C00000"/>
                </a:solidFill>
              </a:rPr>
              <a:t>general classes </a:t>
            </a:r>
            <a:r>
              <a:rPr lang="en-US" sz="2800" dirty="0"/>
              <a:t>(animals, cars, houses, etc.) and learn the characteristics of these classes</a:t>
            </a:r>
          </a:p>
          <a:p>
            <a:r>
              <a:rPr lang="en-US" sz="2800" dirty="0"/>
              <a:t>This allows us to infer that different members of these classes have some </a:t>
            </a:r>
            <a:r>
              <a:rPr lang="en-US" sz="2800" dirty="0">
                <a:solidFill>
                  <a:srgbClr val="C00000"/>
                </a:solidFill>
              </a:rPr>
              <a:t>common characteristics </a:t>
            </a:r>
            <a:r>
              <a:rPr lang="en-US" sz="2800" dirty="0"/>
              <a:t>e.g. square, circle and triangle are shape</a:t>
            </a:r>
          </a:p>
          <a:p>
            <a:endParaRPr lang="en-MY" sz="28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39</a:t>
            </a:fld>
            <a:endParaRPr lang="en-US"/>
          </a:p>
        </p:txBody>
      </p:sp>
    </p:spTree>
    <p:extLst>
      <p:ext uri="{BB962C8B-B14F-4D97-AF65-F5344CB8AC3E}">
        <p14:creationId xmlns:p14="http://schemas.microsoft.com/office/powerpoint/2010/main" val="2398258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Generalization</a:t>
            </a:r>
          </a:p>
        </p:txBody>
      </p:sp>
      <p:sp>
        <p:nvSpPr>
          <p:cNvPr id="3" name="Content Placeholder 2"/>
          <p:cNvSpPr>
            <a:spLocks noGrp="1"/>
          </p:cNvSpPr>
          <p:nvPr>
            <p:ph idx="1"/>
          </p:nvPr>
        </p:nvSpPr>
        <p:spPr>
          <a:xfrm>
            <a:off x="457200" y="1439678"/>
            <a:ext cx="8534400" cy="5120433"/>
          </a:xfrm>
        </p:spPr>
        <p:txBody>
          <a:bodyPr>
            <a:noAutofit/>
          </a:bodyPr>
          <a:lstStyle/>
          <a:p>
            <a:pPr>
              <a:spcBef>
                <a:spcPts val="600"/>
              </a:spcBef>
            </a:pPr>
            <a:r>
              <a:rPr lang="en-US" sz="2600" dirty="0"/>
              <a:t>In modeling systems, it is often useful to </a:t>
            </a:r>
            <a:r>
              <a:rPr lang="en-US" sz="2600" dirty="0">
                <a:solidFill>
                  <a:srgbClr val="C00000"/>
                </a:solidFill>
              </a:rPr>
              <a:t>examine the classes</a:t>
            </a:r>
            <a:r>
              <a:rPr lang="en-US" sz="2600" dirty="0"/>
              <a:t> in a system to see if there is </a:t>
            </a:r>
            <a:r>
              <a:rPr lang="en-US" sz="2600" dirty="0">
                <a:solidFill>
                  <a:srgbClr val="C00000"/>
                </a:solidFill>
              </a:rPr>
              <a:t>scope for generalization</a:t>
            </a:r>
          </a:p>
          <a:p>
            <a:pPr>
              <a:spcBef>
                <a:spcPts val="600"/>
              </a:spcBef>
            </a:pPr>
            <a:r>
              <a:rPr lang="en-US" sz="2600" dirty="0"/>
              <a:t>Do not have to look at all classes in the system to see if they are affected by the change in future</a:t>
            </a:r>
          </a:p>
          <a:p>
            <a:pPr>
              <a:spcBef>
                <a:spcPts val="600"/>
              </a:spcBef>
            </a:pPr>
            <a:r>
              <a:rPr lang="en-US" sz="2600" dirty="0"/>
              <a:t>In a generalization, the </a:t>
            </a:r>
            <a:r>
              <a:rPr lang="en-US" sz="2600" dirty="0">
                <a:solidFill>
                  <a:srgbClr val="C00000"/>
                </a:solidFill>
              </a:rPr>
              <a:t>attributes and operations </a:t>
            </a:r>
            <a:r>
              <a:rPr lang="en-US" sz="2600" dirty="0"/>
              <a:t>associated with higher-level classes are also associated with the lower-level classes</a:t>
            </a:r>
          </a:p>
          <a:p>
            <a:pPr>
              <a:spcBef>
                <a:spcPts val="600"/>
              </a:spcBef>
            </a:pPr>
            <a:r>
              <a:rPr lang="en-US" sz="2600" dirty="0"/>
              <a:t>The lower-level classes are </a:t>
            </a:r>
            <a:r>
              <a:rPr lang="en-US" sz="2600" dirty="0">
                <a:solidFill>
                  <a:srgbClr val="C00000"/>
                </a:solidFill>
              </a:rPr>
              <a:t>subclasses</a:t>
            </a:r>
            <a:r>
              <a:rPr lang="en-US" sz="2600" dirty="0"/>
              <a:t> inherit the attributes and operations from their </a:t>
            </a:r>
            <a:r>
              <a:rPr lang="en-US" sz="2600" dirty="0" err="1">
                <a:solidFill>
                  <a:srgbClr val="C00000"/>
                </a:solidFill>
              </a:rPr>
              <a:t>superclasses</a:t>
            </a:r>
            <a:endParaRPr lang="en-US" sz="2600" dirty="0">
              <a:solidFill>
                <a:srgbClr val="C00000"/>
              </a:solidFill>
            </a:endParaRPr>
          </a:p>
          <a:p>
            <a:pPr>
              <a:spcBef>
                <a:spcPts val="600"/>
              </a:spcBef>
            </a:pPr>
            <a:r>
              <a:rPr lang="en-US" sz="2600" dirty="0"/>
              <a:t>These lower-level classes then </a:t>
            </a:r>
            <a:r>
              <a:rPr lang="en-US" sz="2600" dirty="0">
                <a:solidFill>
                  <a:srgbClr val="C00000"/>
                </a:solidFill>
              </a:rPr>
              <a:t>add more specific attributes and operations</a:t>
            </a:r>
          </a:p>
          <a:p>
            <a:pPr>
              <a:spcBef>
                <a:spcPts val="600"/>
              </a:spcBef>
            </a:pPr>
            <a:endParaRPr lang="en-MY" sz="26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40</a:t>
            </a:fld>
            <a:endParaRPr lang="en-US"/>
          </a:p>
        </p:txBody>
      </p:sp>
    </p:spTree>
    <p:extLst>
      <p:ext uri="{BB962C8B-B14F-4D97-AF65-F5344CB8AC3E}">
        <p14:creationId xmlns:p14="http://schemas.microsoft.com/office/powerpoint/2010/main" val="8073618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Class Generalization</a:t>
            </a:r>
          </a:p>
        </p:txBody>
      </p:sp>
      <p:pic>
        <p:nvPicPr>
          <p:cNvPr id="7" name="Content Placeholder 6"/>
          <p:cNvPicPr>
            <a:picLocks noGrp="1" noChangeAspect="1"/>
          </p:cNvPicPr>
          <p:nvPr>
            <p:ph idx="1"/>
          </p:nvPr>
        </p:nvPicPr>
        <p:blipFill>
          <a:blip r:embed="rId2"/>
          <a:stretch>
            <a:fillRect/>
          </a:stretch>
        </p:blipFill>
        <p:spPr>
          <a:xfrm>
            <a:off x="2469777" y="2395291"/>
            <a:ext cx="6076950" cy="307657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41</a:t>
            </a:fld>
            <a:endParaRPr lang="en-US"/>
          </a:p>
        </p:txBody>
      </p:sp>
      <p:pic>
        <p:nvPicPr>
          <p:cNvPr id="8" name="Picture 7"/>
          <p:cNvPicPr>
            <a:picLocks noChangeAspect="1"/>
          </p:cNvPicPr>
          <p:nvPr/>
        </p:nvPicPr>
        <p:blipFill>
          <a:blip r:embed="rId3"/>
          <a:stretch>
            <a:fillRect/>
          </a:stretch>
        </p:blipFill>
        <p:spPr>
          <a:xfrm>
            <a:off x="304800" y="2806960"/>
            <a:ext cx="1885950" cy="2438400"/>
          </a:xfrm>
          <a:prstGeom prst="rect">
            <a:avLst/>
          </a:prstGeom>
        </p:spPr>
      </p:pic>
    </p:spTree>
    <p:extLst>
      <p:ext uri="{BB962C8B-B14F-4D97-AF65-F5344CB8AC3E}">
        <p14:creationId xmlns:p14="http://schemas.microsoft.com/office/powerpoint/2010/main" val="2712876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Example: Generalization Hierarchy</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42</a:t>
            </a:fld>
            <a:endParaRPr lang="en-US"/>
          </a:p>
        </p:txBody>
      </p:sp>
      <p:pic>
        <p:nvPicPr>
          <p:cNvPr id="7" name="Content Placeholder 6" descr="5.11 GeneralizationHierarchy.eps"/>
          <p:cNvPicPr>
            <a:picLocks noGrp="1" noChangeAspect="1"/>
          </p:cNvPicPr>
          <p:nvPr>
            <p:ph idx="1"/>
          </p:nvPr>
        </p:nvPicPr>
        <p:blipFill>
          <a:blip r:embed="rId2"/>
          <a:stretch>
            <a:fillRect/>
          </a:stretch>
        </p:blipFill>
        <p:spPr>
          <a:xfrm>
            <a:off x="457200" y="2133600"/>
            <a:ext cx="3429000" cy="2467207"/>
          </a:xfrm>
          <a:prstGeom prst="rect">
            <a:avLst/>
          </a:prstGeom>
        </p:spPr>
      </p:pic>
      <p:pic>
        <p:nvPicPr>
          <p:cNvPr id="8" name="Picture 7" descr="5.12 GeneralisationDetail.eps"/>
          <p:cNvPicPr>
            <a:picLocks noChangeAspect="1"/>
          </p:cNvPicPr>
          <p:nvPr/>
        </p:nvPicPr>
        <p:blipFill>
          <a:blip r:embed="rId3"/>
          <a:stretch>
            <a:fillRect/>
          </a:stretch>
        </p:blipFill>
        <p:spPr>
          <a:xfrm>
            <a:off x="4149944" y="2159497"/>
            <a:ext cx="4576879" cy="3771900"/>
          </a:xfrm>
          <a:prstGeom prst="rect">
            <a:avLst/>
          </a:prstGeom>
        </p:spPr>
      </p:pic>
      <p:sp>
        <p:nvSpPr>
          <p:cNvPr id="9" name="Rectangle 8"/>
          <p:cNvSpPr/>
          <p:nvPr/>
        </p:nvSpPr>
        <p:spPr>
          <a:xfrm>
            <a:off x="514115" y="1938453"/>
            <a:ext cx="3657600" cy="133814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0" name="Straight Arrow Connector 9"/>
          <p:cNvCxnSpPr/>
          <p:nvPr/>
        </p:nvCxnSpPr>
        <p:spPr>
          <a:xfrm>
            <a:off x="4171715" y="3276600"/>
            <a:ext cx="933685" cy="52081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57499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Aggregation and Composition</a:t>
            </a:r>
          </a:p>
        </p:txBody>
      </p:sp>
      <p:pic>
        <p:nvPicPr>
          <p:cNvPr id="7" name="Content Placeholder 6"/>
          <p:cNvPicPr>
            <a:picLocks noGrp="1" noChangeAspect="1"/>
          </p:cNvPicPr>
          <p:nvPr>
            <p:ph idx="1"/>
          </p:nvPr>
        </p:nvPicPr>
        <p:blipFill>
          <a:blip r:embed="rId2"/>
          <a:stretch>
            <a:fillRect/>
          </a:stretch>
        </p:blipFill>
        <p:spPr>
          <a:xfrm>
            <a:off x="2590800" y="1417638"/>
            <a:ext cx="3855061" cy="2068569"/>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43</a:t>
            </a:fld>
            <a:endParaRPr lang="en-US"/>
          </a:p>
        </p:txBody>
      </p:sp>
      <p:pic>
        <p:nvPicPr>
          <p:cNvPr id="8" name="Picture 7"/>
          <p:cNvPicPr>
            <a:picLocks noChangeAspect="1"/>
          </p:cNvPicPr>
          <p:nvPr/>
        </p:nvPicPr>
        <p:blipFill>
          <a:blip r:embed="rId3"/>
          <a:stretch>
            <a:fillRect/>
          </a:stretch>
        </p:blipFill>
        <p:spPr>
          <a:xfrm>
            <a:off x="260350" y="4535783"/>
            <a:ext cx="4200525" cy="1238250"/>
          </a:xfrm>
          <a:prstGeom prst="rect">
            <a:avLst/>
          </a:prstGeom>
        </p:spPr>
      </p:pic>
      <p:pic>
        <p:nvPicPr>
          <p:cNvPr id="9" name="Picture 8"/>
          <p:cNvPicPr>
            <a:picLocks noChangeAspect="1"/>
          </p:cNvPicPr>
          <p:nvPr/>
        </p:nvPicPr>
        <p:blipFill>
          <a:blip r:embed="rId4"/>
          <a:stretch>
            <a:fillRect/>
          </a:stretch>
        </p:blipFill>
        <p:spPr>
          <a:xfrm>
            <a:off x="263979" y="3446570"/>
            <a:ext cx="1866900" cy="1009650"/>
          </a:xfrm>
          <a:prstGeom prst="rect">
            <a:avLst/>
          </a:prstGeom>
        </p:spPr>
      </p:pic>
      <p:pic>
        <p:nvPicPr>
          <p:cNvPr id="10" name="Picture 9"/>
          <p:cNvPicPr>
            <a:picLocks noChangeAspect="1"/>
          </p:cNvPicPr>
          <p:nvPr/>
        </p:nvPicPr>
        <p:blipFill>
          <a:blip r:embed="rId5"/>
          <a:stretch>
            <a:fillRect/>
          </a:stretch>
        </p:blipFill>
        <p:spPr>
          <a:xfrm>
            <a:off x="4713290" y="4152210"/>
            <a:ext cx="4114800" cy="1457325"/>
          </a:xfrm>
          <a:prstGeom prst="rect">
            <a:avLst/>
          </a:prstGeom>
        </p:spPr>
      </p:pic>
      <p:pic>
        <p:nvPicPr>
          <p:cNvPr id="11" name="Picture 10"/>
          <p:cNvPicPr>
            <a:picLocks noChangeAspect="1"/>
          </p:cNvPicPr>
          <p:nvPr/>
        </p:nvPicPr>
        <p:blipFill>
          <a:blip r:embed="rId6"/>
          <a:stretch>
            <a:fillRect/>
          </a:stretch>
        </p:blipFill>
        <p:spPr>
          <a:xfrm>
            <a:off x="7285719" y="3499492"/>
            <a:ext cx="1847850" cy="1114425"/>
          </a:xfrm>
          <a:prstGeom prst="rect">
            <a:avLst/>
          </a:prstGeom>
        </p:spPr>
      </p:pic>
      <p:sp>
        <p:nvSpPr>
          <p:cNvPr id="12" name="TextBox 11"/>
          <p:cNvSpPr txBox="1"/>
          <p:nvPr/>
        </p:nvSpPr>
        <p:spPr>
          <a:xfrm>
            <a:off x="457200" y="5726851"/>
            <a:ext cx="3352800" cy="369332"/>
          </a:xfrm>
          <a:prstGeom prst="rect">
            <a:avLst/>
          </a:prstGeom>
          <a:noFill/>
        </p:spPr>
        <p:txBody>
          <a:bodyPr wrap="square" rtlCol="0">
            <a:spAutoFit/>
          </a:bodyPr>
          <a:lstStyle/>
          <a:p>
            <a:r>
              <a:rPr lang="en-MY">
                <a:solidFill>
                  <a:srgbClr val="C00000"/>
                </a:solidFill>
              </a:rPr>
              <a:t>Part </a:t>
            </a:r>
            <a:r>
              <a:rPr lang="en-MY" b="1">
                <a:solidFill>
                  <a:srgbClr val="C00000"/>
                </a:solidFill>
              </a:rPr>
              <a:t>can </a:t>
            </a:r>
            <a:r>
              <a:rPr lang="en-MY">
                <a:solidFill>
                  <a:srgbClr val="C00000"/>
                </a:solidFill>
              </a:rPr>
              <a:t>exist without whole </a:t>
            </a:r>
          </a:p>
        </p:txBody>
      </p:sp>
      <p:sp>
        <p:nvSpPr>
          <p:cNvPr id="13" name="TextBox 12"/>
          <p:cNvSpPr txBox="1"/>
          <p:nvPr/>
        </p:nvSpPr>
        <p:spPr>
          <a:xfrm>
            <a:off x="4876800" y="5734409"/>
            <a:ext cx="3429000" cy="369332"/>
          </a:xfrm>
          <a:prstGeom prst="rect">
            <a:avLst/>
          </a:prstGeom>
          <a:noFill/>
        </p:spPr>
        <p:txBody>
          <a:bodyPr wrap="square" rtlCol="0">
            <a:spAutoFit/>
          </a:bodyPr>
          <a:lstStyle/>
          <a:p>
            <a:r>
              <a:rPr lang="en-MY">
                <a:solidFill>
                  <a:srgbClr val="C00000"/>
                </a:solidFill>
              </a:rPr>
              <a:t>Part </a:t>
            </a:r>
            <a:r>
              <a:rPr lang="en-MY" b="1">
                <a:solidFill>
                  <a:srgbClr val="C00000"/>
                </a:solidFill>
              </a:rPr>
              <a:t>cannot</a:t>
            </a:r>
            <a:r>
              <a:rPr lang="en-MY">
                <a:solidFill>
                  <a:srgbClr val="C00000"/>
                </a:solidFill>
              </a:rPr>
              <a:t> exist without whole </a:t>
            </a:r>
          </a:p>
        </p:txBody>
      </p:sp>
      <p:cxnSp>
        <p:nvCxnSpPr>
          <p:cNvPr id="14" name="Straight Arrow Connector 13"/>
          <p:cNvCxnSpPr/>
          <p:nvPr/>
        </p:nvCxnSpPr>
        <p:spPr>
          <a:xfrm flipH="1">
            <a:off x="2996413" y="4223378"/>
            <a:ext cx="851343" cy="62480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819400" y="3635515"/>
            <a:ext cx="3771900" cy="646331"/>
          </a:xfrm>
          <a:prstGeom prst="rect">
            <a:avLst/>
          </a:prstGeom>
          <a:noFill/>
        </p:spPr>
        <p:txBody>
          <a:bodyPr wrap="square" rtlCol="0">
            <a:spAutoFit/>
          </a:bodyPr>
          <a:lstStyle/>
          <a:p>
            <a:r>
              <a:rPr lang="en-MY">
                <a:solidFill>
                  <a:srgbClr val="C00000"/>
                </a:solidFill>
              </a:rPr>
              <a:t>Note: The arrow head in navigability can be ignored in the analysis stage</a:t>
            </a:r>
          </a:p>
        </p:txBody>
      </p:sp>
    </p:spTree>
    <p:extLst>
      <p:ext uri="{BB962C8B-B14F-4D97-AF65-F5344CB8AC3E}">
        <p14:creationId xmlns:p14="http://schemas.microsoft.com/office/powerpoint/2010/main" val="953141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dirty="0"/>
              <a:t>Example: </a:t>
            </a:r>
            <a:r>
              <a:rPr lang="en-US" dirty="0"/>
              <a:t>Classes and Associations in MHC-PMS</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44</a:t>
            </a:fld>
            <a:endParaRPr lang="en-US"/>
          </a:p>
        </p:txBody>
      </p:sp>
      <p:pic>
        <p:nvPicPr>
          <p:cNvPr id="7" name="Content Placeholder 6" descr="5.9 MHCPMS-classes.eps"/>
          <p:cNvPicPr>
            <a:picLocks noGrp="1" noChangeAspect="1"/>
          </p:cNvPicPr>
          <p:nvPr>
            <p:ph idx="1"/>
          </p:nvPr>
        </p:nvPicPr>
        <p:blipFill>
          <a:blip r:embed="rId2"/>
          <a:stretch>
            <a:fillRect/>
          </a:stretch>
        </p:blipFill>
        <p:spPr>
          <a:xfrm>
            <a:off x="2133600" y="1646850"/>
            <a:ext cx="6715248" cy="4495800"/>
          </a:xfrm>
          <a:prstGeom prst="rect">
            <a:avLst/>
          </a:prstGeom>
        </p:spPr>
      </p:pic>
      <p:pic>
        <p:nvPicPr>
          <p:cNvPr id="8" name="Picture 7" descr="5.13 Aggregation.eps"/>
          <p:cNvPicPr>
            <a:picLocks noChangeAspect="1"/>
          </p:cNvPicPr>
          <p:nvPr/>
        </p:nvPicPr>
        <p:blipFill>
          <a:blip r:embed="rId3"/>
          <a:stretch>
            <a:fillRect/>
          </a:stretch>
        </p:blipFill>
        <p:spPr>
          <a:xfrm>
            <a:off x="312054" y="4328365"/>
            <a:ext cx="3128635" cy="1759857"/>
          </a:xfrm>
          <a:prstGeom prst="rect">
            <a:avLst/>
          </a:prstGeom>
        </p:spPr>
      </p:pic>
      <p:sp>
        <p:nvSpPr>
          <p:cNvPr id="9" name="Rectangle 8"/>
          <p:cNvSpPr/>
          <p:nvPr/>
        </p:nvSpPr>
        <p:spPr>
          <a:xfrm>
            <a:off x="4165462" y="2590800"/>
            <a:ext cx="2495315" cy="2438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0" name="Straight Arrow Connector 9"/>
          <p:cNvCxnSpPr/>
          <p:nvPr/>
        </p:nvCxnSpPr>
        <p:spPr>
          <a:xfrm flipH="1">
            <a:off x="2634207" y="3942514"/>
            <a:ext cx="1531255" cy="61989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53064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Domain Model for Online Shopping</a:t>
            </a:r>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7399" y="1524000"/>
            <a:ext cx="5181715" cy="4800600"/>
          </a:xfr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45</a:t>
            </a:fld>
            <a:endParaRPr lang="en-US"/>
          </a:p>
        </p:txBody>
      </p:sp>
      <p:sp>
        <p:nvSpPr>
          <p:cNvPr id="8" name="TextBox 7"/>
          <p:cNvSpPr txBox="1"/>
          <p:nvPr/>
        </p:nvSpPr>
        <p:spPr>
          <a:xfrm>
            <a:off x="72570" y="6069641"/>
            <a:ext cx="4114800" cy="276999"/>
          </a:xfrm>
          <a:prstGeom prst="rect">
            <a:avLst/>
          </a:prstGeom>
          <a:noFill/>
        </p:spPr>
        <p:txBody>
          <a:bodyPr wrap="square" rtlCol="0">
            <a:spAutoFit/>
          </a:bodyPr>
          <a:lstStyle/>
          <a:p>
            <a:r>
              <a:rPr lang="en-US" sz="1200"/>
              <a:t>source: https://www.uml-diagrams.org/index-examples.html</a:t>
            </a:r>
            <a:endParaRPr lang="en-MY" sz="1200"/>
          </a:p>
        </p:txBody>
      </p:sp>
      <p:cxnSp>
        <p:nvCxnSpPr>
          <p:cNvPr id="11" name="Straight Arrow Connector 10"/>
          <p:cNvCxnSpPr/>
          <p:nvPr/>
        </p:nvCxnSpPr>
        <p:spPr>
          <a:xfrm flipV="1">
            <a:off x="2590800" y="4191001"/>
            <a:ext cx="609600" cy="98403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2399" y="5213319"/>
            <a:ext cx="3641271" cy="646331"/>
          </a:xfrm>
          <a:prstGeom prst="rect">
            <a:avLst/>
          </a:prstGeom>
          <a:noFill/>
        </p:spPr>
        <p:txBody>
          <a:bodyPr wrap="square" rtlCol="0">
            <a:spAutoFit/>
          </a:bodyPr>
          <a:lstStyle/>
          <a:p>
            <a:r>
              <a:rPr lang="en-MY">
                <a:solidFill>
                  <a:srgbClr val="C00000"/>
                </a:solidFill>
              </a:rPr>
              <a:t>Note: Stating the type for the attribute is optional in analysis stage</a:t>
            </a:r>
          </a:p>
        </p:txBody>
      </p:sp>
    </p:spTree>
    <p:extLst>
      <p:ext uri="{BB962C8B-B14F-4D97-AF65-F5344CB8AC3E}">
        <p14:creationId xmlns:p14="http://schemas.microsoft.com/office/powerpoint/2010/main" val="4141713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Behavioral model</a:t>
            </a:r>
          </a:p>
        </p:txBody>
      </p:sp>
      <p:sp>
        <p:nvSpPr>
          <p:cNvPr id="3" name="Text Placeholder 2"/>
          <p:cNvSpPr>
            <a:spLocks noGrp="1"/>
          </p:cNvSpPr>
          <p:nvPr>
            <p:ph type="body" idx="1"/>
          </p:nvPr>
        </p:nvSpPr>
        <p:spPr>
          <a:xfrm>
            <a:off x="722312" y="2906713"/>
            <a:ext cx="8116887" cy="1500187"/>
          </a:xfrm>
        </p:spPr>
        <p:txBody>
          <a:bodyPr/>
          <a:lstStyle/>
          <a:p>
            <a:r>
              <a:rPr lang="en-MY"/>
              <a:t>Activity Diagram, Sequence Diagram, State Diagram (State Chart/Machine) </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46</a:t>
            </a:fld>
            <a:endParaRPr lang="en-US"/>
          </a:p>
        </p:txBody>
      </p:sp>
    </p:spTree>
    <p:extLst>
      <p:ext uri="{BB962C8B-B14F-4D97-AF65-F5344CB8AC3E}">
        <p14:creationId xmlns:p14="http://schemas.microsoft.com/office/powerpoint/2010/main" val="1138330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Behavioral Model</a:t>
            </a:r>
          </a:p>
        </p:txBody>
      </p:sp>
      <p:sp>
        <p:nvSpPr>
          <p:cNvPr id="3" name="Content Placeholder 2"/>
          <p:cNvSpPr>
            <a:spLocks noGrp="1"/>
          </p:cNvSpPr>
          <p:nvPr>
            <p:ph idx="1"/>
          </p:nvPr>
        </p:nvSpPr>
        <p:spPr/>
        <p:txBody>
          <a:bodyPr>
            <a:normAutofit fontScale="92500" lnSpcReduction="20000"/>
          </a:bodyPr>
          <a:lstStyle/>
          <a:p>
            <a:r>
              <a:rPr lang="en-US" dirty="0"/>
              <a:t>Behavioral models are models of the dynamic behavior of a system as it is executing, show what happens or what is supposed to happen when a system responds to a </a:t>
            </a:r>
            <a:r>
              <a:rPr lang="en-US" b="1" dirty="0">
                <a:solidFill>
                  <a:srgbClr val="C00000"/>
                </a:solidFill>
              </a:rPr>
              <a:t>stimulus </a:t>
            </a:r>
            <a:r>
              <a:rPr lang="en-US" dirty="0"/>
              <a:t>from its environment</a:t>
            </a:r>
          </a:p>
          <a:p>
            <a:r>
              <a:rPr lang="en-US" dirty="0"/>
              <a:t>Think of these stimuli as being of </a:t>
            </a:r>
            <a:r>
              <a:rPr lang="en-US" b="1" dirty="0">
                <a:solidFill>
                  <a:srgbClr val="C00000"/>
                </a:solidFill>
              </a:rPr>
              <a:t>two types</a:t>
            </a:r>
            <a:r>
              <a:rPr lang="en-US" dirty="0"/>
              <a:t>:</a:t>
            </a:r>
            <a:endParaRPr lang="en-GB" dirty="0"/>
          </a:p>
          <a:p>
            <a:pPr lvl="1"/>
            <a:r>
              <a:rPr lang="en-US" b="1" dirty="0">
                <a:solidFill>
                  <a:srgbClr val="C00000"/>
                </a:solidFill>
              </a:rPr>
              <a:t>Data: </a:t>
            </a:r>
            <a:r>
              <a:rPr lang="en-US" dirty="0"/>
              <a:t>Some data arrives that has to be processed by the system (activity diagram, sequence diagram)</a:t>
            </a:r>
            <a:endParaRPr lang="en-GB" dirty="0"/>
          </a:p>
          <a:p>
            <a:pPr lvl="1"/>
            <a:r>
              <a:rPr lang="en-US" b="1" dirty="0">
                <a:solidFill>
                  <a:srgbClr val="C00000"/>
                </a:solidFill>
              </a:rPr>
              <a:t>Events: </a:t>
            </a:r>
            <a:r>
              <a:rPr lang="en-US" dirty="0"/>
              <a:t>Some event happens that triggers system processing and may have associated data, although this is not always the case (state diagram)</a:t>
            </a:r>
            <a:endParaRPr lang="en-GB" dirty="0"/>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47</a:t>
            </a:fld>
            <a:endParaRPr lang="en-US"/>
          </a:p>
        </p:txBody>
      </p:sp>
    </p:spTree>
    <p:extLst>
      <p:ext uri="{BB962C8B-B14F-4D97-AF65-F5344CB8AC3E}">
        <p14:creationId xmlns:p14="http://schemas.microsoft.com/office/powerpoint/2010/main" val="22122016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Data-Driven Modeling</a:t>
            </a:r>
          </a:p>
        </p:txBody>
      </p:sp>
      <p:sp>
        <p:nvSpPr>
          <p:cNvPr id="3" name="Content Placeholder 2"/>
          <p:cNvSpPr>
            <a:spLocks noGrp="1"/>
          </p:cNvSpPr>
          <p:nvPr>
            <p:ph idx="1"/>
          </p:nvPr>
        </p:nvSpPr>
        <p:spPr/>
        <p:txBody>
          <a:bodyPr>
            <a:normAutofit fontScale="92500" lnSpcReduction="10000"/>
          </a:bodyPr>
          <a:lstStyle/>
          <a:p>
            <a:r>
              <a:rPr lang="en-US" dirty="0"/>
              <a:t>Many business systems are </a:t>
            </a:r>
            <a:r>
              <a:rPr lang="en-US" b="1" dirty="0">
                <a:solidFill>
                  <a:srgbClr val="C00000"/>
                </a:solidFill>
              </a:rPr>
              <a:t>data-processing systems</a:t>
            </a:r>
            <a:r>
              <a:rPr lang="en-US" dirty="0"/>
              <a:t> that are primarily driven by data, controlled by the data input to the system, with relatively little external event processing</a:t>
            </a:r>
          </a:p>
          <a:p>
            <a:r>
              <a:rPr lang="en-US" dirty="0"/>
              <a:t>Data-driven models show the sequence of actions involved in processing </a:t>
            </a:r>
            <a:r>
              <a:rPr lang="en-US" b="1" dirty="0">
                <a:solidFill>
                  <a:srgbClr val="C00000"/>
                </a:solidFill>
              </a:rPr>
              <a:t>input data </a:t>
            </a:r>
            <a:r>
              <a:rPr lang="en-US" dirty="0"/>
              <a:t>and generating an </a:t>
            </a:r>
            <a:r>
              <a:rPr lang="en-US" b="1" dirty="0">
                <a:solidFill>
                  <a:srgbClr val="C00000"/>
                </a:solidFill>
              </a:rPr>
              <a:t>associated output</a:t>
            </a:r>
          </a:p>
          <a:p>
            <a:r>
              <a:rPr lang="en-US" dirty="0"/>
              <a:t>They are particularly useful during the </a:t>
            </a:r>
            <a:r>
              <a:rPr lang="en-US" b="1" dirty="0">
                <a:solidFill>
                  <a:srgbClr val="C00000"/>
                </a:solidFill>
              </a:rPr>
              <a:t>analysis of requirements</a:t>
            </a:r>
            <a:r>
              <a:rPr lang="en-US" dirty="0"/>
              <a:t> as they can be used to show end-to-end processing in a system</a:t>
            </a:r>
          </a:p>
          <a:p>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48</a:t>
            </a:fld>
            <a:endParaRPr lang="en-US"/>
          </a:p>
        </p:txBody>
      </p:sp>
    </p:spTree>
    <p:extLst>
      <p:ext uri="{BB962C8B-B14F-4D97-AF65-F5344CB8AC3E}">
        <p14:creationId xmlns:p14="http://schemas.microsoft.com/office/powerpoint/2010/main" val="32370070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Activity Diagram</a:t>
            </a:r>
          </a:p>
        </p:txBody>
      </p:sp>
      <p:sp>
        <p:nvSpPr>
          <p:cNvPr id="3" name="Content Placeholder 2"/>
          <p:cNvSpPr>
            <a:spLocks noGrp="1"/>
          </p:cNvSpPr>
          <p:nvPr>
            <p:ph idx="1"/>
          </p:nvPr>
        </p:nvSpPr>
        <p:spPr>
          <a:xfrm>
            <a:off x="457200" y="1524000"/>
            <a:ext cx="8458200" cy="4602163"/>
          </a:xfrm>
        </p:spPr>
        <p:txBody>
          <a:bodyPr>
            <a:noAutofit/>
          </a:bodyPr>
          <a:lstStyle/>
          <a:p>
            <a:r>
              <a:rPr lang="en-MY" sz="2500" dirty="0"/>
              <a:t>Activity diagrams are “</a:t>
            </a:r>
            <a:r>
              <a:rPr lang="en-MY" sz="2500" b="1" dirty="0">
                <a:solidFill>
                  <a:srgbClr val="C00000"/>
                </a:solidFill>
              </a:rPr>
              <a:t>OO flowcharts</a:t>
            </a:r>
            <a:r>
              <a:rPr lang="en-MY" sz="2500" dirty="0"/>
              <a:t>” that allow us to model a process as a collection of </a:t>
            </a:r>
            <a:r>
              <a:rPr lang="en-MY" sz="2500" b="1" dirty="0">
                <a:solidFill>
                  <a:srgbClr val="C00000"/>
                </a:solidFill>
              </a:rPr>
              <a:t>activities and transitions</a:t>
            </a:r>
            <a:r>
              <a:rPr lang="en-MY" sz="2500" dirty="0"/>
              <a:t> between those activities</a:t>
            </a:r>
          </a:p>
          <a:p>
            <a:r>
              <a:rPr lang="en-MY" sz="2500" dirty="0"/>
              <a:t>Activity diagrams are really just </a:t>
            </a:r>
            <a:r>
              <a:rPr lang="en-MY" sz="2500" b="1" dirty="0">
                <a:solidFill>
                  <a:srgbClr val="C00000"/>
                </a:solidFill>
              </a:rPr>
              <a:t>special cases of </a:t>
            </a:r>
            <a:r>
              <a:rPr lang="en-MY" sz="2500" b="1" dirty="0" err="1">
                <a:solidFill>
                  <a:srgbClr val="C00000"/>
                </a:solidFill>
              </a:rPr>
              <a:t>statecharts</a:t>
            </a:r>
            <a:r>
              <a:rPr lang="en-MY" sz="2500" b="1" dirty="0">
                <a:solidFill>
                  <a:srgbClr val="C00000"/>
                </a:solidFill>
              </a:rPr>
              <a:t> </a:t>
            </a:r>
            <a:r>
              <a:rPr lang="en-MY" sz="2500" dirty="0"/>
              <a:t>where every state has an entry action that specifies some process or function that occurs when the state is entered </a:t>
            </a:r>
          </a:p>
          <a:p>
            <a:r>
              <a:rPr lang="en-MY" sz="2500" dirty="0"/>
              <a:t>An activity diagram </a:t>
            </a:r>
            <a:r>
              <a:rPr lang="en-MY" sz="2500" b="1" dirty="0">
                <a:solidFill>
                  <a:srgbClr val="C00000"/>
                </a:solidFill>
              </a:rPr>
              <a:t>can be attached to any </a:t>
            </a:r>
            <a:r>
              <a:rPr lang="en-MY" sz="2500" b="1" dirty="0" err="1">
                <a:solidFill>
                  <a:srgbClr val="C00000"/>
                </a:solidFill>
              </a:rPr>
              <a:t>modeling</a:t>
            </a:r>
            <a:r>
              <a:rPr lang="en-MY" sz="2500" b="1" dirty="0">
                <a:solidFill>
                  <a:srgbClr val="C00000"/>
                </a:solidFill>
              </a:rPr>
              <a:t> element</a:t>
            </a:r>
            <a:r>
              <a:rPr lang="en-MY" sz="2500" dirty="0"/>
              <a:t> for the purpose of </a:t>
            </a:r>
            <a:r>
              <a:rPr lang="en-MY" sz="2500" dirty="0" err="1"/>
              <a:t>modeling</a:t>
            </a:r>
            <a:r>
              <a:rPr lang="en-MY" sz="2500" dirty="0"/>
              <a:t> the </a:t>
            </a:r>
            <a:r>
              <a:rPr lang="en-MY" sz="2500" dirty="0" err="1"/>
              <a:t>behavior</a:t>
            </a:r>
            <a:r>
              <a:rPr lang="en-MY" sz="2500" dirty="0"/>
              <a:t> of that element </a:t>
            </a:r>
            <a:r>
              <a:rPr lang="en-MY" sz="2500" b="1" dirty="0">
                <a:solidFill>
                  <a:srgbClr val="C00000"/>
                </a:solidFill>
              </a:rPr>
              <a:t>at different abstraction levels</a:t>
            </a:r>
          </a:p>
          <a:p>
            <a:r>
              <a:rPr lang="en-MY" sz="2500" dirty="0"/>
              <a:t>Activity diagrams are typically attached to: use cases, classes, interfaces, components, nodes, collaborations, operations and methods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49</a:t>
            </a:fld>
            <a:endParaRPr lang="en-US"/>
          </a:p>
        </p:txBody>
      </p:sp>
    </p:spTree>
    <p:extLst>
      <p:ext uri="{BB962C8B-B14F-4D97-AF65-F5344CB8AC3E}">
        <p14:creationId xmlns:p14="http://schemas.microsoft.com/office/powerpoint/2010/main" val="12745351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Activity Diagram: Transition and Decision</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50</a:t>
            </a:fld>
            <a:endParaRPr lang="en-US"/>
          </a:p>
        </p:txBody>
      </p:sp>
      <p:pic>
        <p:nvPicPr>
          <p:cNvPr id="7" name="Picture 6"/>
          <p:cNvPicPr>
            <a:picLocks noChangeAspect="1"/>
          </p:cNvPicPr>
          <p:nvPr/>
        </p:nvPicPr>
        <p:blipFill>
          <a:blip r:embed="rId2"/>
          <a:stretch>
            <a:fillRect/>
          </a:stretch>
        </p:blipFill>
        <p:spPr>
          <a:xfrm>
            <a:off x="1020421" y="3195039"/>
            <a:ext cx="2199022" cy="2769859"/>
          </a:xfrm>
          <a:prstGeom prst="rect">
            <a:avLst/>
          </a:prstGeom>
        </p:spPr>
      </p:pic>
      <p:pic>
        <p:nvPicPr>
          <p:cNvPr id="8" name="Picture 7"/>
          <p:cNvPicPr>
            <a:picLocks noChangeAspect="1"/>
          </p:cNvPicPr>
          <p:nvPr/>
        </p:nvPicPr>
        <p:blipFill>
          <a:blip r:embed="rId3"/>
          <a:stretch>
            <a:fillRect/>
          </a:stretch>
        </p:blipFill>
        <p:spPr>
          <a:xfrm>
            <a:off x="1243632" y="1781223"/>
            <a:ext cx="1752600" cy="1314450"/>
          </a:xfrm>
          <a:prstGeom prst="rect">
            <a:avLst/>
          </a:prstGeom>
        </p:spPr>
      </p:pic>
      <p:pic>
        <p:nvPicPr>
          <p:cNvPr id="9" name="Picture 8"/>
          <p:cNvPicPr>
            <a:picLocks noChangeAspect="1"/>
          </p:cNvPicPr>
          <p:nvPr/>
        </p:nvPicPr>
        <p:blipFill>
          <a:blip r:embed="rId4"/>
          <a:stretch>
            <a:fillRect/>
          </a:stretch>
        </p:blipFill>
        <p:spPr>
          <a:xfrm>
            <a:off x="5160158" y="3038548"/>
            <a:ext cx="3001237" cy="2926350"/>
          </a:xfrm>
          <a:prstGeom prst="rect">
            <a:avLst/>
          </a:prstGeom>
        </p:spPr>
      </p:pic>
      <p:pic>
        <p:nvPicPr>
          <p:cNvPr id="10" name="Picture 9"/>
          <p:cNvPicPr>
            <a:picLocks noChangeAspect="1"/>
          </p:cNvPicPr>
          <p:nvPr/>
        </p:nvPicPr>
        <p:blipFill>
          <a:blip r:embed="rId5"/>
          <a:stretch>
            <a:fillRect/>
          </a:stretch>
        </p:blipFill>
        <p:spPr>
          <a:xfrm>
            <a:off x="5765427" y="1749512"/>
            <a:ext cx="1790700" cy="1000125"/>
          </a:xfrm>
          <a:prstGeom prst="rect">
            <a:avLst/>
          </a:prstGeom>
        </p:spPr>
      </p:pic>
    </p:spTree>
    <p:extLst>
      <p:ext uri="{BB962C8B-B14F-4D97-AF65-F5344CB8AC3E}">
        <p14:creationId xmlns:p14="http://schemas.microsoft.com/office/powerpoint/2010/main" val="1662740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a:t>Activity Diagram: Fork and Join</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51</a:t>
            </a:fld>
            <a:endParaRPr lang="en-US"/>
          </a:p>
        </p:txBody>
      </p:sp>
      <p:pic>
        <p:nvPicPr>
          <p:cNvPr id="8" name="Picture 7"/>
          <p:cNvPicPr>
            <a:picLocks noChangeAspect="1"/>
          </p:cNvPicPr>
          <p:nvPr/>
        </p:nvPicPr>
        <p:blipFill>
          <a:blip r:embed="rId2"/>
          <a:stretch>
            <a:fillRect/>
          </a:stretch>
        </p:blipFill>
        <p:spPr>
          <a:xfrm>
            <a:off x="983224" y="2514600"/>
            <a:ext cx="1781175" cy="2400300"/>
          </a:xfrm>
          <a:prstGeom prst="rect">
            <a:avLst/>
          </a:prstGeom>
        </p:spPr>
      </p:pic>
      <p:pic>
        <p:nvPicPr>
          <p:cNvPr id="10" name="Content Placeholder 9">
            <a:extLst>
              <a:ext uri="{FF2B5EF4-FFF2-40B4-BE49-F238E27FC236}">
                <a16:creationId xmlns:a16="http://schemas.microsoft.com/office/drawing/2014/main" xmlns="" id="{D086E8A0-6090-4A35-A013-598BA512567F}"/>
              </a:ext>
            </a:extLst>
          </p:cNvPr>
          <p:cNvPicPr>
            <a:picLocks noGrp="1" noChangeAspect="1"/>
          </p:cNvPicPr>
          <p:nvPr>
            <p:ph idx="1"/>
          </p:nvPr>
        </p:nvPicPr>
        <p:blipFill>
          <a:blip r:embed="rId3"/>
          <a:stretch>
            <a:fillRect/>
          </a:stretch>
        </p:blipFill>
        <p:spPr>
          <a:xfrm>
            <a:off x="3581400" y="1676400"/>
            <a:ext cx="3733800" cy="4524375"/>
          </a:xfrm>
          <a:prstGeom prst="rect">
            <a:avLst/>
          </a:prstGeom>
        </p:spPr>
      </p:pic>
    </p:spTree>
    <p:extLst>
      <p:ext uri="{BB962C8B-B14F-4D97-AF65-F5344CB8AC3E}">
        <p14:creationId xmlns:p14="http://schemas.microsoft.com/office/powerpoint/2010/main" val="28681234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Activity Diagram: Swimlanes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52</a:t>
            </a:fld>
            <a:endParaRPr lang="en-US"/>
          </a:p>
        </p:txBody>
      </p:sp>
      <p:pic>
        <p:nvPicPr>
          <p:cNvPr id="8" name="Picture 7"/>
          <p:cNvPicPr>
            <a:picLocks noChangeAspect="1"/>
          </p:cNvPicPr>
          <p:nvPr/>
        </p:nvPicPr>
        <p:blipFill>
          <a:blip r:embed="rId2"/>
          <a:stretch>
            <a:fillRect/>
          </a:stretch>
        </p:blipFill>
        <p:spPr>
          <a:xfrm>
            <a:off x="1066800" y="3254561"/>
            <a:ext cx="1762125" cy="1047750"/>
          </a:xfrm>
          <a:prstGeom prst="rect">
            <a:avLst/>
          </a:prstGeom>
        </p:spPr>
      </p:pic>
      <p:pic>
        <p:nvPicPr>
          <p:cNvPr id="10" name="Content Placeholder 9">
            <a:extLst>
              <a:ext uri="{FF2B5EF4-FFF2-40B4-BE49-F238E27FC236}">
                <a16:creationId xmlns:a16="http://schemas.microsoft.com/office/drawing/2014/main" xmlns="" id="{D8E926FA-37A1-465B-AAEE-6DB48ECC8BAE}"/>
              </a:ext>
            </a:extLst>
          </p:cNvPr>
          <p:cNvPicPr>
            <a:picLocks noGrp="1" noChangeAspect="1"/>
          </p:cNvPicPr>
          <p:nvPr>
            <p:ph idx="1"/>
          </p:nvPr>
        </p:nvPicPr>
        <p:blipFill>
          <a:blip r:embed="rId3"/>
          <a:stretch>
            <a:fillRect/>
          </a:stretch>
        </p:blipFill>
        <p:spPr>
          <a:xfrm>
            <a:off x="3048000" y="1708140"/>
            <a:ext cx="4419600" cy="4524375"/>
          </a:xfrm>
          <a:prstGeom prst="rect">
            <a:avLst/>
          </a:prstGeom>
        </p:spPr>
      </p:pic>
    </p:spTree>
    <p:extLst>
      <p:ext uri="{BB962C8B-B14F-4D97-AF65-F5344CB8AC3E}">
        <p14:creationId xmlns:p14="http://schemas.microsoft.com/office/powerpoint/2010/main" val="25724061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Sequence Diagram</a:t>
            </a:r>
          </a:p>
        </p:txBody>
      </p:sp>
      <p:sp>
        <p:nvSpPr>
          <p:cNvPr id="3" name="Content Placeholder 2"/>
          <p:cNvSpPr>
            <a:spLocks noGrp="1"/>
          </p:cNvSpPr>
          <p:nvPr>
            <p:ph idx="1"/>
          </p:nvPr>
        </p:nvSpPr>
        <p:spPr>
          <a:xfrm>
            <a:off x="457200" y="1439678"/>
            <a:ext cx="8229600" cy="4961122"/>
          </a:xfrm>
        </p:spPr>
        <p:txBody>
          <a:bodyPr>
            <a:noAutofit/>
          </a:bodyPr>
          <a:lstStyle/>
          <a:p>
            <a:r>
              <a:rPr lang="en-US" sz="2800" dirty="0"/>
              <a:t>Sequence diagrams are part of the UML and are used to model the </a:t>
            </a:r>
            <a:r>
              <a:rPr lang="en-US" sz="2800" b="1" dirty="0">
                <a:solidFill>
                  <a:srgbClr val="C00000"/>
                </a:solidFill>
              </a:rPr>
              <a:t>interactions</a:t>
            </a:r>
            <a:r>
              <a:rPr lang="en-US" sz="2800" dirty="0"/>
              <a:t> between the actors and the objects showing their </a:t>
            </a:r>
            <a:r>
              <a:rPr lang="en-US" sz="2800" b="1" dirty="0">
                <a:solidFill>
                  <a:srgbClr val="C00000"/>
                </a:solidFill>
              </a:rPr>
              <a:t>behavior </a:t>
            </a:r>
            <a:r>
              <a:rPr lang="en-US" sz="2800" dirty="0"/>
              <a:t>within a system</a:t>
            </a:r>
          </a:p>
          <a:p>
            <a:r>
              <a:rPr lang="en-US" sz="2800" dirty="0"/>
              <a:t>A sequence diagram shows the </a:t>
            </a:r>
            <a:r>
              <a:rPr lang="en-US" sz="2800" b="1" dirty="0">
                <a:solidFill>
                  <a:srgbClr val="C00000"/>
                </a:solidFill>
              </a:rPr>
              <a:t>sequence of interactions</a:t>
            </a:r>
            <a:r>
              <a:rPr lang="en-US" sz="2800" dirty="0"/>
              <a:t> that take place during a particular use case or use case instance (</a:t>
            </a:r>
            <a:r>
              <a:rPr lang="en-US" sz="2800" b="1" dirty="0">
                <a:solidFill>
                  <a:srgbClr val="C00000"/>
                </a:solidFill>
              </a:rPr>
              <a:t>scenario</a:t>
            </a:r>
            <a:r>
              <a:rPr lang="en-US" sz="2800" dirty="0"/>
              <a:t>)</a:t>
            </a:r>
          </a:p>
          <a:p>
            <a:r>
              <a:rPr lang="en-US" sz="2800" dirty="0"/>
              <a:t>The </a:t>
            </a:r>
            <a:r>
              <a:rPr lang="en-US" sz="2800" b="1" dirty="0">
                <a:solidFill>
                  <a:srgbClr val="C00000"/>
                </a:solidFill>
              </a:rPr>
              <a:t>objects and actors </a:t>
            </a:r>
            <a:r>
              <a:rPr lang="en-US" sz="2800" dirty="0"/>
              <a:t>involved are listed along the top of the diagram, with a dotted line drawn vertically from these</a:t>
            </a:r>
          </a:p>
          <a:p>
            <a:r>
              <a:rPr lang="en-US" sz="2800" dirty="0"/>
              <a:t>Interactions between objects are indicated by annotated arrows</a:t>
            </a:r>
          </a:p>
          <a:p>
            <a:endParaRPr lang="en-MY" sz="28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53</a:t>
            </a:fld>
            <a:endParaRPr lang="en-US"/>
          </a:p>
        </p:txBody>
      </p:sp>
    </p:spTree>
    <p:extLst>
      <p:ext uri="{BB962C8B-B14F-4D97-AF65-F5344CB8AC3E}">
        <p14:creationId xmlns:p14="http://schemas.microsoft.com/office/powerpoint/2010/main" val="25934002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xmlns="" id="{94E58828-9344-4A9B-B936-3B5069409DF3}"/>
              </a:ext>
            </a:extLst>
          </p:cNvPr>
          <p:cNvPicPr>
            <a:picLocks noGrp="1" noChangeAspect="1"/>
          </p:cNvPicPr>
          <p:nvPr>
            <p:ph idx="1"/>
          </p:nvPr>
        </p:nvPicPr>
        <p:blipFill>
          <a:blip r:embed="rId2"/>
          <a:stretch>
            <a:fillRect/>
          </a:stretch>
        </p:blipFill>
        <p:spPr>
          <a:xfrm>
            <a:off x="1550670" y="1760061"/>
            <a:ext cx="5791200" cy="4343400"/>
          </a:xfrm>
          <a:prstGeom prst="rect">
            <a:avLst/>
          </a:prstGeom>
        </p:spPr>
      </p:pic>
      <p:sp>
        <p:nvSpPr>
          <p:cNvPr id="2" name="Title 1"/>
          <p:cNvSpPr>
            <a:spLocks noGrp="1"/>
          </p:cNvSpPr>
          <p:nvPr>
            <p:ph type="title"/>
          </p:nvPr>
        </p:nvSpPr>
        <p:spPr/>
        <p:txBody>
          <a:bodyPr/>
          <a:lstStyle/>
          <a:p>
            <a:r>
              <a:rPr lang="en-MY"/>
              <a:t>Sequence Diagram Syntax</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54</a:t>
            </a:fld>
            <a:endParaRPr lang="en-US"/>
          </a:p>
        </p:txBody>
      </p:sp>
      <p:pic>
        <p:nvPicPr>
          <p:cNvPr id="8" name="Picture 7"/>
          <p:cNvPicPr>
            <a:picLocks noChangeAspect="1"/>
          </p:cNvPicPr>
          <p:nvPr/>
        </p:nvPicPr>
        <p:blipFill>
          <a:blip r:embed="rId3"/>
          <a:stretch>
            <a:fillRect/>
          </a:stretch>
        </p:blipFill>
        <p:spPr>
          <a:xfrm>
            <a:off x="66675" y="1524000"/>
            <a:ext cx="1905000" cy="1362075"/>
          </a:xfrm>
          <a:prstGeom prst="rect">
            <a:avLst/>
          </a:prstGeom>
        </p:spPr>
      </p:pic>
      <p:pic>
        <p:nvPicPr>
          <p:cNvPr id="3" name="Picture 2"/>
          <p:cNvPicPr>
            <a:picLocks noChangeAspect="1"/>
          </p:cNvPicPr>
          <p:nvPr/>
        </p:nvPicPr>
        <p:blipFill>
          <a:blip r:embed="rId4"/>
          <a:stretch>
            <a:fillRect/>
          </a:stretch>
        </p:blipFill>
        <p:spPr>
          <a:xfrm>
            <a:off x="6983305" y="1483300"/>
            <a:ext cx="2121264" cy="1658526"/>
          </a:xfrm>
          <a:prstGeom prst="rect">
            <a:avLst/>
          </a:prstGeom>
        </p:spPr>
      </p:pic>
      <p:cxnSp>
        <p:nvCxnSpPr>
          <p:cNvPr id="12" name="Straight Arrow Connector 11"/>
          <p:cNvCxnSpPr>
            <a:cxnSpLocks/>
          </p:cNvCxnSpPr>
          <p:nvPr/>
        </p:nvCxnSpPr>
        <p:spPr>
          <a:xfrm flipH="1">
            <a:off x="5486400" y="1719950"/>
            <a:ext cx="1511420" cy="5660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026847" y="3160488"/>
            <a:ext cx="2008295" cy="646331"/>
          </a:xfrm>
          <a:prstGeom prst="rect">
            <a:avLst/>
          </a:prstGeom>
          <a:noFill/>
        </p:spPr>
        <p:txBody>
          <a:bodyPr wrap="square" rtlCol="0">
            <a:spAutoFit/>
          </a:bodyPr>
          <a:lstStyle/>
          <a:p>
            <a:r>
              <a:rPr lang="en-MY">
                <a:solidFill>
                  <a:srgbClr val="C00000"/>
                </a:solidFill>
              </a:rPr>
              <a:t>Note: Related Use Case Description</a:t>
            </a:r>
          </a:p>
        </p:txBody>
      </p:sp>
    </p:spTree>
    <p:extLst>
      <p:ext uri="{BB962C8B-B14F-4D97-AF65-F5344CB8AC3E}">
        <p14:creationId xmlns:p14="http://schemas.microsoft.com/office/powerpoint/2010/main" val="17651286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Syntax/Notation Details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55</a:t>
            </a:fld>
            <a:endParaRPr lang="en-US"/>
          </a:p>
        </p:txBody>
      </p:sp>
      <p:sp>
        <p:nvSpPr>
          <p:cNvPr id="7" name="Content Placeholder 6"/>
          <p:cNvSpPr txBox="1">
            <a:spLocks noGrp="1"/>
          </p:cNvSpPr>
          <p:nvPr>
            <p:ph idx="1"/>
          </p:nvPr>
        </p:nvSpPr>
        <p:spPr>
          <a:xfrm>
            <a:off x="457200" y="1600200"/>
            <a:ext cx="8458200" cy="4228850"/>
          </a:xfrm>
          <a:prstGeom prst="rect">
            <a:avLst/>
          </a:prstGeom>
          <a:noFill/>
        </p:spPr>
        <p:txBody>
          <a:bodyPr wrap="square" rtlCol="0">
            <a:spAutoFit/>
          </a:bodyPr>
          <a:lstStyle/>
          <a:p>
            <a:r>
              <a:rPr lang="en-US" sz="2800" b="1" dirty="0">
                <a:solidFill>
                  <a:srgbClr val="C00000"/>
                </a:solidFill>
              </a:rPr>
              <a:t>Lifeline</a:t>
            </a:r>
            <a:r>
              <a:rPr lang="en-US" sz="2800" dirty="0">
                <a:solidFill>
                  <a:srgbClr val="FF0000"/>
                </a:solidFill>
              </a:rPr>
              <a:t> </a:t>
            </a:r>
            <a:r>
              <a:rPr lang="en-US" sz="2800" dirty="0"/>
              <a:t>represents an individual participant (or object) in the interaction</a:t>
            </a:r>
            <a:endParaRPr lang="en-US" altLang="ja-JP" sz="2800" dirty="0"/>
          </a:p>
          <a:p>
            <a:r>
              <a:rPr lang="en-US" sz="2800" b="1" dirty="0">
                <a:solidFill>
                  <a:srgbClr val="C00000"/>
                </a:solidFill>
              </a:rPr>
              <a:t>Focus of control (activation)</a:t>
            </a:r>
            <a:r>
              <a:rPr lang="en-US" sz="2800" b="1" dirty="0">
                <a:solidFill>
                  <a:srgbClr val="FF0000"/>
                </a:solidFill>
              </a:rPr>
              <a:t> </a:t>
            </a:r>
            <a:r>
              <a:rPr lang="en-US" sz="2800" dirty="0"/>
              <a:t>specifies a behavior or interaction within the lifeline also known as execution specification</a:t>
            </a:r>
            <a:endParaRPr lang="en-US" sz="2800" b="1" dirty="0">
              <a:solidFill>
                <a:srgbClr val="C00000"/>
              </a:solidFill>
              <a:ea typeface="ＭＳ Ｐゴシック" pitchFamily="34" charset="-128"/>
            </a:endParaRPr>
          </a:p>
          <a:p>
            <a:r>
              <a:rPr lang="en-US" sz="2800" b="1" dirty="0">
                <a:solidFill>
                  <a:srgbClr val="C00000"/>
                </a:solidFill>
                <a:ea typeface="ＭＳ Ｐゴシック" pitchFamily="34" charset="-128"/>
              </a:rPr>
              <a:t>Message</a:t>
            </a:r>
            <a:r>
              <a:rPr lang="en-US" sz="2800" dirty="0">
                <a:ea typeface="ＭＳ Ｐゴシック" pitchFamily="34" charset="-128"/>
              </a:rPr>
              <a:t> defines a particular </a:t>
            </a:r>
            <a:r>
              <a:rPr lang="en-US" sz="2800" b="1" dirty="0">
                <a:solidFill>
                  <a:srgbClr val="C00000"/>
                </a:solidFill>
                <a:ea typeface="ＭＳ Ｐゴシック" pitchFamily="34" charset="-128"/>
              </a:rPr>
              <a:t>communication </a:t>
            </a:r>
            <a:r>
              <a:rPr lang="en-US" sz="2800" dirty="0">
                <a:ea typeface="ＭＳ Ｐゴシック" pitchFamily="34" charset="-128"/>
              </a:rPr>
              <a:t>between lifelines of an interaction</a:t>
            </a:r>
          </a:p>
          <a:p>
            <a:r>
              <a:rPr lang="en-US" sz="2800" dirty="0">
                <a:ea typeface="ＭＳ Ｐゴシック" pitchFamily="34" charset="-128"/>
              </a:rPr>
              <a:t>Examples of communication: raising a signal, invoking an operation, creating or destroying an instance</a:t>
            </a:r>
          </a:p>
        </p:txBody>
      </p:sp>
    </p:spTree>
    <p:extLst>
      <p:ext uri="{BB962C8B-B14F-4D97-AF65-F5344CB8AC3E}">
        <p14:creationId xmlns:p14="http://schemas.microsoft.com/office/powerpoint/2010/main" val="31687328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Types of Message</a:t>
            </a:r>
          </a:p>
        </p:txBody>
      </p:sp>
      <p:sp>
        <p:nvSpPr>
          <p:cNvPr id="3" name="Content Placeholder 2"/>
          <p:cNvSpPr>
            <a:spLocks noGrp="1"/>
          </p:cNvSpPr>
          <p:nvPr>
            <p:ph idx="1"/>
          </p:nvPr>
        </p:nvSpPr>
        <p:spPr>
          <a:xfrm>
            <a:off x="290286" y="1439678"/>
            <a:ext cx="8396514" cy="4983162"/>
          </a:xfrm>
        </p:spPr>
        <p:txBody>
          <a:bodyPr>
            <a:normAutofit fontScale="47500" lnSpcReduction="20000"/>
          </a:bodyPr>
          <a:lstStyle/>
          <a:p>
            <a:r>
              <a:rPr lang="en-US" sz="4600" b="1" dirty="0">
                <a:solidFill>
                  <a:srgbClr val="C00000"/>
                </a:solidFill>
                <a:ea typeface="ＭＳ Ｐゴシック" pitchFamily="34" charset="-128"/>
              </a:rPr>
              <a:t>Synchronous</a:t>
            </a:r>
            <a:r>
              <a:rPr lang="en-US" sz="4600" dirty="0">
                <a:ea typeface="ＭＳ Ｐゴシック" pitchFamily="34" charset="-128"/>
              </a:rPr>
              <a:t>:</a:t>
            </a:r>
          </a:p>
          <a:p>
            <a:pPr lvl="1"/>
            <a:r>
              <a:rPr lang="en-US" sz="4600" dirty="0">
                <a:ea typeface="ＭＳ Ｐゴシック" pitchFamily="34" charset="-128"/>
              </a:rPr>
              <a:t>If a caller sends a </a:t>
            </a:r>
            <a:r>
              <a:rPr lang="en-US" sz="4600" dirty="0">
                <a:solidFill>
                  <a:srgbClr val="C00000"/>
                </a:solidFill>
                <a:ea typeface="ＭＳ Ｐゴシック" pitchFamily="34" charset="-128"/>
              </a:rPr>
              <a:t>synchronous message</a:t>
            </a:r>
            <a:r>
              <a:rPr lang="en-US" sz="4600" dirty="0">
                <a:ea typeface="ＭＳ Ｐゴシック" pitchFamily="34" charset="-128"/>
              </a:rPr>
              <a:t> (in sequence), it must wait until the message is done before it proceeds with its business</a:t>
            </a:r>
          </a:p>
          <a:p>
            <a:r>
              <a:rPr lang="en-US" sz="4600" b="1" dirty="0">
                <a:solidFill>
                  <a:srgbClr val="C00000"/>
                </a:solidFill>
                <a:ea typeface="ＭＳ Ｐゴシック" pitchFamily="34" charset="-128"/>
              </a:rPr>
              <a:t>Asynchronous</a:t>
            </a:r>
            <a:r>
              <a:rPr lang="en-US" sz="4600" dirty="0">
                <a:ea typeface="ＭＳ Ｐゴシック" pitchFamily="34" charset="-128"/>
              </a:rPr>
              <a:t>:  </a:t>
            </a:r>
          </a:p>
          <a:p>
            <a:pPr lvl="1"/>
            <a:r>
              <a:rPr lang="en-US" sz="4600" dirty="0">
                <a:ea typeface="ＭＳ Ｐゴシック" pitchFamily="34" charset="-128"/>
              </a:rPr>
              <a:t>If a caller sends an </a:t>
            </a:r>
            <a:r>
              <a:rPr lang="en-US" sz="4600" dirty="0">
                <a:solidFill>
                  <a:srgbClr val="C00000"/>
                </a:solidFill>
                <a:ea typeface="ＭＳ Ｐゴシック" pitchFamily="34" charset="-128"/>
              </a:rPr>
              <a:t>asynchronous message</a:t>
            </a:r>
            <a:r>
              <a:rPr lang="en-US" sz="4600" dirty="0">
                <a:ea typeface="ＭＳ Ｐゴシック" pitchFamily="34" charset="-128"/>
              </a:rPr>
              <a:t>, it can continue processing and does not have to wait for a response</a:t>
            </a:r>
          </a:p>
          <a:p>
            <a:pPr lvl="1"/>
            <a:r>
              <a:rPr lang="en-US" sz="4600" dirty="0">
                <a:ea typeface="ＭＳ Ｐゴシック" pitchFamily="34" charset="-128"/>
              </a:rPr>
              <a:t>Usually used in </a:t>
            </a:r>
            <a:r>
              <a:rPr lang="en-US" sz="4600" dirty="0">
                <a:solidFill>
                  <a:srgbClr val="C00000"/>
                </a:solidFill>
                <a:ea typeface="ＭＳ Ｐゴシック" pitchFamily="34" charset="-128"/>
              </a:rPr>
              <a:t>multithreaded applications </a:t>
            </a:r>
            <a:r>
              <a:rPr lang="en-US" sz="4600" dirty="0">
                <a:ea typeface="ＭＳ Ｐゴシック" pitchFamily="34" charset="-128"/>
              </a:rPr>
              <a:t>and in message-oriented middleware</a:t>
            </a:r>
          </a:p>
          <a:p>
            <a:r>
              <a:rPr lang="en-US" sz="4600" b="1" dirty="0">
                <a:solidFill>
                  <a:srgbClr val="C00000"/>
                </a:solidFill>
                <a:ea typeface="ＭＳ Ｐゴシック" pitchFamily="34" charset="-128"/>
              </a:rPr>
              <a:t>Return message</a:t>
            </a:r>
            <a:r>
              <a:rPr lang="en-US" sz="4600" dirty="0">
                <a:ea typeface="ＭＳ Ｐゴシック" pitchFamily="34" charset="-128"/>
              </a:rPr>
              <a:t>: </a:t>
            </a:r>
          </a:p>
          <a:p>
            <a:pPr lvl="1"/>
            <a:r>
              <a:rPr lang="en-MY" sz="4600" dirty="0"/>
              <a:t>Return messages are an </a:t>
            </a:r>
            <a:r>
              <a:rPr lang="en-MY" sz="4600" dirty="0">
                <a:solidFill>
                  <a:srgbClr val="C00000"/>
                </a:solidFill>
              </a:rPr>
              <a:t>optional</a:t>
            </a:r>
            <a:r>
              <a:rPr lang="en-MY" sz="4600" dirty="0"/>
              <a:t> part of a sequence diagram</a:t>
            </a:r>
          </a:p>
          <a:p>
            <a:pPr lvl="1"/>
            <a:r>
              <a:rPr lang="en-MY" sz="4600" dirty="0"/>
              <a:t>The use of return messages depends on the level of detail/abstraction that is being </a:t>
            </a:r>
            <a:r>
              <a:rPr lang="en-MY" sz="4600" dirty="0" err="1"/>
              <a:t>modeled</a:t>
            </a:r>
            <a:r>
              <a:rPr lang="en-MY" sz="4600" dirty="0"/>
              <a:t> </a:t>
            </a:r>
          </a:p>
          <a:p>
            <a:pPr lvl="1"/>
            <a:r>
              <a:rPr lang="en-MY" sz="4600" dirty="0"/>
              <a:t>Return messages are useful if finer detail is required; otherwise, the invocation message is sufficient </a:t>
            </a:r>
          </a:p>
          <a:p>
            <a:pPr marL="457200" lvl="1" indent="0">
              <a:buNone/>
            </a:pPr>
            <a:r>
              <a:rPr lang="en-MY" sz="3400" dirty="0">
                <a:solidFill>
                  <a:srgbClr val="C00000"/>
                </a:solidFill>
              </a:rPr>
              <a:t>(Source: https://www.ibm.com/developerworks/rational/library/3101.html</a:t>
            </a:r>
            <a:r>
              <a:rPr lang="en-US" sz="3400" dirty="0">
                <a:solidFill>
                  <a:srgbClr val="C00000"/>
                </a:solidFill>
                <a:ea typeface="ＭＳ Ｐゴシック" pitchFamily="34" charset="-128"/>
              </a:rPr>
              <a:t>)</a:t>
            </a:r>
            <a:endParaRPr lang="en-MY" sz="3400" dirty="0">
              <a:solidFill>
                <a:srgbClr val="C00000"/>
              </a:solidFill>
            </a:endParaRP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56</a:t>
            </a:fld>
            <a:endParaRPr lang="en-US"/>
          </a:p>
        </p:txBody>
      </p:sp>
    </p:spTree>
    <p:extLst>
      <p:ext uri="{BB962C8B-B14F-4D97-AF65-F5344CB8AC3E}">
        <p14:creationId xmlns:p14="http://schemas.microsoft.com/office/powerpoint/2010/main" val="241517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Message in Sequence Diagram</a:t>
            </a:r>
          </a:p>
        </p:txBody>
      </p:sp>
      <p:sp>
        <p:nvSpPr>
          <p:cNvPr id="3" name="Content Placeholder 2"/>
          <p:cNvSpPr>
            <a:spLocks noGrp="1"/>
          </p:cNvSpPr>
          <p:nvPr>
            <p:ph idx="1"/>
          </p:nvPr>
        </p:nvSpPr>
        <p:spPr>
          <a:xfrm>
            <a:off x="76200" y="1600201"/>
            <a:ext cx="6477000" cy="2918088"/>
          </a:xfrm>
        </p:spPr>
        <p:txBody>
          <a:bodyPr>
            <a:normAutofit fontScale="85000" lnSpcReduction="10000"/>
          </a:bodyPr>
          <a:lstStyle/>
          <a:p>
            <a:r>
              <a:rPr lang="en-MY" sz="2400"/>
              <a:t>To show an object (lifeline) sending a message to another object, draw a line to the receiving object with a </a:t>
            </a:r>
            <a:r>
              <a:rPr lang="en-MY" sz="2400">
                <a:solidFill>
                  <a:srgbClr val="C00000"/>
                </a:solidFill>
              </a:rPr>
              <a:t>solid arrowhead </a:t>
            </a:r>
            <a:r>
              <a:rPr lang="en-MY" sz="2400"/>
              <a:t>(if a </a:t>
            </a:r>
            <a:r>
              <a:rPr lang="en-MY" sz="2400" b="1">
                <a:solidFill>
                  <a:srgbClr val="C00000"/>
                </a:solidFill>
              </a:rPr>
              <a:t>synchronous</a:t>
            </a:r>
            <a:r>
              <a:rPr lang="en-MY" sz="2400"/>
              <a:t> call operation) or with a </a:t>
            </a:r>
            <a:r>
              <a:rPr lang="en-MY" sz="2400">
                <a:solidFill>
                  <a:srgbClr val="C00000"/>
                </a:solidFill>
              </a:rPr>
              <a:t>stick arrowhead</a:t>
            </a:r>
            <a:r>
              <a:rPr lang="en-MY" sz="2400"/>
              <a:t> (if an </a:t>
            </a:r>
            <a:r>
              <a:rPr lang="en-MY" sz="2400" b="1">
                <a:solidFill>
                  <a:srgbClr val="C00000"/>
                </a:solidFill>
              </a:rPr>
              <a:t>asynchronous</a:t>
            </a:r>
            <a:r>
              <a:rPr lang="en-MY" sz="2400"/>
              <a:t> signal). </a:t>
            </a:r>
          </a:p>
          <a:p>
            <a:r>
              <a:rPr lang="en-MY" sz="2400"/>
              <a:t>Besides message calls, there are </a:t>
            </a:r>
            <a:r>
              <a:rPr lang="en-MY" sz="2400" b="1">
                <a:solidFill>
                  <a:srgbClr val="C00000"/>
                </a:solidFill>
              </a:rPr>
              <a:t>return messages</a:t>
            </a:r>
            <a:r>
              <a:rPr lang="en-MY" sz="2400"/>
              <a:t>. These return messages are </a:t>
            </a:r>
            <a:r>
              <a:rPr lang="en-MY" sz="2400" b="1">
                <a:solidFill>
                  <a:srgbClr val="C00000"/>
                </a:solidFill>
              </a:rPr>
              <a:t>optional</a:t>
            </a:r>
            <a:r>
              <a:rPr lang="en-MY" sz="2400"/>
              <a:t>; a return message is drawn as a dotted line with an open arrowhead back to the originating lifeline, and above this dotted line you place the return value from the operation. </a:t>
            </a:r>
          </a:p>
          <a:p>
            <a:endParaRPr lang="en-MY" sz="240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57</a:t>
            </a:fld>
            <a:endParaRPr lang="en-US"/>
          </a:p>
        </p:txBody>
      </p:sp>
      <p:sp>
        <p:nvSpPr>
          <p:cNvPr id="8" name="TextBox 7"/>
          <p:cNvSpPr txBox="1"/>
          <p:nvPr/>
        </p:nvSpPr>
        <p:spPr>
          <a:xfrm>
            <a:off x="457200" y="4116873"/>
            <a:ext cx="7772400" cy="369332"/>
          </a:xfrm>
          <a:prstGeom prst="rect">
            <a:avLst/>
          </a:prstGeom>
          <a:noFill/>
        </p:spPr>
        <p:txBody>
          <a:bodyPr wrap="square" rtlCol="0">
            <a:spAutoFit/>
          </a:bodyPr>
          <a:lstStyle/>
          <a:p>
            <a:r>
              <a:rPr lang="en-MY">
                <a:solidFill>
                  <a:srgbClr val="C00000"/>
                </a:solidFill>
              </a:rPr>
              <a:t>Source: https://www.ibm.com/developerworks/rational/library/3101.html</a:t>
            </a:r>
          </a:p>
        </p:txBody>
      </p:sp>
      <p:pic>
        <p:nvPicPr>
          <p:cNvPr id="9" name="Picture 8"/>
          <p:cNvPicPr>
            <a:picLocks noChangeAspect="1"/>
          </p:cNvPicPr>
          <p:nvPr/>
        </p:nvPicPr>
        <p:blipFill>
          <a:blip r:embed="rId2"/>
          <a:stretch>
            <a:fillRect/>
          </a:stretch>
        </p:blipFill>
        <p:spPr>
          <a:xfrm>
            <a:off x="6553200" y="1686554"/>
            <a:ext cx="2438400" cy="1542275"/>
          </a:xfrm>
          <a:prstGeom prst="rect">
            <a:avLst/>
          </a:prstGeom>
        </p:spPr>
      </p:pic>
      <p:sp>
        <p:nvSpPr>
          <p:cNvPr id="11" name="TextBox 10"/>
          <p:cNvSpPr txBox="1"/>
          <p:nvPr/>
        </p:nvSpPr>
        <p:spPr>
          <a:xfrm>
            <a:off x="5653314" y="5420982"/>
            <a:ext cx="3479800" cy="369332"/>
          </a:xfrm>
          <a:prstGeom prst="rect">
            <a:avLst/>
          </a:prstGeom>
          <a:noFill/>
        </p:spPr>
        <p:txBody>
          <a:bodyPr wrap="square" rtlCol="0">
            <a:spAutoFit/>
          </a:bodyPr>
          <a:lstStyle/>
          <a:p>
            <a:r>
              <a:rPr lang="en-MY">
                <a:solidFill>
                  <a:srgbClr val="C00000"/>
                </a:solidFill>
              </a:rPr>
              <a:t>Source: Arlow and Neustadt (2002)</a:t>
            </a:r>
          </a:p>
        </p:txBody>
      </p:sp>
      <p:pic>
        <p:nvPicPr>
          <p:cNvPr id="12" name="Content Placeholder 6"/>
          <p:cNvPicPr>
            <a:picLocks noChangeAspect="1"/>
          </p:cNvPicPr>
          <p:nvPr/>
        </p:nvPicPr>
        <p:blipFill>
          <a:blip r:embed="rId3"/>
          <a:stretch>
            <a:fillRect/>
          </a:stretch>
        </p:blipFill>
        <p:spPr>
          <a:xfrm>
            <a:off x="449695" y="4493730"/>
            <a:ext cx="5261328" cy="1907069"/>
          </a:xfrm>
          <a:prstGeom prst="rect">
            <a:avLst/>
          </a:prstGeom>
        </p:spPr>
      </p:pic>
    </p:spTree>
    <p:extLst>
      <p:ext uri="{BB962C8B-B14F-4D97-AF65-F5344CB8AC3E}">
        <p14:creationId xmlns:p14="http://schemas.microsoft.com/office/powerpoint/2010/main" val="39081778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Iteration in Sequence Diagram</a:t>
            </a:r>
          </a:p>
        </p:txBody>
      </p:sp>
      <p:pic>
        <p:nvPicPr>
          <p:cNvPr id="7" name="Content Placeholder 6"/>
          <p:cNvPicPr>
            <a:picLocks noGrp="1" noChangeAspect="1"/>
          </p:cNvPicPr>
          <p:nvPr>
            <p:ph idx="1"/>
          </p:nvPr>
        </p:nvPicPr>
        <p:blipFill>
          <a:blip r:embed="rId2"/>
          <a:stretch>
            <a:fillRect/>
          </a:stretch>
        </p:blipFill>
        <p:spPr>
          <a:xfrm>
            <a:off x="2119312" y="1848644"/>
            <a:ext cx="4905375" cy="402907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58</a:t>
            </a:fld>
            <a:endParaRPr lang="en-US"/>
          </a:p>
        </p:txBody>
      </p:sp>
      <p:pic>
        <p:nvPicPr>
          <p:cNvPr id="8" name="Picture 7"/>
          <p:cNvPicPr>
            <a:picLocks noChangeAspect="1"/>
          </p:cNvPicPr>
          <p:nvPr/>
        </p:nvPicPr>
        <p:blipFill>
          <a:blip r:embed="rId3"/>
          <a:stretch>
            <a:fillRect/>
          </a:stretch>
        </p:blipFill>
        <p:spPr>
          <a:xfrm>
            <a:off x="152400" y="1590254"/>
            <a:ext cx="1828800" cy="1628775"/>
          </a:xfrm>
          <a:prstGeom prst="rect">
            <a:avLst/>
          </a:prstGeom>
        </p:spPr>
      </p:pic>
      <p:cxnSp>
        <p:nvCxnSpPr>
          <p:cNvPr id="9" name="Straight Arrow Connector 8"/>
          <p:cNvCxnSpPr/>
          <p:nvPr/>
        </p:nvCxnSpPr>
        <p:spPr>
          <a:xfrm flipV="1">
            <a:off x="5105400" y="5461616"/>
            <a:ext cx="455728" cy="44796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647464" y="5863812"/>
            <a:ext cx="1371600" cy="369332"/>
          </a:xfrm>
          <a:prstGeom prst="rect">
            <a:avLst/>
          </a:prstGeom>
          <a:noFill/>
        </p:spPr>
        <p:txBody>
          <a:bodyPr wrap="square" rtlCol="0">
            <a:spAutoFit/>
          </a:bodyPr>
          <a:lstStyle/>
          <a:p>
            <a:r>
              <a:rPr lang="en-MY">
                <a:solidFill>
                  <a:srgbClr val="C00000"/>
                </a:solidFill>
              </a:rPr>
              <a:t>guard</a:t>
            </a:r>
          </a:p>
        </p:txBody>
      </p:sp>
    </p:spTree>
    <p:extLst>
      <p:ext uri="{BB962C8B-B14F-4D97-AF65-F5344CB8AC3E}">
        <p14:creationId xmlns:p14="http://schemas.microsoft.com/office/powerpoint/2010/main" val="14583137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Branching and Self-Delegation</a:t>
            </a:r>
          </a:p>
        </p:txBody>
      </p:sp>
      <p:pic>
        <p:nvPicPr>
          <p:cNvPr id="7" name="Content Placeholder 6"/>
          <p:cNvPicPr>
            <a:picLocks noGrp="1" noChangeAspect="1"/>
          </p:cNvPicPr>
          <p:nvPr>
            <p:ph idx="1"/>
          </p:nvPr>
        </p:nvPicPr>
        <p:blipFill>
          <a:blip r:embed="rId2"/>
          <a:stretch>
            <a:fillRect/>
          </a:stretch>
        </p:blipFill>
        <p:spPr>
          <a:xfrm>
            <a:off x="914400" y="1734016"/>
            <a:ext cx="5937427" cy="4525963"/>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59</a:t>
            </a:fld>
            <a:endParaRPr lang="en-US"/>
          </a:p>
        </p:txBody>
      </p:sp>
      <p:pic>
        <p:nvPicPr>
          <p:cNvPr id="8" name="Picture 7"/>
          <p:cNvPicPr>
            <a:picLocks noChangeAspect="1"/>
          </p:cNvPicPr>
          <p:nvPr/>
        </p:nvPicPr>
        <p:blipFill>
          <a:blip r:embed="rId3"/>
          <a:stretch>
            <a:fillRect/>
          </a:stretch>
        </p:blipFill>
        <p:spPr>
          <a:xfrm>
            <a:off x="7323364" y="1659251"/>
            <a:ext cx="1733550" cy="952500"/>
          </a:xfrm>
          <a:prstGeom prst="rect">
            <a:avLst/>
          </a:prstGeom>
        </p:spPr>
      </p:pic>
    </p:spTree>
    <p:extLst>
      <p:ext uri="{BB962C8B-B14F-4D97-AF65-F5344CB8AC3E}">
        <p14:creationId xmlns:p14="http://schemas.microsoft.com/office/powerpoint/2010/main" val="436276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Concurrency: Active Objects</a:t>
            </a:r>
          </a:p>
        </p:txBody>
      </p:sp>
      <p:pic>
        <p:nvPicPr>
          <p:cNvPr id="7" name="Content Placeholder 6"/>
          <p:cNvPicPr>
            <a:picLocks noGrp="1" noChangeAspect="1"/>
          </p:cNvPicPr>
          <p:nvPr>
            <p:ph idx="1"/>
          </p:nvPr>
        </p:nvPicPr>
        <p:blipFill>
          <a:blip r:embed="rId2"/>
          <a:stretch>
            <a:fillRect/>
          </a:stretch>
        </p:blipFill>
        <p:spPr>
          <a:xfrm>
            <a:off x="1073635" y="1600200"/>
            <a:ext cx="6996730" cy="4525963"/>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60</a:t>
            </a:fld>
            <a:endParaRPr lang="en-US"/>
          </a:p>
        </p:txBody>
      </p:sp>
      <p:cxnSp>
        <p:nvCxnSpPr>
          <p:cNvPr id="8" name="Straight Arrow Connector 7"/>
          <p:cNvCxnSpPr/>
          <p:nvPr/>
        </p:nvCxnSpPr>
        <p:spPr>
          <a:xfrm flipV="1">
            <a:off x="3201136" y="2642076"/>
            <a:ext cx="608864" cy="4517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897740" y="3062514"/>
            <a:ext cx="2057400" cy="369332"/>
          </a:xfrm>
          <a:prstGeom prst="rect">
            <a:avLst/>
          </a:prstGeom>
          <a:noFill/>
        </p:spPr>
        <p:txBody>
          <a:bodyPr wrap="square" rtlCol="0">
            <a:spAutoFit/>
          </a:bodyPr>
          <a:lstStyle/>
          <a:p>
            <a:r>
              <a:rPr lang="en-MY">
                <a:solidFill>
                  <a:srgbClr val="C00000"/>
                </a:solidFill>
              </a:rPr>
              <a:t>asynchronous flow</a:t>
            </a:r>
          </a:p>
        </p:txBody>
      </p:sp>
    </p:spTree>
    <p:extLst>
      <p:ext uri="{BB962C8B-B14F-4D97-AF65-F5344CB8AC3E}">
        <p14:creationId xmlns:p14="http://schemas.microsoft.com/office/powerpoint/2010/main" val="31927133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dirty="0"/>
              <a:t>Example: Sequence Diagram for View Patient Info in </a:t>
            </a:r>
            <a:r>
              <a:rPr lang="en-US" dirty="0"/>
              <a:t>MHC-PMS</a:t>
            </a:r>
            <a:endParaRPr lang="en-MY" dirty="0"/>
          </a:p>
        </p:txBody>
      </p:sp>
      <p:pic>
        <p:nvPicPr>
          <p:cNvPr id="7" name="Content Placeholder 6"/>
          <p:cNvPicPr>
            <a:picLocks noGrp="1" noChangeAspect="1"/>
          </p:cNvPicPr>
          <p:nvPr>
            <p:ph idx="1"/>
          </p:nvPr>
        </p:nvPicPr>
        <p:blipFill>
          <a:blip r:embed="rId2"/>
          <a:stretch>
            <a:fillRect/>
          </a:stretch>
        </p:blipFill>
        <p:spPr>
          <a:xfrm>
            <a:off x="457200" y="1845523"/>
            <a:ext cx="5862501" cy="4419599"/>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61</a:t>
            </a:fld>
            <a:endParaRPr lang="en-US"/>
          </a:p>
        </p:txBody>
      </p:sp>
      <p:pic>
        <p:nvPicPr>
          <p:cNvPr id="8" name="Picture 7"/>
          <p:cNvPicPr>
            <a:picLocks noChangeAspect="1"/>
          </p:cNvPicPr>
          <p:nvPr/>
        </p:nvPicPr>
        <p:blipFill>
          <a:blip r:embed="rId3"/>
          <a:stretch>
            <a:fillRect/>
          </a:stretch>
        </p:blipFill>
        <p:spPr>
          <a:xfrm>
            <a:off x="6934200" y="1811178"/>
            <a:ext cx="2067523" cy="2234364"/>
          </a:xfrm>
          <a:prstGeom prst="rect">
            <a:avLst/>
          </a:prstGeom>
        </p:spPr>
      </p:pic>
      <p:sp>
        <p:nvSpPr>
          <p:cNvPr id="10" name="Rectangle 9"/>
          <p:cNvSpPr/>
          <p:nvPr/>
        </p:nvSpPr>
        <p:spPr>
          <a:xfrm>
            <a:off x="7924800" y="2590800"/>
            <a:ext cx="914400" cy="457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2" name="Straight Arrow Connector 11"/>
          <p:cNvCxnSpPr/>
          <p:nvPr/>
        </p:nvCxnSpPr>
        <p:spPr>
          <a:xfrm flipH="1">
            <a:off x="6248400" y="3062514"/>
            <a:ext cx="1752600" cy="60960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5750651" y="5282364"/>
            <a:ext cx="910126" cy="11791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650409" y="5058997"/>
            <a:ext cx="2036391" cy="369332"/>
          </a:xfrm>
          <a:prstGeom prst="rect">
            <a:avLst/>
          </a:prstGeom>
          <a:noFill/>
        </p:spPr>
        <p:txBody>
          <a:bodyPr wrap="none" rtlCol="0">
            <a:spAutoFit/>
          </a:bodyPr>
          <a:lstStyle/>
          <a:p>
            <a:r>
              <a:rPr lang="en-MY"/>
              <a:t>alt: Alternative flow</a:t>
            </a:r>
          </a:p>
        </p:txBody>
      </p:sp>
    </p:spTree>
    <p:extLst>
      <p:ext uri="{BB962C8B-B14F-4D97-AF65-F5344CB8AC3E}">
        <p14:creationId xmlns:p14="http://schemas.microsoft.com/office/powerpoint/2010/main" val="27704000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Sequence Diagram for Process Order</a:t>
            </a:r>
          </a:p>
        </p:txBody>
      </p:sp>
      <p:pic>
        <p:nvPicPr>
          <p:cNvPr id="7" name="Content Placeholder 6"/>
          <p:cNvPicPr>
            <a:picLocks noGrp="1" noChangeAspect="1"/>
          </p:cNvPicPr>
          <p:nvPr>
            <p:ph idx="1"/>
          </p:nvPr>
        </p:nvPicPr>
        <p:blipFill>
          <a:blip r:embed="rId2"/>
          <a:stretch>
            <a:fillRect/>
          </a:stretch>
        </p:blipFill>
        <p:spPr>
          <a:xfrm>
            <a:off x="1219200" y="1782467"/>
            <a:ext cx="6855563" cy="383911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62</a:t>
            </a:fld>
            <a:endParaRPr lang="en-US"/>
          </a:p>
        </p:txBody>
      </p:sp>
      <p:sp>
        <p:nvSpPr>
          <p:cNvPr id="8" name="TextBox 7"/>
          <p:cNvSpPr txBox="1"/>
          <p:nvPr/>
        </p:nvSpPr>
        <p:spPr>
          <a:xfrm>
            <a:off x="189281" y="5753418"/>
            <a:ext cx="8915400" cy="646331"/>
          </a:xfrm>
          <a:prstGeom prst="rect">
            <a:avLst/>
          </a:prstGeom>
          <a:noFill/>
        </p:spPr>
        <p:txBody>
          <a:bodyPr wrap="square" rtlCol="0">
            <a:spAutoFit/>
          </a:bodyPr>
          <a:lstStyle/>
          <a:p>
            <a:r>
              <a:rPr lang="en-MY" dirty="0">
                <a:solidFill>
                  <a:srgbClr val="C00000"/>
                </a:solidFill>
              </a:rPr>
              <a:t>Note: Sequence diagram also shows the interaction (interaction model) besides behaviour – in the analysis stage, the argument can be included (optional)</a:t>
            </a:r>
          </a:p>
        </p:txBody>
      </p:sp>
      <p:cxnSp>
        <p:nvCxnSpPr>
          <p:cNvPr id="9" name="Straight Arrow Connector 8"/>
          <p:cNvCxnSpPr/>
          <p:nvPr/>
        </p:nvCxnSpPr>
        <p:spPr>
          <a:xfrm flipV="1">
            <a:off x="3505200" y="4419600"/>
            <a:ext cx="454255" cy="67898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046527" y="5024263"/>
            <a:ext cx="1371600" cy="369332"/>
          </a:xfrm>
          <a:prstGeom prst="rect">
            <a:avLst/>
          </a:prstGeom>
          <a:noFill/>
        </p:spPr>
        <p:txBody>
          <a:bodyPr wrap="square" rtlCol="0">
            <a:spAutoFit/>
          </a:bodyPr>
          <a:lstStyle/>
          <a:p>
            <a:r>
              <a:rPr lang="en-MY">
                <a:solidFill>
                  <a:srgbClr val="C00000"/>
                </a:solidFill>
              </a:rPr>
              <a:t>argument</a:t>
            </a:r>
          </a:p>
        </p:txBody>
      </p:sp>
    </p:spTree>
    <p:extLst>
      <p:ext uri="{BB962C8B-B14F-4D97-AF65-F5344CB8AC3E}">
        <p14:creationId xmlns:p14="http://schemas.microsoft.com/office/powerpoint/2010/main" val="15029706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Sequence Diagram Using Class Stereotypes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63</a:t>
            </a:fld>
            <a:endParaRPr lang="en-US"/>
          </a:p>
        </p:txBody>
      </p:sp>
      <p:pic>
        <p:nvPicPr>
          <p:cNvPr id="12"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76400"/>
            <a:ext cx="8534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Box 18"/>
          <p:cNvSpPr txBox="1"/>
          <p:nvPr/>
        </p:nvSpPr>
        <p:spPr>
          <a:xfrm>
            <a:off x="210457" y="6055418"/>
            <a:ext cx="8915400" cy="369332"/>
          </a:xfrm>
          <a:prstGeom prst="rect">
            <a:avLst/>
          </a:prstGeom>
          <a:noFill/>
        </p:spPr>
        <p:txBody>
          <a:bodyPr wrap="square" rtlCol="0">
            <a:spAutoFit/>
          </a:bodyPr>
          <a:lstStyle/>
          <a:p>
            <a:r>
              <a:rPr lang="en-MY">
                <a:solidFill>
                  <a:srgbClr val="C00000"/>
                </a:solidFill>
              </a:rPr>
              <a:t>Note: Sequence diagram with return messages (optional) using class stereotypes (optional)</a:t>
            </a:r>
          </a:p>
        </p:txBody>
      </p:sp>
    </p:spTree>
    <p:extLst>
      <p:ext uri="{BB962C8B-B14F-4D97-AF65-F5344CB8AC3E}">
        <p14:creationId xmlns:p14="http://schemas.microsoft.com/office/powerpoint/2010/main" val="35879736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24E5EE-ED87-4330-8704-3D019F85ECCD}"/>
              </a:ext>
            </a:extLst>
          </p:cNvPr>
          <p:cNvSpPr>
            <a:spLocks noGrp="1"/>
          </p:cNvSpPr>
          <p:nvPr>
            <p:ph type="title"/>
          </p:nvPr>
        </p:nvSpPr>
        <p:spPr/>
        <p:txBody>
          <a:bodyPr>
            <a:normAutofit fontScale="90000"/>
          </a:bodyPr>
          <a:lstStyle/>
          <a:p>
            <a:r>
              <a:rPr lang="en-MY" dirty="0"/>
              <a:t>Sequence Diagram: Scope for Analysis</a:t>
            </a:r>
            <a:endParaRPr lang="en-GB" dirty="0"/>
          </a:p>
        </p:txBody>
      </p:sp>
      <p:sp>
        <p:nvSpPr>
          <p:cNvPr id="3" name="Content Placeholder 2">
            <a:extLst>
              <a:ext uri="{FF2B5EF4-FFF2-40B4-BE49-F238E27FC236}">
                <a16:creationId xmlns:a16="http://schemas.microsoft.com/office/drawing/2014/main" xmlns="" id="{5CE26F3D-B2A3-4DAA-ACF2-642CEB185B2F}"/>
              </a:ext>
            </a:extLst>
          </p:cNvPr>
          <p:cNvSpPr>
            <a:spLocks noGrp="1"/>
          </p:cNvSpPr>
          <p:nvPr>
            <p:ph sz="half" idx="1"/>
          </p:nvPr>
        </p:nvSpPr>
        <p:spPr>
          <a:xfrm>
            <a:off x="179068" y="1439678"/>
            <a:ext cx="4545331" cy="4983162"/>
          </a:xfrm>
        </p:spPr>
        <p:txBody>
          <a:bodyPr>
            <a:normAutofit fontScale="92500"/>
          </a:bodyPr>
          <a:lstStyle/>
          <a:p>
            <a:r>
              <a:rPr lang="en-MY" sz="2400" dirty="0"/>
              <a:t>Each use case must have at least one sequence diagram that comprises normal flow and alternative flows – split only if it is cluttered to combine all</a:t>
            </a:r>
          </a:p>
          <a:p>
            <a:r>
              <a:rPr lang="en-MY" sz="2400" dirty="0"/>
              <a:t>Refer to use case description when creating a sequence diagram</a:t>
            </a:r>
            <a:endParaRPr lang="en-GB" sz="2400" dirty="0"/>
          </a:p>
          <a:p>
            <a:r>
              <a:rPr lang="en-MY" sz="2400" dirty="0"/>
              <a:t>Focus on object interaction in domain model (class diagram for analysis) for a particular use case</a:t>
            </a:r>
          </a:p>
          <a:p>
            <a:r>
              <a:rPr lang="en-MY" sz="2400" dirty="0"/>
              <a:t>Not necessary to include boundary, controller and data layer that could be added in design stage</a:t>
            </a:r>
          </a:p>
        </p:txBody>
      </p:sp>
      <p:sp>
        <p:nvSpPr>
          <p:cNvPr id="5" name="Date Placeholder 4">
            <a:extLst>
              <a:ext uri="{FF2B5EF4-FFF2-40B4-BE49-F238E27FC236}">
                <a16:creationId xmlns:a16="http://schemas.microsoft.com/office/drawing/2014/main" xmlns="" id="{0D5B9FAE-9D2C-4F08-80EB-A6AA90360BB9}"/>
              </a:ext>
            </a:extLst>
          </p:cNvPr>
          <p:cNvSpPr>
            <a:spLocks noGrp="1"/>
          </p:cNvSpPr>
          <p:nvPr>
            <p:ph type="dt" sz="half" idx="10"/>
          </p:nvPr>
        </p:nvSpPr>
        <p:spPr/>
        <p:txBody>
          <a:bodyPr/>
          <a:lstStyle/>
          <a:p>
            <a:r>
              <a:rPr lang="en-US"/>
              <a:t>2020</a:t>
            </a:r>
          </a:p>
        </p:txBody>
      </p:sp>
      <p:sp>
        <p:nvSpPr>
          <p:cNvPr id="6" name="Footer Placeholder 5">
            <a:extLst>
              <a:ext uri="{FF2B5EF4-FFF2-40B4-BE49-F238E27FC236}">
                <a16:creationId xmlns:a16="http://schemas.microsoft.com/office/drawing/2014/main" xmlns="" id="{1C0D0B36-E126-445F-A755-27EFDCF0F25F}"/>
              </a:ext>
            </a:extLst>
          </p:cNvPr>
          <p:cNvSpPr>
            <a:spLocks noGrp="1"/>
          </p:cNvSpPr>
          <p:nvPr>
            <p:ph type="ftr" sz="quarter" idx="11"/>
          </p:nvPr>
        </p:nvSpPr>
        <p:spPr/>
        <p:txBody>
          <a:bodyPr/>
          <a:lstStyle/>
          <a:p>
            <a:r>
              <a:rPr lang="en-MY"/>
              <a:t>Software Engineering</a:t>
            </a:r>
            <a:endParaRPr lang="en-US"/>
          </a:p>
        </p:txBody>
      </p:sp>
      <p:sp>
        <p:nvSpPr>
          <p:cNvPr id="7" name="Slide Number Placeholder 6">
            <a:extLst>
              <a:ext uri="{FF2B5EF4-FFF2-40B4-BE49-F238E27FC236}">
                <a16:creationId xmlns:a16="http://schemas.microsoft.com/office/drawing/2014/main" xmlns="" id="{EA8BCD51-BA3B-4D01-BB3D-7B0FF116534F}"/>
              </a:ext>
            </a:extLst>
          </p:cNvPr>
          <p:cNvSpPr>
            <a:spLocks noGrp="1"/>
          </p:cNvSpPr>
          <p:nvPr>
            <p:ph type="sldNum" sz="quarter" idx="12"/>
          </p:nvPr>
        </p:nvSpPr>
        <p:spPr/>
        <p:txBody>
          <a:bodyPr/>
          <a:lstStyle/>
          <a:p>
            <a:fld id="{0362C787-829C-4B6B-B21B-90D8981190F3}" type="slidenum">
              <a:rPr lang="en-US" smtClean="0"/>
              <a:pPr/>
              <a:t>64</a:t>
            </a:fld>
            <a:endParaRPr lang="en-US"/>
          </a:p>
        </p:txBody>
      </p:sp>
      <p:pic>
        <p:nvPicPr>
          <p:cNvPr id="8" name="Picture 3">
            <a:extLst>
              <a:ext uri="{FF2B5EF4-FFF2-40B4-BE49-F238E27FC236}">
                <a16:creationId xmlns:a16="http://schemas.microsoft.com/office/drawing/2014/main" xmlns="" id="{3E22E084-A8F3-435D-A40B-97C7615E0C1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18983" y="2607197"/>
            <a:ext cx="4506865" cy="2650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19279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Event-Driven Modeling</a:t>
            </a:r>
          </a:p>
        </p:txBody>
      </p:sp>
      <p:sp>
        <p:nvSpPr>
          <p:cNvPr id="3" name="Content Placeholder 2"/>
          <p:cNvSpPr>
            <a:spLocks noGrp="1"/>
          </p:cNvSpPr>
          <p:nvPr>
            <p:ph idx="1"/>
          </p:nvPr>
        </p:nvSpPr>
        <p:spPr>
          <a:xfrm>
            <a:off x="457200" y="1600200"/>
            <a:ext cx="8229600" cy="4998196"/>
          </a:xfrm>
        </p:spPr>
        <p:txBody>
          <a:bodyPr>
            <a:normAutofit fontScale="85000" lnSpcReduction="20000"/>
          </a:bodyPr>
          <a:lstStyle/>
          <a:p>
            <a:r>
              <a:rPr lang="en-US" dirty="0"/>
              <a:t>Some systems mainly real-time systems</a:t>
            </a:r>
            <a:r>
              <a:rPr lang="en-US" dirty="0">
                <a:solidFill>
                  <a:srgbClr val="C00000"/>
                </a:solidFill>
              </a:rPr>
              <a:t> </a:t>
            </a:r>
            <a:r>
              <a:rPr lang="en-US" dirty="0"/>
              <a:t>are often event-driven, with minimal data processing</a:t>
            </a:r>
          </a:p>
          <a:p>
            <a:r>
              <a:rPr lang="en-US" dirty="0"/>
              <a:t>Examples: </a:t>
            </a:r>
            <a:r>
              <a:rPr lang="en-US" sz="1900" dirty="0"/>
              <a:t>(Source: </a:t>
            </a:r>
            <a:r>
              <a:rPr lang="en-GB" sz="1900" dirty="0">
                <a:hlinkClick r:id="rId2"/>
              </a:rPr>
              <a:t>https://www.bbconsult.co.uk/blog/event-driven-applications</a:t>
            </a:r>
            <a:r>
              <a:rPr lang="en-GB" sz="1900" dirty="0"/>
              <a:t>)</a:t>
            </a:r>
            <a:endParaRPr lang="en-US" sz="1900" dirty="0"/>
          </a:p>
          <a:p>
            <a:pPr lvl="1"/>
            <a:r>
              <a:rPr lang="en-GB" dirty="0"/>
              <a:t>A robot has reached its destination (real-time warehouse management)</a:t>
            </a:r>
          </a:p>
          <a:p>
            <a:pPr lvl="1"/>
            <a:r>
              <a:rPr lang="en-GB" dirty="0"/>
              <a:t>An illegal trade pattern has been detected (fraud detection)</a:t>
            </a:r>
          </a:p>
          <a:p>
            <a:pPr lvl="1"/>
            <a:r>
              <a:rPr lang="en-GB" dirty="0"/>
              <a:t>A loan application has been accepted/rejected (commercial business)</a:t>
            </a:r>
            <a:endParaRPr lang="en-US" dirty="0"/>
          </a:p>
          <a:p>
            <a:r>
              <a:rPr lang="en-US" dirty="0"/>
              <a:t>Event-driven modeling shows how a system responds to </a:t>
            </a:r>
            <a:r>
              <a:rPr lang="en-US" dirty="0">
                <a:solidFill>
                  <a:srgbClr val="C00000"/>
                </a:solidFill>
              </a:rPr>
              <a:t>external and internal events;</a:t>
            </a:r>
            <a:r>
              <a:rPr lang="en-US" dirty="0"/>
              <a:t> is based on the assumption that a system has a finite number of states and the </a:t>
            </a:r>
            <a:r>
              <a:rPr lang="en-US" dirty="0">
                <a:solidFill>
                  <a:srgbClr val="C00000"/>
                </a:solidFill>
              </a:rPr>
              <a:t>events (stimuli) may cause a transition</a:t>
            </a:r>
            <a:r>
              <a:rPr lang="en-US" dirty="0"/>
              <a:t> from one state to another </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65</a:t>
            </a:fld>
            <a:endParaRPr lang="en-US"/>
          </a:p>
        </p:txBody>
      </p:sp>
    </p:spTree>
    <p:extLst>
      <p:ext uri="{BB962C8B-B14F-4D97-AF65-F5344CB8AC3E}">
        <p14:creationId xmlns:p14="http://schemas.microsoft.com/office/powerpoint/2010/main" val="24217141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ea typeface="ＭＳ Ｐゴシック" panose="020B0600070205080204" pitchFamily="34" charset="-128"/>
              </a:rPr>
              <a:t>State Chart or State Machine Diagram</a:t>
            </a:r>
            <a:endParaRPr lang="en-US" sz="4000" dirty="0"/>
          </a:p>
        </p:txBody>
      </p:sp>
      <p:sp>
        <p:nvSpPr>
          <p:cNvPr id="3" name="Content Placeholder 2"/>
          <p:cNvSpPr>
            <a:spLocks noGrp="1"/>
          </p:cNvSpPr>
          <p:nvPr>
            <p:ph idx="1"/>
          </p:nvPr>
        </p:nvSpPr>
        <p:spPr/>
        <p:txBody>
          <a:bodyPr>
            <a:normAutofit/>
          </a:bodyPr>
          <a:lstStyle/>
          <a:p>
            <a:pPr algn="just">
              <a:lnSpc>
                <a:spcPct val="80000"/>
              </a:lnSpc>
            </a:pPr>
            <a:r>
              <a:rPr lang="en-US" sz="2800" dirty="0">
                <a:ea typeface="ＭＳ Ｐゴシック" panose="020B0600070205080204" pitchFamily="34" charset="-128"/>
              </a:rPr>
              <a:t>In OO approaches, </a:t>
            </a:r>
            <a:r>
              <a:rPr lang="en-US" sz="2800" b="1" dirty="0">
                <a:solidFill>
                  <a:srgbClr val="C00000"/>
                </a:solidFill>
                <a:ea typeface="ＭＳ Ｐゴシック" panose="020B0600070205080204" pitchFamily="34" charset="-128"/>
              </a:rPr>
              <a:t>state chart is drawn for a single class</a:t>
            </a:r>
            <a:r>
              <a:rPr lang="en-US" sz="2800" dirty="0">
                <a:ea typeface="ＭＳ Ｐゴシック" panose="020B0600070205080204" pitchFamily="34" charset="-128"/>
              </a:rPr>
              <a:t> to show the lifetime behavior of a single object</a:t>
            </a:r>
          </a:p>
          <a:p>
            <a:pPr algn="just">
              <a:lnSpc>
                <a:spcPct val="80000"/>
              </a:lnSpc>
            </a:pPr>
            <a:r>
              <a:rPr lang="en-US" sz="2800" dirty="0">
                <a:ea typeface="ＭＳ Ｐゴシック" panose="020B0600070205080204" pitchFamily="34" charset="-128"/>
              </a:rPr>
              <a:t>State chart is also known as state machine diagram</a:t>
            </a:r>
          </a:p>
          <a:p>
            <a:pPr algn="just">
              <a:lnSpc>
                <a:spcPct val="80000"/>
              </a:lnSpc>
            </a:pPr>
            <a:r>
              <a:rPr lang="en-US" sz="2800" dirty="0">
                <a:ea typeface="ＭＳ Ｐゴシック" panose="020B0600070205080204" pitchFamily="34" charset="-128"/>
              </a:rPr>
              <a:t>State: a </a:t>
            </a:r>
            <a:r>
              <a:rPr lang="en-US" sz="2800" b="1" dirty="0">
                <a:solidFill>
                  <a:srgbClr val="C00000"/>
                </a:solidFill>
                <a:ea typeface="ＭＳ Ｐゴシック" panose="020B0600070205080204" pitchFamily="34" charset="-128"/>
              </a:rPr>
              <a:t>condition</a:t>
            </a:r>
            <a:r>
              <a:rPr lang="en-US" sz="2800" dirty="0">
                <a:ea typeface="ＭＳ Ｐゴシック" panose="020B0600070205080204" pitchFamily="34" charset="-128"/>
              </a:rPr>
              <a:t> during the life of an object when it satisfies some conditions, performs some actions, or waits for an event</a:t>
            </a:r>
          </a:p>
          <a:p>
            <a:pPr lvl="1" algn="just">
              <a:lnSpc>
                <a:spcPct val="80000"/>
              </a:lnSpc>
            </a:pPr>
            <a:r>
              <a:rPr lang="en-US" dirty="0">
                <a:ea typeface="ＭＳ Ｐゴシック" panose="020B0600070205080204" pitchFamily="34" charset="-128"/>
              </a:rPr>
              <a:t>It is found by examining the attributes and links defined for the object</a:t>
            </a:r>
          </a:p>
          <a:p>
            <a:pPr lvl="1" algn="just">
              <a:lnSpc>
                <a:spcPct val="80000"/>
              </a:lnSpc>
            </a:pPr>
            <a:r>
              <a:rPr lang="en-US" dirty="0">
                <a:ea typeface="ＭＳ Ｐゴシック" panose="020B0600070205080204" pitchFamily="34" charset="-128"/>
              </a:rPr>
              <a:t>represented as a rectangle with rounded corners</a:t>
            </a:r>
          </a:p>
          <a:p>
            <a:pPr algn="just">
              <a:lnSpc>
                <a:spcPct val="80000"/>
              </a:lnSpc>
            </a:pPr>
            <a:r>
              <a:rPr lang="en-US" sz="2800" dirty="0">
                <a:ea typeface="ＭＳ Ｐゴシック" panose="020B0600070205080204" pitchFamily="34" charset="-128"/>
              </a:rPr>
              <a:t>Transition: represents a </a:t>
            </a:r>
            <a:r>
              <a:rPr lang="en-US" sz="2800" b="1" dirty="0">
                <a:solidFill>
                  <a:srgbClr val="C00000"/>
                </a:solidFill>
                <a:ea typeface="ＭＳ Ｐゴシック" panose="020B0600070205080204" pitchFamily="34" charset="-128"/>
              </a:rPr>
              <a:t>change</a:t>
            </a:r>
            <a:r>
              <a:rPr lang="en-US" sz="2800" dirty="0">
                <a:ea typeface="ＭＳ Ｐゴシック" panose="020B0600070205080204" pitchFamily="34" charset="-128"/>
              </a:rPr>
              <a:t> of the internal condition/state of an object</a:t>
            </a:r>
          </a:p>
          <a:p>
            <a:pPr algn="just">
              <a:lnSpc>
                <a:spcPct val="80000"/>
              </a:lnSpc>
            </a:pPr>
            <a:endParaRPr lang="en-US" sz="2800" dirty="0">
              <a:ea typeface="ＭＳ Ｐゴシック" panose="020B0600070205080204" pitchFamily="34" charset="-128"/>
            </a:endParaRPr>
          </a:p>
          <a:p>
            <a:pPr algn="just">
              <a:lnSpc>
                <a:spcPct val="80000"/>
              </a:lnSpc>
            </a:pPr>
            <a:endParaRPr lang="en-US" sz="2800" dirty="0">
              <a:ea typeface="ＭＳ Ｐゴシック" panose="020B0600070205080204" pitchFamily="34" charset="-128"/>
            </a:endParaRPr>
          </a:p>
          <a:p>
            <a:pPr algn="just">
              <a:lnSpc>
                <a:spcPct val="80000"/>
              </a:lnSpc>
            </a:pPr>
            <a:endParaRPr lang="en-US" sz="2800" dirty="0">
              <a:ea typeface="ＭＳ Ｐゴシック" panose="020B0600070205080204" pitchFamily="34" charset="-128"/>
            </a:endParaRPr>
          </a:p>
          <a:p>
            <a:pPr marL="0" indent="0" algn="just">
              <a:buNone/>
            </a:pPr>
            <a:endParaRPr lang="en-US" sz="2800"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US"/>
              <a:t>Software Engineering</a:t>
            </a:r>
          </a:p>
        </p:txBody>
      </p:sp>
      <p:sp>
        <p:nvSpPr>
          <p:cNvPr id="6" name="Slide Number Placeholder 5"/>
          <p:cNvSpPr>
            <a:spLocks noGrp="1"/>
          </p:cNvSpPr>
          <p:nvPr>
            <p:ph type="sldNum" sz="quarter" idx="12"/>
          </p:nvPr>
        </p:nvSpPr>
        <p:spPr/>
        <p:txBody>
          <a:bodyPr/>
          <a:lstStyle/>
          <a:p>
            <a:fld id="{0362C787-829C-4B6B-B21B-90D8981190F3}" type="slidenum">
              <a:rPr lang="en-US" smtClean="0"/>
              <a:pPr/>
              <a:t>66</a:t>
            </a:fld>
            <a:endParaRPr lang="en-US"/>
          </a:p>
        </p:txBody>
      </p:sp>
    </p:spTree>
    <p:extLst>
      <p:ext uri="{BB962C8B-B14F-4D97-AF65-F5344CB8AC3E}">
        <p14:creationId xmlns:p14="http://schemas.microsoft.com/office/powerpoint/2010/main" val="29982837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Event and State</a:t>
            </a:r>
          </a:p>
        </p:txBody>
      </p:sp>
      <p:pic>
        <p:nvPicPr>
          <p:cNvPr id="7" name="Content Placeholder 6"/>
          <p:cNvPicPr>
            <a:picLocks noGrp="1" noChangeAspect="1"/>
          </p:cNvPicPr>
          <p:nvPr>
            <p:ph idx="1"/>
          </p:nvPr>
        </p:nvPicPr>
        <p:blipFill>
          <a:blip r:embed="rId2"/>
          <a:stretch>
            <a:fillRect/>
          </a:stretch>
        </p:blipFill>
        <p:spPr>
          <a:xfrm>
            <a:off x="3733800" y="1676400"/>
            <a:ext cx="3376612" cy="1991157"/>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67</a:t>
            </a:fld>
            <a:endParaRPr lang="en-US"/>
          </a:p>
        </p:txBody>
      </p:sp>
      <p:pic>
        <p:nvPicPr>
          <p:cNvPr id="8" name="Picture 7"/>
          <p:cNvPicPr>
            <a:picLocks noChangeAspect="1"/>
          </p:cNvPicPr>
          <p:nvPr/>
        </p:nvPicPr>
        <p:blipFill>
          <a:blip r:embed="rId3"/>
          <a:stretch>
            <a:fillRect/>
          </a:stretch>
        </p:blipFill>
        <p:spPr>
          <a:xfrm>
            <a:off x="1493464" y="1929606"/>
            <a:ext cx="1952625" cy="1143000"/>
          </a:xfrm>
          <a:prstGeom prst="rect">
            <a:avLst/>
          </a:prstGeom>
        </p:spPr>
      </p:pic>
      <p:pic>
        <p:nvPicPr>
          <p:cNvPr id="9" name="Picture 8"/>
          <p:cNvPicPr>
            <a:picLocks noChangeAspect="1"/>
          </p:cNvPicPr>
          <p:nvPr/>
        </p:nvPicPr>
        <p:blipFill>
          <a:blip r:embed="rId4"/>
          <a:stretch>
            <a:fillRect/>
          </a:stretch>
        </p:blipFill>
        <p:spPr>
          <a:xfrm>
            <a:off x="4317627" y="4228668"/>
            <a:ext cx="2343150" cy="1676400"/>
          </a:xfrm>
          <a:prstGeom prst="rect">
            <a:avLst/>
          </a:prstGeom>
        </p:spPr>
      </p:pic>
      <p:pic>
        <p:nvPicPr>
          <p:cNvPr id="10" name="Picture 9"/>
          <p:cNvPicPr>
            <a:picLocks noChangeAspect="1"/>
          </p:cNvPicPr>
          <p:nvPr/>
        </p:nvPicPr>
        <p:blipFill>
          <a:blip r:embed="rId5"/>
          <a:stretch>
            <a:fillRect/>
          </a:stretch>
        </p:blipFill>
        <p:spPr>
          <a:xfrm>
            <a:off x="1662112" y="4446085"/>
            <a:ext cx="1857375" cy="1447800"/>
          </a:xfrm>
          <a:prstGeom prst="rect">
            <a:avLst/>
          </a:prstGeom>
        </p:spPr>
      </p:pic>
    </p:spTree>
    <p:extLst>
      <p:ext uri="{BB962C8B-B14F-4D97-AF65-F5344CB8AC3E}">
        <p14:creationId xmlns:p14="http://schemas.microsoft.com/office/powerpoint/2010/main" val="32855817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a:t>State Syntax</a:t>
            </a:r>
          </a:p>
        </p:txBody>
      </p:sp>
      <p:pic>
        <p:nvPicPr>
          <p:cNvPr id="7" name="Content Placeholder 6"/>
          <p:cNvPicPr>
            <a:picLocks noGrp="1" noChangeAspect="1"/>
          </p:cNvPicPr>
          <p:nvPr>
            <p:ph idx="1"/>
          </p:nvPr>
        </p:nvPicPr>
        <p:blipFill>
          <a:blip r:embed="rId2"/>
          <a:stretch>
            <a:fillRect/>
          </a:stretch>
        </p:blipFill>
        <p:spPr>
          <a:xfrm>
            <a:off x="2590800" y="2286000"/>
            <a:ext cx="5761055" cy="327660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68</a:t>
            </a:fld>
            <a:endParaRPr lang="en-US"/>
          </a:p>
        </p:txBody>
      </p:sp>
      <p:pic>
        <p:nvPicPr>
          <p:cNvPr id="8" name="Picture 7"/>
          <p:cNvPicPr>
            <a:picLocks noChangeAspect="1"/>
          </p:cNvPicPr>
          <p:nvPr/>
        </p:nvPicPr>
        <p:blipFill>
          <a:blip r:embed="rId3"/>
          <a:stretch>
            <a:fillRect/>
          </a:stretch>
        </p:blipFill>
        <p:spPr>
          <a:xfrm>
            <a:off x="428625" y="2484542"/>
            <a:ext cx="1914525" cy="1152525"/>
          </a:xfrm>
          <a:prstGeom prst="rect">
            <a:avLst/>
          </a:prstGeom>
        </p:spPr>
      </p:pic>
      <p:pic>
        <p:nvPicPr>
          <p:cNvPr id="9" name="Picture 8"/>
          <p:cNvPicPr>
            <a:picLocks noChangeAspect="1"/>
          </p:cNvPicPr>
          <p:nvPr/>
        </p:nvPicPr>
        <p:blipFill>
          <a:blip r:embed="rId4"/>
          <a:stretch>
            <a:fillRect/>
          </a:stretch>
        </p:blipFill>
        <p:spPr>
          <a:xfrm>
            <a:off x="457200" y="3834096"/>
            <a:ext cx="1885950" cy="1047750"/>
          </a:xfrm>
          <a:prstGeom prst="rect">
            <a:avLst/>
          </a:prstGeom>
        </p:spPr>
      </p:pic>
    </p:spTree>
    <p:extLst>
      <p:ext uri="{BB962C8B-B14F-4D97-AF65-F5344CB8AC3E}">
        <p14:creationId xmlns:p14="http://schemas.microsoft.com/office/powerpoint/2010/main" val="22924064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State</a:t>
            </a:r>
          </a:p>
        </p:txBody>
      </p:sp>
      <p:sp>
        <p:nvSpPr>
          <p:cNvPr id="3" name="Content Placeholder 2"/>
          <p:cNvSpPr>
            <a:spLocks noGrp="1"/>
          </p:cNvSpPr>
          <p:nvPr>
            <p:ph idx="1"/>
          </p:nvPr>
        </p:nvSpPr>
        <p:spPr>
          <a:xfrm>
            <a:off x="457200" y="1439678"/>
            <a:ext cx="8534400" cy="4884922"/>
          </a:xfrm>
        </p:spPr>
        <p:txBody>
          <a:bodyPr>
            <a:noAutofit/>
          </a:bodyPr>
          <a:lstStyle/>
          <a:p>
            <a:r>
              <a:rPr lang="en-MY" sz="2400" dirty="0"/>
              <a:t>State: a semantically </a:t>
            </a:r>
            <a:r>
              <a:rPr lang="en-MY" sz="2400" dirty="0">
                <a:solidFill>
                  <a:srgbClr val="C00000"/>
                </a:solidFill>
              </a:rPr>
              <a:t>significant condition of an object</a:t>
            </a:r>
          </a:p>
          <a:p>
            <a:r>
              <a:rPr lang="en-MY" sz="2400" dirty="0"/>
              <a:t>Object state is determined by object </a:t>
            </a:r>
            <a:r>
              <a:rPr lang="en-MY" sz="2400" dirty="0">
                <a:solidFill>
                  <a:srgbClr val="C00000"/>
                </a:solidFill>
              </a:rPr>
              <a:t>attribute </a:t>
            </a:r>
            <a:r>
              <a:rPr lang="en-MY" sz="2400" dirty="0"/>
              <a:t>values, </a:t>
            </a:r>
            <a:r>
              <a:rPr lang="en-MY" sz="2400" dirty="0">
                <a:solidFill>
                  <a:srgbClr val="C00000"/>
                </a:solidFill>
              </a:rPr>
              <a:t>relationships</a:t>
            </a:r>
            <a:r>
              <a:rPr lang="en-MY" sz="2400" dirty="0"/>
              <a:t> to other objects, </a:t>
            </a:r>
            <a:r>
              <a:rPr lang="en-MY" sz="2400" dirty="0">
                <a:solidFill>
                  <a:srgbClr val="C00000"/>
                </a:solidFill>
              </a:rPr>
              <a:t>activities </a:t>
            </a:r>
            <a:r>
              <a:rPr lang="en-MY" sz="2400" dirty="0"/>
              <a:t>the object is performing</a:t>
            </a:r>
          </a:p>
          <a:p>
            <a:r>
              <a:rPr lang="en-MY" sz="2400" dirty="0"/>
              <a:t>State syntax:</a:t>
            </a:r>
          </a:p>
          <a:p>
            <a:pPr lvl="1"/>
            <a:r>
              <a:rPr lang="en-MY" sz="2400" dirty="0"/>
              <a:t>entry action: performed immediately </a:t>
            </a:r>
            <a:r>
              <a:rPr lang="en-MY" sz="2400" dirty="0">
                <a:solidFill>
                  <a:srgbClr val="C00000"/>
                </a:solidFill>
              </a:rPr>
              <a:t>on entry </a:t>
            </a:r>
            <a:r>
              <a:rPr lang="en-MY" sz="2400" dirty="0"/>
              <a:t>to the state</a:t>
            </a:r>
          </a:p>
          <a:p>
            <a:pPr lvl="1"/>
            <a:r>
              <a:rPr lang="en-MY" sz="2400" dirty="0"/>
              <a:t>exit action: performed immediately </a:t>
            </a:r>
            <a:r>
              <a:rPr lang="en-MY" sz="2400" dirty="0">
                <a:solidFill>
                  <a:srgbClr val="C00000"/>
                </a:solidFill>
              </a:rPr>
              <a:t>on exit </a:t>
            </a:r>
            <a:r>
              <a:rPr lang="en-MY" sz="2400" dirty="0"/>
              <a:t>from the state</a:t>
            </a:r>
          </a:p>
          <a:p>
            <a:pPr lvl="1"/>
            <a:r>
              <a:rPr lang="en-MY" sz="2400" dirty="0"/>
              <a:t>internal transitions: these are caused by </a:t>
            </a:r>
            <a:r>
              <a:rPr lang="en-MY" sz="2400" dirty="0">
                <a:solidFill>
                  <a:srgbClr val="C00000"/>
                </a:solidFill>
              </a:rPr>
              <a:t>events that are not significant enough to warrant a transition to a new state</a:t>
            </a:r>
            <a:r>
              <a:rPr lang="en-MY" sz="2400" dirty="0"/>
              <a:t>, the event is processed by an internal transition within the state</a:t>
            </a:r>
          </a:p>
          <a:p>
            <a:pPr lvl="1"/>
            <a:r>
              <a:rPr lang="en-MY" sz="2400" dirty="0"/>
              <a:t>internal activity: a piece of </a:t>
            </a:r>
            <a:r>
              <a:rPr lang="en-MY" sz="2400" dirty="0">
                <a:solidFill>
                  <a:srgbClr val="C00000"/>
                </a:solidFill>
              </a:rPr>
              <a:t>work that takes a finite amount of time </a:t>
            </a:r>
            <a:r>
              <a:rPr lang="en-MY" sz="2400" dirty="0"/>
              <a:t>and which may be interrupted</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69</a:t>
            </a:fld>
            <a:endParaRPr lang="en-US"/>
          </a:p>
        </p:txBody>
      </p:sp>
    </p:spTree>
    <p:extLst>
      <p:ext uri="{BB962C8B-B14F-4D97-AF65-F5344CB8AC3E}">
        <p14:creationId xmlns:p14="http://schemas.microsoft.com/office/powerpoint/2010/main" val="16884721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cs typeface="Times New Roman" panose="02020603050405020304" pitchFamily="18" charset="0"/>
              </a:rPr>
              <a:t>Identifying the </a:t>
            </a:r>
            <a:r>
              <a:rPr lang="en-US" altLang="en-US">
                <a:cs typeface="Times New Roman" panose="02020603050405020304" pitchFamily="18" charset="0"/>
              </a:rPr>
              <a:t>Object Behavior</a:t>
            </a:r>
            <a:endParaRPr lang="en-MY" dirty="0"/>
          </a:p>
        </p:txBody>
      </p:sp>
      <p:sp>
        <p:nvSpPr>
          <p:cNvPr id="3" name="Content Placeholder 2"/>
          <p:cNvSpPr>
            <a:spLocks noGrp="1"/>
          </p:cNvSpPr>
          <p:nvPr>
            <p:ph idx="1"/>
          </p:nvPr>
        </p:nvSpPr>
        <p:spPr/>
        <p:txBody>
          <a:bodyPr/>
          <a:lstStyle/>
          <a:p>
            <a:pPr>
              <a:lnSpc>
                <a:spcPct val="90000"/>
              </a:lnSpc>
              <a:spcBef>
                <a:spcPts val="600"/>
              </a:spcBef>
            </a:pPr>
            <a:r>
              <a:rPr lang="en-US" altLang="en-US" dirty="0">
                <a:cs typeface="Times New Roman" panose="02020603050405020304" pitchFamily="18" charset="0"/>
              </a:rPr>
              <a:t>In brief, a state in a state chart similar to </a:t>
            </a:r>
            <a:r>
              <a:rPr lang="en-US" altLang="en-US" b="1" dirty="0">
                <a:solidFill>
                  <a:srgbClr val="C00000"/>
                </a:solidFill>
                <a:cs typeface="Times New Roman" panose="02020603050405020304" pitchFamily="18" charset="0"/>
              </a:rPr>
              <a:t>status condition:</a:t>
            </a:r>
            <a:r>
              <a:rPr lang="en-US" altLang="en-US" dirty="0">
                <a:solidFill>
                  <a:srgbClr val="C00000"/>
                </a:solidFill>
                <a:cs typeface="Times New Roman" panose="02020603050405020304" pitchFamily="18" charset="0"/>
              </a:rPr>
              <a:t> </a:t>
            </a:r>
          </a:p>
          <a:p>
            <a:pPr lvl="1">
              <a:lnSpc>
                <a:spcPct val="90000"/>
              </a:lnSpc>
              <a:spcBef>
                <a:spcPts val="600"/>
              </a:spcBef>
            </a:pPr>
            <a:r>
              <a:rPr lang="en-US" altLang="en-US" dirty="0">
                <a:cs typeface="Times New Roman" panose="02020603050405020304" pitchFamily="18" charset="0"/>
              </a:rPr>
              <a:t>Spans many business events</a:t>
            </a:r>
          </a:p>
          <a:p>
            <a:pPr lvl="1">
              <a:lnSpc>
                <a:spcPct val="90000"/>
              </a:lnSpc>
              <a:spcBef>
                <a:spcPts val="600"/>
              </a:spcBef>
            </a:pPr>
            <a:r>
              <a:rPr lang="en-US" altLang="en-US" dirty="0">
                <a:cs typeface="Times New Roman" panose="02020603050405020304" pitchFamily="18" charset="0"/>
              </a:rPr>
              <a:t>Developed for complex problem domain classes    </a:t>
            </a:r>
          </a:p>
          <a:p>
            <a:pPr>
              <a:lnSpc>
                <a:spcPct val="90000"/>
              </a:lnSpc>
              <a:spcBef>
                <a:spcPts val="600"/>
              </a:spcBef>
            </a:pPr>
            <a:r>
              <a:rPr lang="en-US" altLang="en-US" dirty="0">
                <a:cs typeface="Times New Roman" panose="02020603050405020304" pitchFamily="18" charset="0"/>
              </a:rPr>
              <a:t>State chart/state machine diagram  </a:t>
            </a:r>
          </a:p>
          <a:p>
            <a:pPr lvl="1">
              <a:lnSpc>
                <a:spcPct val="90000"/>
              </a:lnSpc>
              <a:spcBef>
                <a:spcPts val="600"/>
              </a:spcBef>
            </a:pPr>
            <a:r>
              <a:rPr lang="en-US" altLang="en-US" dirty="0">
                <a:cs typeface="Times New Roman" panose="02020603050405020304" pitchFamily="18" charset="0"/>
              </a:rPr>
              <a:t>Composed of ovals representing status of object </a:t>
            </a:r>
          </a:p>
          <a:p>
            <a:pPr lvl="1">
              <a:lnSpc>
                <a:spcPct val="90000"/>
              </a:lnSpc>
              <a:spcBef>
                <a:spcPts val="600"/>
              </a:spcBef>
            </a:pPr>
            <a:r>
              <a:rPr lang="en-US" altLang="en-US" dirty="0">
                <a:cs typeface="Times New Roman" panose="02020603050405020304" pitchFamily="18" charset="0"/>
              </a:rPr>
              <a:t>Arrows represent transitions</a:t>
            </a:r>
            <a:endParaRPr lang="en-MY" dirty="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70</a:t>
            </a:fld>
            <a:endParaRPr lang="en-US"/>
          </a:p>
        </p:txBody>
      </p:sp>
    </p:spTree>
    <p:extLst>
      <p:ext uri="{BB962C8B-B14F-4D97-AF65-F5344CB8AC3E}">
        <p14:creationId xmlns:p14="http://schemas.microsoft.com/office/powerpoint/2010/main" val="23284863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cs typeface="Times New Roman" panose="02020603050405020304" pitchFamily="18" charset="0"/>
              </a:rPr>
              <a:t>Identify States</a:t>
            </a:r>
            <a:endParaRPr lang="en-MY" dirty="0"/>
          </a:p>
        </p:txBody>
      </p:sp>
      <p:sp>
        <p:nvSpPr>
          <p:cNvPr id="3" name="Content Placeholder 2"/>
          <p:cNvSpPr>
            <a:spLocks noGrp="1"/>
          </p:cNvSpPr>
          <p:nvPr>
            <p:ph idx="1"/>
          </p:nvPr>
        </p:nvSpPr>
        <p:spPr/>
        <p:txBody>
          <a:bodyPr>
            <a:normAutofit fontScale="92500"/>
          </a:bodyPr>
          <a:lstStyle/>
          <a:p>
            <a:pPr>
              <a:lnSpc>
                <a:spcPct val="90000"/>
              </a:lnSpc>
            </a:pPr>
            <a:r>
              <a:rPr lang="en-US" altLang="en-US" dirty="0">
                <a:cs typeface="Times New Roman" panose="02020603050405020304" pitchFamily="18" charset="0"/>
              </a:rPr>
              <a:t>Guidelines to help identify states:</a:t>
            </a:r>
          </a:p>
          <a:p>
            <a:pPr lvl="1">
              <a:lnSpc>
                <a:spcPct val="90000"/>
              </a:lnSpc>
            </a:pPr>
            <a:r>
              <a:rPr lang="en-US" altLang="en-US" dirty="0"/>
              <a:t>Check naming convention for status conditions </a:t>
            </a:r>
          </a:p>
          <a:p>
            <a:pPr lvl="1">
              <a:lnSpc>
                <a:spcPct val="90000"/>
              </a:lnSpc>
            </a:pPr>
            <a:r>
              <a:rPr lang="en-US" altLang="en-US" dirty="0">
                <a:solidFill>
                  <a:srgbClr val="C00000"/>
                </a:solidFill>
              </a:rPr>
              <a:t>Simple states </a:t>
            </a:r>
            <a:r>
              <a:rPr lang="en-US" altLang="en-US" dirty="0"/>
              <a:t>reflect simple conditions such as “On” </a:t>
            </a:r>
          </a:p>
          <a:p>
            <a:pPr lvl="1">
              <a:lnSpc>
                <a:spcPct val="90000"/>
              </a:lnSpc>
            </a:pPr>
            <a:r>
              <a:rPr lang="en-US" altLang="en-US" dirty="0">
                <a:solidFill>
                  <a:srgbClr val="C00000"/>
                </a:solidFill>
              </a:rPr>
              <a:t>Complex states </a:t>
            </a:r>
            <a:r>
              <a:rPr lang="en-US" altLang="en-US" dirty="0"/>
              <a:t>labeled with gerunds or verb phrases </a:t>
            </a:r>
          </a:p>
          <a:p>
            <a:pPr lvl="2">
              <a:lnSpc>
                <a:spcPct val="90000"/>
              </a:lnSpc>
            </a:pPr>
            <a:r>
              <a:rPr lang="en-US" altLang="en-US" dirty="0"/>
              <a:t>Example:  “Being shipped” </a:t>
            </a:r>
          </a:p>
          <a:p>
            <a:pPr lvl="1">
              <a:lnSpc>
                <a:spcPct val="90000"/>
              </a:lnSpc>
            </a:pPr>
            <a:r>
              <a:rPr lang="en-US" altLang="en-US" dirty="0">
                <a:solidFill>
                  <a:srgbClr val="C00000"/>
                </a:solidFill>
              </a:rPr>
              <a:t>Active states </a:t>
            </a:r>
            <a:r>
              <a:rPr lang="en-US" altLang="en-US" dirty="0"/>
              <a:t>usually not labeled with nouns  </a:t>
            </a:r>
          </a:p>
          <a:p>
            <a:pPr lvl="1">
              <a:lnSpc>
                <a:spcPct val="90000"/>
              </a:lnSpc>
            </a:pPr>
            <a:r>
              <a:rPr lang="en-US" altLang="en-US" dirty="0"/>
              <a:t>Describe only states of being of the object itself</a:t>
            </a:r>
          </a:p>
          <a:p>
            <a:pPr lvl="1">
              <a:lnSpc>
                <a:spcPct val="90000"/>
              </a:lnSpc>
            </a:pPr>
            <a:r>
              <a:rPr lang="en-US" altLang="en-US" dirty="0"/>
              <a:t>Status conditions reported to management/customers </a:t>
            </a:r>
          </a:p>
          <a:p>
            <a:pPr lvl="2">
              <a:lnSpc>
                <a:spcPct val="90000"/>
              </a:lnSpc>
            </a:pPr>
            <a:r>
              <a:rPr lang="en-US" altLang="en-US" dirty="0"/>
              <a:t>Example: “Shipped”</a:t>
            </a:r>
            <a:endParaRPr lang="en-US" altLang="en-US" dirty="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71</a:t>
            </a:fld>
            <a:endParaRPr lang="en-US"/>
          </a:p>
        </p:txBody>
      </p:sp>
    </p:spTree>
    <p:extLst>
      <p:ext uri="{BB962C8B-B14F-4D97-AF65-F5344CB8AC3E}">
        <p14:creationId xmlns:p14="http://schemas.microsoft.com/office/powerpoint/2010/main" val="28253254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Transition</a:t>
            </a:r>
          </a:p>
        </p:txBody>
      </p:sp>
      <p:sp>
        <p:nvSpPr>
          <p:cNvPr id="3" name="Content Placeholder 2"/>
          <p:cNvSpPr>
            <a:spLocks noGrp="1"/>
          </p:cNvSpPr>
          <p:nvPr>
            <p:ph idx="1"/>
          </p:nvPr>
        </p:nvSpPr>
        <p:spPr>
          <a:xfrm>
            <a:off x="457200" y="2538478"/>
            <a:ext cx="8229600" cy="4021633"/>
          </a:xfrm>
        </p:spPr>
        <p:txBody>
          <a:bodyPr>
            <a:normAutofit fontScale="92500" lnSpcReduction="20000"/>
          </a:bodyPr>
          <a:lstStyle/>
          <a:p>
            <a:r>
              <a:rPr lang="en-MY" dirty="0"/>
              <a:t>Transitions have a simple syntax that may be used for external transitions (shown by an arrow) or internal transitions (nested within a state). </a:t>
            </a:r>
          </a:p>
          <a:p>
            <a:r>
              <a:rPr lang="en-MY" dirty="0"/>
              <a:t>Every transition has </a:t>
            </a:r>
            <a:r>
              <a:rPr lang="en-MY" b="1" dirty="0">
                <a:solidFill>
                  <a:srgbClr val="C00000"/>
                </a:solidFill>
              </a:rPr>
              <a:t>three optional elements</a:t>
            </a:r>
            <a:r>
              <a:rPr lang="en-MY" dirty="0"/>
              <a:t>: </a:t>
            </a:r>
          </a:p>
          <a:p>
            <a:pPr lvl="1"/>
            <a:r>
              <a:rPr lang="en-MY" dirty="0"/>
              <a:t>an </a:t>
            </a:r>
            <a:r>
              <a:rPr lang="en-MY" b="1" dirty="0">
                <a:solidFill>
                  <a:srgbClr val="C00000"/>
                </a:solidFill>
              </a:rPr>
              <a:t>event</a:t>
            </a:r>
            <a:r>
              <a:rPr lang="en-MY" dirty="0"/>
              <a:t> – this is an external or internal occurrence that triggers the transition</a:t>
            </a:r>
          </a:p>
          <a:p>
            <a:pPr lvl="1"/>
            <a:r>
              <a:rPr lang="en-MY" dirty="0"/>
              <a:t>a </a:t>
            </a:r>
            <a:r>
              <a:rPr lang="en-MY" b="1" dirty="0">
                <a:solidFill>
                  <a:srgbClr val="C00000"/>
                </a:solidFill>
              </a:rPr>
              <a:t>guard condition </a:t>
            </a:r>
            <a:r>
              <a:rPr lang="en-MY" dirty="0"/>
              <a:t>– this is a Boolean expression that must evaluate to true before the transition can occur</a:t>
            </a:r>
          </a:p>
          <a:p>
            <a:pPr lvl="1"/>
            <a:r>
              <a:rPr lang="en-MY" dirty="0"/>
              <a:t>an </a:t>
            </a:r>
            <a:r>
              <a:rPr lang="en-MY" b="1" dirty="0">
                <a:solidFill>
                  <a:srgbClr val="C00000"/>
                </a:solidFill>
              </a:rPr>
              <a:t>action</a:t>
            </a:r>
            <a:r>
              <a:rPr lang="en-MY" dirty="0"/>
              <a:t> – this is a piece of work associated with the transition, and occurs when the transition fires</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72</a:t>
            </a:fld>
            <a:endParaRPr lang="en-US"/>
          </a:p>
        </p:txBody>
      </p:sp>
      <p:pic>
        <p:nvPicPr>
          <p:cNvPr id="7" name="Picture 6"/>
          <p:cNvPicPr>
            <a:picLocks noChangeAspect="1"/>
          </p:cNvPicPr>
          <p:nvPr/>
        </p:nvPicPr>
        <p:blipFill>
          <a:blip r:embed="rId2"/>
          <a:stretch>
            <a:fillRect/>
          </a:stretch>
        </p:blipFill>
        <p:spPr>
          <a:xfrm>
            <a:off x="3124200" y="1660470"/>
            <a:ext cx="5124450" cy="781050"/>
          </a:xfrm>
          <a:prstGeom prst="rect">
            <a:avLst/>
          </a:prstGeom>
        </p:spPr>
      </p:pic>
      <p:pic>
        <p:nvPicPr>
          <p:cNvPr id="8" name="Picture 7"/>
          <p:cNvPicPr>
            <a:picLocks noChangeAspect="1"/>
          </p:cNvPicPr>
          <p:nvPr/>
        </p:nvPicPr>
        <p:blipFill>
          <a:blip r:embed="rId3"/>
          <a:stretch>
            <a:fillRect/>
          </a:stretch>
        </p:blipFill>
        <p:spPr>
          <a:xfrm>
            <a:off x="1143000" y="1522358"/>
            <a:ext cx="1800225" cy="1057275"/>
          </a:xfrm>
          <a:prstGeom prst="rect">
            <a:avLst/>
          </a:prstGeom>
        </p:spPr>
      </p:pic>
    </p:spTree>
    <p:extLst>
      <p:ext uri="{BB962C8B-B14F-4D97-AF65-F5344CB8AC3E}">
        <p14:creationId xmlns:p14="http://schemas.microsoft.com/office/powerpoint/2010/main" val="34577430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Event</a:t>
            </a:r>
          </a:p>
        </p:txBody>
      </p:sp>
      <p:sp>
        <p:nvSpPr>
          <p:cNvPr id="3" name="Content Placeholder 2"/>
          <p:cNvSpPr>
            <a:spLocks noGrp="1"/>
          </p:cNvSpPr>
          <p:nvPr>
            <p:ph idx="1"/>
          </p:nvPr>
        </p:nvSpPr>
        <p:spPr>
          <a:xfrm>
            <a:off x="274320" y="1600200"/>
            <a:ext cx="7086600" cy="4959911"/>
          </a:xfrm>
        </p:spPr>
        <p:txBody>
          <a:bodyPr>
            <a:normAutofit fontScale="85000" lnSpcReduction="10000"/>
          </a:bodyPr>
          <a:lstStyle/>
          <a:p>
            <a:r>
              <a:rPr lang="en-MY" dirty="0"/>
              <a:t>UML defines an event as, “the specification of a noteworthy occurrence that has location in time and space.” </a:t>
            </a:r>
          </a:p>
          <a:p>
            <a:r>
              <a:rPr lang="en-MY" dirty="0"/>
              <a:t>Events trigger transitions in state machines</a:t>
            </a:r>
          </a:p>
          <a:p>
            <a:r>
              <a:rPr lang="en-MY" dirty="0"/>
              <a:t>Events may be shown externally on transitions</a:t>
            </a:r>
          </a:p>
          <a:p>
            <a:r>
              <a:rPr lang="en-MY" dirty="0"/>
              <a:t>There are </a:t>
            </a:r>
            <a:r>
              <a:rPr lang="en-MY" b="1" dirty="0">
                <a:solidFill>
                  <a:srgbClr val="C00000"/>
                </a:solidFill>
              </a:rPr>
              <a:t>four types of event</a:t>
            </a:r>
            <a:r>
              <a:rPr lang="en-MY" dirty="0"/>
              <a:t>, each of which has different semantics: </a:t>
            </a:r>
          </a:p>
          <a:p>
            <a:pPr marL="971550" lvl="1" indent="-514350">
              <a:buFont typeface="+mj-lt"/>
              <a:buAutoNum type="arabicPeriod"/>
            </a:pPr>
            <a:r>
              <a:rPr lang="en-MY" dirty="0"/>
              <a:t>call event</a:t>
            </a:r>
          </a:p>
          <a:p>
            <a:pPr marL="971550" lvl="1" indent="-514350">
              <a:buFont typeface="+mj-lt"/>
              <a:buAutoNum type="arabicPeriod"/>
            </a:pPr>
            <a:r>
              <a:rPr lang="en-MY" dirty="0"/>
              <a:t>signal event</a:t>
            </a:r>
          </a:p>
          <a:p>
            <a:pPr marL="971550" lvl="1" indent="-514350">
              <a:buFont typeface="+mj-lt"/>
              <a:buAutoNum type="arabicPeriod"/>
            </a:pPr>
            <a:r>
              <a:rPr lang="en-MY" dirty="0"/>
              <a:t>change event</a:t>
            </a:r>
          </a:p>
          <a:p>
            <a:pPr marL="971550" lvl="1" indent="-514350">
              <a:buFont typeface="+mj-lt"/>
              <a:buAutoNum type="arabicPeriod"/>
            </a:pPr>
            <a:r>
              <a:rPr lang="en-MY" dirty="0"/>
              <a:t>time event</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73</a:t>
            </a:fld>
            <a:endParaRPr lang="en-US"/>
          </a:p>
        </p:txBody>
      </p:sp>
      <p:pic>
        <p:nvPicPr>
          <p:cNvPr id="7" name="Picture 6"/>
          <p:cNvPicPr>
            <a:picLocks noChangeAspect="1"/>
          </p:cNvPicPr>
          <p:nvPr/>
        </p:nvPicPr>
        <p:blipFill>
          <a:blip r:embed="rId2"/>
          <a:stretch>
            <a:fillRect/>
          </a:stretch>
        </p:blipFill>
        <p:spPr>
          <a:xfrm>
            <a:off x="7265670" y="2902697"/>
            <a:ext cx="1843828" cy="2880982"/>
          </a:xfrm>
          <a:prstGeom prst="rect">
            <a:avLst/>
          </a:prstGeom>
        </p:spPr>
      </p:pic>
      <p:pic>
        <p:nvPicPr>
          <p:cNvPr id="8" name="Picture 7"/>
          <p:cNvPicPr>
            <a:picLocks noChangeAspect="1"/>
          </p:cNvPicPr>
          <p:nvPr/>
        </p:nvPicPr>
        <p:blipFill>
          <a:blip r:embed="rId3"/>
          <a:stretch>
            <a:fillRect/>
          </a:stretch>
        </p:blipFill>
        <p:spPr>
          <a:xfrm>
            <a:off x="7113270" y="1832305"/>
            <a:ext cx="1809750" cy="800100"/>
          </a:xfrm>
          <a:prstGeom prst="rect">
            <a:avLst/>
          </a:prstGeom>
        </p:spPr>
      </p:pic>
    </p:spTree>
    <p:extLst>
      <p:ext uri="{BB962C8B-B14F-4D97-AF65-F5344CB8AC3E}">
        <p14:creationId xmlns:p14="http://schemas.microsoft.com/office/powerpoint/2010/main" val="25560650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Example: Call Event State Chart</a:t>
            </a:r>
          </a:p>
        </p:txBody>
      </p:sp>
      <p:pic>
        <p:nvPicPr>
          <p:cNvPr id="7" name="Content Placeholder 6"/>
          <p:cNvPicPr>
            <a:picLocks noGrp="1" noChangeAspect="1"/>
          </p:cNvPicPr>
          <p:nvPr>
            <p:ph idx="1"/>
          </p:nvPr>
        </p:nvPicPr>
        <p:blipFill>
          <a:blip r:embed="rId2"/>
          <a:stretch>
            <a:fillRect/>
          </a:stretch>
        </p:blipFill>
        <p:spPr>
          <a:xfrm>
            <a:off x="2271712" y="1872456"/>
            <a:ext cx="4600575" cy="398145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74</a:t>
            </a:fld>
            <a:endParaRPr lang="en-US"/>
          </a:p>
        </p:txBody>
      </p:sp>
      <p:pic>
        <p:nvPicPr>
          <p:cNvPr id="8" name="Picture 7"/>
          <p:cNvPicPr>
            <a:picLocks noChangeAspect="1"/>
          </p:cNvPicPr>
          <p:nvPr/>
        </p:nvPicPr>
        <p:blipFill>
          <a:blip r:embed="rId3"/>
          <a:stretch>
            <a:fillRect/>
          </a:stretch>
        </p:blipFill>
        <p:spPr>
          <a:xfrm>
            <a:off x="152400" y="1652540"/>
            <a:ext cx="1838325" cy="1019175"/>
          </a:xfrm>
          <a:prstGeom prst="rect">
            <a:avLst/>
          </a:prstGeom>
        </p:spPr>
      </p:pic>
    </p:spTree>
    <p:extLst>
      <p:ext uri="{BB962C8B-B14F-4D97-AF65-F5344CB8AC3E}">
        <p14:creationId xmlns:p14="http://schemas.microsoft.com/office/powerpoint/2010/main" val="35515122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Example: Signal Event State Chart </a:t>
            </a:r>
          </a:p>
        </p:txBody>
      </p:sp>
      <p:pic>
        <p:nvPicPr>
          <p:cNvPr id="7" name="Content Placeholder 6"/>
          <p:cNvPicPr>
            <a:picLocks noGrp="1" noChangeAspect="1"/>
          </p:cNvPicPr>
          <p:nvPr>
            <p:ph idx="1"/>
          </p:nvPr>
        </p:nvPicPr>
        <p:blipFill>
          <a:blip r:embed="rId2"/>
          <a:stretch>
            <a:fillRect/>
          </a:stretch>
        </p:blipFill>
        <p:spPr>
          <a:xfrm>
            <a:off x="2469777" y="2743200"/>
            <a:ext cx="4419600" cy="310515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75</a:t>
            </a:fld>
            <a:endParaRPr lang="en-US"/>
          </a:p>
        </p:txBody>
      </p:sp>
      <p:pic>
        <p:nvPicPr>
          <p:cNvPr id="8" name="Picture 7"/>
          <p:cNvPicPr>
            <a:picLocks noChangeAspect="1"/>
          </p:cNvPicPr>
          <p:nvPr/>
        </p:nvPicPr>
        <p:blipFill>
          <a:blip r:embed="rId3"/>
          <a:stretch>
            <a:fillRect/>
          </a:stretch>
        </p:blipFill>
        <p:spPr>
          <a:xfrm>
            <a:off x="6315075" y="1618970"/>
            <a:ext cx="2371725" cy="1476375"/>
          </a:xfrm>
          <a:prstGeom prst="rect">
            <a:avLst/>
          </a:prstGeom>
        </p:spPr>
      </p:pic>
      <p:pic>
        <p:nvPicPr>
          <p:cNvPr id="9" name="Picture 8"/>
          <p:cNvPicPr>
            <a:picLocks noChangeAspect="1"/>
          </p:cNvPicPr>
          <p:nvPr/>
        </p:nvPicPr>
        <p:blipFill>
          <a:blip r:embed="rId4"/>
          <a:stretch>
            <a:fillRect/>
          </a:stretch>
        </p:blipFill>
        <p:spPr>
          <a:xfrm>
            <a:off x="392793" y="2971800"/>
            <a:ext cx="1866900" cy="1685925"/>
          </a:xfrm>
          <a:prstGeom prst="rect">
            <a:avLst/>
          </a:prstGeom>
        </p:spPr>
      </p:pic>
      <p:cxnSp>
        <p:nvCxnSpPr>
          <p:cNvPr id="10" name="Straight Arrow Connector 9"/>
          <p:cNvCxnSpPr/>
          <p:nvPr/>
        </p:nvCxnSpPr>
        <p:spPr>
          <a:xfrm flipH="1">
            <a:off x="5943600" y="3117385"/>
            <a:ext cx="945778" cy="92121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xmlns="" id="{BF29B134-7FCC-4FBC-A1DF-871D76F6E989}"/>
              </a:ext>
            </a:extLst>
          </p:cNvPr>
          <p:cNvSpPr txBox="1"/>
          <p:nvPr/>
        </p:nvSpPr>
        <p:spPr>
          <a:xfrm>
            <a:off x="609601" y="1745654"/>
            <a:ext cx="5410200" cy="923330"/>
          </a:xfrm>
          <a:prstGeom prst="rect">
            <a:avLst/>
          </a:prstGeom>
          <a:noFill/>
        </p:spPr>
        <p:txBody>
          <a:bodyPr wrap="square" rtlCol="0">
            <a:spAutoFit/>
          </a:bodyPr>
          <a:lstStyle/>
          <a:p>
            <a:r>
              <a:rPr lang="en-MY" dirty="0">
                <a:solidFill>
                  <a:srgbClr val="C00000"/>
                </a:solidFill>
              </a:rPr>
              <a:t>Note: A state chart relates to the class that provides the signal e.g. </a:t>
            </a:r>
            <a:r>
              <a:rPr lang="en-MY" dirty="0" err="1">
                <a:solidFill>
                  <a:srgbClr val="C00000"/>
                </a:solidFill>
              </a:rPr>
              <a:t>OverdrawnAccount</a:t>
            </a:r>
            <a:r>
              <a:rPr lang="en-MY" dirty="0">
                <a:solidFill>
                  <a:srgbClr val="C00000"/>
                </a:solidFill>
              </a:rPr>
              <a:t> that triggers respective event and action</a:t>
            </a:r>
            <a:endParaRPr lang="en-GB" dirty="0">
              <a:solidFill>
                <a:srgbClr val="C00000"/>
              </a:solidFill>
            </a:endParaRPr>
          </a:p>
        </p:txBody>
      </p:sp>
    </p:spTree>
    <p:extLst>
      <p:ext uri="{BB962C8B-B14F-4D97-AF65-F5344CB8AC3E}">
        <p14:creationId xmlns:p14="http://schemas.microsoft.com/office/powerpoint/2010/main" val="17905614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Example: Change Event State Chart</a:t>
            </a:r>
          </a:p>
        </p:txBody>
      </p:sp>
      <p:pic>
        <p:nvPicPr>
          <p:cNvPr id="7" name="Content Placeholder 6"/>
          <p:cNvPicPr>
            <a:picLocks noGrp="1" noChangeAspect="1"/>
          </p:cNvPicPr>
          <p:nvPr>
            <p:ph idx="1"/>
          </p:nvPr>
        </p:nvPicPr>
        <p:blipFill>
          <a:blip r:embed="rId2"/>
          <a:stretch>
            <a:fillRect/>
          </a:stretch>
        </p:blipFill>
        <p:spPr>
          <a:xfrm>
            <a:off x="2381250" y="1853406"/>
            <a:ext cx="4381500" cy="4019550"/>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76</a:t>
            </a:fld>
            <a:endParaRPr lang="en-US"/>
          </a:p>
        </p:txBody>
      </p:sp>
    </p:spTree>
    <p:extLst>
      <p:ext uri="{BB962C8B-B14F-4D97-AF65-F5344CB8AC3E}">
        <p14:creationId xmlns:p14="http://schemas.microsoft.com/office/powerpoint/2010/main" val="22222750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Example: Time Event State Chart</a:t>
            </a:r>
          </a:p>
        </p:txBody>
      </p:sp>
      <p:pic>
        <p:nvPicPr>
          <p:cNvPr id="7" name="Content Placeholder 6"/>
          <p:cNvPicPr>
            <a:picLocks noGrp="1" noChangeAspect="1"/>
          </p:cNvPicPr>
          <p:nvPr>
            <p:ph idx="1"/>
          </p:nvPr>
        </p:nvPicPr>
        <p:blipFill>
          <a:blip r:embed="rId2"/>
          <a:stretch>
            <a:fillRect/>
          </a:stretch>
        </p:blipFill>
        <p:spPr>
          <a:xfrm>
            <a:off x="2444377" y="2549217"/>
            <a:ext cx="4352925" cy="3038475"/>
          </a:xfrm>
          <a:prstGeom prst="rect">
            <a:avLst/>
          </a:prstGeom>
        </p:spPr>
      </p:pic>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77</a:t>
            </a:fld>
            <a:endParaRPr lang="en-US"/>
          </a:p>
        </p:txBody>
      </p:sp>
      <p:pic>
        <p:nvPicPr>
          <p:cNvPr id="8" name="Picture 7"/>
          <p:cNvPicPr>
            <a:picLocks noChangeAspect="1"/>
          </p:cNvPicPr>
          <p:nvPr/>
        </p:nvPicPr>
        <p:blipFill>
          <a:blip r:embed="rId3"/>
          <a:stretch>
            <a:fillRect/>
          </a:stretch>
        </p:blipFill>
        <p:spPr>
          <a:xfrm>
            <a:off x="435429" y="1920601"/>
            <a:ext cx="1809750" cy="723900"/>
          </a:xfrm>
          <a:prstGeom prst="rect">
            <a:avLst/>
          </a:prstGeom>
        </p:spPr>
      </p:pic>
    </p:spTree>
    <p:extLst>
      <p:ext uri="{BB962C8B-B14F-4D97-AF65-F5344CB8AC3E}">
        <p14:creationId xmlns:p14="http://schemas.microsoft.com/office/powerpoint/2010/main" val="41407655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State Diagram of a Microwave Oven</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78</a:t>
            </a:fld>
            <a:endParaRPr lang="en-US"/>
          </a:p>
        </p:txBody>
      </p:sp>
      <p:pic>
        <p:nvPicPr>
          <p:cNvPr id="7" name="Content Placeholder 6" descr="5.16 MWOvenStateDiag.eps"/>
          <p:cNvPicPr>
            <a:picLocks noGrp="1" noChangeAspect="1"/>
          </p:cNvPicPr>
          <p:nvPr>
            <p:ph idx="1"/>
          </p:nvPr>
        </p:nvPicPr>
        <p:blipFill>
          <a:blip r:embed="rId2"/>
          <a:stretch>
            <a:fillRect/>
          </a:stretch>
        </p:blipFill>
        <p:spPr>
          <a:xfrm>
            <a:off x="1095095" y="1752600"/>
            <a:ext cx="7280709" cy="4419600"/>
          </a:xfrm>
          <a:prstGeom prst="rect">
            <a:avLst/>
          </a:prstGeom>
        </p:spPr>
      </p:pic>
    </p:spTree>
    <p:extLst>
      <p:ext uri="{BB962C8B-B14F-4D97-AF65-F5344CB8AC3E}">
        <p14:creationId xmlns:p14="http://schemas.microsoft.com/office/powerpoint/2010/main" val="19920514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a:t>Example: Microwave Oven Operation</a:t>
            </a:r>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79</a:t>
            </a:fld>
            <a:endParaRPr lang="en-US"/>
          </a:p>
        </p:txBody>
      </p:sp>
      <p:pic>
        <p:nvPicPr>
          <p:cNvPr id="7" name="Content Placeholder 6" descr="5.18 Operate-state-mc.eps"/>
          <p:cNvPicPr>
            <a:picLocks noGrp="1" noChangeAspect="1"/>
          </p:cNvPicPr>
          <p:nvPr>
            <p:ph idx="1"/>
          </p:nvPr>
        </p:nvPicPr>
        <p:blipFill>
          <a:blip r:embed="rId2"/>
          <a:stretch>
            <a:fillRect/>
          </a:stretch>
        </p:blipFill>
        <p:spPr>
          <a:xfrm>
            <a:off x="1905000" y="1676400"/>
            <a:ext cx="5638800" cy="4535556"/>
          </a:xfrm>
          <a:prstGeom prst="rect">
            <a:avLst/>
          </a:prstGeom>
        </p:spPr>
      </p:pic>
    </p:spTree>
    <p:extLst>
      <p:ext uri="{BB962C8B-B14F-4D97-AF65-F5344CB8AC3E}">
        <p14:creationId xmlns:p14="http://schemas.microsoft.com/office/powerpoint/2010/main" val="25247676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normAutofit/>
          </a:bodyPr>
          <a:lstStyle/>
          <a:p>
            <a:r>
              <a:rPr lang="en-US" altLang="en-US" sz="4000" dirty="0">
                <a:cs typeface="Times New Roman" panose="02020603050405020304" pitchFamily="18" charset="0"/>
              </a:rPr>
              <a:t>Rules for Developing State Charts</a:t>
            </a:r>
            <a:r>
              <a:rPr lang="en-US" altLang="en-US" sz="4000" dirty="0"/>
              <a:t> </a:t>
            </a:r>
          </a:p>
        </p:txBody>
      </p:sp>
      <p:sp>
        <p:nvSpPr>
          <p:cNvPr id="471043" name="Rectangle 3"/>
          <p:cNvSpPr>
            <a:spLocks noGrp="1" noChangeArrowheads="1"/>
          </p:cNvSpPr>
          <p:nvPr>
            <p:ph type="body" idx="1"/>
          </p:nvPr>
        </p:nvSpPr>
        <p:spPr>
          <a:xfrm>
            <a:off x="685800" y="1752600"/>
            <a:ext cx="7772400" cy="4343400"/>
          </a:xfrm>
        </p:spPr>
        <p:txBody>
          <a:bodyPr>
            <a:normAutofit fontScale="92500" lnSpcReduction="10000"/>
          </a:bodyPr>
          <a:lstStyle/>
          <a:p>
            <a:pPr marL="533400" indent="-533400">
              <a:spcBef>
                <a:spcPts val="600"/>
              </a:spcBef>
              <a:buClr>
                <a:schemeClr val="tx1"/>
              </a:buClr>
              <a:buFont typeface="Wingdings" panose="05000000000000000000" pitchFamily="2" charset="2"/>
              <a:buAutoNum type="arabicPeriod"/>
            </a:pPr>
            <a:r>
              <a:rPr lang="en-US" altLang="en-US" sz="2800" dirty="0">
                <a:cs typeface="Times New Roman" panose="02020603050405020304" pitchFamily="18" charset="0"/>
              </a:rPr>
              <a:t>Select the </a:t>
            </a:r>
            <a:r>
              <a:rPr lang="en-US" altLang="en-US" sz="2800" dirty="0">
                <a:solidFill>
                  <a:srgbClr val="C00000"/>
                </a:solidFill>
                <a:cs typeface="Times New Roman" panose="02020603050405020304" pitchFamily="18" charset="0"/>
              </a:rPr>
              <a:t>classes</a:t>
            </a:r>
            <a:r>
              <a:rPr lang="en-US" altLang="en-US" sz="2800" dirty="0">
                <a:cs typeface="Times New Roman" panose="02020603050405020304" pitchFamily="18" charset="0"/>
              </a:rPr>
              <a:t> that will require state charts</a:t>
            </a:r>
          </a:p>
          <a:p>
            <a:pPr marL="533400" indent="-533400">
              <a:spcBef>
                <a:spcPts val="600"/>
              </a:spcBef>
              <a:buClr>
                <a:schemeClr val="tx1"/>
              </a:buClr>
              <a:buFont typeface="Wingdings" panose="05000000000000000000" pitchFamily="2" charset="2"/>
              <a:buAutoNum type="arabicPeriod"/>
            </a:pPr>
            <a:r>
              <a:rPr lang="en-US" altLang="en-US" sz="2800" dirty="0">
                <a:cs typeface="Times New Roman" panose="02020603050405020304" pitchFamily="18" charset="0"/>
              </a:rPr>
              <a:t>List all the </a:t>
            </a:r>
            <a:r>
              <a:rPr lang="en-US" altLang="en-US" sz="2800" dirty="0">
                <a:solidFill>
                  <a:srgbClr val="C00000"/>
                </a:solidFill>
                <a:cs typeface="Times New Roman" panose="02020603050405020304" pitchFamily="18" charset="0"/>
              </a:rPr>
              <a:t>status conditions </a:t>
            </a:r>
            <a:r>
              <a:rPr lang="en-US" altLang="en-US" sz="2800" dirty="0">
                <a:cs typeface="Times New Roman" panose="02020603050405020304" pitchFamily="18" charset="0"/>
              </a:rPr>
              <a:t>for each group </a:t>
            </a:r>
          </a:p>
          <a:p>
            <a:pPr marL="533400" indent="-533400">
              <a:spcBef>
                <a:spcPts val="600"/>
              </a:spcBef>
              <a:buClr>
                <a:schemeClr val="tx1"/>
              </a:buClr>
              <a:buFont typeface="Wingdings" panose="05000000000000000000" pitchFamily="2" charset="2"/>
              <a:buAutoNum type="arabicPeriod"/>
            </a:pPr>
            <a:r>
              <a:rPr lang="en-US" altLang="en-US" sz="2800" dirty="0">
                <a:cs typeface="Times New Roman" panose="02020603050405020304" pitchFamily="18" charset="0"/>
              </a:rPr>
              <a:t>Specify </a:t>
            </a:r>
            <a:r>
              <a:rPr lang="en-US" altLang="en-US" sz="2800" dirty="0">
                <a:solidFill>
                  <a:srgbClr val="C00000"/>
                </a:solidFill>
                <a:cs typeface="Times New Roman" panose="02020603050405020304" pitchFamily="18" charset="0"/>
              </a:rPr>
              <a:t>transitions</a:t>
            </a:r>
            <a:r>
              <a:rPr lang="en-US" altLang="en-US" sz="2800" dirty="0">
                <a:cs typeface="Times New Roman" panose="02020603050405020304" pitchFamily="18" charset="0"/>
              </a:rPr>
              <a:t> that cause object to leave the identified state </a:t>
            </a:r>
          </a:p>
          <a:p>
            <a:pPr marL="533400" indent="-533400">
              <a:spcBef>
                <a:spcPts val="600"/>
              </a:spcBef>
              <a:buClr>
                <a:schemeClr val="tx1"/>
              </a:buClr>
              <a:buFont typeface="Wingdings" panose="05000000000000000000" pitchFamily="2" charset="2"/>
              <a:buAutoNum type="arabicPeriod"/>
            </a:pPr>
            <a:r>
              <a:rPr lang="en-US" altLang="en-US" sz="2800" dirty="0">
                <a:solidFill>
                  <a:srgbClr val="C00000"/>
                </a:solidFill>
                <a:cs typeface="Times New Roman" panose="02020603050405020304" pitchFamily="18" charset="0"/>
              </a:rPr>
              <a:t>Sequence</a:t>
            </a:r>
            <a:r>
              <a:rPr lang="en-US" altLang="en-US" sz="2800" dirty="0">
                <a:cs typeface="Times New Roman" panose="02020603050405020304" pitchFamily="18" charset="0"/>
              </a:rPr>
              <a:t> state-transition combinations in  correct order</a:t>
            </a:r>
          </a:p>
          <a:p>
            <a:pPr marL="533400" indent="-533400">
              <a:spcBef>
                <a:spcPts val="600"/>
              </a:spcBef>
              <a:buClr>
                <a:schemeClr val="tx1"/>
              </a:buClr>
              <a:buFont typeface="Wingdings" panose="05000000000000000000" pitchFamily="2" charset="2"/>
              <a:buAutoNum type="arabicPeriod" startAt="5"/>
            </a:pPr>
            <a:r>
              <a:rPr lang="en-US" altLang="en-US" sz="2800" dirty="0">
                <a:cs typeface="Times New Roman" panose="02020603050405020304" pitchFamily="18" charset="0"/>
              </a:rPr>
              <a:t>Identify </a:t>
            </a:r>
            <a:r>
              <a:rPr lang="en-US" altLang="en-US" sz="2800" dirty="0">
                <a:solidFill>
                  <a:srgbClr val="C00000"/>
                </a:solidFill>
                <a:cs typeface="Times New Roman" panose="02020603050405020304" pitchFamily="18" charset="0"/>
              </a:rPr>
              <a:t>concurrent</a:t>
            </a:r>
            <a:r>
              <a:rPr lang="en-US" altLang="en-US" sz="2800" dirty="0">
                <a:cs typeface="Times New Roman" panose="02020603050405020304" pitchFamily="18" charset="0"/>
              </a:rPr>
              <a:t> paths (if any)</a:t>
            </a:r>
          </a:p>
          <a:p>
            <a:pPr marL="533400" indent="-533400">
              <a:spcBef>
                <a:spcPts val="600"/>
              </a:spcBef>
              <a:buClr>
                <a:schemeClr val="tx1"/>
              </a:buClr>
              <a:buFont typeface="Wingdings" panose="05000000000000000000" pitchFamily="2" charset="2"/>
              <a:buAutoNum type="arabicPeriod" startAt="5"/>
            </a:pPr>
            <a:r>
              <a:rPr lang="en-US" altLang="en-US" sz="2800" dirty="0">
                <a:cs typeface="Times New Roman" panose="02020603050405020304" pitchFamily="18" charset="0"/>
              </a:rPr>
              <a:t>Look for </a:t>
            </a:r>
            <a:r>
              <a:rPr lang="en-US" altLang="en-US" sz="2800" dirty="0">
                <a:solidFill>
                  <a:srgbClr val="C00000"/>
                </a:solidFill>
                <a:cs typeface="Times New Roman" panose="02020603050405020304" pitchFamily="18" charset="0"/>
              </a:rPr>
              <a:t>additional transitions</a:t>
            </a:r>
          </a:p>
          <a:p>
            <a:pPr marL="533400" indent="-533400">
              <a:spcBef>
                <a:spcPts val="600"/>
              </a:spcBef>
              <a:buClr>
                <a:schemeClr val="tx1"/>
              </a:buClr>
              <a:buFont typeface="Wingdings" panose="05000000000000000000" pitchFamily="2" charset="2"/>
              <a:buAutoNum type="arabicPeriod" startAt="5"/>
            </a:pPr>
            <a:r>
              <a:rPr lang="en-US" altLang="en-US" sz="2800" dirty="0">
                <a:solidFill>
                  <a:srgbClr val="C00000"/>
                </a:solidFill>
                <a:cs typeface="Times New Roman" panose="02020603050405020304" pitchFamily="18" charset="0"/>
              </a:rPr>
              <a:t>Expand</a:t>
            </a:r>
            <a:r>
              <a:rPr lang="en-US" altLang="en-US" sz="2800" dirty="0">
                <a:cs typeface="Times New Roman" panose="02020603050405020304" pitchFamily="18" charset="0"/>
              </a:rPr>
              <a:t> each transition as appropriate </a:t>
            </a:r>
          </a:p>
          <a:p>
            <a:pPr marL="533400" indent="-533400">
              <a:spcBef>
                <a:spcPts val="600"/>
              </a:spcBef>
              <a:buClr>
                <a:schemeClr val="tx1"/>
              </a:buClr>
              <a:buFont typeface="Wingdings" panose="05000000000000000000" pitchFamily="2" charset="2"/>
              <a:buAutoNum type="arabicPeriod" startAt="5"/>
            </a:pPr>
            <a:r>
              <a:rPr lang="en-US" altLang="en-US" sz="2800" dirty="0">
                <a:solidFill>
                  <a:srgbClr val="C00000"/>
                </a:solidFill>
                <a:cs typeface="Times New Roman" panose="02020603050405020304" pitchFamily="18" charset="0"/>
              </a:rPr>
              <a:t>Review</a:t>
            </a:r>
            <a:r>
              <a:rPr lang="en-US" altLang="en-US" sz="2800" dirty="0">
                <a:cs typeface="Times New Roman" panose="02020603050405020304" pitchFamily="18" charset="0"/>
              </a:rPr>
              <a:t> and test each state chart</a:t>
            </a:r>
          </a:p>
        </p:txBody>
      </p:sp>
      <p:sp>
        <p:nvSpPr>
          <p:cNvPr id="2" name="Footer Placeholder 1"/>
          <p:cNvSpPr>
            <a:spLocks noGrp="1"/>
          </p:cNvSpPr>
          <p:nvPr>
            <p:ph type="ftr" sz="quarter" idx="11"/>
          </p:nvPr>
        </p:nvSpPr>
        <p:spPr/>
        <p:txBody>
          <a:bodyPr/>
          <a:lstStyle/>
          <a:p>
            <a:r>
              <a:rPr lang="en-MY"/>
              <a:t>Software Engineering</a:t>
            </a:r>
            <a:endParaRPr lang="en-US"/>
          </a:p>
        </p:txBody>
      </p:sp>
      <p:sp>
        <p:nvSpPr>
          <p:cNvPr id="3" name="Slide Number Placeholder 2"/>
          <p:cNvSpPr>
            <a:spLocks noGrp="1"/>
          </p:cNvSpPr>
          <p:nvPr>
            <p:ph type="sldNum" sz="quarter" idx="12"/>
          </p:nvPr>
        </p:nvSpPr>
        <p:spPr/>
        <p:txBody>
          <a:bodyPr/>
          <a:lstStyle/>
          <a:p>
            <a:fld id="{0362C787-829C-4B6B-B21B-90D8981190F3}" type="slidenum">
              <a:rPr lang="en-US" smtClean="0"/>
              <a:pPr/>
              <a:t>80</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32449190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Key Points…</a:t>
            </a:r>
          </a:p>
        </p:txBody>
      </p:sp>
      <p:sp>
        <p:nvSpPr>
          <p:cNvPr id="3" name="Content Placeholder 2"/>
          <p:cNvSpPr>
            <a:spLocks noGrp="1"/>
          </p:cNvSpPr>
          <p:nvPr>
            <p:ph idx="1"/>
          </p:nvPr>
        </p:nvSpPr>
        <p:spPr>
          <a:xfrm>
            <a:off x="457200" y="1541276"/>
            <a:ext cx="8458200" cy="4961122"/>
          </a:xfrm>
        </p:spPr>
        <p:txBody>
          <a:bodyPr>
            <a:noAutofit/>
          </a:bodyPr>
          <a:lstStyle/>
          <a:p>
            <a:r>
              <a:rPr lang="en-GB" sz="2400"/>
              <a:t>A model is an abstract view of a system that ignores system details. Complementary system models can be developed to show the system’s context, interactions, structure and behavior.</a:t>
            </a:r>
          </a:p>
          <a:p>
            <a:r>
              <a:rPr lang="en-GB" sz="2400"/>
              <a:t>Context models show how a system that is being </a:t>
            </a:r>
            <a:r>
              <a:rPr lang="en-US" sz="2400"/>
              <a:t>modeled is positioned in an environment with other systems and processes. </a:t>
            </a:r>
            <a:endParaRPr lang="en-GB" sz="2400"/>
          </a:p>
          <a:p>
            <a:r>
              <a:rPr lang="en-US" sz="240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GB" sz="2400"/>
          </a:p>
          <a:p>
            <a:endParaRPr lang="en-MY" sz="240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81</a:t>
            </a:fld>
            <a:endParaRPr lang="en-US"/>
          </a:p>
        </p:txBody>
      </p:sp>
    </p:spTree>
    <p:extLst>
      <p:ext uri="{BB962C8B-B14F-4D97-AF65-F5344CB8AC3E}">
        <p14:creationId xmlns:p14="http://schemas.microsoft.com/office/powerpoint/2010/main" val="14904142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Key Points</a:t>
            </a:r>
          </a:p>
        </p:txBody>
      </p:sp>
      <p:sp>
        <p:nvSpPr>
          <p:cNvPr id="3" name="Content Placeholder 2"/>
          <p:cNvSpPr>
            <a:spLocks noGrp="1"/>
          </p:cNvSpPr>
          <p:nvPr>
            <p:ph idx="1"/>
          </p:nvPr>
        </p:nvSpPr>
        <p:spPr>
          <a:xfrm>
            <a:off x="457200" y="1512248"/>
            <a:ext cx="8229600" cy="4686485"/>
          </a:xfrm>
        </p:spPr>
        <p:txBody>
          <a:bodyPr>
            <a:noAutofit/>
          </a:bodyPr>
          <a:lstStyle/>
          <a:p>
            <a:r>
              <a:rPr lang="en-US" sz="2400"/>
              <a:t>Structural models show the organization and architecture of a system. Class diagrams are used to define the static structure of classes in a system and their associations.</a:t>
            </a:r>
            <a:endParaRPr lang="en-GB" sz="2400"/>
          </a:p>
          <a:p>
            <a:r>
              <a:rPr lang="en-US" sz="2400"/>
              <a:t>Behavioral models are used to describe the dynamic behavior of an executing system. This behavior can be modeled from the perspective of the data processed by the system, or by the events that stimulate responses from a system.</a:t>
            </a:r>
            <a:endParaRPr lang="en-GB" sz="2400"/>
          </a:p>
          <a:p>
            <a:r>
              <a:rPr lang="en-US" sz="2400"/>
              <a:t>Activity diagrams may be used to model the processing of data, where each activity represents one process step.</a:t>
            </a:r>
            <a:endParaRPr lang="en-GB" sz="2400"/>
          </a:p>
          <a:p>
            <a:r>
              <a:rPr lang="en-US" sz="2400"/>
              <a:t>State diagrams are used to model a system’s behavior in response to internal or external events. </a:t>
            </a:r>
            <a:endParaRPr lang="en-GB" sz="2400"/>
          </a:p>
        </p:txBody>
      </p:sp>
      <p:sp>
        <p:nvSpPr>
          <p:cNvPr id="4" name="Date Placeholder 3"/>
          <p:cNvSpPr>
            <a:spLocks noGrp="1"/>
          </p:cNvSpPr>
          <p:nvPr>
            <p:ph type="dt" sz="half" idx="10"/>
          </p:nvPr>
        </p:nvSpPr>
        <p:spPr/>
        <p:txBody>
          <a:bodyPr/>
          <a:lstStyle/>
          <a:p>
            <a:r>
              <a:rPr lang="en-US"/>
              <a:t>2020</a:t>
            </a:r>
          </a:p>
        </p:txBody>
      </p:sp>
      <p:sp>
        <p:nvSpPr>
          <p:cNvPr id="5" name="Footer Placeholder 4"/>
          <p:cNvSpPr>
            <a:spLocks noGrp="1"/>
          </p:cNvSpPr>
          <p:nvPr>
            <p:ph type="ftr" sz="quarter" idx="11"/>
          </p:nvPr>
        </p:nvSpPr>
        <p:spPr/>
        <p:txBody>
          <a:bodyPr/>
          <a:lstStyle/>
          <a:p>
            <a:r>
              <a:rPr lang="en-MY"/>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82</a:t>
            </a:fld>
            <a:endParaRPr lang="en-US"/>
          </a:p>
        </p:txBody>
      </p:sp>
    </p:spTree>
    <p:extLst>
      <p:ext uri="{BB962C8B-B14F-4D97-AF65-F5344CB8AC3E}">
        <p14:creationId xmlns:p14="http://schemas.microsoft.com/office/powerpoint/2010/main" val="19151171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a:t>PART II: requirements document</a:t>
            </a:r>
            <a:endParaRPr lang="en-MY" dirty="0"/>
          </a:p>
        </p:txBody>
      </p:sp>
      <p:sp>
        <p:nvSpPr>
          <p:cNvPr id="3" name="Text Placeholder 2"/>
          <p:cNvSpPr>
            <a:spLocks noGrp="1"/>
          </p:cNvSpPr>
          <p:nvPr>
            <p:ph type="body" idx="1"/>
          </p:nvPr>
        </p:nvSpPr>
        <p:spPr/>
        <p:txBody>
          <a:bodyPr/>
          <a:lstStyle/>
          <a:p>
            <a:r>
              <a:rPr lang="en-MY"/>
              <a:t>Software </a:t>
            </a:r>
            <a:r>
              <a:rPr lang="en-MY" dirty="0"/>
              <a:t>Requirements Specification (SRS)</a:t>
            </a:r>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83</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1617563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Objective </a:t>
            </a:r>
          </a:p>
        </p:txBody>
      </p:sp>
      <p:sp>
        <p:nvSpPr>
          <p:cNvPr id="3" name="Content Placeholder 2"/>
          <p:cNvSpPr>
            <a:spLocks noGrp="1"/>
          </p:cNvSpPr>
          <p:nvPr>
            <p:ph idx="1"/>
          </p:nvPr>
        </p:nvSpPr>
        <p:spPr/>
        <p:txBody>
          <a:bodyPr/>
          <a:lstStyle/>
          <a:p>
            <a:r>
              <a:rPr lang="en-US" dirty="0">
                <a:ea typeface="ＭＳ Ｐゴシック" panose="020B0600070205080204" pitchFamily="34" charset="-128"/>
              </a:rPr>
              <a:t>To understand how requirements may be organized in a software requirements document</a:t>
            </a:r>
          </a:p>
          <a:p>
            <a:r>
              <a:rPr lang="en-US" dirty="0">
                <a:ea typeface="ＭＳ Ｐゴシック" panose="020B0600070205080204" pitchFamily="34" charset="-128"/>
              </a:rPr>
              <a:t>To adopt a standard in producing a requirements document</a:t>
            </a:r>
          </a:p>
          <a:p>
            <a:r>
              <a:rPr lang="en-US" dirty="0">
                <a:ea typeface="ＭＳ Ｐゴシック" panose="020B0600070205080204" pitchFamily="34" charset="-128"/>
              </a:rPr>
              <a:t>To focus on specific requirements that include the analysis models</a:t>
            </a:r>
            <a:endParaRPr lang="en-MY" dirty="0"/>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84</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15534161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dirty="0">
                <a:ea typeface="ＭＳ Ｐゴシック" panose="020B0600070205080204" pitchFamily="34" charset="-128"/>
              </a:rPr>
              <a:t>Software Requirements Document</a:t>
            </a:r>
            <a:endParaRPr lang="en-US" dirty="0"/>
          </a:p>
        </p:txBody>
      </p:sp>
      <p:sp>
        <p:nvSpPr>
          <p:cNvPr id="3" name="Content Placeholder 2"/>
          <p:cNvSpPr>
            <a:spLocks noGrp="1"/>
          </p:cNvSpPr>
          <p:nvPr>
            <p:ph idx="1"/>
          </p:nvPr>
        </p:nvSpPr>
        <p:spPr>
          <a:xfrm>
            <a:off x="457200" y="1714500"/>
            <a:ext cx="8229600" cy="4076700"/>
          </a:xfrm>
        </p:spPr>
        <p:txBody>
          <a:bodyPr>
            <a:noAutofit/>
          </a:bodyPr>
          <a:lstStyle/>
          <a:p>
            <a:pPr algn="just">
              <a:buFont typeface="Arial" pitchFamily="-110" charset="0"/>
              <a:buChar char="•"/>
              <a:defRPr/>
            </a:pPr>
            <a:r>
              <a:rPr lang="en-GB" sz="2800" dirty="0"/>
              <a:t>Software requirements document is an </a:t>
            </a:r>
            <a:r>
              <a:rPr lang="en-GB" sz="2800" b="1" dirty="0">
                <a:solidFill>
                  <a:srgbClr val="C00000"/>
                </a:solidFill>
              </a:rPr>
              <a:t>official statement</a:t>
            </a:r>
            <a:r>
              <a:rPr lang="en-GB" sz="2800" dirty="0"/>
              <a:t> of what is required for the reference of software developers</a:t>
            </a:r>
          </a:p>
          <a:p>
            <a:pPr algn="just">
              <a:buFont typeface="Arial" pitchFamily="-110" charset="0"/>
              <a:buChar char="•"/>
              <a:defRPr/>
            </a:pPr>
            <a:r>
              <a:rPr lang="en-GB" sz="2800" dirty="0"/>
              <a:t>Should include both definitions of </a:t>
            </a:r>
            <a:r>
              <a:rPr lang="en-GB" sz="2800" b="1" dirty="0">
                <a:solidFill>
                  <a:srgbClr val="C00000"/>
                </a:solidFill>
              </a:rPr>
              <a:t>user requirements</a:t>
            </a:r>
            <a:r>
              <a:rPr lang="en-GB" sz="2800" dirty="0"/>
              <a:t> and specifications of the </a:t>
            </a:r>
            <a:r>
              <a:rPr lang="en-GB" sz="2800" b="1" dirty="0">
                <a:solidFill>
                  <a:srgbClr val="C00000"/>
                </a:solidFill>
              </a:rPr>
              <a:t>system requirements</a:t>
            </a:r>
            <a:endParaRPr lang="en-GB" sz="2800" dirty="0"/>
          </a:p>
          <a:p>
            <a:pPr algn="just">
              <a:buFont typeface="Arial" pitchFamily="-110" charset="0"/>
              <a:buChar char="•"/>
              <a:defRPr/>
            </a:pPr>
            <a:r>
              <a:rPr lang="en-GB" sz="2800" dirty="0"/>
              <a:t>It is NOT a design document</a:t>
            </a:r>
          </a:p>
          <a:p>
            <a:pPr algn="just">
              <a:buFont typeface="Arial" pitchFamily="-110" charset="0"/>
              <a:buChar char="•"/>
              <a:defRPr/>
            </a:pPr>
            <a:r>
              <a:rPr lang="en-GB" sz="2800" dirty="0"/>
              <a:t>As far as possible, it should set </a:t>
            </a:r>
            <a:r>
              <a:rPr lang="en-GB" sz="2800" b="1" dirty="0">
                <a:solidFill>
                  <a:srgbClr val="C00000"/>
                </a:solidFill>
              </a:rPr>
              <a:t>WHAT</a:t>
            </a:r>
            <a:r>
              <a:rPr lang="en-GB" sz="2800" dirty="0"/>
              <a:t> the system should do rather than HOW it should do it</a:t>
            </a:r>
          </a:p>
          <a:p>
            <a:pPr marL="0" indent="0" algn="just">
              <a:buNone/>
            </a:pPr>
            <a:endParaRPr lang="en-US" sz="2800" dirty="0"/>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85</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14511392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and System Requirements</a:t>
            </a:r>
            <a:r>
              <a:rPr lang="en-GB" dirty="0"/>
              <a:t> </a:t>
            </a:r>
            <a:endParaRPr lang="en-MY" dirty="0"/>
          </a:p>
        </p:txBody>
      </p:sp>
      <p:pic>
        <p:nvPicPr>
          <p:cNvPr id="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8229600" cy="4495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Callout 7"/>
          <p:cNvSpPr/>
          <p:nvPr/>
        </p:nvSpPr>
        <p:spPr>
          <a:xfrm>
            <a:off x="7620000" y="1265697"/>
            <a:ext cx="1219200" cy="612648"/>
          </a:xfrm>
          <a:prstGeom prst="wedgeEllipseCallout">
            <a:avLst>
              <a:gd name="adj1" fmla="val -61184"/>
              <a:gd name="adj2" fmla="val 782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Recall</a:t>
            </a:r>
          </a:p>
        </p:txBody>
      </p:sp>
      <p:sp>
        <p:nvSpPr>
          <p:cNvPr id="12" name="Footer Placeholder 11"/>
          <p:cNvSpPr>
            <a:spLocks noGrp="1"/>
          </p:cNvSpPr>
          <p:nvPr>
            <p:ph type="ftr" sz="quarter" idx="11"/>
          </p:nvPr>
        </p:nvSpPr>
        <p:spPr/>
        <p:txBody>
          <a:bodyPr/>
          <a:lstStyle/>
          <a:p>
            <a:r>
              <a:rPr lang="en-MY"/>
              <a:t>Software Engineering</a:t>
            </a:r>
            <a:endParaRPr lang="en-US"/>
          </a:p>
        </p:txBody>
      </p:sp>
      <p:sp>
        <p:nvSpPr>
          <p:cNvPr id="13" name="Slide Number Placeholder 12"/>
          <p:cNvSpPr>
            <a:spLocks noGrp="1"/>
          </p:cNvSpPr>
          <p:nvPr>
            <p:ph type="sldNum" sz="quarter" idx="12"/>
          </p:nvPr>
        </p:nvSpPr>
        <p:spPr/>
        <p:txBody>
          <a:bodyPr/>
          <a:lstStyle/>
          <a:p>
            <a:fld id="{0362C787-829C-4B6B-B21B-90D8981190F3}" type="slidenum">
              <a:rPr lang="en-US" smtClean="0"/>
              <a:pPr/>
              <a:t>86</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27869528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a typeface="ＭＳ Ｐゴシック" panose="020B0600070205080204" pitchFamily="34" charset="-128"/>
              </a:rPr>
              <a:t>Users of a Requirements Document</a:t>
            </a:r>
            <a:r>
              <a:rPr lang="en-GB" dirty="0">
                <a:ea typeface="ＭＳ Ｐゴシック" panose="020B0600070205080204" pitchFamily="34" charset="-128"/>
              </a:rPr>
              <a:t> </a:t>
            </a:r>
            <a:endParaRPr lang="en-MY" dirty="0"/>
          </a:p>
        </p:txBody>
      </p:sp>
      <p:pic>
        <p:nvPicPr>
          <p:cNvPr id="7" name="Picture 3" descr="4.6 ReqDocUsers.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485900"/>
            <a:ext cx="3810000" cy="48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87</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23629158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ea typeface="ＭＳ Ｐゴシック" panose="020B0600070205080204" pitchFamily="34" charset="-128"/>
              </a:rPr>
              <a:t>Requirements Document Variability</a:t>
            </a:r>
            <a:endParaRPr lang="en-MY" dirty="0"/>
          </a:p>
        </p:txBody>
      </p:sp>
      <p:sp>
        <p:nvSpPr>
          <p:cNvPr id="3" name="Content Placeholder 2"/>
          <p:cNvSpPr>
            <a:spLocks noGrp="1"/>
          </p:cNvSpPr>
          <p:nvPr>
            <p:ph idx="1"/>
          </p:nvPr>
        </p:nvSpPr>
        <p:spPr/>
        <p:txBody>
          <a:bodyPr>
            <a:normAutofit fontScale="92500"/>
          </a:bodyPr>
          <a:lstStyle/>
          <a:p>
            <a:pPr algn="just">
              <a:buFont typeface="Arial" pitchFamily="-110" charset="0"/>
              <a:buChar char="•"/>
              <a:defRPr/>
            </a:pPr>
            <a:r>
              <a:rPr lang="en-US" dirty="0"/>
              <a:t>Information in requirements document depends on </a:t>
            </a:r>
            <a:r>
              <a:rPr lang="en-US" b="1" dirty="0">
                <a:solidFill>
                  <a:srgbClr val="C00000"/>
                </a:solidFill>
              </a:rPr>
              <a:t>type of system </a:t>
            </a:r>
            <a:r>
              <a:rPr lang="en-US" dirty="0"/>
              <a:t>and the </a:t>
            </a:r>
            <a:r>
              <a:rPr lang="en-US" b="1" dirty="0">
                <a:solidFill>
                  <a:srgbClr val="C00000"/>
                </a:solidFill>
              </a:rPr>
              <a:t>approach used </a:t>
            </a:r>
            <a:r>
              <a:rPr lang="en-US" dirty="0"/>
              <a:t>in its development</a:t>
            </a:r>
          </a:p>
          <a:p>
            <a:pPr algn="just">
              <a:buFont typeface="Arial" pitchFamily="-110" charset="0"/>
              <a:buChar char="•"/>
              <a:defRPr/>
            </a:pPr>
            <a:r>
              <a:rPr lang="en-US" dirty="0"/>
              <a:t>Systems developed incrementally will, typically, have less detail in the requirements document</a:t>
            </a:r>
          </a:p>
          <a:p>
            <a:pPr algn="just">
              <a:buFont typeface="Arial" pitchFamily="-110" charset="0"/>
              <a:buChar char="•"/>
              <a:defRPr/>
            </a:pPr>
            <a:r>
              <a:rPr lang="en-US" dirty="0"/>
              <a:t>Requirements </a:t>
            </a:r>
            <a:r>
              <a:rPr lang="en-US" b="1" dirty="0">
                <a:solidFill>
                  <a:srgbClr val="C00000"/>
                </a:solidFill>
              </a:rPr>
              <a:t>documents standards </a:t>
            </a:r>
            <a:r>
              <a:rPr lang="en-US" dirty="0"/>
              <a:t>have been designed e.g. IEEE standard</a:t>
            </a:r>
          </a:p>
          <a:p>
            <a:pPr algn="just">
              <a:buFont typeface="Arial" pitchFamily="-110" charset="0"/>
              <a:buChar char="•"/>
              <a:defRPr/>
            </a:pPr>
            <a:r>
              <a:rPr lang="en-US" dirty="0"/>
              <a:t>These are mostly applicable to the requirements for large software projects</a:t>
            </a:r>
          </a:p>
          <a:p>
            <a:pPr marL="0" indent="0">
              <a:buNone/>
            </a:pPr>
            <a:endParaRPr lang="en-MY" dirty="0"/>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88</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6726257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IEEE </a:t>
            </a:r>
            <a:r>
              <a:rPr lang="en-MY" dirty="0" err="1"/>
              <a:t>Std</a:t>
            </a:r>
            <a:r>
              <a:rPr lang="en-MY" dirty="0"/>
              <a:t> 830-1998</a:t>
            </a:r>
          </a:p>
        </p:txBody>
      </p:sp>
      <p:pic>
        <p:nvPicPr>
          <p:cNvPr id="7" name="Picture 6"/>
          <p:cNvPicPr>
            <a:picLocks noChangeAspect="1"/>
          </p:cNvPicPr>
          <p:nvPr/>
        </p:nvPicPr>
        <p:blipFill>
          <a:blip r:embed="rId2"/>
          <a:stretch>
            <a:fillRect/>
          </a:stretch>
        </p:blipFill>
        <p:spPr>
          <a:xfrm>
            <a:off x="1251286" y="1487805"/>
            <a:ext cx="6694710" cy="4961122"/>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89</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34187381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SRS Outline </a:t>
            </a:r>
            <a:r>
              <a:rPr lang="en-GB" dirty="0"/>
              <a:t>of IEEE </a:t>
            </a:r>
            <a:r>
              <a:rPr lang="en-GB" dirty="0" err="1"/>
              <a:t>Std</a:t>
            </a:r>
            <a:r>
              <a:rPr lang="en-GB" dirty="0"/>
              <a:t> 830-1998</a:t>
            </a:r>
            <a:endParaRPr lang="en-MY" dirty="0"/>
          </a:p>
        </p:txBody>
      </p:sp>
      <p:sp>
        <p:nvSpPr>
          <p:cNvPr id="8" name="TextBox 7"/>
          <p:cNvSpPr txBox="1"/>
          <p:nvPr/>
        </p:nvSpPr>
        <p:spPr>
          <a:xfrm>
            <a:off x="4594705" y="6133195"/>
            <a:ext cx="3306033" cy="369332"/>
          </a:xfrm>
          <a:prstGeom prst="rect">
            <a:avLst/>
          </a:prstGeom>
          <a:noFill/>
        </p:spPr>
        <p:txBody>
          <a:bodyPr wrap="none" rtlCol="0">
            <a:spAutoFit/>
          </a:bodyPr>
          <a:lstStyle/>
          <a:p>
            <a:r>
              <a:rPr lang="en-MY" dirty="0"/>
              <a:t>See page 11 of IEEE </a:t>
            </a:r>
            <a:r>
              <a:rPr lang="en-MY" dirty="0" err="1"/>
              <a:t>Std</a:t>
            </a:r>
            <a:r>
              <a:rPr lang="en-MY" dirty="0"/>
              <a:t> 830-1998</a:t>
            </a:r>
          </a:p>
        </p:txBody>
      </p:sp>
      <p:pic>
        <p:nvPicPr>
          <p:cNvPr id="12" name="Content Placeholder 11"/>
          <p:cNvPicPr>
            <a:picLocks noGrp="1" noChangeAspect="1"/>
          </p:cNvPicPr>
          <p:nvPr>
            <p:ph idx="1"/>
          </p:nvPr>
        </p:nvPicPr>
        <p:blipFill>
          <a:blip r:embed="rId2"/>
          <a:stretch>
            <a:fillRect/>
          </a:stretch>
        </p:blipFill>
        <p:spPr>
          <a:xfrm>
            <a:off x="1278046" y="1519888"/>
            <a:ext cx="6470290" cy="4655232"/>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3" name="Slide Number Placeholder 12"/>
          <p:cNvSpPr>
            <a:spLocks noGrp="1"/>
          </p:cNvSpPr>
          <p:nvPr>
            <p:ph type="sldNum" sz="quarter" idx="12"/>
          </p:nvPr>
        </p:nvSpPr>
        <p:spPr/>
        <p:txBody>
          <a:bodyPr/>
          <a:lstStyle/>
          <a:p>
            <a:fld id="{0362C787-829C-4B6B-B21B-90D8981190F3}" type="slidenum">
              <a:rPr lang="en-US" smtClean="0"/>
              <a:pPr/>
              <a:t>90</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36759387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dirty="0"/>
              <a:t>Example of Template for the Front Part of SRS Document</a:t>
            </a:r>
          </a:p>
        </p:txBody>
      </p:sp>
      <p:pic>
        <p:nvPicPr>
          <p:cNvPr id="7" name="Content Placeholder 6"/>
          <p:cNvPicPr>
            <a:picLocks noGrp="1" noChangeAspect="1"/>
          </p:cNvPicPr>
          <p:nvPr>
            <p:ph idx="1"/>
          </p:nvPr>
        </p:nvPicPr>
        <p:blipFill>
          <a:blip r:embed="rId2"/>
          <a:stretch>
            <a:fillRect/>
          </a:stretch>
        </p:blipFill>
        <p:spPr>
          <a:xfrm>
            <a:off x="1163634" y="1556084"/>
            <a:ext cx="6803904" cy="4800600"/>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91</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316645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Section 1: Introduction</a:t>
            </a:r>
          </a:p>
        </p:txBody>
      </p:sp>
      <p:pic>
        <p:nvPicPr>
          <p:cNvPr id="7" name="Content Placeholder 6"/>
          <p:cNvPicPr>
            <a:picLocks noGrp="1" noChangeAspect="1"/>
          </p:cNvPicPr>
          <p:nvPr>
            <p:ph idx="1"/>
          </p:nvPr>
        </p:nvPicPr>
        <p:blipFill>
          <a:blip r:embed="rId2"/>
          <a:stretch>
            <a:fillRect/>
          </a:stretch>
        </p:blipFill>
        <p:spPr>
          <a:xfrm>
            <a:off x="1347539" y="1545620"/>
            <a:ext cx="6432264" cy="4823096"/>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92</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40591833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MY" dirty="0"/>
              <a:t>Section 2: Overall Description,</a:t>
            </a:r>
            <a:br>
              <a:rPr lang="en-MY" dirty="0"/>
            </a:br>
            <a:r>
              <a:rPr lang="en-MY" dirty="0"/>
              <a:t>Sub-Section 2.1</a:t>
            </a:r>
          </a:p>
        </p:txBody>
      </p:sp>
      <p:pic>
        <p:nvPicPr>
          <p:cNvPr id="7" name="Content Placeholder 6"/>
          <p:cNvPicPr>
            <a:picLocks noGrp="1" noChangeAspect="1"/>
          </p:cNvPicPr>
          <p:nvPr>
            <p:ph idx="1"/>
          </p:nvPr>
        </p:nvPicPr>
        <p:blipFill>
          <a:blip r:embed="rId2"/>
          <a:stretch>
            <a:fillRect/>
          </a:stretch>
        </p:blipFill>
        <p:spPr>
          <a:xfrm>
            <a:off x="893695" y="1600200"/>
            <a:ext cx="7210285" cy="4724400"/>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93</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16154756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dirty="0"/>
              <a:t>Sub-sections 2.1.1 to 2.1.3</a:t>
            </a:r>
          </a:p>
        </p:txBody>
      </p:sp>
      <p:pic>
        <p:nvPicPr>
          <p:cNvPr id="7" name="Content Placeholder 6"/>
          <p:cNvPicPr>
            <a:picLocks noGrp="1" noChangeAspect="1"/>
          </p:cNvPicPr>
          <p:nvPr>
            <p:ph idx="1"/>
          </p:nvPr>
        </p:nvPicPr>
        <p:blipFill>
          <a:blip r:embed="rId2"/>
          <a:stretch>
            <a:fillRect/>
          </a:stretch>
        </p:blipFill>
        <p:spPr>
          <a:xfrm>
            <a:off x="380235" y="1552074"/>
            <a:ext cx="8354692" cy="4724400"/>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94</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105312589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Sub-sections 2.2 &amp; 2.3</a:t>
            </a:r>
          </a:p>
        </p:txBody>
      </p:sp>
      <p:pic>
        <p:nvPicPr>
          <p:cNvPr id="7" name="Content Placeholder 6"/>
          <p:cNvPicPr>
            <a:picLocks noGrp="1" noChangeAspect="1"/>
          </p:cNvPicPr>
          <p:nvPr>
            <p:ph idx="1"/>
          </p:nvPr>
        </p:nvPicPr>
        <p:blipFill>
          <a:blip r:embed="rId2"/>
          <a:stretch>
            <a:fillRect/>
          </a:stretch>
        </p:blipFill>
        <p:spPr>
          <a:xfrm>
            <a:off x="296152" y="1600200"/>
            <a:ext cx="8513402" cy="4038600"/>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95</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25312578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Sub-sections 2.4 to 2.6</a:t>
            </a:r>
          </a:p>
        </p:txBody>
      </p:sp>
      <p:pic>
        <p:nvPicPr>
          <p:cNvPr id="7" name="Content Placeholder 6"/>
          <p:cNvPicPr>
            <a:picLocks noGrp="1" noChangeAspect="1"/>
          </p:cNvPicPr>
          <p:nvPr>
            <p:ph idx="1"/>
          </p:nvPr>
        </p:nvPicPr>
        <p:blipFill>
          <a:blip r:embed="rId2"/>
          <a:stretch>
            <a:fillRect/>
          </a:stretch>
        </p:blipFill>
        <p:spPr>
          <a:xfrm>
            <a:off x="671116" y="1495824"/>
            <a:ext cx="7826473" cy="4904975"/>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96</a:t>
            </a:fld>
            <a:endParaRPr lang="en-US"/>
          </a:p>
        </p:txBody>
      </p:sp>
      <p:sp>
        <p:nvSpPr>
          <p:cNvPr id="3" name="Date Placeholder 2"/>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416976133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Section 3: Specific Requirements</a:t>
            </a:r>
          </a:p>
        </p:txBody>
      </p:sp>
      <p:pic>
        <p:nvPicPr>
          <p:cNvPr id="7" name="Content Placeholder 6"/>
          <p:cNvPicPr>
            <a:picLocks noGrp="1" noChangeAspect="1"/>
          </p:cNvPicPr>
          <p:nvPr>
            <p:ph idx="1"/>
          </p:nvPr>
        </p:nvPicPr>
        <p:blipFill>
          <a:blip r:embed="rId2"/>
          <a:stretch>
            <a:fillRect/>
          </a:stretch>
        </p:blipFill>
        <p:spPr>
          <a:xfrm>
            <a:off x="445124" y="1600200"/>
            <a:ext cx="8229644" cy="3427005"/>
          </a:xfrm>
          <a:prstGeom prst="rect">
            <a:avLst/>
          </a:prstGeom>
          <a:ln>
            <a:solidFill>
              <a:schemeClr val="tx1"/>
            </a:solidFill>
          </a:ln>
        </p:spPr>
      </p:pic>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97</a:t>
            </a:fld>
            <a:endParaRPr lang="en-US"/>
          </a:p>
        </p:txBody>
      </p:sp>
      <p:sp>
        <p:nvSpPr>
          <p:cNvPr id="3" name="Date Placeholder 2"/>
          <p:cNvSpPr>
            <a:spLocks noGrp="1"/>
          </p:cNvSpPr>
          <p:nvPr>
            <p:ph type="dt" sz="half" idx="10"/>
          </p:nvPr>
        </p:nvSpPr>
        <p:spPr/>
        <p:txBody>
          <a:bodyPr/>
          <a:lstStyle/>
          <a:p>
            <a:r>
              <a:rPr lang="en-US"/>
              <a:t>2020</a:t>
            </a:r>
          </a:p>
        </p:txBody>
      </p:sp>
      <p:sp>
        <p:nvSpPr>
          <p:cNvPr id="4" name="TextBox 3"/>
          <p:cNvSpPr txBox="1"/>
          <p:nvPr/>
        </p:nvSpPr>
        <p:spPr>
          <a:xfrm>
            <a:off x="412785" y="5247855"/>
            <a:ext cx="8319735" cy="1200329"/>
          </a:xfrm>
          <a:prstGeom prst="rect">
            <a:avLst/>
          </a:prstGeom>
          <a:noFill/>
        </p:spPr>
        <p:txBody>
          <a:bodyPr wrap="square" rtlCol="0">
            <a:spAutoFit/>
          </a:bodyPr>
          <a:lstStyle/>
          <a:p>
            <a:r>
              <a:rPr lang="en-MY" b="1" dirty="0">
                <a:solidFill>
                  <a:srgbClr val="C00000"/>
                </a:solidFill>
              </a:rPr>
              <a:t>Note</a:t>
            </a:r>
            <a:r>
              <a:rPr lang="en-MY" dirty="0">
                <a:solidFill>
                  <a:srgbClr val="C00000"/>
                </a:solidFill>
              </a:rPr>
              <a:t>: Focus on “Specific Requirements” for the scope of this course – see the given System Documentation template that combines the required details for analysis (Section 2), design (Section 3 to 6) and testing (Section 7 and 8) to meet the minimum requirements of this course</a:t>
            </a:r>
          </a:p>
        </p:txBody>
      </p:sp>
    </p:spTree>
    <p:extLst>
      <p:ext uri="{BB962C8B-B14F-4D97-AF65-F5344CB8AC3E}">
        <p14:creationId xmlns:p14="http://schemas.microsoft.com/office/powerpoint/2010/main" val="19628303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MY" sz="3600" dirty="0"/>
              <a:t>Appendix A.5 Template of SRS Section 3: Organized by Feature (IEEE Std 830-1998)</a:t>
            </a:r>
          </a:p>
        </p:txBody>
      </p:sp>
      <p:pic>
        <p:nvPicPr>
          <p:cNvPr id="7" name="Content Placeholder 6"/>
          <p:cNvPicPr>
            <a:picLocks noGrp="1"/>
          </p:cNvPicPr>
          <p:nvPr>
            <p:ph idx="1"/>
          </p:nvPr>
        </p:nvPicPr>
        <p:blipFill>
          <a:blip r:embed="rId2" cstate="print"/>
          <a:srcRect/>
          <a:stretch>
            <a:fillRect/>
          </a:stretch>
        </p:blipFill>
        <p:spPr bwMode="auto">
          <a:xfrm>
            <a:off x="4826862" y="1600200"/>
            <a:ext cx="3859938" cy="4800600"/>
          </a:xfrm>
          <a:prstGeom prst="rect">
            <a:avLst/>
          </a:prstGeom>
          <a:noFill/>
          <a:ln w="9525">
            <a:solidFill>
              <a:schemeClr val="tx1"/>
            </a:solidFill>
            <a:miter lim="800000"/>
            <a:headEnd/>
            <a:tailEnd/>
          </a:ln>
        </p:spPr>
      </p:pic>
      <p:sp>
        <p:nvSpPr>
          <p:cNvPr id="8" name="Content Placeholder 2"/>
          <p:cNvSpPr txBox="1">
            <a:spLocks/>
          </p:cNvSpPr>
          <p:nvPr/>
        </p:nvSpPr>
        <p:spPr>
          <a:xfrm>
            <a:off x="304800" y="1600199"/>
            <a:ext cx="4343400" cy="4981951"/>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t>Sections 3.1.1 to 3.1.4 provide the details of what described in Sections 2.1.2 to 2.1.5</a:t>
            </a:r>
          </a:p>
          <a:p>
            <a:r>
              <a:rPr lang="en-US" sz="2400" dirty="0"/>
              <a:t>For each functional requirement, include the</a:t>
            </a:r>
            <a:r>
              <a:rPr lang="en-US" sz="2400" b="1" dirty="0">
                <a:solidFill>
                  <a:srgbClr val="C00000"/>
                </a:solidFill>
              </a:rPr>
              <a:t> use case diagram</a:t>
            </a:r>
            <a:r>
              <a:rPr lang="en-US" sz="2400" dirty="0"/>
              <a:t> and its details using </a:t>
            </a:r>
            <a:r>
              <a:rPr lang="en-US" sz="2400" b="1" dirty="0">
                <a:solidFill>
                  <a:srgbClr val="C00000"/>
                </a:solidFill>
              </a:rPr>
              <a:t>use case description</a:t>
            </a:r>
          </a:p>
          <a:p>
            <a:r>
              <a:rPr lang="en-US" sz="2400" dirty="0"/>
              <a:t>Include </a:t>
            </a:r>
            <a:r>
              <a:rPr lang="en-US" sz="2400" b="1" dirty="0">
                <a:solidFill>
                  <a:srgbClr val="C00000"/>
                </a:solidFill>
              </a:rPr>
              <a:t>sequence diagram </a:t>
            </a:r>
            <a:r>
              <a:rPr lang="en-US" sz="2400" dirty="0"/>
              <a:t>and </a:t>
            </a:r>
            <a:r>
              <a:rPr lang="en-US" sz="2400" b="1" dirty="0">
                <a:solidFill>
                  <a:srgbClr val="C00000"/>
                </a:solidFill>
              </a:rPr>
              <a:t>activity diagram</a:t>
            </a:r>
            <a:r>
              <a:rPr lang="en-US" sz="2400" dirty="0">
                <a:solidFill>
                  <a:srgbClr val="C00000"/>
                </a:solidFill>
              </a:rPr>
              <a:t> </a:t>
            </a:r>
            <a:r>
              <a:rPr lang="en-US" sz="2400" dirty="0"/>
              <a:t>for each use case i.e. functional requirement</a:t>
            </a:r>
          </a:p>
          <a:p>
            <a:r>
              <a:rPr lang="en-US" sz="2400" dirty="0"/>
              <a:t>Include </a:t>
            </a:r>
            <a:r>
              <a:rPr lang="en-US" sz="2400" b="1" dirty="0">
                <a:solidFill>
                  <a:srgbClr val="C00000"/>
                </a:solidFill>
              </a:rPr>
              <a:t>state diagram</a:t>
            </a:r>
            <a:r>
              <a:rPr lang="en-US" sz="2400" dirty="0"/>
              <a:t> for classes with states under respective use cases</a:t>
            </a:r>
            <a:endParaRPr lang="en-MY" sz="2400" dirty="0"/>
          </a:p>
        </p:txBody>
      </p:sp>
      <p:sp>
        <p:nvSpPr>
          <p:cNvPr id="12" name="Footer Placeholder 11"/>
          <p:cNvSpPr>
            <a:spLocks noGrp="1"/>
          </p:cNvSpPr>
          <p:nvPr>
            <p:ph type="ftr" sz="quarter" idx="11"/>
          </p:nvPr>
        </p:nvSpPr>
        <p:spPr/>
        <p:txBody>
          <a:bodyPr/>
          <a:lstStyle/>
          <a:p>
            <a:r>
              <a:rPr lang="en-MY"/>
              <a:t>Software Engineering</a:t>
            </a:r>
            <a:endParaRPr lang="en-US"/>
          </a:p>
        </p:txBody>
      </p:sp>
      <p:sp>
        <p:nvSpPr>
          <p:cNvPr id="13" name="Slide Number Placeholder 12"/>
          <p:cNvSpPr>
            <a:spLocks noGrp="1"/>
          </p:cNvSpPr>
          <p:nvPr>
            <p:ph type="sldNum" sz="quarter" idx="12"/>
          </p:nvPr>
        </p:nvSpPr>
        <p:spPr/>
        <p:txBody>
          <a:bodyPr/>
          <a:lstStyle/>
          <a:p>
            <a:fld id="{0362C787-829C-4B6B-B21B-90D8981190F3}" type="slidenum">
              <a:rPr lang="en-US" smtClean="0"/>
              <a:pPr/>
              <a:t>98</a:t>
            </a:fld>
            <a:endParaRPr lang="en-US"/>
          </a:p>
        </p:txBody>
      </p:sp>
      <p:sp>
        <p:nvSpPr>
          <p:cNvPr id="3" name="Date Placeholder 2"/>
          <p:cNvSpPr>
            <a:spLocks noGrp="1"/>
          </p:cNvSpPr>
          <p:nvPr>
            <p:ph type="dt" sz="half" idx="10"/>
          </p:nvPr>
        </p:nvSpPr>
        <p:spPr/>
        <p:txBody>
          <a:bodyPr/>
          <a:lstStyle/>
          <a:p>
            <a:r>
              <a:rPr lang="en-US"/>
              <a:t>2020</a:t>
            </a:r>
          </a:p>
        </p:txBody>
      </p:sp>
      <p:sp>
        <p:nvSpPr>
          <p:cNvPr id="4" name="Rectangle 3"/>
          <p:cNvSpPr/>
          <p:nvPr/>
        </p:nvSpPr>
        <p:spPr>
          <a:xfrm>
            <a:off x="6778602" y="4648200"/>
            <a:ext cx="2286000" cy="1569660"/>
          </a:xfrm>
          <a:prstGeom prst="rect">
            <a:avLst/>
          </a:prstGeom>
          <a:noFill/>
        </p:spPr>
        <p:txBody>
          <a:bodyPr wrap="square" lIns="91440" tIns="45720" rIns="91440" bIns="45720">
            <a:spAutoFit/>
          </a:bodyPr>
          <a:lstStyle/>
          <a:p>
            <a:pPr algn="ctr"/>
            <a:r>
              <a:rPr lang="en-US" sz="4800" b="1" cap="none" spc="0">
                <a:ln w="22225">
                  <a:solidFill>
                    <a:schemeClr val="accent2"/>
                  </a:solidFill>
                  <a:prstDash val="solid"/>
                </a:ln>
                <a:solidFill>
                  <a:schemeClr val="accent2">
                    <a:lumMod val="40000"/>
                    <a:lumOff val="60000"/>
                  </a:schemeClr>
                </a:solidFill>
                <a:effectLst/>
              </a:rPr>
              <a:t>Our Focus</a:t>
            </a:r>
          </a:p>
        </p:txBody>
      </p:sp>
    </p:spTree>
    <p:extLst>
      <p:ext uri="{BB962C8B-B14F-4D97-AF65-F5344CB8AC3E}">
        <p14:creationId xmlns:p14="http://schemas.microsoft.com/office/powerpoint/2010/main" val="29150239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0" hangingPunct="0">
              <a:defRPr/>
            </a:pPr>
            <a:r>
              <a:rPr lang="en-US">
                <a:ea typeface="ＭＳ Ｐゴシック" pitchFamily="-110" charset="-128"/>
                <a:cs typeface="ＭＳ Ｐゴシック" pitchFamily="-110" charset="-128"/>
              </a:rPr>
              <a:t>Key Points</a:t>
            </a:r>
            <a:endParaRPr lang="en-US" dirty="0">
              <a:ea typeface="ＭＳ Ｐゴシック" pitchFamily="-110" charset="-128"/>
              <a:cs typeface="ＭＳ Ｐゴシック" pitchFamily="-110" charset="-128"/>
            </a:endParaRPr>
          </a:p>
        </p:txBody>
      </p:sp>
      <p:sp>
        <p:nvSpPr>
          <p:cNvPr id="3" name="Content Placeholder 2"/>
          <p:cNvSpPr>
            <a:spLocks noGrp="1"/>
          </p:cNvSpPr>
          <p:nvPr>
            <p:ph idx="1"/>
          </p:nvPr>
        </p:nvSpPr>
        <p:spPr/>
        <p:txBody>
          <a:bodyPr>
            <a:normAutofit/>
          </a:bodyPr>
          <a:lstStyle/>
          <a:p>
            <a:r>
              <a:rPr lang="en-US" sz="2800" dirty="0"/>
              <a:t>The software requirements document is an </a:t>
            </a:r>
            <a:r>
              <a:rPr lang="en-US" sz="2800" b="1" dirty="0">
                <a:solidFill>
                  <a:srgbClr val="C00000"/>
                </a:solidFill>
              </a:rPr>
              <a:t>agreed statement </a:t>
            </a:r>
            <a:r>
              <a:rPr lang="en-US" sz="2800" dirty="0"/>
              <a:t>of the system requirements</a:t>
            </a:r>
          </a:p>
          <a:p>
            <a:r>
              <a:rPr lang="en-US" sz="2800" dirty="0"/>
              <a:t>It should be organized so that both system customers or </a:t>
            </a:r>
            <a:r>
              <a:rPr lang="en-US" sz="2800" b="1" dirty="0">
                <a:solidFill>
                  <a:srgbClr val="C00000"/>
                </a:solidFill>
              </a:rPr>
              <a:t>users</a:t>
            </a:r>
            <a:r>
              <a:rPr lang="en-US" sz="2800" dirty="0"/>
              <a:t> and software </a:t>
            </a:r>
            <a:r>
              <a:rPr lang="en-US" sz="2800" b="1" dirty="0">
                <a:solidFill>
                  <a:srgbClr val="C00000"/>
                </a:solidFill>
              </a:rPr>
              <a:t>developers</a:t>
            </a:r>
            <a:r>
              <a:rPr lang="en-US" sz="2800" dirty="0"/>
              <a:t> can use it</a:t>
            </a:r>
          </a:p>
          <a:p>
            <a:r>
              <a:rPr lang="en-US" sz="2800" dirty="0"/>
              <a:t>Documentation standard can be referred and customized based on stakeholders’ needs</a:t>
            </a:r>
            <a:endParaRPr lang="en-GB" sz="2800" dirty="0"/>
          </a:p>
          <a:p>
            <a:pPr marL="457200" lvl="1" indent="0">
              <a:buNone/>
            </a:pPr>
            <a:endParaRPr lang="en-US" dirty="0">
              <a:ea typeface="ＭＳ Ｐゴシック" panose="020B0600070205080204" pitchFamily="34" charset="-128"/>
            </a:endParaRPr>
          </a:p>
        </p:txBody>
      </p:sp>
      <p:sp>
        <p:nvSpPr>
          <p:cNvPr id="11" name="Footer Placeholder 10"/>
          <p:cNvSpPr>
            <a:spLocks noGrp="1"/>
          </p:cNvSpPr>
          <p:nvPr>
            <p:ph type="ftr" sz="quarter" idx="11"/>
          </p:nvPr>
        </p:nvSpPr>
        <p:spPr/>
        <p:txBody>
          <a:bodyPr/>
          <a:lstStyle/>
          <a:p>
            <a:r>
              <a:rPr lang="en-MY"/>
              <a:t>Software Engineering</a:t>
            </a:r>
            <a:endParaRPr lang="en-US"/>
          </a:p>
        </p:txBody>
      </p:sp>
      <p:sp>
        <p:nvSpPr>
          <p:cNvPr id="12" name="Slide Number Placeholder 11"/>
          <p:cNvSpPr>
            <a:spLocks noGrp="1"/>
          </p:cNvSpPr>
          <p:nvPr>
            <p:ph type="sldNum" sz="quarter" idx="12"/>
          </p:nvPr>
        </p:nvSpPr>
        <p:spPr/>
        <p:txBody>
          <a:bodyPr/>
          <a:lstStyle/>
          <a:p>
            <a:fld id="{0362C787-829C-4B6B-B21B-90D8981190F3}" type="slidenum">
              <a:rPr lang="en-US" smtClean="0"/>
              <a:pPr/>
              <a:t>99</a:t>
            </a:fld>
            <a:endParaRPr lang="en-US"/>
          </a:p>
        </p:txBody>
      </p:sp>
      <p:sp>
        <p:nvSpPr>
          <p:cNvPr id="4" name="Date Placeholder 3"/>
          <p:cNvSpPr>
            <a:spLocks noGrp="1"/>
          </p:cNvSpPr>
          <p:nvPr>
            <p:ph type="dt" sz="half" idx="10"/>
          </p:nvPr>
        </p:nvSpPr>
        <p:spPr/>
        <p:txBody>
          <a:bodyPr/>
          <a:lstStyle/>
          <a:p>
            <a:r>
              <a:rPr lang="en-US"/>
              <a:t>2020</a:t>
            </a:r>
          </a:p>
        </p:txBody>
      </p:sp>
    </p:spTree>
    <p:extLst>
      <p:ext uri="{BB962C8B-B14F-4D97-AF65-F5344CB8AC3E}">
        <p14:creationId xmlns:p14="http://schemas.microsoft.com/office/powerpoint/2010/main" val="2962647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6669</TotalTime>
  <Words>4238</Words>
  <Application>Microsoft Office PowerPoint</Application>
  <PresentationFormat>On-screen Show (4:3)</PresentationFormat>
  <Paragraphs>655</Paragraphs>
  <Slides>99</Slides>
  <Notes>7</Notes>
  <HiddenSlides>0</HiddenSlides>
  <MMClips>0</MMClips>
  <ScaleCrop>false</ScaleCrop>
  <HeadingPairs>
    <vt:vector size="4" baseType="variant">
      <vt:variant>
        <vt:lpstr>Theme</vt:lpstr>
      </vt:variant>
      <vt:variant>
        <vt:i4>2</vt:i4>
      </vt:variant>
      <vt:variant>
        <vt:lpstr>Slide Titles</vt:lpstr>
      </vt:variant>
      <vt:variant>
        <vt:i4>99</vt:i4>
      </vt:variant>
    </vt:vector>
  </HeadingPairs>
  <TitlesOfParts>
    <vt:vector size="101" baseType="lpstr">
      <vt:lpstr>Office Theme</vt:lpstr>
      <vt:lpstr>Custom Design</vt:lpstr>
      <vt:lpstr>Module 5: Requirements Analysis and Modeling</vt:lpstr>
      <vt:lpstr>Outline</vt:lpstr>
      <vt:lpstr>Part I: Requirements modeling concept</vt:lpstr>
      <vt:lpstr>Objectives</vt:lpstr>
      <vt:lpstr>System Modeling</vt:lpstr>
      <vt:lpstr>Existing and Planned System Models</vt:lpstr>
      <vt:lpstr>System Perspectives</vt:lpstr>
      <vt:lpstr>Context Model</vt:lpstr>
      <vt:lpstr>UML Diagram Types</vt:lpstr>
      <vt:lpstr>Use of Graphical Models</vt:lpstr>
      <vt:lpstr>Ways of Writing a System Requirements Specification </vt:lpstr>
      <vt:lpstr>Interaction model</vt:lpstr>
      <vt:lpstr>Interaction Model</vt:lpstr>
      <vt:lpstr>Use Case Modeling</vt:lpstr>
      <vt:lpstr>Stereotypes in UML</vt:lpstr>
      <vt:lpstr>Use Case Diagram: Notation</vt:lpstr>
      <vt:lpstr>Example: Use Case Diagram for Mentcare System</vt:lpstr>
      <vt:lpstr>Use Case Description</vt:lpstr>
      <vt:lpstr>Branching within a Flow and  Alternative Flow</vt:lpstr>
      <vt:lpstr>Repitition within a Flow: For/While</vt:lpstr>
      <vt:lpstr>&lt;&lt;include&gt;&gt; Relationship</vt:lpstr>
      <vt:lpstr>&lt;&lt;extend&gt;&gt; Relationship</vt:lpstr>
      <vt:lpstr>Example: Use Case Diagram for  e-Commerce System</vt:lpstr>
      <vt:lpstr>Example: Use Case Description for GoToCheckout</vt:lpstr>
      <vt:lpstr>Use Case Description for AcceptPaymentByCard and DisplayBasket</vt:lpstr>
      <vt:lpstr>Structural model</vt:lpstr>
      <vt:lpstr>Structural Models</vt:lpstr>
      <vt:lpstr>Class Diagrams</vt:lpstr>
      <vt:lpstr>Domain Model Class Diagram Notation</vt:lpstr>
      <vt:lpstr>Class and Object Instantiation</vt:lpstr>
      <vt:lpstr>Class as a Template of Objects</vt:lpstr>
      <vt:lpstr>Class Stereotype Syntax</vt:lpstr>
      <vt:lpstr>Types of Class Stereotype</vt:lpstr>
      <vt:lpstr>Good Analysis Class</vt:lpstr>
      <vt:lpstr>Association</vt:lpstr>
      <vt:lpstr>Multiplicity</vt:lpstr>
      <vt:lpstr>Reflexive Association </vt:lpstr>
      <vt:lpstr>Association Class</vt:lpstr>
      <vt:lpstr>Generalization…</vt:lpstr>
      <vt:lpstr>Generalization</vt:lpstr>
      <vt:lpstr>Class Generalization</vt:lpstr>
      <vt:lpstr>Example: Generalization Hierarchy</vt:lpstr>
      <vt:lpstr>Aggregation and Composition</vt:lpstr>
      <vt:lpstr>Example: Classes and Associations in MHC-PMS</vt:lpstr>
      <vt:lpstr>Example: Domain Model for Online Shopping</vt:lpstr>
      <vt:lpstr>Behavioral model</vt:lpstr>
      <vt:lpstr>Behavioral Model</vt:lpstr>
      <vt:lpstr>Data-Driven Modeling</vt:lpstr>
      <vt:lpstr>Activity Diagram</vt:lpstr>
      <vt:lpstr>Activity Diagram: Transition and Decision</vt:lpstr>
      <vt:lpstr>Activity Diagram: Fork and Join</vt:lpstr>
      <vt:lpstr>Activity Diagram: Swimlanes</vt:lpstr>
      <vt:lpstr>Sequence Diagram</vt:lpstr>
      <vt:lpstr>Sequence Diagram Syntax</vt:lpstr>
      <vt:lpstr>Syntax/Notation Details</vt:lpstr>
      <vt:lpstr>Types of Message</vt:lpstr>
      <vt:lpstr>Message in Sequence Diagram</vt:lpstr>
      <vt:lpstr>Iteration in Sequence Diagram</vt:lpstr>
      <vt:lpstr>Branching and Self-Delegation</vt:lpstr>
      <vt:lpstr>Concurrency: Active Objects</vt:lpstr>
      <vt:lpstr>Example: Sequence Diagram for View Patient Info in MHC-PMS</vt:lpstr>
      <vt:lpstr>Example: Sequence Diagram for Process Order</vt:lpstr>
      <vt:lpstr>Example: Sequence Diagram Using Class Stereotypes</vt:lpstr>
      <vt:lpstr>Sequence Diagram: Scope for Analysis</vt:lpstr>
      <vt:lpstr>Event-Driven Modeling</vt:lpstr>
      <vt:lpstr>State Chart or State Machine Diagram</vt:lpstr>
      <vt:lpstr>Event and State</vt:lpstr>
      <vt:lpstr>State Syntax</vt:lpstr>
      <vt:lpstr>State</vt:lpstr>
      <vt:lpstr>Identifying the Object Behavior</vt:lpstr>
      <vt:lpstr>Identify States</vt:lpstr>
      <vt:lpstr>Transition</vt:lpstr>
      <vt:lpstr>Event</vt:lpstr>
      <vt:lpstr>Example: Call Event State Chart</vt:lpstr>
      <vt:lpstr>Example: Signal Event State Chart </vt:lpstr>
      <vt:lpstr>Example: Change Event State Chart</vt:lpstr>
      <vt:lpstr>Example: Time Event State Chart</vt:lpstr>
      <vt:lpstr>Example: State Diagram of a Microwave Oven</vt:lpstr>
      <vt:lpstr>Example: Microwave Oven Operation</vt:lpstr>
      <vt:lpstr>Rules for Developing State Charts </vt:lpstr>
      <vt:lpstr>Key Points…</vt:lpstr>
      <vt:lpstr>Key Points</vt:lpstr>
      <vt:lpstr>PART II: requirements document</vt:lpstr>
      <vt:lpstr>Objective </vt:lpstr>
      <vt:lpstr>Software Requirements Document</vt:lpstr>
      <vt:lpstr>User and System Requirements </vt:lpstr>
      <vt:lpstr>Users of a Requirements Document </vt:lpstr>
      <vt:lpstr>Requirements Document Variability</vt:lpstr>
      <vt:lpstr>IEEE Std 830-1998</vt:lpstr>
      <vt:lpstr>SRS Outline of IEEE Std 830-1998</vt:lpstr>
      <vt:lpstr>Example of Template for the Front Part of SRS Document</vt:lpstr>
      <vt:lpstr>Section 1: Introduction</vt:lpstr>
      <vt:lpstr>Section 2: Overall Description, Sub-Section 2.1</vt:lpstr>
      <vt:lpstr>Sub-sections 2.1.1 to 2.1.3</vt:lpstr>
      <vt:lpstr>Sub-sections 2.2 &amp; 2.3</vt:lpstr>
      <vt:lpstr>Sub-sections 2.4 to 2.6</vt:lpstr>
      <vt:lpstr>Section 3: Specific Requirements</vt:lpstr>
      <vt:lpstr>Appendix A.5 Template of SRS Section 3: Organized by Feature (IEEE Std 830-1998)</vt:lpstr>
      <vt:lpstr>Key Points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Windows User</cp:lastModifiedBy>
  <cp:revision>587</cp:revision>
  <dcterms:created xsi:type="dcterms:W3CDTF">2012-07-30T02:22:03Z</dcterms:created>
  <dcterms:modified xsi:type="dcterms:W3CDTF">2020-04-04T07:39:58Z</dcterms:modified>
</cp:coreProperties>
</file>