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Action1.xml" ContentType="application/vnd.ms-office.inkAction+xml"/>
  <Override PartName="/ppt/ink/inkAction2.xml" ContentType="application/vnd.ms-office.inkAction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7"/>
  </p:notesMasterIdLst>
  <p:sldIdLst>
    <p:sldId id="257" r:id="rId3"/>
    <p:sldId id="718" r:id="rId4"/>
    <p:sldId id="720" r:id="rId5"/>
    <p:sldId id="731" r:id="rId6"/>
    <p:sldId id="732" r:id="rId7"/>
    <p:sldId id="733" r:id="rId8"/>
    <p:sldId id="734" r:id="rId9"/>
    <p:sldId id="735" r:id="rId10"/>
    <p:sldId id="736" r:id="rId11"/>
    <p:sldId id="737" r:id="rId12"/>
    <p:sldId id="712" r:id="rId13"/>
    <p:sldId id="750" r:id="rId14"/>
    <p:sldId id="751" r:id="rId15"/>
    <p:sldId id="74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13T04:56:24.6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6805">
    <iact:property name="dataType"/>
    <iact:actionData xml:id="d0">
      <inkml:trace xmlns:inkml="http://www.w3.org/2003/InkML" xml:id="stk0" contextRef="#ctx0" brushRef="#br0">15119 5480 0,'51'-51'62,"50"51"-53,1 0-2,-52-25 2,26 25-2,26 0 2,-26 0 0,25 0-2,-24 0 2,24 0-2,0 0 1,-24 0 0,49 0 2,-49 0-5,-1 0 4,0 0-1,-26 0-2,1 0 3,0 0-1,76 0 1,-76-26-1,50 26 0,-25 0 0,-25 0 0,50 0-1,-25 0 2,-25 0-2,25 0 1,-25 0 1,0 0-1,-26 0-1,26 0 3,-26 0-4,51 0 3,-50 0-1,24 0 2,1 0-4,-25 0 3,-1 0-3,76 0 5,-25 0 2,-25 0-3,76 0-4,-76 0 3,101 0-3,-76 0 4,26 0-3,-52 0 2,26 0-1,-25 0 0,51 0 0,-77 0 6,51 0-5,-25 0 0,-26 0-1,51 0 2,-50 0-1,-1 0-5,26 0 8,0 0-8,50-25 5,-76 25-2,26 0 6,-26 0-10,1 0 9,-1 0-6,26 0 2,-26 0 16</inkml:trace>
    </iact:actionData>
  </iact:action>
  <iact:action type="add" startTime="10421">
    <iact:property name="dataType"/>
    <iact:actionData xml:id="d1">
      <inkml:trace xmlns:inkml="http://www.w3.org/2003/InkML" xml:id="stk1" contextRef="#ctx0" brushRef="#br0">14891 6494 0,'50'-25'79,"102"25"-71,-75-25-1,-1-1 3,51 26-3,-26-25 3,0 25-5,1 0 6,50-51-4,-25 51 1,51 0-1,-52 0 0,52 0 1,-51 0 0,-51 0 1,76 0-2,-25 0 1,-26 0 0,52 0 0,-103 0 1,52 0-1,-1-25 2,-25 25-5,1 0 6,-27 0-6,1 0 3,0 0 0,25 0 0,-51 0 0,26 0 0,50 0 0,26 0 1,-25 0-1,-51 0 1,75 0-1,-75 0-1,25 0 1,-50 0 0,24 0 8,-24 0 0,-1 0-9</inkml:trace>
    </iact:actionData>
  </iact:action>
  <iact:action type="add" startTime="11933">
    <iact:property name="dataType"/>
    <iact:actionData xml:id="d2">
      <inkml:trace xmlns:inkml="http://www.w3.org/2003/InkML" xml:id="stk2" contextRef="#ctx0" brushRef="#br0">21968 6444 0,'26'0'287,"24"0"-262,-24 0 2,-1 0 35,26 0 311,25 0-361,25 0-4,1 0-2,-26 25 2,26-25-2,-1 0 4,-25 25-4,51-25 4,-26 26-2,26-26 1,-76 0-2,25 0 0,0 51 1,-25-26 3,0-25-7,50 0 8,-75 0-8,-1 0 8,26 0-8,-1 25 4,26-25 2,-25 0-4,25 0 4,-25 0-1,50 0-2,-50 0 1,25 0-2,0 26 4,1-26-4,24 76 5,-25-76-4,-25 0-1,0 0 5,50 25-4,-50-25 2,76 25-2,-102-25 3,26 0-4,-1 0 4,52 26-4,-51-26 4,25 0-4,-25 0 4,25 0-4,-26 0 2,26 0-1,1 0 2,-1 0-2,25 0 2,-25 0-2,0 0 1,-25 0 1,25 0-2,-25 0 0,25 0 2,-25 0 0,25 0-2,25 0 2,-25 0-2,-25 0 2,51 0-4,-26 0 6,-51 0-4,26 0 3,0 0-4,-1 0 4,-24 0-5,50 0 5,-51 0-4,26 0 3,-26 0-1,26 0 0,0 0-1,0 0 2,25 0-3,-51 0 4,26 0 5,-1 0 1,-24 0-7,-1 0 30</inkml:trace>
    </iact:actionData>
  </iact:action>
  <iact:action type="add" startTime="22053">
    <iact:property name="dataType"/>
    <iact:actionData xml:id="d3">
      <inkml:trace xmlns:inkml="http://www.w3.org/2003/InkML" xml:id="stk3" contextRef="#ctx0" brushRef="#br0">15525 9107 0,'50'0'87,"-24"0"-76,-1 0-3,77 0 2,-102 26-4,76-26 1,-25 0-1,25 0 3,-26 0-1,77 0 0,-25 0-2,-52 0 5,77 0-4,-76 0-1,25 0 4,26 0-4,-52 0 2,77 0 0,-76 0 1,25 0 0,-25 0-3,-1 0 2,1 0-1,-25 0 2,-1 0-1,0 0 1,1 0 0,-1 0-3,26 0 4,-26 0-3,51 0 10,-50 0-7,24 0-4,26 0 4,-25 0-4,25 0 4,-50 0-4,50 0 3,-25 0-3,-26 0 3,26 0-2,-26 0 8,0 0-5,51 0-2,-50 0-1,50 0 2,-51 0-1,1 0-2,24 0 11,-24 0-8,-1 0 6,1 0 0,24 0-6,-24 0-2,-1 0 9,26 0-4,-1 0-6,-24 0 4,50 0-6,-51 0 6,1 0-4,-1 0 4,0 0-4,1 0 2,50 0 0,-51 0 1,26 0 0,-26 0-1,77 0-2,-51 0 3,-1 0 6,26 0 2,-25 0-9,0 0-1,0 0 4,25 0-4,-26 0 2,52 0-2,-77 0 3,77 0-4,-51 0 2,25 0 7,-51 0-7,0 0 1,26 0-3,-26 0 4,26 0-4,-25 0 3,-1 0-1,0 0-2,51 0 5,-50 0 5,-1 0-9,1 0 1,-1 0 9,0 0-10,1 0 7,-1 0 13,26 0-20,-26 0 17,0 0 31,26 0-31,-25 0 48,-1 0-46,26-26-9,-51 1-3,25-1-6,0 1 15,1 0 721,25 25-735,-1 0-1,26 0 0,-25 0 0,76-51 0,-76 51 8,25 0-9,-51 0 2,26-25 6,-26 25 2,1 0-1</inkml:trace>
    </iact:actionData>
  </iact:action>
  <iact:action type="add" startTime="60939">
    <iact:property name="dataType"/>
    <iact:actionData xml:id="d4">
      <inkml:trace xmlns:inkml="http://www.w3.org/2003/InkML" xml:id="stk4" contextRef="#ctx0" brushRef="#br0">21486 11771 0,'51'0'80,"76"0"-72,0 0 0,0 0 0,25 0 1,51 0-1,-51 0 2,-25 0-6,-26 0 9,-25 0-9,26 0 8,-77 0-8,26 0 13,-26 0 15,1 0-25,50 0 2,-51 0-2,1 0 2,75 0-1,-76 0 0,26 0 8</inkml:trace>
    </iact:actionData>
  </iact:action>
  <iact:action type="add" startTime="62236">
    <iact:property name="dataType"/>
    <iact:actionData xml:id="d5">
      <inkml:trace xmlns:inkml="http://www.w3.org/2003/InkML" xml:id="stk5" contextRef="#ctx0" brushRef="#br0">8650 12861 0,'76'-25'30,"76"0"-26,102 25 5,-51 0 0,76-76-4,-25 76 1,-102-51 2,0 51 2,26 0-4,-102 0 5,0 0-5,-25-26 1,25 26 1,-51 0 9,0 0 7</inkml:trace>
    </iact:actionData>
  </iact:action>
  <iact:action type="add" startTime="65085">
    <iact:property name="dataType"/>
    <iact:actionData xml:id="d6">
      <inkml:trace xmlns:inkml="http://www.w3.org/2003/InkML" xml:id="stk6" contextRef="#ctx0" brushRef="#br0">21157 12836 0,'25'0'41,"26"0"-30,25 0-5,0 0 9,-25 0-10,25 0 6,-26 0-4,27 0-2,-27 0 4,26 0-2,-25 0 2,25 0 0,51 0-3,-76 0 4,-26 0-2,26 0 0,76 0-2,-77 0 4,27 0-2,-1 0-1,0 0 1,-51 0 0,51 0 0,-25 0-1,-26 0 1,26 0 1,0 0 0,0 0 8,-26 0-12,0 0 6,1 0 5,50 0-10,-51 0 5,26 0 4,0 0-10,-26 0 5,0 0-3,26 0 2,-26 0-1,52 0 8,-27 0-10,26 0 3,-25 0 0,51 0-1,-77 0 0,76 0-1,-50 0 1,0 0 0,-26 0 9,51 0-11,-50 0 10,-1 0-4,0 0 4,1 0-1,-1 0-10,26 0 4,0 0 6</inkml:trace>
    </iact:actionData>
  </iact:action>
  <iact:action type="add" startTime="66790">
    <iact:property name="dataType"/>
    <iact:actionData xml:id="d7">
      <inkml:trace xmlns:inkml="http://www.w3.org/2003/InkML" xml:id="stk7" contextRef="#ctx0" brushRef="#br0">7407 14358 0,'25'0'72,"1"0"-65,24 0 3,26 0-5,-25 0 3,25 0 3,-25 0-6,25 0 4,-50-25-2,24 25 0,26-26 3,-50 26 3,50 0 7,-25-51 3,-1 51-14,26-25-1,-25 25-3,-25 0 5,24-25-3,52 25 1,25 0-2,-77 0 3,52 0 0,-26-26-1,25 26-1,-25 0 2,-25 0-1,25 0 1,-25 0-2,25 0 2,-50 0-4,-1 0 6,0-25-4,-25 0 3,26 25 28,24-26-22,1 26 16,-26 0-16,1 0-8,50 0 7,-51 0 3,1 0 7,24 0 53</inkml:trace>
    </iact:actionData>
  </iact:action>
  <iact:action type="add" startTime="68701">
    <iact:property name="dataType"/>
    <iact:actionData xml:id="d8">
      <inkml:trace xmlns:inkml="http://www.w3.org/2003/InkML" xml:id="stk8" contextRef="#ctx0" brushRef="#br0">14485 14003 0,'76'0'79,"51"0"-68,-51 0-7,76 0 4,-25 0 1,25 0-2,0 0 3,-50 0-3,50 0 2,-25 25-2,-51-25 2,76 0-3,-25 26 2,-51-26 0,-25 0 2,-26 0-3,26 0 2,-26 0-2</inkml:trace>
    </iact:actionData>
  </iact:action>
  <iact:action type="add" startTime="70037">
    <iact:property name="dataType"/>
    <iact:actionData xml:id="d9">
      <inkml:trace xmlns:inkml="http://www.w3.org/2003/InkML" xml:id="stk9" contextRef="#ctx0" brushRef="#br0">20928 14104 0,'127'26'155,"76"-26"-148,25 50 2,-25-50-3,0 0 2,0 26 0,-51-26 2,26 0-6,-77 0 3,-50 0 3,25 0-4,-25 0 1,25 25 3,-25-25 0,50 0-3,-75 0 2,75 0-2,-25 0-1,0 0 3,51 0 0,-51 0-2,0 51 2,-25-51-2,25 0 1,-25 0 0,25 0-1,-25 0 3,0 0-3,-1 0 2,-24 0-3,75 0 4,-76 0-3,26 0 1,-25 0 9,-1 0 6</inkml:trace>
    </iact:actionData>
  </iact:action>
  <iact:action type="add" startTime="75051">
    <iact:property name="dataType"/>
    <iact:actionData xml:id="d10">
      <inkml:trace xmlns:inkml="http://www.w3.org/2003/InkML" xml:id="stk10" contextRef="#ctx0" brushRef="#br0">21613 15398 0,'0'25'188,"51"-25"-157,76 0-25,-26 0 4,-50 0-4,25 0 2,-25 0 1,25 0-1,51 0-1,-77 0 4,27 0-5,-52 0 4,76 0-4,-50 0 4,51 0-4,-52 0 4,77 0-5,-25 0 5,-52 0-3,77 0 2,-51 0-2,-50 0 1,-1 0 0,-25 26 63,51-26-60,0 0-6,-26 0 6,51 0-6,-51 0 6,52 0 2,-52 0-5,76 0 9,-75 0-7,-1 0 3,26 0-5,0 0 0,25 0-1,-26 0 3,-24-26-3,50 1 1,76 0 1,-127 25-1,52 0-1,-1-26 2,25 26-1,-50 0-2,25 0 4,-25 0-4,25-25 5,0-1 3,-25 1-6,101 25 24,-127 0-23,1 0-2,24 0 1,-24 0 8,50 0 0,-25 0 8,-26 0-15,26-25-2,-1 25 1,26-26 0,-25 26 0,0-25 1,-26 25-1,1 0 2,50-51-5,-51 51 4,26 0-1,0 0 7,-26 0 1,0-25-8</inkml:trace>
    </iact:actionData>
  </iact:action>
</iact:actions>
</file>

<file path=ppt/ink/inkAction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13T04:56:24.6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22686">
    <iact:property name="dataType"/>
    <iact:actionData xml:id="d0">
      <inkml:trace xmlns:inkml="http://www.w3.org/2003/InkML" xml:id="stk0" contextRef="#ctx0" brushRef="#br0">13521 6393 0,'-26'0'90,"1"0"-74,0 0-9,-26 0 4,25 0-8,1 0 9,-26 0 1,1 0-6,24 0 2,-24 0 8,-1 0-11,25 0 2,-24 0 8,24 0 0,1 0 8,-26 0-16,0 0-1,26 0 1,-51 0 1,0 0-1,25 0 0,0 0-1,-25 0 2,51 0-1,-51 0 0,50 0 9,1 0-10,-51 0 1,51 0 0,-26 0 2,0 0-4,0 0 1,-25 0 1,26 0 0,-27 0 1,52 0-1,-51 0 0,51 0 0,-1 0 0,-75 0 9,50 25-3,26 1-5,-51-1 1,25-25 5,25 0-8,-24 25 2,-26-25 7,50 26-10,1-26 11,0 0-10,-52 51 2,77-26 23,-25-25-8,0 0-16,-1 25 0,1 1 0,0-1 8,-1 0-8,1 26 7,25-26-5,-26 26-2,26 25 7,0-50-5,0 50-4,0-26 4,0 52-5,0-77 5,0 77-3,0-51 0,0 25 2,0 50-1,0-75 0,26 25 0,-26-50-1,25 24 2,1 26-1,24-25 0,1 51 0,-26-52 0,1-24 1,25-1-3,-26 0 3,0 52-1,26-27 2,-26-24-4,1-1 4,24 26-4,1-26 5,-25-25-6,-1 26 5,76-1-4,-24 0 1,-27 26 3,26-51-3,-50 25 0,75-25 1,-50 0 1,25 0-2,-51 0 2,77 0-1,-51 0-1,-1 0 2,-24 0 0,24 0-2,-24 0 2,-1 0-3,26 0 4,-26-25-3,1 25 1,-1 0 10,0 0-12,26-25 10,-25-1 13,-1-24-27,-25 24 11,0-50-10,25 51 5,-25-1 4,26 1 2,-26 0-6,50-26 9,-50 25 6,26-24-17,-1 24 3,0-24-2,-25 24 3,26 26-2,25-76 0,-26 51 6,0-26-4,1 26-4,-1-1 5,0 1-6,-25 0 21,26-1-18,-1 26 0,1-25 1,-1 0 12,0-1-3,1 1-9</inkml:trace>
    </iact:actionData>
  </iact:action>
  <iact:action type="add" startTime="40534">
    <iact:property name="dataType"/>
    <iact:actionData xml:id="d1">
      <inkml:trace xmlns:inkml="http://www.w3.org/2003/InkML" xml:id="stk1" contextRef="#ctx0" brushRef="#br0">12354 12633 0,'0'-25'89,"50"-1"-67,-24 26 42,25 0-48,-26 0-5,0 0-5,1 0 3,-1 0 7,0 0-9,1-25 3,50 25 3,-51 0 2,1 0 9,24 0 49,-24 0-49,-1 0 26,0 0-35,26 0 2,-25 0 79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B4E95-3F93-43B9-8D9F-92AF4C4CDE51}" type="datetimeFigureOut">
              <a:rPr lang="en-MY" smtClean="0"/>
              <a:t>13/4/2020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14B123-9B6E-4245-BD37-B55D9F6E51C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62436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809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14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en-US">
              <a:latin typeface="Times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128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226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7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08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75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42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82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7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0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4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5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2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01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96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87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74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61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76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85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14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909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49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75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1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71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013" dirty="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9" y="106368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40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40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35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514350" rtl="0" eaLnBrk="1" latinLnBrk="0" hangingPunct="1"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81" indent="-192881" algn="l" defTabSz="51435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910" indent="-160735" algn="l" defTabSz="514350" rtl="0" eaLnBrk="1" latinLnBrk="0" hangingPunct="1">
        <a:spcBef>
          <a:spcPct val="20000"/>
        </a:spcBef>
        <a:buFont typeface="Arial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spcBef>
          <a:spcPct val="20000"/>
        </a:spcBef>
        <a:buFont typeface="Arial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spcBef>
          <a:spcPct val="20000"/>
        </a:spcBef>
        <a:buFont typeface="Arial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7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 dirty="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7" y="106364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228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4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5.png"/><Relationship Id="rId5" Type="http://schemas.microsoft.com/office/2011/relationships/inkAction" Target="../ink/inkAction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6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microsoft.com/office/2011/relationships/inkAction" Target="../ink/inkAction2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6: </a:t>
            </a:r>
            <a:r>
              <a:rPr lang="en-US" dirty="0">
                <a:ea typeface="ＭＳ Ｐゴシック" panose="020B0600070205080204" pitchFamily="34" charset="-128"/>
              </a:rPr>
              <a:t>Architectural Design</a:t>
            </a:r>
            <a:br>
              <a:rPr lang="en-US" dirty="0">
                <a:ea typeface="ＭＳ Ｐゴシック" panose="020B0600070205080204" pitchFamily="34" charset="-128"/>
              </a:rPr>
            </a:br>
            <a:r>
              <a:rPr lang="en-US" dirty="0">
                <a:ea typeface="ＭＳ Ｐゴシック" panose="020B0600070205080204" pitchFamily="34" charset="-128"/>
              </a:rPr>
              <a:t>Part III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250" dirty="0">
                <a:solidFill>
                  <a:schemeClr val="tx2"/>
                </a:solidFill>
              </a:rPr>
              <a:t>Software Engineering</a:t>
            </a:r>
          </a:p>
          <a:p>
            <a:r>
              <a:rPr lang="en-US" sz="1575" dirty="0"/>
              <a:t>School of Computing, Faculty of Engineering</a:t>
            </a:r>
          </a:p>
          <a:p>
            <a:r>
              <a:rPr lang="en-US" sz="1575" dirty="0" err="1"/>
              <a:t>Universiti</a:t>
            </a:r>
            <a:r>
              <a:rPr lang="en-US" sz="1575" dirty="0"/>
              <a:t> </a:t>
            </a:r>
            <a:r>
              <a:rPr lang="en-US" sz="1575" dirty="0" err="1"/>
              <a:t>Teknologi</a:t>
            </a:r>
            <a:r>
              <a:rPr lang="en-US" sz="1575" dirty="0"/>
              <a:t> Malaysia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2C03CA41-06E1-4504-A46D-4210F8BC07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940"/>
    </mc:Choice>
    <mc:Fallback>
      <p:transition spd="slow" advTm="159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Component diagram as an implementation view </a:t>
            </a:r>
            <a:endParaRPr lang="en-US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Existing framework, legacy system, existing system, hardware driver</a:t>
            </a:r>
            <a:r>
              <a:rPr lang="en-MY"/>
              <a:t>, Web </a:t>
            </a:r>
            <a:r>
              <a:rPr lang="en-MY" dirty="0"/>
              <a:t>service provider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F94ABA17-FAE5-4452-8ED4-AA0F3943B9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41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66"/>
    </mc:Choice>
    <mc:Fallback>
      <p:transition spd="slow" advTm="58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UML Component Diagram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405850"/>
            <a:ext cx="8286750" cy="5419725"/>
          </a:xfrm>
        </p:spPr>
        <p:txBody>
          <a:bodyPr>
            <a:normAutofit/>
          </a:bodyPr>
          <a:lstStyle/>
          <a:p>
            <a:r>
              <a:rPr lang="de-DE" altLang="en-US" sz="2800" dirty="0"/>
              <a:t>Used to model the top-level view of the system design in terms of components and </a:t>
            </a:r>
            <a:r>
              <a:rPr lang="en-US" altLang="en-US" sz="2800" dirty="0"/>
              <a:t>dependencies among the components</a:t>
            </a:r>
          </a:p>
          <a:p>
            <a:r>
              <a:rPr lang="en-US" altLang="en-US" sz="2800" dirty="0"/>
              <a:t>Components can be linkable libraries, executables </a:t>
            </a:r>
          </a:p>
          <a:p>
            <a:r>
              <a:rPr lang="en-US" altLang="en-US" sz="2800" dirty="0"/>
              <a:t>Components can be identified based on </a:t>
            </a:r>
            <a:r>
              <a:rPr lang="en-US" altLang="en-US" sz="2800" b="1" dirty="0">
                <a:solidFill>
                  <a:srgbClr val="C00000"/>
                </a:solidFill>
              </a:rPr>
              <a:t>influence from the system environment</a:t>
            </a:r>
            <a:r>
              <a:rPr lang="en-US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en-US" sz="2800" dirty="0"/>
              <a:t>e.g. existing framework used for the software, connection to legacy system or external system, hardware driver used and also if the software used any web service available</a:t>
            </a:r>
          </a:p>
          <a:p>
            <a:pPr lvl="1"/>
            <a:endParaRPr lang="en-US" altLang="en-US" dirty="0"/>
          </a:p>
          <a:p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6055418"/>
            <a:ext cx="4372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Calibri"/>
              </a:rPr>
              <a:t>Source: Bennett, McRobb and Farmer (2010)</a:t>
            </a:r>
            <a:endParaRPr lang="en-MY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897313D-BD59-4D24-B697-C3CE121963FD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666520" y="1927080"/>
              <a:ext cx="7224120" cy="3634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897313D-BD59-4D24-B697-C3CE121963F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57160" y="1917720"/>
                <a:ext cx="7242840" cy="365364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C7DFE48B-A08A-4CAF-A2F9-77B2ED9320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85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1320"/>
    </mc:Choice>
    <mc:Fallback>
      <p:transition spd="slow" advTm="91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/>
              <a:t>UML Component Notation and Extension Notation for Windows and Web page</a:t>
            </a:r>
            <a:endParaRPr lang="en-MY" sz="36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886" y="1567786"/>
            <a:ext cx="6110514" cy="3920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184778" y="6055418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prstClr val="black"/>
                </a:solidFill>
                <a:latin typeface="Calibri"/>
              </a:rPr>
              <a:t>Source: Satzinger (2011)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428" y="4186831"/>
            <a:ext cx="3124200" cy="1244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C59578B4-7118-42E1-ACFC-8793154BBD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06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794"/>
    </mc:Choice>
    <mc:Fallback>
      <p:transition spd="slow" advTm="837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Types of Interface in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610600" cy="4525963"/>
          </a:xfrm>
        </p:spPr>
        <p:txBody>
          <a:bodyPr/>
          <a:lstStyle/>
          <a:p>
            <a:r>
              <a:rPr lang="en-US" altLang="en-US" sz="2800" dirty="0"/>
              <a:t>A UML interface describes a group of operations used or created by UML components</a:t>
            </a:r>
          </a:p>
          <a:p>
            <a:r>
              <a:rPr lang="de-DE" altLang="en-US" sz="2800" dirty="0"/>
              <a:t>2 types of interfaces: provided and required interfaces:</a:t>
            </a:r>
          </a:p>
          <a:p>
            <a:pPr lvl="1"/>
            <a:r>
              <a:rPr lang="de-DE" altLang="en-US" dirty="0"/>
              <a:t>A </a:t>
            </a:r>
            <a:r>
              <a:rPr lang="de-DE" altLang="en-US" b="1" dirty="0">
                <a:solidFill>
                  <a:srgbClr val="C00000"/>
                </a:solidFill>
              </a:rPr>
              <a:t>provided interface</a:t>
            </a:r>
            <a:r>
              <a:rPr lang="de-DE" altLang="en-US" dirty="0"/>
              <a:t> is modeled using the </a:t>
            </a:r>
            <a:r>
              <a:rPr lang="de-DE" altLang="en-US" b="1" dirty="0">
                <a:solidFill>
                  <a:srgbClr val="C00000"/>
                </a:solidFill>
              </a:rPr>
              <a:t>lollipop notation</a:t>
            </a:r>
            <a:r>
              <a:rPr lang="de-DE" altLang="en-US" dirty="0"/>
              <a:t> </a:t>
            </a:r>
          </a:p>
          <a:p>
            <a:pPr lvl="1"/>
            <a:r>
              <a:rPr lang="de-DE" altLang="en-US" dirty="0"/>
              <a:t>A</a:t>
            </a:r>
            <a:r>
              <a:rPr lang="de-DE" altLang="en-US" b="1" dirty="0">
                <a:solidFill>
                  <a:srgbClr val="C00000"/>
                </a:solidFill>
              </a:rPr>
              <a:t> required interface</a:t>
            </a:r>
            <a:r>
              <a:rPr lang="de-DE" altLang="en-US" dirty="0"/>
              <a:t> is modeled using the </a:t>
            </a:r>
            <a:r>
              <a:rPr lang="de-DE" altLang="en-US" b="1" dirty="0">
                <a:solidFill>
                  <a:srgbClr val="C00000"/>
                </a:solidFill>
              </a:rPr>
              <a:t>socket notation</a:t>
            </a:r>
            <a:r>
              <a:rPr lang="de-DE" altLang="en-US" dirty="0"/>
              <a:t> </a:t>
            </a:r>
          </a:p>
          <a:p>
            <a:endParaRPr lang="de-DE" altLang="en-US" sz="2800" dirty="0"/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597151"/>
            <a:ext cx="4116760" cy="1701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2013857" y="6055418"/>
            <a:ext cx="4372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Calibri"/>
              </a:rPr>
              <a:t>Source: Bennett, McRobb and Farmer (2010)</a:t>
            </a:r>
            <a:endParaRPr lang="en-MY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289B754E-321A-4ECB-A8CC-FDE389DDD4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54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938"/>
    </mc:Choice>
    <mc:Fallback>
      <p:transition spd="slow" advTm="519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Influence from the System Environment: Existing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600201"/>
            <a:ext cx="8554436" cy="4525963"/>
          </a:xfrm>
        </p:spPr>
        <p:txBody>
          <a:bodyPr>
            <a:normAutofit/>
          </a:bodyPr>
          <a:lstStyle/>
          <a:p>
            <a:r>
              <a:rPr lang="en-MY" sz="2800" dirty="0"/>
              <a:t>Choice of OS, database and programming language and the way to which the new components will be chosen, designed and interconnected</a:t>
            </a:r>
          </a:p>
          <a:p>
            <a:r>
              <a:rPr lang="en-MY" sz="2800" dirty="0"/>
              <a:t>e.g. adopting J2EE or Microsoft.NET will expect the new system to fit the framework</a:t>
            </a:r>
          </a:p>
          <a:p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40" y="3868816"/>
            <a:ext cx="4538696" cy="256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968171" y="5385395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srgbClr val="C00000"/>
                </a:solidFill>
                <a:latin typeface="Calibri"/>
              </a:rPr>
              <a:t>Component diagram based on web based system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A8E65337-2778-4A78-955C-23CCE9C2D0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11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742"/>
    </mc:Choice>
    <mc:Fallback>
      <p:transition spd="slow" advTm="617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Influence from the System Environment: Legacy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800" dirty="0"/>
              <a:t>The technology used to develop them are out of date and difficult to support </a:t>
            </a:r>
          </a:p>
          <a:p>
            <a:r>
              <a:rPr lang="en-MY" sz="2800" dirty="0"/>
              <a:t>The system operates on out of date technology  but still have a clear benefit to the business</a:t>
            </a:r>
          </a:p>
          <a:p>
            <a:r>
              <a:rPr lang="en-MY" sz="2800" dirty="0"/>
              <a:t>The new system need to access the data from legacy system using a wrapper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1" y="4027726"/>
            <a:ext cx="3962399" cy="228938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CDC1C2D3-4A2D-4A7C-A7C5-EF017E6C02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182"/>
    </mc:Choice>
    <mc:Fallback>
      <p:transition spd="slow" advTm="421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Influence from the System Environment: External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800"/>
              <a:t>The new system needs data from the external system</a:t>
            </a:r>
          </a:p>
          <a:p>
            <a:r>
              <a:rPr lang="en-MY" sz="2800"/>
              <a:t>Have to be connected to the external system provided service</a:t>
            </a:r>
          </a:p>
          <a:p>
            <a:endParaRPr lang="en-MY" sz="2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1" y="3323491"/>
            <a:ext cx="4876800" cy="2777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A6E1277B-37D0-4CE3-9345-082C90AA5E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46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903"/>
    </mc:Choice>
    <mc:Fallback>
      <p:transition spd="slow" advTm="469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Influence from the System Environment: Hardware Driver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800" dirty="0"/>
              <a:t>If there is hardware involved especially the usage of sensor or actuator, a </a:t>
            </a:r>
            <a:r>
              <a:rPr lang="en-MY" sz="2800" i="1" dirty="0" err="1"/>
              <a:t>dll</a:t>
            </a:r>
            <a:r>
              <a:rPr lang="en-MY" sz="2800" dirty="0"/>
              <a:t> library is needed as a component driver to link the hardware to the new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13" y="3189003"/>
            <a:ext cx="5057775" cy="295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5B3C82A4-0F10-4EF3-AD2E-51AE5CAA2B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168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985"/>
    </mc:Choice>
    <mc:Fallback>
      <p:transition spd="slow" advTm="599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Influence from the System Environment: Web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The new system needs an available API from a Web service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928" y="2913950"/>
            <a:ext cx="4767031" cy="226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79" y="2954708"/>
            <a:ext cx="3708321" cy="2345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C28C5730-E94F-490D-81AF-04507F817D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68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956"/>
    </mc:Choice>
    <mc:Fallback>
      <p:transition spd="slow" advTm="559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/>
              <a:t>Combination of Architectural Style: Layered, Subystems and Components</a:t>
            </a:r>
            <a:endParaRPr lang="en-MY" sz="36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5" descr="Fi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613" y="1565950"/>
            <a:ext cx="3930949" cy="488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351" y="1565949"/>
            <a:ext cx="4441825" cy="483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H="1" flipV="1">
            <a:off x="5638800" y="4495800"/>
            <a:ext cx="1581376" cy="434062"/>
          </a:xfrm>
          <a:prstGeom prst="straightConnector1">
            <a:avLst/>
          </a:prstGeom>
          <a:ln w="25400" cmpd="sng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800601" y="3657600"/>
            <a:ext cx="2348137" cy="685800"/>
          </a:xfrm>
          <a:prstGeom prst="straightConnector1">
            <a:avLst/>
          </a:prstGeom>
          <a:ln w="25400" cmpd="sng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627787" y="2337474"/>
            <a:ext cx="2520950" cy="1871662"/>
          </a:xfrm>
          <a:prstGeom prst="straightConnector1">
            <a:avLst/>
          </a:prstGeom>
          <a:ln w="25400" cmpd="sng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EFA7996-DD53-48FA-9198-C8123F717718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944880" y="2301480"/>
              <a:ext cx="923040" cy="2246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EFA7996-DD53-48FA-9198-C8123F7177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35520" y="2292120"/>
                <a:ext cx="941760" cy="226548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69A7570B-CFC5-4655-B043-FA3B6138E4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97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758"/>
    </mc:Choice>
    <mc:Fallback>
      <p:transition spd="slow" advTm="967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Example: Two-Layer Architectural Design of Internet Systems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12248"/>
            <a:ext cx="7848600" cy="4543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184778" y="6055418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prstClr val="black"/>
                </a:solidFill>
                <a:latin typeface="Calibri"/>
              </a:rPr>
              <a:t>Source: Satzinger (2011)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94B6EFD5-5C88-4D6F-8D6B-3DE05C951A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13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657"/>
    </mc:Choice>
    <mc:Fallback>
      <p:transition spd="slow" advTm="406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Example: Three-Layer Architectural Design of Internet Systems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00802"/>
            <a:ext cx="7848600" cy="4554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184778" y="6055418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prstClr val="black"/>
                </a:solidFill>
                <a:latin typeface="Calibri"/>
              </a:rPr>
              <a:t>Source: Satzinger (2011)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23DDE3D1-2311-41F1-BE7A-DFB6A186F6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87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805"/>
    </mc:Choice>
    <mc:Fallback>
      <p:transition spd="slow" advTm="318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Example: Component Diagram for Online Shopping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835773" y="1600201"/>
            <a:ext cx="6520455" cy="452596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126164"/>
            <a:ext cx="868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>
                <a:solidFill>
                  <a:prstClr val="black"/>
                </a:solidFill>
                <a:latin typeface="Calibri"/>
              </a:rPr>
              <a:t>Source: https://www.uml-diagrams.org/examples/online-shopping-uml-component-diagram-example.html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A962B033-6FD1-4975-BEA5-6521BD3A80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54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843"/>
    </mc:Choice>
    <mc:Fallback>
      <p:transition spd="slow" advTm="318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504</Words>
  <Application>Microsoft Office PowerPoint</Application>
  <PresentationFormat>Widescreen</PresentationFormat>
  <Paragraphs>83</Paragraphs>
  <Slides>14</Slides>
  <Notes>4</Notes>
  <HiddenSlides>0</HiddenSlides>
  <MMClips>14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</vt:lpstr>
      <vt:lpstr>1_Office Theme</vt:lpstr>
      <vt:lpstr>2_Office Theme</vt:lpstr>
      <vt:lpstr>Module 6: Architectural Design Part III</vt:lpstr>
      <vt:lpstr>Component diagram as an implementation view </vt:lpstr>
      <vt:lpstr>UML Component Diagram</vt:lpstr>
      <vt:lpstr>UML Component Notation and Extension Notation for Windows and Web page</vt:lpstr>
      <vt:lpstr>Types of Interface in Components</vt:lpstr>
      <vt:lpstr>Influence from the System Environment: Existing Framework</vt:lpstr>
      <vt:lpstr>Influence from the System Environment: Legacy System</vt:lpstr>
      <vt:lpstr>Influence from the System Environment: External System</vt:lpstr>
      <vt:lpstr>Influence from the System Environment: Hardware Driver</vt:lpstr>
      <vt:lpstr>Influence from the System Environment: Web Service</vt:lpstr>
      <vt:lpstr>Combination of Architectural Style: Layered, Subystems and Components</vt:lpstr>
      <vt:lpstr>Example: Two-Layer Architectural Design of Internet Systems</vt:lpstr>
      <vt:lpstr>Example: Three-Layer Architectural Design of Internet Systems</vt:lpstr>
      <vt:lpstr>Example: Component Diagram for Online Shopping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Architectural Design Part III</dc:title>
  <dc:creator>Norsham Idris</dc:creator>
  <cp:lastModifiedBy>Norsham Idris</cp:lastModifiedBy>
  <cp:revision>2</cp:revision>
  <dcterms:created xsi:type="dcterms:W3CDTF">2020-04-12T21:32:46Z</dcterms:created>
  <dcterms:modified xsi:type="dcterms:W3CDTF">2020-04-13T05:19:17Z</dcterms:modified>
</cp:coreProperties>
</file>