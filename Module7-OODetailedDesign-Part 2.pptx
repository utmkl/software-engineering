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15"/>
  </p:notesMasterIdLst>
  <p:sldIdLst>
    <p:sldId id="740" r:id="rId3"/>
    <p:sldId id="736" r:id="rId4"/>
    <p:sldId id="741" r:id="rId5"/>
    <p:sldId id="737" r:id="rId6"/>
    <p:sldId id="738" r:id="rId7"/>
    <p:sldId id="715" r:id="rId8"/>
    <p:sldId id="720" r:id="rId9"/>
    <p:sldId id="712" r:id="rId10"/>
    <p:sldId id="722" r:id="rId11"/>
    <p:sldId id="716" r:id="rId12"/>
    <p:sldId id="753" r:id="rId13"/>
    <p:sldId id="75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2BDA98-F113-43C8-AEBC-692F3B5655D3}" type="datetimeFigureOut">
              <a:rPr lang="en-MY" smtClean="0"/>
              <a:t>20/4/2020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DE61DE-C157-4341-AF5C-65F7FEB60E2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7322687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18F6A6-5BDF-41D7-9B84-3DCB4D0C04F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75573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433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049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429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887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8157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42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180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92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96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815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36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553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006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4219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8169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4169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1753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72874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24233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45575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14728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422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0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-996" y="6487369"/>
            <a:ext cx="12175067" cy="357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19"/>
          <p:cNvSpPr>
            <a:spLocks noChangeArrowheads="1"/>
          </p:cNvSpPr>
          <p:nvPr userDrawn="1"/>
        </p:nvSpPr>
        <p:spPr bwMode="auto">
          <a:xfrm>
            <a:off x="0" y="0"/>
            <a:ext cx="12192000" cy="1417638"/>
          </a:xfrm>
          <a:prstGeom prst="rect">
            <a:avLst/>
          </a:prstGeom>
          <a:solidFill>
            <a:srgbClr val="FFE1AD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350" dirty="0">
              <a:ea typeface="ＭＳ Ｐゴシック" pitchFamily="-112" charset="-128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10" name="Picture 20" descr="header_UTM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84668" y="106366"/>
            <a:ext cx="1593851" cy="395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22" descr="header_url"/>
          <p:cNvPicPr>
            <a:picLocks noChangeAspect="1" noChangeArrowheads="1"/>
          </p:cNvPicPr>
          <p:nvPr userDrawn="1"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1" y="1169894"/>
            <a:ext cx="3168651" cy="255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598399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2020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93036" y="6620436"/>
            <a:ext cx="5588000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Software Engineering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598399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ysClr val="windowText" lastClr="000000"/>
                </a:solidFill>
              </a:defRPr>
            </a:lvl1pPr>
          </a:lstStyle>
          <a:p>
            <a:fld id="{0362C787-829C-4B6B-B21B-90D8981190F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6649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0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-996" y="6487367"/>
            <a:ext cx="12175067" cy="357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19"/>
          <p:cNvSpPr>
            <a:spLocks noChangeArrowheads="1"/>
          </p:cNvSpPr>
          <p:nvPr userDrawn="1"/>
        </p:nvSpPr>
        <p:spPr bwMode="auto">
          <a:xfrm>
            <a:off x="0" y="0"/>
            <a:ext cx="12192000" cy="1417638"/>
          </a:xfrm>
          <a:prstGeom prst="rect">
            <a:avLst/>
          </a:prstGeom>
          <a:solidFill>
            <a:srgbClr val="FFE1AD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800" dirty="0">
              <a:ea typeface="ＭＳ Ｐゴシック" pitchFamily="-112" charset="-128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10" name="Picture 20" descr="header_UTM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84667" y="106364"/>
            <a:ext cx="1593851" cy="395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22" descr="header_url"/>
          <p:cNvPicPr>
            <a:picLocks noChangeAspect="1" noChangeArrowheads="1"/>
          </p:cNvPicPr>
          <p:nvPr userDrawn="1"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0" y="1169894"/>
            <a:ext cx="3168651" cy="255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598397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2020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93036" y="6620436"/>
            <a:ext cx="5588000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Software Engineering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598397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ysClr val="windowText" lastClr="000000"/>
                </a:solidFill>
              </a:defRPr>
            </a:lvl1pPr>
          </a:lstStyle>
          <a:p>
            <a:fld id="{0362C787-829C-4B6B-B21B-90D8981190F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3951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6" Type="http://schemas.openxmlformats.org/officeDocument/2006/relationships/image" Target="../media/image4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audio" Target="../media/media11.m4a"/><Relationship Id="rId1" Type="http://schemas.microsoft.com/office/2007/relationships/media" Target="../media/media11.m4a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audio" Target="../media/media12.m4a"/><Relationship Id="rId1" Type="http://schemas.microsoft.com/office/2007/relationships/media" Target="../media/media12.m4a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MY"/>
              <a:t>Object-oriented </a:t>
            </a:r>
            <a:r>
              <a:rPr lang="en-MY" dirty="0"/>
              <a:t>design models using </a:t>
            </a:r>
            <a:r>
              <a:rPr lang="en-MY" dirty="0" err="1"/>
              <a:t>uml</a:t>
            </a:r>
            <a:endParaRPr lang="en-MY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MY" dirty="0"/>
              <a:t>Objective 3:</a:t>
            </a:r>
          </a:p>
        </p:txBody>
      </p:sp>
      <p:sp>
        <p:nvSpPr>
          <p:cNvPr id="5124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557213" indent="-214313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857250" indent="-17145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200150" indent="-17145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1543050" indent="-17145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srgbClr val="000000"/>
                </a:solidFill>
              </a:rPr>
              <a:t>2020</a:t>
            </a:r>
          </a:p>
        </p:txBody>
      </p:sp>
      <p:sp>
        <p:nvSpPr>
          <p:cNvPr id="5125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557213" indent="-214313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857250" indent="-17145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200150" indent="-17145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1543050" indent="-17145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srgbClr val="000000"/>
                </a:solidFill>
              </a:rPr>
              <a:t>Software Engineering</a:t>
            </a:r>
          </a:p>
        </p:txBody>
      </p:sp>
      <p:sp>
        <p:nvSpPr>
          <p:cNvPr id="5126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557213" indent="-214313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857250" indent="-17145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200150" indent="-17145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1543050" indent="-17145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defTabSz="685800"/>
            <a:fld id="{3789E4DB-563A-40E4-9A1B-66379F2CD0D2}" type="slidenum">
              <a:rPr lang="en-US">
                <a:solidFill>
                  <a:srgbClr val="000000"/>
                </a:solidFill>
              </a:rPr>
              <a:pPr defTabSz="685800"/>
              <a:t>1</a:t>
            </a:fld>
            <a:endParaRPr lang="en-US">
              <a:solidFill>
                <a:srgbClr val="000000"/>
              </a:solidFill>
            </a:endParaRPr>
          </a:p>
        </p:txBody>
      </p:sp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5A9F5597-9D26-41C0-8C50-1850C67AFED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1067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1109"/>
    </mc:Choice>
    <mc:Fallback>
      <p:transition spd="slow" advTm="2110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/>
              <a:t>Design Models Artefacts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4724400"/>
          </a:xfrm>
        </p:spPr>
        <p:txBody>
          <a:bodyPr>
            <a:normAutofit fontScale="85000" lnSpcReduction="20000"/>
          </a:bodyPr>
          <a:lstStyle/>
          <a:p>
            <a:r>
              <a:rPr lang="en-MY" dirty="0"/>
              <a:t>Design model involves</a:t>
            </a:r>
            <a:r>
              <a:rPr lang="en-MY" b="1" dirty="0">
                <a:solidFill>
                  <a:srgbClr val="C00000"/>
                </a:solidFill>
              </a:rPr>
              <a:t> an elaboration of the analysis model </a:t>
            </a:r>
            <a:r>
              <a:rPr lang="en-MY" dirty="0"/>
              <a:t>where we add detail and specific technical solutions</a:t>
            </a:r>
          </a:p>
          <a:p>
            <a:r>
              <a:rPr lang="en-MY" dirty="0"/>
              <a:t>The design model contains the same sorts of things as the analysis model, but </a:t>
            </a:r>
            <a:r>
              <a:rPr lang="en-MY" b="1" dirty="0">
                <a:solidFill>
                  <a:srgbClr val="C00000"/>
                </a:solidFill>
              </a:rPr>
              <a:t>all the artefacts are more fully formed</a:t>
            </a:r>
            <a:r>
              <a:rPr lang="en-MY" dirty="0"/>
              <a:t> and must now include </a:t>
            </a:r>
            <a:r>
              <a:rPr lang="en-MY" b="1" dirty="0">
                <a:solidFill>
                  <a:srgbClr val="C00000"/>
                </a:solidFill>
              </a:rPr>
              <a:t>implementation details</a:t>
            </a:r>
            <a:endParaRPr lang="en-MY" dirty="0"/>
          </a:p>
          <a:p>
            <a:r>
              <a:rPr lang="en-MY" dirty="0"/>
              <a:t>E.g. An analysis class may be little more than a sketch with few attributes and only key operations (or just a domain model)</a:t>
            </a:r>
          </a:p>
          <a:p>
            <a:r>
              <a:rPr lang="en-MY" dirty="0"/>
              <a:t>A design class, however, must be fully specified – all attributes and operations (including return types and parameter lists) must be complete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>
                <a:latin typeface="Calibri"/>
              </a:rPr>
              <a:pPr/>
              <a:t>2</a:t>
            </a:fld>
            <a:endParaRPr lang="en-US">
              <a:latin typeface="Calibri"/>
            </a:endParaRPr>
          </a:p>
        </p:txBody>
      </p:sp>
      <p:pic>
        <p:nvPicPr>
          <p:cNvPr id="10" name="Audio 9">
            <a:hlinkClick r:id="" action="ppaction://media"/>
            <a:extLst>
              <a:ext uri="{FF2B5EF4-FFF2-40B4-BE49-F238E27FC236}">
                <a16:creationId xmlns:a16="http://schemas.microsoft.com/office/drawing/2014/main" id="{339129F9-EAE2-4E6B-81CF-A0705B1D231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2290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2028"/>
    </mc:Choice>
    <mc:Fallback>
      <p:transition spd="slow" advTm="7202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MY"/>
              <a:t>Design Models: UML Diagrams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MY" sz="2800" dirty="0"/>
              <a:t>Design subsystems </a:t>
            </a:r>
            <a:r>
              <a:rPr lang="en-MY" sz="2800" dirty="0">
                <a:sym typeface="Wingdings" pitchFamily="2" charset="2"/>
              </a:rPr>
              <a:t> Package Diagram</a:t>
            </a:r>
            <a:endParaRPr lang="en-MY" sz="2800" dirty="0"/>
          </a:p>
          <a:p>
            <a:pPr eaLnBrk="1" hangingPunct="1"/>
            <a:r>
              <a:rPr lang="en-MY" sz="2800" dirty="0"/>
              <a:t>Design classes </a:t>
            </a:r>
            <a:r>
              <a:rPr lang="en-MY" sz="2800" dirty="0">
                <a:sym typeface="Wingdings" pitchFamily="2" charset="2"/>
              </a:rPr>
              <a:t> Class Diagram also known as Design Class Diagram</a:t>
            </a:r>
            <a:endParaRPr lang="en-MY" sz="2800" dirty="0"/>
          </a:p>
          <a:p>
            <a:pPr eaLnBrk="1" hangingPunct="1"/>
            <a:r>
              <a:rPr lang="en-MY" sz="2800" dirty="0"/>
              <a:t>Interfaces </a:t>
            </a:r>
            <a:r>
              <a:rPr lang="en-MY" sz="2800" dirty="0">
                <a:sym typeface="Wingdings" pitchFamily="2" charset="2"/>
              </a:rPr>
              <a:t> Component Diagram (as discussed in Module 6: Architectural Design)</a:t>
            </a:r>
            <a:endParaRPr lang="en-MY" sz="2800" dirty="0"/>
          </a:p>
          <a:p>
            <a:pPr eaLnBrk="1" hangingPunct="1"/>
            <a:r>
              <a:rPr lang="en-MY" sz="2800" dirty="0"/>
              <a:t>Use case realizations </a:t>
            </a:r>
            <a:r>
              <a:rPr lang="en-MY" sz="2800" dirty="0">
                <a:sym typeface="Wingdings" pitchFamily="2" charset="2"/>
              </a:rPr>
              <a:t> Sequence Diagram also known as Design Sequence Diagram (and its relation to Design Class Diagram)</a:t>
            </a:r>
            <a:endParaRPr lang="en-MY" sz="2800" dirty="0"/>
          </a:p>
          <a:p>
            <a:pPr eaLnBrk="1" hangingPunct="1"/>
            <a:r>
              <a:rPr lang="en-MY" sz="2800" dirty="0"/>
              <a:t>Deployment diagram (implementation)</a:t>
            </a:r>
          </a:p>
        </p:txBody>
      </p:sp>
      <p:sp>
        <p:nvSpPr>
          <p:cNvPr id="13316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srgbClr val="000000"/>
                </a:solidFill>
              </a:rPr>
              <a:t>2020</a:t>
            </a:r>
          </a:p>
        </p:txBody>
      </p:sp>
      <p:sp>
        <p:nvSpPr>
          <p:cNvPr id="1331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srgbClr val="000000"/>
                </a:solidFill>
              </a:rPr>
              <a:t>Software Engineering</a:t>
            </a:r>
          </a:p>
        </p:txBody>
      </p:sp>
      <p:sp>
        <p:nvSpPr>
          <p:cNvPr id="13318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fld id="{B232EC78-70AF-49BD-A769-761068E24426}" type="slidenum">
              <a:rPr lang="en-US">
                <a:solidFill>
                  <a:srgbClr val="000000"/>
                </a:solidFill>
              </a:rPr>
              <a:pPr/>
              <a:t>3</a:t>
            </a:fld>
            <a:endParaRPr lang="en-US">
              <a:solidFill>
                <a:srgbClr val="000000"/>
              </a:solidFill>
            </a:endParaRPr>
          </a:p>
        </p:txBody>
      </p:sp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E374FCA9-2E74-4CAC-8215-740BD92A25A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938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3496"/>
    </mc:Choice>
    <mc:Fallback>
      <p:transition spd="slow" advTm="6349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Design Models </a:t>
            </a:r>
            <a:r>
              <a:rPr lang="en-MY" sz="2800" dirty="0"/>
              <a:t>(our focus)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Y" dirty="0"/>
              <a:t>Design subsystems </a:t>
            </a:r>
            <a:r>
              <a:rPr lang="en-MY" dirty="0">
                <a:sym typeface="Wingdings" panose="05000000000000000000" pitchFamily="2" charset="2"/>
              </a:rPr>
              <a:t> Package Diagram</a:t>
            </a:r>
            <a:endParaRPr lang="en-MY" dirty="0"/>
          </a:p>
          <a:p>
            <a:r>
              <a:rPr lang="en-MY" dirty="0"/>
              <a:t>Design classes </a:t>
            </a:r>
            <a:r>
              <a:rPr lang="en-MY" dirty="0">
                <a:sym typeface="Wingdings" panose="05000000000000000000" pitchFamily="2" charset="2"/>
              </a:rPr>
              <a:t> Class Diagram</a:t>
            </a:r>
            <a:endParaRPr lang="en-MY" dirty="0"/>
          </a:p>
          <a:p>
            <a:r>
              <a:rPr lang="en-MY"/>
              <a:t>Interfaces </a:t>
            </a:r>
            <a:r>
              <a:rPr lang="en-MY">
                <a:solidFill>
                  <a:srgbClr val="C00000"/>
                </a:solidFill>
              </a:rPr>
              <a:t>(already discussed in Module 6)</a:t>
            </a:r>
            <a:endParaRPr lang="en-MY" dirty="0">
              <a:solidFill>
                <a:srgbClr val="C00000"/>
              </a:solidFill>
            </a:endParaRPr>
          </a:p>
          <a:p>
            <a:r>
              <a:rPr lang="en-MY" dirty="0"/>
              <a:t>Use case realizations </a:t>
            </a:r>
            <a:r>
              <a:rPr lang="en-MY" dirty="0">
                <a:sym typeface="Wingdings" panose="05000000000000000000" pitchFamily="2" charset="2"/>
              </a:rPr>
              <a:t> Sequence Diagram</a:t>
            </a:r>
            <a:endParaRPr lang="en-MY" dirty="0"/>
          </a:p>
          <a:p>
            <a:r>
              <a:rPr lang="en-MY" dirty="0"/>
              <a:t>Deployment diagram (implementation)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>
                <a:latin typeface="Calibri"/>
              </a:rPr>
              <a:pPr/>
              <a:t>4</a:t>
            </a:fld>
            <a:endParaRPr lang="en-US">
              <a:latin typeface="Calibri"/>
            </a:endParaRPr>
          </a:p>
        </p:txBody>
      </p:sp>
      <p:pic>
        <p:nvPicPr>
          <p:cNvPr id="8" name="Audio 7">
            <a:hlinkClick r:id="" action="ppaction://media"/>
            <a:extLst>
              <a:ext uri="{FF2B5EF4-FFF2-40B4-BE49-F238E27FC236}">
                <a16:creationId xmlns:a16="http://schemas.microsoft.com/office/drawing/2014/main" id="{D92C04E1-F113-430C-A680-C9EC45AF3DF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0988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786"/>
    </mc:Choice>
    <mc:Fallback>
      <p:transition spd="slow" advTm="1278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Object-Oriented Design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US" altLang="en-US" sz="2600" dirty="0"/>
              <a:t>Identify all </a:t>
            </a:r>
            <a:r>
              <a:rPr lang="en-US" altLang="en-US" sz="2600" b="1" dirty="0">
                <a:solidFill>
                  <a:srgbClr val="C00000"/>
                </a:solidFill>
              </a:rPr>
              <a:t>objects that must work together </a:t>
            </a:r>
            <a:r>
              <a:rPr lang="en-US" altLang="en-US" sz="2600" dirty="0"/>
              <a:t>to carry out a use case</a:t>
            </a:r>
          </a:p>
          <a:p>
            <a:pPr>
              <a:spcBef>
                <a:spcPts val="0"/>
              </a:spcBef>
            </a:pPr>
            <a:r>
              <a:rPr lang="en-US" altLang="en-US" sz="2600" dirty="0"/>
              <a:t>Package diagrams denote which </a:t>
            </a:r>
            <a:r>
              <a:rPr lang="en-US" altLang="en-US" sz="2600" b="1" dirty="0">
                <a:solidFill>
                  <a:srgbClr val="C00000"/>
                </a:solidFill>
              </a:rPr>
              <a:t>classes work together as a subsystem</a:t>
            </a:r>
          </a:p>
          <a:p>
            <a:pPr>
              <a:spcBef>
                <a:spcPts val="0"/>
              </a:spcBef>
            </a:pPr>
            <a:r>
              <a:rPr lang="en-US" altLang="en-US" sz="2600" dirty="0"/>
              <a:t>Divide objects into groups for a </a:t>
            </a:r>
            <a:r>
              <a:rPr lang="en-US" altLang="en-US" sz="2600" b="1" dirty="0">
                <a:solidFill>
                  <a:srgbClr val="C00000"/>
                </a:solidFill>
              </a:rPr>
              <a:t>multilayer design</a:t>
            </a:r>
          </a:p>
          <a:p>
            <a:pPr>
              <a:spcBef>
                <a:spcPts val="0"/>
              </a:spcBef>
            </a:pPr>
            <a:r>
              <a:rPr lang="en-US" altLang="en-US" sz="2600" dirty="0"/>
              <a:t>Sequence diagrams </a:t>
            </a:r>
            <a:r>
              <a:rPr lang="en-US" altLang="en-US" sz="2600" b="1" dirty="0">
                <a:solidFill>
                  <a:srgbClr val="C00000"/>
                </a:solidFill>
              </a:rPr>
              <a:t>describe the messages</a:t>
            </a:r>
            <a:r>
              <a:rPr lang="en-US" altLang="en-US" sz="2600" dirty="0"/>
              <a:t> that are sent between objects</a:t>
            </a:r>
          </a:p>
          <a:p>
            <a:pPr>
              <a:spcBef>
                <a:spcPts val="0"/>
              </a:spcBef>
            </a:pPr>
            <a:r>
              <a:rPr lang="en-US" altLang="en-US" sz="2600" dirty="0"/>
              <a:t>Design class diagrams document and describe the programming classes (implementation)</a:t>
            </a:r>
          </a:p>
          <a:p>
            <a:pPr>
              <a:spcBef>
                <a:spcPts val="0"/>
              </a:spcBef>
            </a:pPr>
            <a:r>
              <a:rPr lang="en-US" altLang="en-US" sz="2600" dirty="0"/>
              <a:t>Design information is primarily derived from domain model and sequence diagram from the analysis stage</a:t>
            </a:r>
          </a:p>
          <a:p>
            <a:pPr>
              <a:spcBef>
                <a:spcPts val="0"/>
              </a:spcBef>
            </a:pPr>
            <a:endParaRPr lang="en-US" altLang="en-US" sz="26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>
                <a:latin typeface="Calibri"/>
              </a:rPr>
              <a:pPr/>
              <a:t>5</a:t>
            </a:fld>
            <a:endParaRPr lang="en-US">
              <a:latin typeface="Calibri"/>
            </a:endParaRPr>
          </a:p>
        </p:txBody>
      </p:sp>
      <p:pic>
        <p:nvPicPr>
          <p:cNvPr id="8" name="Audio 7">
            <a:hlinkClick r:id="" action="ppaction://media"/>
            <a:extLst>
              <a:ext uri="{FF2B5EF4-FFF2-40B4-BE49-F238E27FC236}">
                <a16:creationId xmlns:a16="http://schemas.microsoft.com/office/drawing/2014/main" id="{C80728CE-F0B6-4E4A-AE9C-C1A29D8EFB8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55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7902"/>
    </mc:Choice>
    <mc:Fallback>
      <p:transition spd="slow" advTm="6790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/>
              <a:t>Design subsystemS: </a:t>
            </a:r>
            <a:r>
              <a:rPr lang="en-MY" dirty="0"/>
              <a:t>package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MY" b="1">
                <a:solidFill>
                  <a:srgbClr val="C00000"/>
                </a:solidFill>
              </a:rPr>
              <a:t>Design subsystems </a:t>
            </a:r>
            <a:r>
              <a:rPr lang="en-MY" b="1">
                <a:solidFill>
                  <a:srgbClr val="C00000"/>
                </a:solidFill>
                <a:sym typeface="Wingdings" panose="05000000000000000000" pitchFamily="2" charset="2"/>
              </a:rPr>
              <a:t> Package Diagram</a:t>
            </a:r>
            <a:endParaRPr lang="en-MY" b="1">
              <a:solidFill>
                <a:srgbClr val="C00000"/>
              </a:solidFill>
            </a:endParaRPr>
          </a:p>
          <a:p>
            <a:r>
              <a:rPr lang="en-MY"/>
              <a:t>Design classes </a:t>
            </a:r>
            <a:r>
              <a:rPr lang="en-MY">
                <a:sym typeface="Wingdings" panose="05000000000000000000" pitchFamily="2" charset="2"/>
              </a:rPr>
              <a:t> Class Diagram</a:t>
            </a:r>
            <a:endParaRPr lang="en-MY"/>
          </a:p>
          <a:p>
            <a:r>
              <a:rPr lang="en-MY"/>
              <a:t>Use case realizations </a:t>
            </a:r>
            <a:r>
              <a:rPr lang="en-MY">
                <a:sym typeface="Wingdings" panose="05000000000000000000" pitchFamily="2" charset="2"/>
              </a:rPr>
              <a:t> Sequence Diagram</a:t>
            </a:r>
            <a:endParaRPr lang="en-MY"/>
          </a:p>
          <a:p>
            <a:r>
              <a:rPr lang="en-MY"/>
              <a:t>Deployment diagram (implementation)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>
                <a:latin typeface="Calibri"/>
              </a:rPr>
              <a:pPr/>
              <a:t>6</a:t>
            </a:fld>
            <a:endParaRPr lang="en-US">
              <a:latin typeface="Calibri"/>
            </a:endParaRPr>
          </a:p>
        </p:txBody>
      </p:sp>
      <p:pic>
        <p:nvPicPr>
          <p:cNvPr id="7" name="Audio 6">
            <a:hlinkClick r:id="" action="ppaction://media"/>
            <a:extLst>
              <a:ext uri="{FF2B5EF4-FFF2-40B4-BE49-F238E27FC236}">
                <a16:creationId xmlns:a16="http://schemas.microsoft.com/office/drawing/2014/main" id="{8C786C5F-904C-445B-BF8F-449941F2F56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9924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894"/>
    </mc:Choice>
    <mc:Fallback>
      <p:transition spd="slow" advTm="789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en-MY" dirty="0"/>
              <a:t>Package Diagram: Structuring the Major Components</a:t>
            </a:r>
          </a:p>
        </p:txBody>
      </p:sp>
      <p:sp>
        <p:nvSpPr>
          <p:cNvPr id="4096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/>
              <a:t>Associates </a:t>
            </a:r>
            <a:r>
              <a:rPr lang="en-US" altLang="en-US" b="1">
                <a:solidFill>
                  <a:srgbClr val="C00000"/>
                </a:solidFill>
              </a:rPr>
              <a:t>classes of related groups </a:t>
            </a:r>
            <a:r>
              <a:rPr lang="en-US" altLang="en-US"/>
              <a:t>or</a:t>
            </a:r>
            <a:r>
              <a:rPr lang="en-US" altLang="en-US" b="1">
                <a:solidFill>
                  <a:srgbClr val="C00000"/>
                </a:solidFill>
              </a:rPr>
              <a:t> related use case</a:t>
            </a:r>
          </a:p>
          <a:p>
            <a:pPr>
              <a:lnSpc>
                <a:spcPct val="90000"/>
              </a:lnSpc>
            </a:pPr>
            <a:r>
              <a:rPr lang="en-US" altLang="en-US"/>
              <a:t>One option is to separate the </a:t>
            </a:r>
            <a:r>
              <a:rPr lang="en-US" altLang="en-US" b="1">
                <a:solidFill>
                  <a:srgbClr val="C00000"/>
                </a:solidFill>
              </a:rPr>
              <a:t>view, domain, and data access layers</a:t>
            </a:r>
            <a:r>
              <a:rPr lang="en-US" altLang="en-US"/>
              <a:t> into separate packages </a:t>
            </a:r>
          </a:p>
          <a:p>
            <a:pPr>
              <a:lnSpc>
                <a:spcPct val="90000"/>
              </a:lnSpc>
            </a:pPr>
            <a:r>
              <a:rPr lang="en-US" altLang="en-US"/>
              <a:t>Indicate </a:t>
            </a:r>
            <a:r>
              <a:rPr lang="en-US" altLang="en-US" b="1">
                <a:solidFill>
                  <a:srgbClr val="C00000"/>
                </a:solidFill>
              </a:rPr>
              <a:t>dependency relationships</a:t>
            </a:r>
            <a:r>
              <a:rPr lang="en-US" altLang="en-US"/>
              <a:t>: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Shows which elements affect other elements in a system 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May exist between packages, or between classes within packages</a:t>
            </a:r>
          </a:p>
          <a:p>
            <a:pPr>
              <a:lnSpc>
                <a:spcPct val="90000"/>
              </a:lnSpc>
            </a:pPr>
            <a:r>
              <a:rPr lang="en-US" altLang="en-US"/>
              <a:t>Packages can be nested</a:t>
            </a:r>
          </a:p>
          <a:p>
            <a:endParaRPr lang="en-MY"/>
          </a:p>
        </p:txBody>
      </p:sp>
      <p:sp>
        <p:nvSpPr>
          <p:cNvPr id="40964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srgbClr val="000000"/>
                </a:solidFill>
              </a:rPr>
              <a:t>2020</a:t>
            </a:r>
          </a:p>
        </p:txBody>
      </p:sp>
      <p:sp>
        <p:nvSpPr>
          <p:cNvPr id="40965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srgbClr val="000000"/>
                </a:solidFill>
              </a:rPr>
              <a:t>Software Engineering</a:t>
            </a:r>
          </a:p>
        </p:txBody>
      </p:sp>
      <p:sp>
        <p:nvSpPr>
          <p:cNvPr id="40966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fld id="{2DD61B45-F1A3-4A95-83C7-2510E1529353}" type="slidenum">
              <a:rPr lang="en-US">
                <a:solidFill>
                  <a:srgbClr val="000000"/>
                </a:solidFill>
              </a:rPr>
              <a:pPr/>
              <a:t>7</a:t>
            </a:fld>
            <a:endParaRPr lang="en-US">
              <a:solidFill>
                <a:srgbClr val="000000"/>
              </a:solidFill>
            </a:endParaRPr>
          </a:p>
        </p:txBody>
      </p:sp>
      <p:pic>
        <p:nvPicPr>
          <p:cNvPr id="5" name="Audio 4">
            <a:hlinkClick r:id="" action="ppaction://media"/>
            <a:extLst>
              <a:ext uri="{FF2B5EF4-FFF2-40B4-BE49-F238E27FC236}">
                <a16:creationId xmlns:a16="http://schemas.microsoft.com/office/drawing/2014/main" id="{AC13CF80-7698-40E9-9C3A-4BCBBDBF613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836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8534"/>
    </mc:Choice>
    <mc:Fallback>
      <p:transition spd="slow" advTm="7853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Multilayer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MY" dirty="0"/>
              <a:t>Focus on a basic multilayer design that consists of the view layer </a:t>
            </a:r>
            <a:r>
              <a:rPr lang="en-MY" b="1" dirty="0">
                <a:solidFill>
                  <a:srgbClr val="C00000"/>
                </a:solidFill>
              </a:rPr>
              <a:t>realization of use cases specification </a:t>
            </a:r>
            <a:r>
              <a:rPr lang="en-MY" dirty="0"/>
              <a:t>of all detailed system processing for:</a:t>
            </a:r>
          </a:p>
          <a:p>
            <a:pPr lvl="1"/>
            <a:r>
              <a:rPr lang="en-MY" dirty="0"/>
              <a:t>User interface classes</a:t>
            </a:r>
          </a:p>
          <a:p>
            <a:pPr lvl="1"/>
            <a:r>
              <a:rPr lang="en-MY" dirty="0"/>
              <a:t>Domain layer (problem domain classes from the domain model class diagram), controller classes</a:t>
            </a:r>
          </a:p>
          <a:p>
            <a:pPr lvl="1"/>
            <a:r>
              <a:rPr lang="en-MY" dirty="0"/>
              <a:t>Data layer (database access classes)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>
                <a:latin typeface="Calibri"/>
              </a:rPr>
              <a:pPr/>
              <a:t>8</a:t>
            </a:fld>
            <a:endParaRPr lang="en-US">
              <a:latin typeface="Calibri"/>
            </a:endParaRPr>
          </a:p>
        </p:txBody>
      </p:sp>
      <p:pic>
        <p:nvPicPr>
          <p:cNvPr id="7" name="Audio 6">
            <a:hlinkClick r:id="" action="ppaction://media"/>
            <a:extLst>
              <a:ext uri="{FF2B5EF4-FFF2-40B4-BE49-F238E27FC236}">
                <a16:creationId xmlns:a16="http://schemas.microsoft.com/office/drawing/2014/main" id="{20DE72A8-77B6-4A94-8BEC-283A4DC8349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1881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6840"/>
    </mc:Choice>
    <mc:Fallback>
      <p:transition spd="slow" advTm="6684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Heuristics to Identify Subsystem</a:t>
            </a:r>
            <a:endParaRPr lang="en-MY"/>
          </a:p>
        </p:txBody>
      </p:sp>
      <p:sp>
        <p:nvSpPr>
          <p:cNvPr id="4301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cs typeface="Times New Roman" pitchFamily="18" charset="0"/>
              </a:rPr>
              <a:t>Assign </a:t>
            </a:r>
            <a:r>
              <a:rPr lang="en-GB" b="1" dirty="0">
                <a:solidFill>
                  <a:srgbClr val="C00000"/>
                </a:solidFill>
                <a:cs typeface="Times New Roman" pitchFamily="18" charset="0"/>
              </a:rPr>
              <a:t>objects identified in one use case </a:t>
            </a:r>
            <a:r>
              <a:rPr lang="en-GB" dirty="0">
                <a:cs typeface="Times New Roman" pitchFamily="18" charset="0"/>
              </a:rPr>
              <a:t>into the same subsystem</a:t>
            </a:r>
          </a:p>
          <a:p>
            <a:r>
              <a:rPr lang="en-GB" dirty="0">
                <a:cs typeface="Times New Roman" pitchFamily="18" charset="0"/>
              </a:rPr>
              <a:t>Minimize the number of associations crossing subsystem boundaries</a:t>
            </a:r>
          </a:p>
          <a:p>
            <a:r>
              <a:rPr lang="en-GB" dirty="0">
                <a:cs typeface="Times New Roman" pitchFamily="18" charset="0"/>
              </a:rPr>
              <a:t>All objects in the </a:t>
            </a:r>
            <a:r>
              <a:rPr lang="en-GB" b="1" dirty="0">
                <a:solidFill>
                  <a:srgbClr val="C00000"/>
                </a:solidFill>
                <a:cs typeface="Times New Roman" pitchFamily="18" charset="0"/>
              </a:rPr>
              <a:t>same subsystem</a:t>
            </a:r>
            <a:r>
              <a:rPr lang="en-GB" dirty="0">
                <a:cs typeface="Times New Roman" pitchFamily="18" charset="0"/>
              </a:rPr>
              <a:t> must be </a:t>
            </a:r>
            <a:r>
              <a:rPr lang="en-GB" b="1" dirty="0">
                <a:solidFill>
                  <a:srgbClr val="C00000"/>
                </a:solidFill>
                <a:cs typeface="Times New Roman" pitchFamily="18" charset="0"/>
              </a:rPr>
              <a:t>functionally related</a:t>
            </a:r>
            <a:endParaRPr lang="en-US" b="1" dirty="0">
              <a:solidFill>
                <a:srgbClr val="C00000"/>
              </a:solidFill>
              <a:cs typeface="Times New Roman" pitchFamily="18" charset="0"/>
            </a:endParaRPr>
          </a:p>
          <a:p>
            <a:endParaRPr lang="en-MY" dirty="0"/>
          </a:p>
        </p:txBody>
      </p:sp>
      <p:sp>
        <p:nvSpPr>
          <p:cNvPr id="43012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srgbClr val="000000"/>
                </a:solidFill>
              </a:rPr>
              <a:t>2020</a:t>
            </a:r>
          </a:p>
        </p:txBody>
      </p:sp>
      <p:sp>
        <p:nvSpPr>
          <p:cNvPr id="43013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srgbClr val="000000"/>
                </a:solidFill>
              </a:rPr>
              <a:t>Software Engineering</a:t>
            </a:r>
          </a:p>
        </p:txBody>
      </p:sp>
      <p:sp>
        <p:nvSpPr>
          <p:cNvPr id="43014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fld id="{271FE81F-2FBE-497D-A59C-543C5EDFBA02}" type="slidenum">
              <a:rPr lang="en-US">
                <a:solidFill>
                  <a:srgbClr val="000000"/>
                </a:solidFill>
              </a:rPr>
              <a:pPr/>
              <a:t>9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3015" name="TextBox 7"/>
          <p:cNvSpPr txBox="1">
            <a:spLocks noChangeArrowheads="1"/>
          </p:cNvSpPr>
          <p:nvPr/>
        </p:nvSpPr>
        <p:spPr bwMode="auto">
          <a:xfrm>
            <a:off x="2286000" y="5334000"/>
            <a:ext cx="403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MY">
                <a:solidFill>
                  <a:srgbClr val="C00000"/>
                </a:solidFill>
              </a:rPr>
              <a:t>Source: Bennett et al. (2010)</a:t>
            </a:r>
          </a:p>
        </p:txBody>
      </p:sp>
      <p:pic>
        <p:nvPicPr>
          <p:cNvPr id="2" name="Audio 1">
            <a:hlinkClick r:id="" action="ppaction://media"/>
            <a:extLst>
              <a:ext uri="{FF2B5EF4-FFF2-40B4-BE49-F238E27FC236}">
                <a16:creationId xmlns:a16="http://schemas.microsoft.com/office/drawing/2014/main" id="{8825AA4F-671F-400F-A62A-F87A041AD70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6935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9921"/>
    </mc:Choice>
    <mc:Fallback>
      <p:transition spd="slow" advTm="3992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417638"/>
          </a:xfrm>
        </p:spPr>
        <p:txBody>
          <a:bodyPr>
            <a:noAutofit/>
          </a:bodyPr>
          <a:lstStyle/>
          <a:p>
            <a:r>
              <a:rPr lang="en-US" altLang="en-US" sz="3200" dirty="0"/>
              <a:t>Example of Design Subsystems: </a:t>
            </a:r>
            <a:br>
              <a:rPr lang="en-US" altLang="en-US" sz="2800" dirty="0"/>
            </a:br>
            <a:r>
              <a:rPr lang="en-US" altLang="en-US" sz="2800" dirty="0"/>
              <a:t>Combination of Layered (</a:t>
            </a:r>
            <a:r>
              <a:rPr lang="en-US" altLang="en-US" sz="2800"/>
              <a:t>user interface, </a:t>
            </a:r>
            <a:r>
              <a:rPr lang="en-US" altLang="en-US" sz="2800" dirty="0"/>
              <a:t>domain layer and data access layer), </a:t>
            </a:r>
            <a:r>
              <a:rPr lang="en-US" altLang="en-US" sz="2800" dirty="0" err="1"/>
              <a:t>Subystems</a:t>
            </a:r>
            <a:r>
              <a:rPr lang="en-US" altLang="en-US" sz="2800" dirty="0"/>
              <a:t> and Components</a:t>
            </a:r>
            <a:endParaRPr lang="en-MY" sz="2800" dirty="0"/>
          </a:p>
        </p:txBody>
      </p:sp>
      <p:sp>
        <p:nvSpPr>
          <p:cNvPr id="56323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srgbClr val="000000"/>
                </a:solidFill>
              </a:rPr>
              <a:t>2020</a:t>
            </a:r>
          </a:p>
        </p:txBody>
      </p:sp>
      <p:sp>
        <p:nvSpPr>
          <p:cNvPr id="56324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srgbClr val="000000"/>
                </a:solidFill>
              </a:rPr>
              <a:t>Software Engineering</a:t>
            </a:r>
          </a:p>
        </p:txBody>
      </p:sp>
      <p:pic>
        <p:nvPicPr>
          <p:cNvPr id="56325" name="Picture 5" descr="Fi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9388" y="1449163"/>
            <a:ext cx="3930650" cy="4884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326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2126" y="1449164"/>
            <a:ext cx="4441825" cy="4830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" name="Straight Arrow Connector 8"/>
          <p:cNvCxnSpPr/>
          <p:nvPr/>
        </p:nvCxnSpPr>
        <p:spPr>
          <a:xfrm flipH="1" flipV="1">
            <a:off x="5638800" y="4379688"/>
            <a:ext cx="1581150" cy="433388"/>
          </a:xfrm>
          <a:prstGeom prst="straightConnector1">
            <a:avLst/>
          </a:prstGeom>
          <a:ln w="25400" cmpd="sng"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>
            <a:off x="4800601" y="3541488"/>
            <a:ext cx="2347913" cy="685800"/>
          </a:xfrm>
          <a:prstGeom prst="straightConnector1">
            <a:avLst/>
          </a:prstGeom>
          <a:ln w="25400" cmpd="sng"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>
            <a:off x="4627563" y="2220689"/>
            <a:ext cx="2520950" cy="1871663"/>
          </a:xfrm>
          <a:prstGeom prst="straightConnector1">
            <a:avLst/>
          </a:prstGeom>
          <a:ln w="25400" cmpd="sng"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1762126" y="5917656"/>
            <a:ext cx="86979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600" dirty="0">
                <a:solidFill>
                  <a:srgbClr val="C00000"/>
                </a:solidFill>
                <a:latin typeface="Calibri"/>
              </a:rPr>
              <a:t>Note: Observe how package diagram and component diagram are included in the layered architectural style as discussed in Module 6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5C67F19-FEF5-4FA2-9D1E-6118113BA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>
                <a:latin typeface="Calibri"/>
              </a:rPr>
              <a:pPr/>
              <a:t>10</a:t>
            </a:fld>
            <a:endParaRPr lang="en-US">
              <a:latin typeface="Calibri"/>
            </a:endParaRPr>
          </a:p>
        </p:txBody>
      </p:sp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9C5A6DF4-7BBC-47CF-BAD6-D64DDA62A26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4688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78339"/>
    </mc:Choice>
    <mc:Fallback>
      <p:transition spd="slow" advTm="17833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en-MY"/>
              <a:t>Example: Three-Layer Package Diagram for Order-Entry Subsystem</a:t>
            </a:r>
          </a:p>
        </p:txBody>
      </p:sp>
      <p:sp>
        <p:nvSpPr>
          <p:cNvPr id="43011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srgbClr val="000000"/>
                </a:solidFill>
              </a:rPr>
              <a:t>2020</a:t>
            </a:r>
          </a:p>
        </p:txBody>
      </p:sp>
      <p:sp>
        <p:nvSpPr>
          <p:cNvPr id="43012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srgbClr val="000000"/>
                </a:solidFill>
              </a:rPr>
              <a:t>Software Engineering</a:t>
            </a:r>
          </a:p>
        </p:txBody>
      </p:sp>
      <p:sp>
        <p:nvSpPr>
          <p:cNvPr id="43013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fld id="{0DEDC57F-BA5C-4818-B33D-12A4AB96ED47}" type="slidenum">
              <a:rPr lang="en-US">
                <a:solidFill>
                  <a:srgbClr val="000000"/>
                </a:solidFill>
              </a:rPr>
              <a:pPr/>
              <a:t>11</a:t>
            </a:fld>
            <a:endParaRPr lang="en-US">
              <a:solidFill>
                <a:srgbClr val="000000"/>
              </a:solidFill>
            </a:endParaRPr>
          </a:p>
        </p:txBody>
      </p:sp>
      <p:pic>
        <p:nvPicPr>
          <p:cNvPr id="4301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1981201"/>
            <a:ext cx="5957888" cy="354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5" name="TextBox 2"/>
          <p:cNvSpPr txBox="1">
            <a:spLocks noChangeArrowheads="1"/>
          </p:cNvSpPr>
          <p:nvPr/>
        </p:nvSpPr>
        <p:spPr bwMode="auto">
          <a:xfrm>
            <a:off x="1970088" y="5907089"/>
            <a:ext cx="8686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MY">
                <a:solidFill>
                  <a:srgbClr val="C00000"/>
                </a:solidFill>
              </a:rPr>
              <a:t>Note: Domain Layer also includes the controllers (OrderHandler and AvailabilityHandler)</a:t>
            </a:r>
          </a:p>
        </p:txBody>
      </p:sp>
      <p:pic>
        <p:nvPicPr>
          <p:cNvPr id="3" name="Audio 2">
            <a:hlinkClick r:id="" action="ppaction://media"/>
            <a:extLst>
              <a:ext uri="{FF2B5EF4-FFF2-40B4-BE49-F238E27FC236}">
                <a16:creationId xmlns:a16="http://schemas.microsoft.com/office/drawing/2014/main" id="{468AEF88-C66E-4783-B35D-CFB1F3A0B8A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1620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2066"/>
    </mc:Choice>
    <mc:Fallback>
      <p:transition spd="slow" advTm="6206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Example: Order </a:t>
            </a:r>
            <a:r>
              <a:rPr lang="en-US" sz="3600"/>
              <a:t>Entry Subsystem </a:t>
            </a:r>
            <a:r>
              <a:rPr lang="en-US" sz="3600" dirty="0"/>
              <a:t>and the interaction with </a:t>
            </a:r>
            <a:r>
              <a:rPr lang="en-US" sz="3600"/>
              <a:t>other subsystems</a:t>
            </a:r>
            <a:endParaRPr lang="en-US" sz="36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>
                <a:latin typeface="Calibri"/>
              </a:rPr>
              <a:pPr/>
              <a:t>12</a:t>
            </a:fld>
            <a:endParaRPr lang="en-US">
              <a:latin typeface="Calibri"/>
            </a:endParaRPr>
          </a:p>
        </p:txBody>
      </p:sp>
      <p:pic>
        <p:nvPicPr>
          <p:cNvPr id="1843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657601" y="1449622"/>
            <a:ext cx="5029199" cy="49779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Audio 6">
            <a:hlinkClick r:id="" action="ppaction://media"/>
            <a:extLst>
              <a:ext uri="{FF2B5EF4-FFF2-40B4-BE49-F238E27FC236}">
                <a16:creationId xmlns:a16="http://schemas.microsoft.com/office/drawing/2014/main" id="{EC96C54B-67C8-40E1-993C-36592D40B68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2267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5075"/>
    </mc:Choice>
    <mc:Fallback>
      <p:transition spd="slow" advTm="7507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563</Words>
  <Application>Microsoft Office PowerPoint</Application>
  <PresentationFormat>Widescreen</PresentationFormat>
  <Paragraphs>90</Paragraphs>
  <Slides>12</Slides>
  <Notes>1</Notes>
  <HiddenSlides>0</HiddenSlides>
  <MMClips>12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1_Office Theme</vt:lpstr>
      <vt:lpstr>2_Office Theme</vt:lpstr>
      <vt:lpstr>Object-oriented design models using uml</vt:lpstr>
      <vt:lpstr>Design Models Artefacts</vt:lpstr>
      <vt:lpstr>Design Models: UML Diagrams</vt:lpstr>
      <vt:lpstr>Design Models (our focus)</vt:lpstr>
      <vt:lpstr>Object-Oriented Design Models</vt:lpstr>
      <vt:lpstr>Design subsystemS: package diagram</vt:lpstr>
      <vt:lpstr>Package Diagram: Structuring the Major Components</vt:lpstr>
      <vt:lpstr>Multilayer Design</vt:lpstr>
      <vt:lpstr>Heuristics to Identify Subsystem</vt:lpstr>
      <vt:lpstr>Example of Design Subsystems:  Combination of Layered (user interface, domain layer and data access layer), Subystems and Components</vt:lpstr>
      <vt:lpstr>Example: Three-Layer Package Diagram for Order-Entry Subsystem</vt:lpstr>
      <vt:lpstr>Example: Order Entry Subsystem and the interaction with other subsystems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Object-oriented design models using uml</dc:title>
  <dc:creator>Norsham Idris</dc:creator>
  <cp:lastModifiedBy>Norsham Idris</cp:lastModifiedBy>
  <cp:revision>3</cp:revision>
  <dcterms:created xsi:type="dcterms:W3CDTF">2020-04-20T01:56:41Z</dcterms:created>
  <dcterms:modified xsi:type="dcterms:W3CDTF">2020-04-20T04:56:10Z</dcterms:modified>
</cp:coreProperties>
</file>