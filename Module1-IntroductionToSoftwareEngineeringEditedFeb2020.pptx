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30"/>
  </p:notesMasterIdLst>
  <p:sldIdLst>
    <p:sldId id="256" r:id="rId3"/>
    <p:sldId id="257" r:id="rId4"/>
    <p:sldId id="258" r:id="rId5"/>
    <p:sldId id="304" r:id="rId6"/>
    <p:sldId id="305" r:id="rId7"/>
    <p:sldId id="306" r:id="rId8"/>
    <p:sldId id="295" r:id="rId9"/>
    <p:sldId id="298" r:id="rId10"/>
    <p:sldId id="262" r:id="rId11"/>
    <p:sldId id="294" r:id="rId12"/>
    <p:sldId id="267" r:id="rId13"/>
    <p:sldId id="268" r:id="rId14"/>
    <p:sldId id="271" r:id="rId15"/>
    <p:sldId id="272" r:id="rId16"/>
    <p:sldId id="274" r:id="rId17"/>
    <p:sldId id="307" r:id="rId18"/>
    <p:sldId id="308" r:id="rId19"/>
    <p:sldId id="310" r:id="rId20"/>
    <p:sldId id="277" r:id="rId21"/>
    <p:sldId id="280" r:id="rId22"/>
    <p:sldId id="282" r:id="rId23"/>
    <p:sldId id="284" r:id="rId24"/>
    <p:sldId id="299" r:id="rId25"/>
    <p:sldId id="300" r:id="rId26"/>
    <p:sldId id="287" r:id="rId27"/>
    <p:sldId id="301" r:id="rId28"/>
    <p:sldId id="302"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0" autoAdjust="0"/>
    <p:restoredTop sz="94660"/>
  </p:normalViewPr>
  <p:slideViewPr>
    <p:cSldViewPr>
      <p:cViewPr varScale="1">
        <p:scale>
          <a:sx n="70" d="100"/>
          <a:sy n="70" d="100"/>
        </p:scale>
        <p:origin x="1386"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ED72AD-98F2-48AA-9584-1CD8673FAED1}" type="datetimeFigureOut">
              <a:rPr lang="en-US" smtClean="0"/>
              <a:pPr/>
              <a:t>2/10/2020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18F6A6-5BDF-41D7-9B84-3DCB4D0C04F4}" type="slidenum">
              <a:rPr lang="en-US" smtClean="0"/>
              <a:pPr/>
              <a:t>‹#›</a:t>
            </a:fld>
            <a:endParaRPr lang="en-US"/>
          </a:p>
        </p:txBody>
      </p:sp>
    </p:spTree>
    <p:extLst>
      <p:ext uri="{BB962C8B-B14F-4D97-AF65-F5344CB8AC3E}">
        <p14:creationId xmlns:p14="http://schemas.microsoft.com/office/powerpoint/2010/main" val="338730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2</a:t>
            </a:fld>
            <a:endParaRPr lang="en-US"/>
          </a:p>
        </p:txBody>
      </p:sp>
    </p:spTree>
    <p:extLst>
      <p:ext uri="{BB962C8B-B14F-4D97-AF65-F5344CB8AC3E}">
        <p14:creationId xmlns:p14="http://schemas.microsoft.com/office/powerpoint/2010/main" val="1700409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7</a:t>
            </a:fld>
            <a:endParaRPr lang="en-US"/>
          </a:p>
        </p:txBody>
      </p:sp>
    </p:spTree>
    <p:extLst>
      <p:ext uri="{BB962C8B-B14F-4D97-AF65-F5344CB8AC3E}">
        <p14:creationId xmlns:p14="http://schemas.microsoft.com/office/powerpoint/2010/main" val="1400328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8</a:t>
            </a:fld>
            <a:endParaRPr lang="en-US"/>
          </a:p>
        </p:txBody>
      </p:sp>
    </p:spTree>
    <p:extLst>
      <p:ext uri="{BB962C8B-B14F-4D97-AF65-F5344CB8AC3E}">
        <p14:creationId xmlns:p14="http://schemas.microsoft.com/office/powerpoint/2010/main" val="2964055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23</a:t>
            </a:fld>
            <a:endParaRPr lang="en-US"/>
          </a:p>
        </p:txBody>
      </p:sp>
    </p:spTree>
    <p:extLst>
      <p:ext uri="{BB962C8B-B14F-4D97-AF65-F5344CB8AC3E}">
        <p14:creationId xmlns:p14="http://schemas.microsoft.com/office/powerpoint/2010/main" val="3084884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fld id="{2818F6A6-5BDF-41D7-9B84-3DCB4D0C04F4}" type="slidenum">
              <a:rPr lang="en-US" smtClean="0">
                <a:solidFill>
                  <a:prstClr val="black"/>
                </a:solidFill>
              </a:rPr>
              <a:pPr/>
              <a:t>24</a:t>
            </a:fld>
            <a:endParaRPr lang="en-US">
              <a:solidFill>
                <a:prstClr val="black"/>
              </a:solidFill>
            </a:endParaRPr>
          </a:p>
        </p:txBody>
      </p:sp>
    </p:spTree>
    <p:extLst>
      <p:ext uri="{BB962C8B-B14F-4D97-AF65-F5344CB8AC3E}">
        <p14:creationId xmlns:p14="http://schemas.microsoft.com/office/powerpoint/2010/main" val="3084884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26</a:t>
            </a:fld>
            <a:endParaRPr lang="en-US"/>
          </a:p>
        </p:txBody>
      </p:sp>
    </p:spTree>
    <p:extLst>
      <p:ext uri="{BB962C8B-B14F-4D97-AF65-F5344CB8AC3E}">
        <p14:creationId xmlns:p14="http://schemas.microsoft.com/office/powerpoint/2010/main" val="1198352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2020</a:t>
            </a:r>
          </a:p>
        </p:txBody>
      </p:sp>
      <p:sp>
        <p:nvSpPr>
          <p:cNvPr id="8" name="Footer Placeholder 7"/>
          <p:cNvSpPr>
            <a:spLocks noGrp="1"/>
          </p:cNvSpPr>
          <p:nvPr>
            <p:ph type="ftr" sz="quarter" idx="11"/>
          </p:nvPr>
        </p:nvSpPr>
        <p:spPr/>
        <p:txBody>
          <a:bodyPr/>
          <a:lstStyle/>
          <a:p>
            <a:r>
              <a:rPr lang="en-US"/>
              <a:t>Software Engineering</a:t>
            </a:r>
          </a:p>
        </p:txBody>
      </p:sp>
      <p:sp>
        <p:nvSpPr>
          <p:cNvPr id="9" name="Slide Number Placeholder 8"/>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2020</a:t>
            </a:r>
          </a:p>
        </p:txBody>
      </p:sp>
      <p:sp>
        <p:nvSpPr>
          <p:cNvPr id="4" name="Footer Placeholder 3"/>
          <p:cNvSpPr>
            <a:spLocks noGrp="1"/>
          </p:cNvSpPr>
          <p:nvPr>
            <p:ph type="ftr" sz="quarter" idx="11"/>
          </p:nvPr>
        </p:nvSpPr>
        <p:spPr/>
        <p:txBody>
          <a:bodyPr/>
          <a:lstStyle/>
          <a:p>
            <a:r>
              <a:rPr lang="en-US"/>
              <a:t>Software Engineering</a:t>
            </a:r>
          </a:p>
        </p:txBody>
      </p:sp>
      <p:sp>
        <p:nvSpPr>
          <p:cNvPr id="5" name="Slide Number Placeholder 4"/>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2020</a:t>
            </a:r>
          </a:p>
        </p:txBody>
      </p:sp>
      <p:sp>
        <p:nvSpPr>
          <p:cNvPr id="3" name="Footer Placeholder 2"/>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userDrawn="1"/>
        </p:nvPicPr>
        <p:blipFill>
          <a:blip r:embed="rId13" cstate="print"/>
          <a:srcRect/>
          <a:stretch>
            <a:fillRect/>
          </a:stretch>
        </p:blipFill>
        <p:spPr bwMode="auto">
          <a:xfrm>
            <a:off x="-747" y="6487366"/>
            <a:ext cx="9131300" cy="357187"/>
          </a:xfrm>
          <a:prstGeom prst="rect">
            <a:avLst/>
          </a:prstGeom>
          <a:noFill/>
          <a:ln w="9525">
            <a:noFill/>
            <a:miter lim="800000"/>
            <a:headEnd/>
            <a:tailEnd/>
          </a:ln>
        </p:spPr>
      </p:pic>
      <p:sp>
        <p:nvSpPr>
          <p:cNvPr id="9"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pic>
        <p:nvPicPr>
          <p:cNvPr id="10" name="Picture 20" descr="header_UTM"/>
          <p:cNvPicPr>
            <a:picLocks noChangeAspect="1" noChangeArrowheads="1"/>
          </p:cNvPicPr>
          <p:nvPr userDrawn="1"/>
        </p:nvPicPr>
        <p:blipFill>
          <a:blip r:embed="rId14" cstate="print"/>
          <a:srcRect/>
          <a:stretch>
            <a:fillRect/>
          </a:stretch>
        </p:blipFill>
        <p:spPr bwMode="auto">
          <a:xfrm>
            <a:off x="63500" y="106363"/>
            <a:ext cx="1195388" cy="395287"/>
          </a:xfrm>
          <a:prstGeom prst="rect">
            <a:avLst/>
          </a:prstGeom>
          <a:noFill/>
          <a:ln w="9525">
            <a:noFill/>
            <a:miter lim="800000"/>
            <a:headEnd/>
            <a:tailEnd/>
          </a:ln>
        </p:spPr>
      </p:pic>
      <p:pic>
        <p:nvPicPr>
          <p:cNvPr id="11" name="Picture 22" descr="header_url"/>
          <p:cNvPicPr>
            <a:picLocks noChangeAspect="1" noChangeArrowheads="1"/>
          </p:cNvPicPr>
          <p:nvPr userDrawn="1"/>
        </p:nvPicPr>
        <p:blipFill>
          <a:blip r:embed="rId15" cstate="print"/>
          <a:srcRect/>
          <a:stretch>
            <a:fillRect/>
          </a:stretch>
        </p:blipFill>
        <p:spPr bwMode="auto">
          <a:xfrm>
            <a:off x="0" y="1169894"/>
            <a:ext cx="2376488" cy="255588"/>
          </a:xfrm>
          <a:prstGeom prst="rect">
            <a:avLst/>
          </a:prstGeom>
          <a:noFill/>
          <a:ln w="9525">
            <a:noFill/>
            <a:miter lim="800000"/>
            <a:headEnd/>
            <a:tailEnd/>
          </a:ln>
        </p:spPr>
      </p:pic>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598396"/>
            <a:ext cx="2133600" cy="365125"/>
          </a:xfrm>
          <a:prstGeom prst="rect">
            <a:avLst/>
          </a:prstGeom>
        </p:spPr>
        <p:txBody>
          <a:bodyPr vert="horz" lIns="91440" tIns="45720" rIns="91440" bIns="45720" rtlCol="0" anchor="ctr"/>
          <a:lstStyle>
            <a:lvl1pPr algn="l">
              <a:defRPr sz="1200">
                <a:solidFill>
                  <a:sysClr val="windowText" lastClr="000000"/>
                </a:solidFill>
              </a:defRPr>
            </a:lvl1pPr>
          </a:lstStyle>
          <a:p>
            <a:r>
              <a:rPr lang="en-US"/>
              <a:t>2020</a:t>
            </a:r>
          </a:p>
        </p:txBody>
      </p:sp>
      <p:sp>
        <p:nvSpPr>
          <p:cNvPr id="5" name="Footer Placeholder 4"/>
          <p:cNvSpPr>
            <a:spLocks noGrp="1"/>
          </p:cNvSpPr>
          <p:nvPr>
            <p:ph type="ftr" sz="quarter" idx="3"/>
          </p:nvPr>
        </p:nvSpPr>
        <p:spPr>
          <a:xfrm>
            <a:off x="2469777" y="6620436"/>
            <a:ext cx="4191000" cy="304800"/>
          </a:xfrm>
          <a:prstGeom prst="rect">
            <a:avLst/>
          </a:prstGeom>
        </p:spPr>
        <p:txBody>
          <a:bodyPr vert="horz" lIns="91440" tIns="45720" rIns="91440" bIns="45720" rtlCol="0" anchor="ctr"/>
          <a:lstStyle>
            <a:lvl1pPr algn="ctr">
              <a:defRPr sz="1200">
                <a:solidFill>
                  <a:sysClr val="windowText" lastClr="000000"/>
                </a:solidFill>
              </a:defRPr>
            </a:lvl1pPr>
          </a:lstStyle>
          <a:p>
            <a:r>
              <a:rPr lang="en-US"/>
              <a:t>Software Engineering</a:t>
            </a:r>
          </a:p>
        </p:txBody>
      </p:sp>
      <p:sp>
        <p:nvSpPr>
          <p:cNvPr id="6" name="Slide Number Placeholder 5"/>
          <p:cNvSpPr>
            <a:spLocks noGrp="1"/>
          </p:cNvSpPr>
          <p:nvPr>
            <p:ph type="sldNum" sz="quarter" idx="4"/>
          </p:nvPr>
        </p:nvSpPr>
        <p:spPr>
          <a:xfrm>
            <a:off x="6553200" y="6598396"/>
            <a:ext cx="2133600" cy="365125"/>
          </a:xfrm>
          <a:prstGeom prst="rect">
            <a:avLst/>
          </a:prstGeom>
        </p:spPr>
        <p:txBody>
          <a:bodyPr vert="horz" lIns="91440" tIns="45720" rIns="91440" bIns="45720" rtlCol="0" anchor="ctr"/>
          <a:lstStyle>
            <a:lvl1pPr algn="r">
              <a:defRPr sz="1200">
                <a:solidFill>
                  <a:sysClr val="windowText" lastClr="000000"/>
                </a:solidFill>
              </a:defRPr>
            </a:lvl1pPr>
          </a:lstStyle>
          <a:p>
            <a:fld id="{0362C787-829C-4B6B-B21B-90D8981190F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ontent Placeholder 2"/>
          <p:cNvSpPr txBox="1">
            <a:spLocks/>
          </p:cNvSpPr>
          <p:nvPr userDrawn="1"/>
        </p:nvSpPr>
        <p:spPr>
          <a:xfrm>
            <a:off x="457200" y="1600200"/>
            <a:ext cx="8229600" cy="4525963"/>
          </a:xfrm>
          <a:prstGeom prst="rect">
            <a:avLst/>
          </a:prstGeom>
        </p:spPr>
        <p:txBody>
          <a:bodyPr/>
          <a:lstStyle/>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54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5400" b="1" i="0" u="none" strike="noStrike" kern="1200" cap="none" spc="0" normalizeH="0" baseline="0" noProof="0">
                <a:ln>
                  <a:noFill/>
                </a:ln>
                <a:solidFill>
                  <a:schemeClr val="tx1"/>
                </a:solidFill>
                <a:effectLst/>
                <a:uLnTx/>
                <a:uFillTx/>
                <a:latin typeface="+mn-lt"/>
                <a:ea typeface="+mn-ea"/>
                <a:cs typeface="+mn-cs"/>
              </a:rPr>
              <a:t>Terima Kasih</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a:ln>
                  <a:noFill/>
                </a:ln>
                <a:solidFill>
                  <a:srgbClr val="C00000"/>
                </a:solidFill>
                <a:effectLst/>
                <a:uLnTx/>
                <a:uFillTx/>
                <a:latin typeface="+mn-lt"/>
                <a:ea typeface="+mn-ea"/>
                <a:cs typeface="+mn-cs"/>
              </a:rPr>
              <a:t>atas keprihatinan anda</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3600" b="1" i="0" u="none" strike="noStrike" kern="1200" cap="none" spc="0" normalizeH="0" baseline="0" noProof="0">
                <a:ln>
                  <a:noFill/>
                </a:ln>
                <a:solidFill>
                  <a:srgbClr val="002060"/>
                </a:solidFill>
                <a:effectLst/>
                <a:uLnTx/>
                <a:uFillTx/>
                <a:latin typeface="Baskerville Old Face" pitchFamily="18" charset="0"/>
                <a:ea typeface="+mn-ea"/>
                <a:cs typeface="+mn-cs"/>
              </a:rPr>
              <a:t>“I Care, You Care, We Care”</a:t>
            </a:r>
            <a:endParaRPr kumimoji="0" lang="en-US" sz="3600" b="1" i="0" u="none" strike="noStrike" kern="1200" cap="none" spc="0" normalizeH="0" baseline="0" noProof="0" dirty="0">
              <a:ln>
                <a:noFill/>
              </a:ln>
              <a:solidFill>
                <a:srgbClr val="002060"/>
              </a:solidFill>
              <a:effectLst/>
              <a:uLnTx/>
              <a:uFillTx/>
              <a:latin typeface="Baskerville Old Face" pitchFamily="18" charset="0"/>
              <a:ea typeface="+mn-ea"/>
              <a:cs typeface="+mn-cs"/>
            </a:endParaRPr>
          </a:p>
        </p:txBody>
      </p:sp>
      <p:pic>
        <p:nvPicPr>
          <p:cNvPr id="13" name="Picture 10"/>
          <p:cNvPicPr>
            <a:picLocks noChangeAspect="1" noChangeArrowheads="1"/>
          </p:cNvPicPr>
          <p:nvPr userDrawn="1"/>
        </p:nvPicPr>
        <p:blipFill>
          <a:blip r:embed="rId2" cstate="print"/>
          <a:srcRect/>
          <a:stretch>
            <a:fillRect/>
          </a:stretch>
        </p:blipFill>
        <p:spPr bwMode="auto">
          <a:xfrm>
            <a:off x="-747" y="6487366"/>
            <a:ext cx="9131300" cy="357187"/>
          </a:xfrm>
          <a:prstGeom prst="rect">
            <a:avLst/>
          </a:prstGeom>
          <a:noFill/>
          <a:ln w="9525">
            <a:noFill/>
            <a:miter lim="800000"/>
            <a:headEnd/>
            <a:tailEnd/>
          </a:ln>
        </p:spPr>
      </p:pic>
      <p:sp>
        <p:nvSpPr>
          <p:cNvPr id="14" name="Date Placeholder 3"/>
          <p:cNvSpPr>
            <a:spLocks noGrp="1"/>
          </p:cNvSpPr>
          <p:nvPr>
            <p:ph type="dt" sz="half" idx="2"/>
          </p:nvPr>
        </p:nvSpPr>
        <p:spPr>
          <a:xfrm>
            <a:off x="0" y="6600451"/>
            <a:ext cx="1547664"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solidFill>
                <a:latin typeface="+mn-lt"/>
              </a:defRPr>
            </a:lvl1pPr>
          </a:lstStyle>
          <a:p>
            <a:pPr>
              <a:defRPr/>
            </a:pPr>
            <a:r>
              <a:rPr lang="en-US"/>
              <a:t>2020</a:t>
            </a:r>
            <a:endParaRPr lang="en-US" dirty="0"/>
          </a:p>
        </p:txBody>
      </p:sp>
      <p:sp>
        <p:nvSpPr>
          <p:cNvPr id="15" name="Slide Number Placeholder 5"/>
          <p:cNvSpPr>
            <a:spLocks noGrp="1"/>
          </p:cNvSpPr>
          <p:nvPr>
            <p:ph type="sldNum" sz="quarter" idx="4"/>
          </p:nvPr>
        </p:nvSpPr>
        <p:spPr>
          <a:xfrm>
            <a:off x="8316416" y="6600451"/>
            <a:ext cx="457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defRPr>
            </a:lvl1pPr>
          </a:lstStyle>
          <a:p>
            <a:pPr>
              <a:defRPr/>
            </a:pPr>
            <a:fld id="{C038A795-CA2C-4B96-A1E0-C7053193AEE8}" type="slidenum">
              <a:rPr lang="en-US"/>
              <a:pPr>
                <a:defRPr/>
              </a:pPr>
              <a:t>‹#›</a:t>
            </a:fld>
            <a:endParaRPr lang="en-US"/>
          </a:p>
        </p:txBody>
      </p:sp>
      <p:sp>
        <p:nvSpPr>
          <p:cNvPr id="16"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pic>
        <p:nvPicPr>
          <p:cNvPr id="17" name="Picture 20" descr="header_UTM"/>
          <p:cNvPicPr>
            <a:picLocks noChangeAspect="1" noChangeArrowheads="1"/>
          </p:cNvPicPr>
          <p:nvPr userDrawn="1"/>
        </p:nvPicPr>
        <p:blipFill>
          <a:blip r:embed="rId3" cstate="print"/>
          <a:srcRect/>
          <a:stretch>
            <a:fillRect/>
          </a:stretch>
        </p:blipFill>
        <p:spPr bwMode="auto">
          <a:xfrm>
            <a:off x="63500" y="106363"/>
            <a:ext cx="1195388" cy="395287"/>
          </a:xfrm>
          <a:prstGeom prst="rect">
            <a:avLst/>
          </a:prstGeom>
          <a:noFill/>
          <a:ln w="9525">
            <a:noFill/>
            <a:miter lim="800000"/>
            <a:headEnd/>
            <a:tailEnd/>
          </a:ln>
        </p:spPr>
      </p:pic>
      <p:pic>
        <p:nvPicPr>
          <p:cNvPr id="18" name="Picture 22" descr="header_url"/>
          <p:cNvPicPr>
            <a:picLocks noChangeAspect="1" noChangeArrowheads="1"/>
          </p:cNvPicPr>
          <p:nvPr userDrawn="1"/>
        </p:nvPicPr>
        <p:blipFill>
          <a:blip r:embed="rId4" cstate="print"/>
          <a:srcRect/>
          <a:stretch>
            <a:fillRect/>
          </a:stretch>
        </p:blipFill>
        <p:spPr bwMode="auto">
          <a:xfrm>
            <a:off x="0" y="1009650"/>
            <a:ext cx="2376488" cy="388938"/>
          </a:xfrm>
          <a:prstGeom prst="rect">
            <a:avLst/>
          </a:prstGeom>
          <a:noFill/>
          <a:ln w="9525">
            <a:noFill/>
            <a:miter lim="800000"/>
            <a:headEnd/>
            <a:tailEnd/>
          </a:ln>
        </p:spPr>
      </p:pic>
      <p:pic>
        <p:nvPicPr>
          <p:cNvPr id="19" name="Picture 7"/>
          <p:cNvPicPr>
            <a:picLocks noChangeAspect="1" noChangeArrowheads="1"/>
          </p:cNvPicPr>
          <p:nvPr userDrawn="1"/>
        </p:nvPicPr>
        <p:blipFill>
          <a:blip r:embed="rId5" cstate="print"/>
          <a:srcRect/>
          <a:stretch>
            <a:fillRect/>
          </a:stretch>
        </p:blipFill>
        <p:spPr bwMode="auto">
          <a:xfrm>
            <a:off x="1873008" y="53788"/>
            <a:ext cx="580837" cy="438130"/>
          </a:xfrm>
          <a:prstGeom prst="rect">
            <a:avLst/>
          </a:prstGeom>
          <a:noFill/>
          <a:ln w="9525">
            <a:noFill/>
            <a:miter lim="800000"/>
            <a:headEnd/>
            <a:tailEnd/>
          </a:ln>
        </p:spPr>
      </p:pic>
      <p:pic>
        <p:nvPicPr>
          <p:cNvPr id="20" name="Picture 8" descr="PNG_newlogo"/>
          <p:cNvPicPr>
            <a:picLocks noChangeAspect="1" noChangeArrowheads="1"/>
          </p:cNvPicPr>
          <p:nvPr userDrawn="1"/>
        </p:nvPicPr>
        <p:blipFill>
          <a:blip r:embed="rId6" cstate="print"/>
          <a:srcRect/>
          <a:stretch>
            <a:fillRect/>
          </a:stretch>
        </p:blipFill>
        <p:spPr bwMode="auto">
          <a:xfrm>
            <a:off x="1354633" y="26894"/>
            <a:ext cx="504056" cy="477366"/>
          </a:xfrm>
          <a:prstGeom prst="rect">
            <a:avLst/>
          </a:prstGeom>
          <a:noFill/>
          <a:ln w="9525" algn="in">
            <a:noFill/>
            <a:miter lim="800000"/>
            <a:headEnd/>
            <a:tailEnd/>
          </a:ln>
        </p:spPr>
      </p:pic>
      <p:sp>
        <p:nvSpPr>
          <p:cNvPr id="21" name="Footer Placeholder 4"/>
          <p:cNvSpPr>
            <a:spLocks noGrp="1"/>
          </p:cNvSpPr>
          <p:nvPr>
            <p:ph type="ftr" sz="quarter" idx="3"/>
          </p:nvPr>
        </p:nvSpPr>
        <p:spPr>
          <a:xfrm>
            <a:off x="2281520" y="6647328"/>
            <a:ext cx="4704928" cy="365125"/>
          </a:xfrm>
          <a:prstGeom prst="rect">
            <a:avLst/>
          </a:prstGeom>
        </p:spPr>
        <p:txBody>
          <a:bodyPr/>
          <a:lstStyle>
            <a:lvl1pPr algn="ctr">
              <a:defRPr sz="1100"/>
            </a:lvl1pPr>
          </a:lstStyle>
          <a:p>
            <a:pPr>
              <a:defRPr/>
            </a:pPr>
            <a:r>
              <a:rPr lang="en-US"/>
              <a:t>Software Engineering</a:t>
            </a:r>
            <a:endParaRPr lang="en-US" dirty="0"/>
          </a:p>
        </p:txBody>
      </p:sp>
    </p:spTree>
  </p:cSld>
  <p:clrMap bg1="lt1" tx1="dk1" bg2="lt2" tx2="dk2" accent1="accent1" accent2="accent2" accent3="accent3" accent4="accent4" accent5="accent5" accent6="accent6" hlink="hlink" folHlink="folHlink"/>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cerescontrols.com/tutorials-3/"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6.xml"/><Relationship Id="rId4" Type="http://schemas.openxmlformats.org/officeDocument/2006/relationships/hyperlink" Target="https://www.ft.com/content/7c32d086-bff4-11e9-b350-db00d509634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t>Module </a:t>
            </a:r>
            <a:r>
              <a:rPr lang="en-US" dirty="0"/>
              <a:t>1: Introduction to Software Engineering</a:t>
            </a:r>
          </a:p>
        </p:txBody>
      </p:sp>
      <p:sp>
        <p:nvSpPr>
          <p:cNvPr id="3" name="Subtitle 2"/>
          <p:cNvSpPr>
            <a:spLocks noGrp="1"/>
          </p:cNvSpPr>
          <p:nvPr>
            <p:ph type="subTitle" idx="1"/>
          </p:nvPr>
        </p:nvSpPr>
        <p:spPr/>
        <p:txBody>
          <a:bodyPr>
            <a:normAutofit fontScale="92500"/>
          </a:bodyPr>
          <a:lstStyle/>
          <a:p>
            <a:r>
              <a:rPr lang="en-US" sz="4000" dirty="0">
                <a:solidFill>
                  <a:schemeClr val="tx2"/>
                </a:solidFill>
              </a:rPr>
              <a:t>Software Engineering</a:t>
            </a:r>
            <a:endParaRPr lang="en-US" sz="4000" dirty="0"/>
          </a:p>
          <a:p>
            <a:r>
              <a:rPr lang="en-US" sz="2800" dirty="0"/>
              <a:t>School of Computing, Faculty of Engineering</a:t>
            </a:r>
          </a:p>
          <a:p>
            <a:r>
              <a:rPr lang="en-US" sz="2800" dirty="0" err="1"/>
              <a:t>Universiti</a:t>
            </a:r>
            <a:r>
              <a:rPr lang="en-US" sz="2800" dirty="0"/>
              <a:t> </a:t>
            </a:r>
            <a:r>
              <a:rPr lang="en-US" sz="2800" dirty="0" err="1"/>
              <a:t>Teknologi</a:t>
            </a:r>
            <a:r>
              <a:rPr lang="en-US" sz="2800" dirty="0"/>
              <a:t> Malaysia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Outline</a:t>
            </a:r>
            <a:endParaRPr lang="en-US" dirty="0"/>
          </a:p>
        </p:txBody>
      </p:sp>
      <p:sp>
        <p:nvSpPr>
          <p:cNvPr id="3" name="Content Placeholder 2"/>
          <p:cNvSpPr>
            <a:spLocks noGrp="1"/>
          </p:cNvSpPr>
          <p:nvPr>
            <p:ph idx="1"/>
          </p:nvPr>
        </p:nvSpPr>
        <p:spPr/>
        <p:txBody>
          <a:bodyPr>
            <a:normAutofit/>
          </a:bodyPr>
          <a:lstStyle/>
          <a:p>
            <a:r>
              <a:rPr lang="en-MY"/>
              <a:t>Software engineering definition</a:t>
            </a:r>
          </a:p>
          <a:p>
            <a:r>
              <a:rPr lang="en-MY"/>
              <a:t>Software engineering as a layered technology</a:t>
            </a:r>
          </a:p>
          <a:p>
            <a:r>
              <a:rPr lang="en-MY"/>
              <a:t>Types of software</a:t>
            </a:r>
          </a:p>
          <a:p>
            <a:r>
              <a:rPr lang="en-MY"/>
              <a:t>Inherent difficulties in software engineering</a:t>
            </a:r>
          </a:p>
          <a:p>
            <a:r>
              <a:rPr lang="en-MY"/>
              <a:t>Software engineering quality focus</a:t>
            </a:r>
          </a:p>
          <a:p>
            <a:r>
              <a:rPr lang="en-MY"/>
              <a:t>Documentation standard</a:t>
            </a:r>
          </a:p>
          <a:p>
            <a:pPr marL="0" indent="0">
              <a:buNone/>
            </a:pPr>
            <a:r>
              <a:rPr lang="en-MY" dirty="0"/>
              <a:t>	</a:t>
            </a:r>
          </a:p>
          <a:p>
            <a:endParaRPr lang="en-US"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a:t>
            </a:fld>
            <a:endParaRPr lang="en-US"/>
          </a:p>
        </p:txBody>
      </p:sp>
      <p:sp>
        <p:nvSpPr>
          <p:cNvPr id="7" name="TextBox 6"/>
          <p:cNvSpPr txBox="1"/>
          <p:nvPr/>
        </p:nvSpPr>
        <p:spPr>
          <a:xfrm>
            <a:off x="446315" y="5764087"/>
            <a:ext cx="8392886" cy="646331"/>
          </a:xfrm>
          <a:prstGeom prst="rect">
            <a:avLst/>
          </a:prstGeom>
          <a:noFill/>
        </p:spPr>
        <p:txBody>
          <a:bodyPr wrap="square" rtlCol="0">
            <a:spAutoFit/>
          </a:bodyPr>
          <a:lstStyle/>
          <a:p>
            <a:r>
              <a:rPr lang="en-MY" dirty="0">
                <a:solidFill>
                  <a:srgbClr val="C00000"/>
                </a:solidFill>
              </a:rPr>
              <a:t>Note: The overall contents of the slide are based on the main reference that is Sommerville (2016) with other references specified directly in respective slides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Objectives</a:t>
            </a:r>
          </a:p>
        </p:txBody>
      </p:sp>
      <p:sp>
        <p:nvSpPr>
          <p:cNvPr id="3" name="Content Placeholder 2"/>
          <p:cNvSpPr>
            <a:spLocks noGrp="1"/>
          </p:cNvSpPr>
          <p:nvPr>
            <p:ph idx="1"/>
          </p:nvPr>
        </p:nvSpPr>
        <p:spPr/>
        <p:txBody>
          <a:bodyPr>
            <a:noAutofit/>
          </a:bodyPr>
          <a:lstStyle/>
          <a:p>
            <a:pPr marL="0" indent="0">
              <a:buNone/>
            </a:pPr>
            <a:r>
              <a:rPr lang="en-MY" sz="2800" dirty="0"/>
              <a:t>The objectives of </a:t>
            </a:r>
            <a:r>
              <a:rPr lang="en-MY" sz="2800"/>
              <a:t>this module are:</a:t>
            </a:r>
            <a:endParaRPr lang="en-MY" sz="2800" dirty="0"/>
          </a:p>
          <a:p>
            <a:r>
              <a:rPr lang="en-MY" sz="2800"/>
              <a:t>To understand the importance of software engineering in </a:t>
            </a:r>
            <a:r>
              <a:rPr lang="en-MY" sz="2800" dirty="0"/>
              <a:t>software </a:t>
            </a:r>
            <a:r>
              <a:rPr lang="en-MY" sz="2800"/>
              <a:t>development </a:t>
            </a:r>
          </a:p>
          <a:p>
            <a:r>
              <a:rPr lang="en-MY" sz="2800"/>
              <a:t>To </a:t>
            </a:r>
            <a:r>
              <a:rPr lang="en-MY" sz="2800" dirty="0"/>
              <a:t>understand the definition </a:t>
            </a:r>
            <a:r>
              <a:rPr lang="en-MY" sz="2800"/>
              <a:t>of software engineering</a:t>
            </a:r>
            <a:endParaRPr lang="en-MY" sz="2800" dirty="0"/>
          </a:p>
          <a:p>
            <a:r>
              <a:rPr lang="en-MY" sz="2800" dirty="0"/>
              <a:t>To know the difference between Software Engineering and </a:t>
            </a:r>
            <a:r>
              <a:rPr lang="en-MY" sz="2800"/>
              <a:t>Computer Science, </a:t>
            </a:r>
            <a:r>
              <a:rPr lang="en-MY" sz="2800" dirty="0"/>
              <a:t>Software Engineering and </a:t>
            </a:r>
            <a:r>
              <a:rPr lang="en-MY" sz="2800"/>
              <a:t>Software Programming</a:t>
            </a:r>
            <a:endParaRPr lang="en-MY" sz="2800" dirty="0"/>
          </a:p>
          <a:p>
            <a:r>
              <a:rPr lang="en-MY" sz="2800" dirty="0"/>
              <a:t>To understand the importance </a:t>
            </a:r>
            <a:r>
              <a:rPr lang="en-MY" sz="2800"/>
              <a:t>of software quality and documentation standard</a:t>
            </a:r>
            <a:endParaRPr lang="en-MY" sz="2800" dirty="0"/>
          </a:p>
          <a:p>
            <a:pPr marL="0" indent="0">
              <a:buNone/>
            </a:pPr>
            <a:endParaRPr lang="en-MY" sz="28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3</a:t>
            </a:fld>
            <a:endParaRPr lang="en-US"/>
          </a:p>
        </p:txBody>
      </p:sp>
    </p:spTree>
    <p:extLst>
      <p:ext uri="{BB962C8B-B14F-4D97-AF65-F5344CB8AC3E}">
        <p14:creationId xmlns:p14="http://schemas.microsoft.com/office/powerpoint/2010/main" val="3566724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xmlns="" id="{22C80AE4-C30C-4B82-80D5-5FE844E3C6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4120991"/>
            <a:ext cx="4191000" cy="2273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a:extLst>
              <a:ext uri="{FF2B5EF4-FFF2-40B4-BE49-F238E27FC236}">
                <a16:creationId xmlns:a16="http://schemas.microsoft.com/office/drawing/2014/main" xmlns="" id="{F3117A26-5CB7-4C55-A3B4-07162C6A6BCB}"/>
              </a:ext>
            </a:extLst>
          </p:cNvPr>
          <p:cNvSpPr>
            <a:spLocks noGrp="1"/>
          </p:cNvSpPr>
          <p:nvPr>
            <p:ph type="title"/>
          </p:nvPr>
        </p:nvSpPr>
        <p:spPr/>
        <p:txBody>
          <a:bodyPr>
            <a:noAutofit/>
          </a:bodyPr>
          <a:lstStyle/>
          <a:p>
            <a:r>
              <a:rPr lang="en-GB" dirty="0"/>
              <a:t>The Importance of Software Engineering</a:t>
            </a:r>
          </a:p>
        </p:txBody>
      </p:sp>
      <p:sp>
        <p:nvSpPr>
          <p:cNvPr id="3" name="Content Placeholder 2">
            <a:extLst>
              <a:ext uri="{FF2B5EF4-FFF2-40B4-BE49-F238E27FC236}">
                <a16:creationId xmlns:a16="http://schemas.microsoft.com/office/drawing/2014/main" xmlns="" id="{96EF36BC-F402-47D9-AA7B-05D79FBC03BC}"/>
              </a:ext>
            </a:extLst>
          </p:cNvPr>
          <p:cNvSpPr>
            <a:spLocks noGrp="1"/>
          </p:cNvSpPr>
          <p:nvPr>
            <p:ph idx="1"/>
          </p:nvPr>
        </p:nvSpPr>
        <p:spPr/>
        <p:txBody>
          <a:bodyPr/>
          <a:lstStyle/>
          <a:p>
            <a:r>
              <a:rPr lang="en-GB" dirty="0"/>
              <a:t>Software engineering is important because software is needed in almost every industry, business and transactions</a:t>
            </a:r>
          </a:p>
          <a:p>
            <a:r>
              <a:rPr lang="en-GB" dirty="0"/>
              <a:t>If an application fails; a fast, efficient, and effective fix needs to happen as soon as possible</a:t>
            </a:r>
          </a:p>
        </p:txBody>
      </p:sp>
      <p:sp>
        <p:nvSpPr>
          <p:cNvPr id="4" name="Date Placeholder 3">
            <a:extLst>
              <a:ext uri="{FF2B5EF4-FFF2-40B4-BE49-F238E27FC236}">
                <a16:creationId xmlns:a16="http://schemas.microsoft.com/office/drawing/2014/main" xmlns="" id="{8047ACC6-4C58-417D-9AA6-9F9BC9AE8BD5}"/>
              </a:ext>
            </a:extLst>
          </p:cNvPr>
          <p:cNvSpPr>
            <a:spLocks noGrp="1"/>
          </p:cNvSpPr>
          <p:nvPr>
            <p:ph type="dt" sz="half" idx="10"/>
          </p:nvPr>
        </p:nvSpPr>
        <p:spPr/>
        <p:txBody>
          <a:bodyPr/>
          <a:lstStyle/>
          <a:p>
            <a:r>
              <a:rPr lang="en-US"/>
              <a:t>2020</a:t>
            </a:r>
          </a:p>
        </p:txBody>
      </p:sp>
      <p:sp>
        <p:nvSpPr>
          <p:cNvPr id="5" name="Footer Placeholder 4">
            <a:extLst>
              <a:ext uri="{FF2B5EF4-FFF2-40B4-BE49-F238E27FC236}">
                <a16:creationId xmlns:a16="http://schemas.microsoft.com/office/drawing/2014/main" xmlns="" id="{FC542C10-1E76-4D03-9247-A17F12BDC8B7}"/>
              </a:ext>
            </a:extLst>
          </p:cNvPr>
          <p:cNvSpPr>
            <a:spLocks noGrp="1"/>
          </p:cNvSpPr>
          <p:nvPr>
            <p:ph type="ftr" sz="quarter" idx="11"/>
          </p:nvPr>
        </p:nvSpPr>
        <p:spPr/>
        <p:txBody>
          <a:bodyPr/>
          <a:lstStyle/>
          <a:p>
            <a:r>
              <a:rPr lang="en-US"/>
              <a:t>Software Engineering</a:t>
            </a:r>
          </a:p>
        </p:txBody>
      </p:sp>
      <p:sp>
        <p:nvSpPr>
          <p:cNvPr id="6" name="Slide Number Placeholder 5">
            <a:extLst>
              <a:ext uri="{FF2B5EF4-FFF2-40B4-BE49-F238E27FC236}">
                <a16:creationId xmlns:a16="http://schemas.microsoft.com/office/drawing/2014/main" xmlns="" id="{F46E5EF6-671F-45DF-84D1-79086CA662CB}"/>
              </a:ext>
            </a:extLst>
          </p:cNvPr>
          <p:cNvSpPr>
            <a:spLocks noGrp="1"/>
          </p:cNvSpPr>
          <p:nvPr>
            <p:ph type="sldNum" sz="quarter" idx="12"/>
          </p:nvPr>
        </p:nvSpPr>
        <p:spPr/>
        <p:txBody>
          <a:bodyPr/>
          <a:lstStyle/>
          <a:p>
            <a:fld id="{0362C787-829C-4B6B-B21B-90D8981190F3}" type="slidenum">
              <a:rPr lang="en-US" smtClean="0"/>
              <a:pPr/>
              <a:t>4</a:t>
            </a:fld>
            <a:endParaRPr lang="en-US"/>
          </a:p>
        </p:txBody>
      </p:sp>
    </p:spTree>
    <p:extLst>
      <p:ext uri="{BB962C8B-B14F-4D97-AF65-F5344CB8AC3E}">
        <p14:creationId xmlns:p14="http://schemas.microsoft.com/office/powerpoint/2010/main" val="3724172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AFE9A4-1357-42EA-9EA9-88F822F5139A}"/>
              </a:ext>
            </a:extLst>
          </p:cNvPr>
          <p:cNvSpPr>
            <a:spLocks noGrp="1"/>
          </p:cNvSpPr>
          <p:nvPr>
            <p:ph type="title"/>
          </p:nvPr>
        </p:nvSpPr>
        <p:spPr/>
        <p:txBody>
          <a:bodyPr/>
          <a:lstStyle/>
          <a:p>
            <a:r>
              <a:rPr lang="en-MY" dirty="0"/>
              <a:t>Software Engineering Costs</a:t>
            </a:r>
            <a:endParaRPr lang="en-GB" dirty="0"/>
          </a:p>
        </p:txBody>
      </p:sp>
      <p:sp>
        <p:nvSpPr>
          <p:cNvPr id="3" name="Content Placeholder 2">
            <a:extLst>
              <a:ext uri="{FF2B5EF4-FFF2-40B4-BE49-F238E27FC236}">
                <a16:creationId xmlns:a16="http://schemas.microsoft.com/office/drawing/2014/main" xmlns="" id="{6CC996FF-846F-4941-B2CA-D913AE9E4A11}"/>
              </a:ext>
            </a:extLst>
          </p:cNvPr>
          <p:cNvSpPr>
            <a:spLocks noGrp="1"/>
          </p:cNvSpPr>
          <p:nvPr>
            <p:ph idx="1"/>
          </p:nvPr>
        </p:nvSpPr>
        <p:spPr>
          <a:xfrm>
            <a:off x="304800" y="1600200"/>
            <a:ext cx="8610600" cy="2307873"/>
          </a:xfrm>
        </p:spPr>
        <p:txBody>
          <a:bodyPr>
            <a:normAutofit fontScale="92500" lnSpcReduction="10000"/>
          </a:bodyPr>
          <a:lstStyle/>
          <a:p>
            <a:r>
              <a:rPr lang="en-GB" sz="2600" dirty="0"/>
              <a:t>Software costs are often greater than that of hardware</a:t>
            </a:r>
            <a:endParaRPr lang="en-GB" sz="2600" dirty="0">
              <a:solidFill>
                <a:prstClr val="black"/>
              </a:solidFill>
            </a:endParaRPr>
          </a:p>
          <a:p>
            <a:r>
              <a:rPr lang="en-GB" sz="2600" dirty="0">
                <a:solidFill>
                  <a:prstClr val="black"/>
                </a:solidFill>
              </a:rPr>
              <a:t>Software costs more to maintain than it does to develop</a:t>
            </a:r>
          </a:p>
          <a:p>
            <a:r>
              <a:rPr lang="en-GB" sz="2600" dirty="0">
                <a:solidFill>
                  <a:prstClr val="black"/>
                </a:solidFill>
              </a:rPr>
              <a:t>For systems with a long life, </a:t>
            </a:r>
            <a:r>
              <a:rPr lang="en-GB" sz="2600" b="1" dirty="0">
                <a:solidFill>
                  <a:srgbClr val="C00000"/>
                </a:solidFill>
              </a:rPr>
              <a:t>maintenance costs </a:t>
            </a:r>
            <a:r>
              <a:rPr lang="en-GB" sz="2600" dirty="0">
                <a:solidFill>
                  <a:prstClr val="black"/>
                </a:solidFill>
              </a:rPr>
              <a:t>may be several times higher than development costs</a:t>
            </a:r>
            <a:endParaRPr lang="en-GB" sz="2600" dirty="0"/>
          </a:p>
          <a:p>
            <a:r>
              <a:rPr lang="en-GB" sz="2600" dirty="0"/>
              <a:t>Therefore software engineering is concerned with </a:t>
            </a:r>
            <a:r>
              <a:rPr lang="en-GB" sz="2600" b="1" dirty="0">
                <a:solidFill>
                  <a:srgbClr val="C00000"/>
                </a:solidFill>
              </a:rPr>
              <a:t>cost-effective </a:t>
            </a:r>
            <a:r>
              <a:rPr lang="en-GB" sz="2600" dirty="0"/>
              <a:t>software development</a:t>
            </a:r>
          </a:p>
        </p:txBody>
      </p:sp>
      <p:sp>
        <p:nvSpPr>
          <p:cNvPr id="4" name="Date Placeholder 3">
            <a:extLst>
              <a:ext uri="{FF2B5EF4-FFF2-40B4-BE49-F238E27FC236}">
                <a16:creationId xmlns:a16="http://schemas.microsoft.com/office/drawing/2014/main" xmlns="" id="{31144DE0-D97F-48B0-B54F-99601711803F}"/>
              </a:ext>
            </a:extLst>
          </p:cNvPr>
          <p:cNvSpPr>
            <a:spLocks noGrp="1"/>
          </p:cNvSpPr>
          <p:nvPr>
            <p:ph type="dt" sz="half" idx="10"/>
          </p:nvPr>
        </p:nvSpPr>
        <p:spPr/>
        <p:txBody>
          <a:bodyPr/>
          <a:lstStyle/>
          <a:p>
            <a:r>
              <a:rPr lang="en-US"/>
              <a:t>2020</a:t>
            </a:r>
          </a:p>
        </p:txBody>
      </p:sp>
      <p:sp>
        <p:nvSpPr>
          <p:cNvPr id="5" name="Footer Placeholder 4">
            <a:extLst>
              <a:ext uri="{FF2B5EF4-FFF2-40B4-BE49-F238E27FC236}">
                <a16:creationId xmlns:a16="http://schemas.microsoft.com/office/drawing/2014/main" xmlns="" id="{5459E62B-B603-4768-99A5-314293BA4BE3}"/>
              </a:ext>
            </a:extLst>
          </p:cNvPr>
          <p:cNvSpPr>
            <a:spLocks noGrp="1"/>
          </p:cNvSpPr>
          <p:nvPr>
            <p:ph type="ftr" sz="quarter" idx="11"/>
          </p:nvPr>
        </p:nvSpPr>
        <p:spPr/>
        <p:txBody>
          <a:bodyPr/>
          <a:lstStyle/>
          <a:p>
            <a:r>
              <a:rPr lang="en-US"/>
              <a:t>Software Engineering</a:t>
            </a:r>
          </a:p>
        </p:txBody>
      </p:sp>
      <p:sp>
        <p:nvSpPr>
          <p:cNvPr id="6" name="Slide Number Placeholder 5">
            <a:extLst>
              <a:ext uri="{FF2B5EF4-FFF2-40B4-BE49-F238E27FC236}">
                <a16:creationId xmlns:a16="http://schemas.microsoft.com/office/drawing/2014/main" xmlns="" id="{AA5FBA7B-E6B6-4BE6-8A0E-71AC0380E194}"/>
              </a:ext>
            </a:extLst>
          </p:cNvPr>
          <p:cNvSpPr>
            <a:spLocks noGrp="1"/>
          </p:cNvSpPr>
          <p:nvPr>
            <p:ph type="sldNum" sz="quarter" idx="12"/>
          </p:nvPr>
        </p:nvSpPr>
        <p:spPr/>
        <p:txBody>
          <a:bodyPr/>
          <a:lstStyle/>
          <a:p>
            <a:fld id="{0362C787-829C-4B6B-B21B-90D8981190F3}" type="slidenum">
              <a:rPr lang="en-US" smtClean="0"/>
              <a:pPr/>
              <a:t>5</a:t>
            </a:fld>
            <a:endParaRPr lang="en-US"/>
          </a:p>
        </p:txBody>
      </p:sp>
      <p:pic>
        <p:nvPicPr>
          <p:cNvPr id="1026" name="Picture 2">
            <a:extLst>
              <a:ext uri="{FF2B5EF4-FFF2-40B4-BE49-F238E27FC236}">
                <a16:creationId xmlns:a16="http://schemas.microsoft.com/office/drawing/2014/main" xmlns="" id="{B0A39750-6499-4CFB-88A7-3AE57D3CD0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358" y="3845687"/>
            <a:ext cx="3792979" cy="229290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9B000D6B-3E50-44FD-9DC0-54E02DA9D0F6}"/>
              </a:ext>
            </a:extLst>
          </p:cNvPr>
          <p:cNvSpPr txBox="1"/>
          <p:nvPr/>
        </p:nvSpPr>
        <p:spPr>
          <a:xfrm>
            <a:off x="-16042" y="6076208"/>
            <a:ext cx="5040804" cy="369332"/>
          </a:xfrm>
          <a:prstGeom prst="rect">
            <a:avLst/>
          </a:prstGeom>
          <a:noFill/>
        </p:spPr>
        <p:txBody>
          <a:bodyPr wrap="none" rtlCol="0">
            <a:spAutoFit/>
          </a:bodyPr>
          <a:lstStyle/>
          <a:p>
            <a:r>
              <a:rPr lang="en-MY" dirty="0"/>
              <a:t>Image source: </a:t>
            </a:r>
            <a:r>
              <a:rPr lang="en-GB" dirty="0">
                <a:hlinkClick r:id="rId3"/>
              </a:rPr>
              <a:t>http://cerescontrols.com/tutorials-3/</a:t>
            </a:r>
            <a:endParaRPr lang="en-GB" dirty="0"/>
          </a:p>
        </p:txBody>
      </p:sp>
      <p:pic>
        <p:nvPicPr>
          <p:cNvPr id="9" name="Picture 8">
            <a:extLst>
              <a:ext uri="{FF2B5EF4-FFF2-40B4-BE49-F238E27FC236}">
                <a16:creationId xmlns:a16="http://schemas.microsoft.com/office/drawing/2014/main" xmlns="" id="{9BF9FECD-CC7F-463F-9A44-67DAEB4A567C}"/>
              </a:ext>
            </a:extLst>
          </p:cNvPr>
          <p:cNvPicPr>
            <a:picLocks noChangeAspect="1"/>
          </p:cNvPicPr>
          <p:nvPr/>
        </p:nvPicPr>
        <p:blipFill>
          <a:blip r:embed="rId4"/>
          <a:stretch>
            <a:fillRect/>
          </a:stretch>
        </p:blipFill>
        <p:spPr>
          <a:xfrm>
            <a:off x="4457699" y="3879998"/>
            <a:ext cx="4463118" cy="2292907"/>
          </a:xfrm>
          <a:prstGeom prst="rect">
            <a:avLst/>
          </a:prstGeom>
        </p:spPr>
      </p:pic>
    </p:spTree>
    <p:extLst>
      <p:ext uri="{BB962C8B-B14F-4D97-AF65-F5344CB8AC3E}">
        <p14:creationId xmlns:p14="http://schemas.microsoft.com/office/powerpoint/2010/main" val="188947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9273C4-698A-4F6D-A6E3-BA9E027804BD}"/>
              </a:ext>
            </a:extLst>
          </p:cNvPr>
          <p:cNvSpPr>
            <a:spLocks noGrp="1"/>
          </p:cNvSpPr>
          <p:nvPr>
            <p:ph type="title"/>
          </p:nvPr>
        </p:nvSpPr>
        <p:spPr/>
        <p:txBody>
          <a:bodyPr>
            <a:normAutofit fontScale="90000"/>
          </a:bodyPr>
          <a:lstStyle/>
          <a:p>
            <a:r>
              <a:rPr lang="en-MY" dirty="0"/>
              <a:t>Software Engineering in Software Development</a:t>
            </a:r>
            <a:endParaRPr lang="en-GB" dirty="0"/>
          </a:p>
        </p:txBody>
      </p:sp>
      <p:sp>
        <p:nvSpPr>
          <p:cNvPr id="3" name="Content Placeholder 2">
            <a:extLst>
              <a:ext uri="{FF2B5EF4-FFF2-40B4-BE49-F238E27FC236}">
                <a16:creationId xmlns:a16="http://schemas.microsoft.com/office/drawing/2014/main" xmlns="" id="{2816C18F-B299-4AD0-8A3D-2E4D514F4C5F}"/>
              </a:ext>
            </a:extLst>
          </p:cNvPr>
          <p:cNvSpPr>
            <a:spLocks noGrp="1"/>
          </p:cNvSpPr>
          <p:nvPr>
            <p:ph idx="1"/>
          </p:nvPr>
        </p:nvSpPr>
        <p:spPr/>
        <p:txBody>
          <a:bodyPr>
            <a:normAutofit/>
          </a:bodyPr>
          <a:lstStyle/>
          <a:p>
            <a:r>
              <a:rPr lang="en-GB" sz="2800" dirty="0"/>
              <a:t>Software engineering is concerned with </a:t>
            </a:r>
            <a:r>
              <a:rPr lang="en-GB" sz="2800" b="1" dirty="0">
                <a:solidFill>
                  <a:srgbClr val="C00000"/>
                </a:solidFill>
              </a:rPr>
              <a:t>theories</a:t>
            </a:r>
            <a:r>
              <a:rPr lang="en-GB" sz="2800" dirty="0"/>
              <a:t>, </a:t>
            </a:r>
            <a:r>
              <a:rPr lang="en-GB" sz="2800" b="1" dirty="0">
                <a:solidFill>
                  <a:srgbClr val="C00000"/>
                </a:solidFill>
              </a:rPr>
              <a:t>methods</a:t>
            </a:r>
            <a:r>
              <a:rPr lang="en-GB" sz="2800" dirty="0"/>
              <a:t> and </a:t>
            </a:r>
            <a:r>
              <a:rPr lang="en-GB" sz="2800" b="1" dirty="0">
                <a:solidFill>
                  <a:srgbClr val="C00000"/>
                </a:solidFill>
              </a:rPr>
              <a:t>tools</a:t>
            </a:r>
            <a:r>
              <a:rPr lang="en-GB" sz="2800" dirty="0"/>
              <a:t> for professional software development</a:t>
            </a:r>
          </a:p>
          <a:p>
            <a:r>
              <a:rPr lang="en-GB" sz="2800" dirty="0"/>
              <a:t>Software engineers should adopt a </a:t>
            </a:r>
            <a:r>
              <a:rPr lang="en-GB" sz="2800" b="1" dirty="0">
                <a:solidFill>
                  <a:srgbClr val="C00000"/>
                </a:solidFill>
              </a:rPr>
              <a:t>systematic</a:t>
            </a:r>
            <a:r>
              <a:rPr lang="en-GB" sz="2800" dirty="0"/>
              <a:t> and </a:t>
            </a:r>
            <a:r>
              <a:rPr lang="en-GB" sz="2800" b="1" dirty="0">
                <a:solidFill>
                  <a:srgbClr val="C00000"/>
                </a:solidFill>
              </a:rPr>
              <a:t>organised approach </a:t>
            </a:r>
            <a:r>
              <a:rPr lang="en-GB" sz="2800" dirty="0"/>
              <a:t>to their work and use appropriate tools and techniques depending on the problem to be solved, the development constraints and the resources available</a:t>
            </a:r>
          </a:p>
          <a:p>
            <a:endParaRPr lang="en-GB" sz="2800" dirty="0"/>
          </a:p>
        </p:txBody>
      </p:sp>
      <p:sp>
        <p:nvSpPr>
          <p:cNvPr id="4" name="Date Placeholder 3">
            <a:extLst>
              <a:ext uri="{FF2B5EF4-FFF2-40B4-BE49-F238E27FC236}">
                <a16:creationId xmlns:a16="http://schemas.microsoft.com/office/drawing/2014/main" xmlns="" id="{AB96851D-1F5C-4CA0-8F9E-3D46ECBED415}"/>
              </a:ext>
            </a:extLst>
          </p:cNvPr>
          <p:cNvSpPr>
            <a:spLocks noGrp="1"/>
          </p:cNvSpPr>
          <p:nvPr>
            <p:ph type="dt" sz="half" idx="10"/>
          </p:nvPr>
        </p:nvSpPr>
        <p:spPr/>
        <p:txBody>
          <a:bodyPr/>
          <a:lstStyle/>
          <a:p>
            <a:r>
              <a:rPr lang="en-US"/>
              <a:t>2020</a:t>
            </a:r>
          </a:p>
        </p:txBody>
      </p:sp>
      <p:sp>
        <p:nvSpPr>
          <p:cNvPr id="5" name="Footer Placeholder 4">
            <a:extLst>
              <a:ext uri="{FF2B5EF4-FFF2-40B4-BE49-F238E27FC236}">
                <a16:creationId xmlns:a16="http://schemas.microsoft.com/office/drawing/2014/main" xmlns="" id="{DCA49E01-2DA7-4AC0-81BB-E08B36832188}"/>
              </a:ext>
            </a:extLst>
          </p:cNvPr>
          <p:cNvSpPr>
            <a:spLocks noGrp="1"/>
          </p:cNvSpPr>
          <p:nvPr>
            <p:ph type="ftr" sz="quarter" idx="11"/>
          </p:nvPr>
        </p:nvSpPr>
        <p:spPr/>
        <p:txBody>
          <a:bodyPr/>
          <a:lstStyle/>
          <a:p>
            <a:r>
              <a:rPr lang="en-US"/>
              <a:t>Software Engineering</a:t>
            </a:r>
          </a:p>
        </p:txBody>
      </p:sp>
      <p:sp>
        <p:nvSpPr>
          <p:cNvPr id="6" name="Slide Number Placeholder 5">
            <a:extLst>
              <a:ext uri="{FF2B5EF4-FFF2-40B4-BE49-F238E27FC236}">
                <a16:creationId xmlns:a16="http://schemas.microsoft.com/office/drawing/2014/main" xmlns="" id="{A27F07C9-CEB8-4024-A125-265C29D27E77}"/>
              </a:ext>
            </a:extLst>
          </p:cNvPr>
          <p:cNvSpPr>
            <a:spLocks noGrp="1"/>
          </p:cNvSpPr>
          <p:nvPr>
            <p:ph type="sldNum" sz="quarter" idx="12"/>
          </p:nvPr>
        </p:nvSpPr>
        <p:spPr/>
        <p:txBody>
          <a:bodyPr/>
          <a:lstStyle/>
          <a:p>
            <a:fld id="{0362C787-829C-4B6B-B21B-90D8981190F3}" type="slidenum">
              <a:rPr lang="en-US" smtClean="0"/>
              <a:pPr/>
              <a:t>6</a:t>
            </a:fld>
            <a:endParaRPr lang="en-US"/>
          </a:p>
        </p:txBody>
      </p:sp>
    </p:spTree>
    <p:extLst>
      <p:ext uri="{BB962C8B-B14F-4D97-AF65-F5344CB8AC3E}">
        <p14:creationId xmlns:p14="http://schemas.microsoft.com/office/powerpoint/2010/main" val="2974865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Software Engineering Definition</a:t>
            </a:r>
            <a:endParaRPr lang="en-MY" dirty="0"/>
          </a:p>
        </p:txBody>
      </p:sp>
      <p:sp>
        <p:nvSpPr>
          <p:cNvPr id="3" name="Content Placeholder 2"/>
          <p:cNvSpPr>
            <a:spLocks noGrp="1"/>
          </p:cNvSpPr>
          <p:nvPr>
            <p:ph idx="1"/>
          </p:nvPr>
        </p:nvSpPr>
        <p:spPr/>
        <p:txBody>
          <a:bodyPr>
            <a:normAutofit lnSpcReduction="10000"/>
          </a:bodyPr>
          <a:lstStyle/>
          <a:p>
            <a:r>
              <a:rPr lang="en-GB" dirty="0"/>
              <a:t>Software engineering is an </a:t>
            </a:r>
            <a:r>
              <a:rPr lang="en-GB" b="1" dirty="0">
                <a:solidFill>
                  <a:srgbClr val="C00000"/>
                </a:solidFill>
              </a:rPr>
              <a:t>engineering discipline</a:t>
            </a:r>
            <a:r>
              <a:rPr lang="en-GB" dirty="0"/>
              <a:t> that is concerned with all aspects of </a:t>
            </a:r>
            <a:r>
              <a:rPr lang="en-GB" b="1" dirty="0">
                <a:solidFill>
                  <a:srgbClr val="C00000"/>
                </a:solidFill>
              </a:rPr>
              <a:t>software production</a:t>
            </a:r>
            <a:r>
              <a:rPr lang="en-GB" dirty="0"/>
              <a:t>.</a:t>
            </a:r>
          </a:p>
          <a:p>
            <a:endParaRPr lang="en-GB" dirty="0"/>
          </a:p>
          <a:p>
            <a:r>
              <a:rPr lang="ja-JP" altLang="en-US" dirty="0"/>
              <a:t>“</a:t>
            </a:r>
            <a:r>
              <a:rPr lang="en-US" altLang="ja-JP" dirty="0"/>
              <a:t>The application of a systematic, disciplines, quantifiable approach to the development, operation, and maintenance of software; that is the application of engineering to software.</a:t>
            </a:r>
            <a:r>
              <a:rPr lang="ja-JP" altLang="en-US" dirty="0"/>
              <a:t>” </a:t>
            </a:r>
            <a:r>
              <a:rPr lang="en-US" altLang="ja-JP" dirty="0"/>
              <a:t>(IEEE, 1993)</a:t>
            </a:r>
            <a:endParaRPr lang="en-US" dirty="0"/>
          </a:p>
          <a:p>
            <a:endParaRPr lang="en-GB" dirty="0"/>
          </a:p>
          <a:p>
            <a:endParaRPr lang="en-US" dirty="0"/>
          </a:p>
          <a:p>
            <a:pPr marL="0" indent="0">
              <a:buNone/>
            </a:pP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7</a:t>
            </a:fld>
            <a:endParaRPr lang="en-US"/>
          </a:p>
        </p:txBody>
      </p:sp>
    </p:spTree>
    <p:extLst>
      <p:ext uri="{BB962C8B-B14F-4D97-AF65-F5344CB8AC3E}">
        <p14:creationId xmlns:p14="http://schemas.microsoft.com/office/powerpoint/2010/main" val="3806729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Software Engineering as a Layered Technology</a:t>
            </a:r>
            <a:endParaRPr lang="en-US" dirty="0"/>
          </a:p>
        </p:txBody>
      </p:sp>
      <p:pic>
        <p:nvPicPr>
          <p:cNvPr id="6146" name="Picture 2"/>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bwMode="auto">
          <a:xfrm>
            <a:off x="152400" y="1978741"/>
            <a:ext cx="3666203" cy="30769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sz="half" idx="2"/>
          </p:nvPr>
        </p:nvSpPr>
        <p:spPr>
          <a:xfrm>
            <a:off x="3657600" y="1491114"/>
            <a:ext cx="5257800" cy="4452486"/>
          </a:xfrm>
        </p:spPr>
        <p:txBody>
          <a:bodyPr>
            <a:noAutofit/>
          </a:bodyPr>
          <a:lstStyle/>
          <a:p>
            <a:r>
              <a:rPr lang="en-US" sz="2000" b="1" dirty="0">
                <a:solidFill>
                  <a:schemeClr val="accent1">
                    <a:lumMod val="75000"/>
                  </a:schemeClr>
                </a:solidFill>
              </a:rPr>
              <a:t>Quality Focus: </a:t>
            </a:r>
            <a:r>
              <a:rPr lang="en-US" sz="2000" dirty="0"/>
              <a:t>The bedrock that supports software engineering is quality focus where it ensures continuous process improvement culture.</a:t>
            </a:r>
          </a:p>
          <a:p>
            <a:r>
              <a:rPr lang="en-US" sz="2000" b="1">
                <a:solidFill>
                  <a:schemeClr val="accent1">
                    <a:lumMod val="75000"/>
                  </a:schemeClr>
                </a:solidFill>
              </a:rPr>
              <a:t>Process:</a:t>
            </a:r>
            <a:r>
              <a:rPr lang="en-US" sz="2000"/>
              <a:t>Foundation </a:t>
            </a:r>
            <a:r>
              <a:rPr lang="en-US" sz="2000" dirty="0"/>
              <a:t>for software engineering which enables rational and timely development of computer software</a:t>
            </a:r>
          </a:p>
          <a:p>
            <a:r>
              <a:rPr lang="en-US" sz="2000" b="1" dirty="0">
                <a:solidFill>
                  <a:schemeClr val="accent1">
                    <a:lumMod val="75000"/>
                  </a:schemeClr>
                </a:solidFill>
              </a:rPr>
              <a:t>Methods:</a:t>
            </a:r>
            <a:r>
              <a:rPr lang="en-US" sz="2000" dirty="0"/>
              <a:t> provide technical how </a:t>
            </a:r>
            <a:r>
              <a:rPr lang="en-US" sz="2000" dirty="0" err="1"/>
              <a:t>to’s</a:t>
            </a:r>
            <a:r>
              <a:rPr lang="en-US" sz="2000" dirty="0"/>
              <a:t> for building software. Involve different tasks including requirements analysis, design, program construction, testing and support. Methods also include modeling activities</a:t>
            </a:r>
          </a:p>
          <a:p>
            <a:r>
              <a:rPr lang="en-US" sz="2000" b="1" dirty="0">
                <a:solidFill>
                  <a:schemeClr val="accent1">
                    <a:lumMod val="75000"/>
                  </a:schemeClr>
                </a:solidFill>
              </a:rPr>
              <a:t>Tools: </a:t>
            </a:r>
            <a:r>
              <a:rPr lang="en-US" sz="2000" dirty="0"/>
              <a:t>provide automated or semi-automated support for the process and methods</a:t>
            </a:r>
          </a:p>
          <a:p>
            <a:endParaRPr lang="en-US" sz="20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8</a:t>
            </a:fld>
            <a:endParaRPr lang="en-US"/>
          </a:p>
        </p:txBody>
      </p:sp>
      <p:sp>
        <p:nvSpPr>
          <p:cNvPr id="7" name="Rectangle 6"/>
          <p:cNvSpPr/>
          <p:nvPr/>
        </p:nvSpPr>
        <p:spPr>
          <a:xfrm>
            <a:off x="38100" y="5685186"/>
            <a:ext cx="8915400" cy="861774"/>
          </a:xfrm>
          <a:prstGeom prst="rect">
            <a:avLst/>
          </a:prstGeom>
        </p:spPr>
        <p:txBody>
          <a:bodyPr wrap="square">
            <a:spAutoFit/>
          </a:bodyPr>
          <a:lstStyle/>
          <a:p>
            <a:r>
              <a:rPr lang="en-US" sz="1600" dirty="0">
                <a:solidFill>
                  <a:srgbClr val="C00000"/>
                </a:solidFill>
              </a:rPr>
              <a:t>Source:</a:t>
            </a:r>
          </a:p>
          <a:p>
            <a:r>
              <a:rPr lang="en-US" altLang="ja-JP" sz="1600" i="1" dirty="0">
                <a:solidFill>
                  <a:srgbClr val="C00000"/>
                </a:solidFill>
              </a:rPr>
              <a:t>Agarwal, U. (2012).  Software Engineering, </a:t>
            </a:r>
            <a:r>
              <a:rPr lang="en-US" altLang="ja-JP" sz="1600" i="1" dirty="0" err="1">
                <a:solidFill>
                  <a:srgbClr val="C00000"/>
                </a:solidFill>
              </a:rPr>
              <a:t>Kataria</a:t>
            </a:r>
            <a:r>
              <a:rPr lang="en-US" altLang="ja-JP" sz="1600" i="1" dirty="0">
                <a:solidFill>
                  <a:srgbClr val="C00000"/>
                </a:solidFill>
              </a:rPr>
              <a:t> and Sons. </a:t>
            </a:r>
            <a:endParaRPr lang="en-US" sz="1600" dirty="0">
              <a:solidFill>
                <a:srgbClr val="C00000"/>
              </a:solidFill>
            </a:endParaRPr>
          </a:p>
          <a:p>
            <a:r>
              <a:rPr lang="en-US" sz="1600" i="1" dirty="0">
                <a:solidFill>
                  <a:srgbClr val="C00000"/>
                </a:solidFill>
              </a:rPr>
              <a:t>http://sesolution.blogspot.my/p/software-engineering-layered-technology.html</a:t>
            </a:r>
          </a:p>
        </p:txBody>
      </p:sp>
      <p:sp>
        <p:nvSpPr>
          <p:cNvPr id="9" name="TextBox 8"/>
          <p:cNvSpPr txBox="1"/>
          <p:nvPr/>
        </p:nvSpPr>
        <p:spPr>
          <a:xfrm>
            <a:off x="152400" y="5136248"/>
            <a:ext cx="3666203" cy="523220"/>
          </a:xfrm>
          <a:prstGeom prst="rect">
            <a:avLst/>
          </a:prstGeom>
          <a:solidFill>
            <a:schemeClr val="bg1"/>
          </a:solidFill>
          <a:ln>
            <a:solidFill>
              <a:srgbClr val="FF0000"/>
            </a:solidFill>
          </a:ln>
        </p:spPr>
        <p:txBody>
          <a:bodyPr wrap="square" rtlCol="0">
            <a:spAutoFit/>
          </a:bodyPr>
          <a:lstStyle/>
          <a:p>
            <a:r>
              <a:rPr lang="en-US" sz="1400"/>
              <a:t>Note: </a:t>
            </a:r>
            <a:r>
              <a:rPr lang="en-US" sz="1400" dirty="0"/>
              <a:t>The layered technology will be the focus in this lecture and throughout </a:t>
            </a:r>
            <a:r>
              <a:rPr lang="en-US" sz="1400"/>
              <a:t>the semester</a:t>
            </a:r>
            <a:endParaRPr lang="en-US" sz="1400" dirty="0"/>
          </a:p>
        </p:txBody>
      </p:sp>
    </p:spTree>
    <p:extLst>
      <p:ext uri="{BB962C8B-B14F-4D97-AF65-F5344CB8AC3E}">
        <p14:creationId xmlns:p14="http://schemas.microsoft.com/office/powerpoint/2010/main" val="678742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Software Products and </a:t>
            </a:r>
            <a:br>
              <a:rPr lang="en-US"/>
            </a:br>
            <a:r>
              <a:rPr lang="en-US"/>
              <a:t>Product Specification</a:t>
            </a:r>
            <a:endParaRPr lang="en-MY" dirty="0"/>
          </a:p>
        </p:txBody>
      </p:sp>
      <p:sp>
        <p:nvSpPr>
          <p:cNvPr id="7" name="Text Placeholder 6"/>
          <p:cNvSpPr>
            <a:spLocks noGrp="1"/>
          </p:cNvSpPr>
          <p:nvPr>
            <p:ph type="body" idx="1"/>
          </p:nvPr>
        </p:nvSpPr>
        <p:spPr/>
        <p:txBody>
          <a:bodyPr/>
          <a:lstStyle/>
          <a:p>
            <a:r>
              <a:rPr lang="en-US" dirty="0"/>
              <a:t>Generic Products</a:t>
            </a:r>
          </a:p>
        </p:txBody>
      </p:sp>
      <p:sp>
        <p:nvSpPr>
          <p:cNvPr id="3" name="Content Placeholder 2"/>
          <p:cNvSpPr>
            <a:spLocks noGrp="1"/>
          </p:cNvSpPr>
          <p:nvPr>
            <p:ph sz="half" idx="2"/>
          </p:nvPr>
        </p:nvSpPr>
        <p:spPr>
          <a:xfrm>
            <a:off x="457200" y="2262653"/>
            <a:ext cx="4040188" cy="4225925"/>
          </a:xfrm>
        </p:spPr>
        <p:txBody>
          <a:bodyPr>
            <a:normAutofit fontScale="92500" lnSpcReduction="10000"/>
          </a:bodyPr>
          <a:lstStyle/>
          <a:p>
            <a:pPr>
              <a:lnSpc>
                <a:spcPct val="80000"/>
              </a:lnSpc>
            </a:pPr>
            <a:r>
              <a:rPr lang="en-US" dirty="0"/>
              <a:t>Stand-alone systems that are marketed and sold to any customer who wishes to buy them.</a:t>
            </a:r>
          </a:p>
          <a:p>
            <a:pPr>
              <a:lnSpc>
                <a:spcPct val="80000"/>
              </a:lnSpc>
            </a:pPr>
            <a:r>
              <a:rPr lang="en-US" dirty="0"/>
              <a:t>Examples – PC software such as graphics programs, project management tools; CAD software; software for specific markets such as appointments systems for dentists.</a:t>
            </a:r>
          </a:p>
          <a:p>
            <a:pPr>
              <a:lnSpc>
                <a:spcPct val="80000"/>
              </a:lnSpc>
            </a:pPr>
            <a:r>
              <a:rPr lang="en-US" dirty="0">
                <a:ea typeface="ＭＳ Ｐゴシック" pitchFamily="-110" charset="-128"/>
              </a:rPr>
              <a:t>The specification of what the software should do is owned by the software developer and decisions on software change are made by the developer.</a:t>
            </a:r>
          </a:p>
          <a:p>
            <a:pPr lvl="1">
              <a:lnSpc>
                <a:spcPct val="80000"/>
              </a:lnSpc>
            </a:pPr>
            <a:endParaRPr lang="en-US" sz="2200" dirty="0"/>
          </a:p>
          <a:p>
            <a:pPr marL="457200" lvl="1" indent="0">
              <a:lnSpc>
                <a:spcPct val="80000"/>
              </a:lnSpc>
              <a:buNone/>
            </a:pPr>
            <a:endParaRPr lang="en-US" sz="2200" dirty="0"/>
          </a:p>
          <a:p>
            <a:pPr marL="0" indent="0">
              <a:buNone/>
            </a:pPr>
            <a:endParaRPr lang="en-MY" sz="2200" dirty="0"/>
          </a:p>
        </p:txBody>
      </p:sp>
      <p:sp>
        <p:nvSpPr>
          <p:cNvPr id="8" name="Text Placeholder 7"/>
          <p:cNvSpPr>
            <a:spLocks noGrp="1"/>
          </p:cNvSpPr>
          <p:nvPr>
            <p:ph type="body" sz="quarter" idx="3"/>
          </p:nvPr>
        </p:nvSpPr>
        <p:spPr/>
        <p:txBody>
          <a:bodyPr/>
          <a:lstStyle/>
          <a:p>
            <a:r>
              <a:rPr lang="en-US" dirty="0"/>
              <a:t>Customized Products</a:t>
            </a:r>
          </a:p>
        </p:txBody>
      </p:sp>
      <p:sp>
        <p:nvSpPr>
          <p:cNvPr id="9" name="Content Placeholder 8"/>
          <p:cNvSpPr>
            <a:spLocks noGrp="1"/>
          </p:cNvSpPr>
          <p:nvPr>
            <p:ph sz="quarter" idx="4"/>
          </p:nvPr>
        </p:nvSpPr>
        <p:spPr>
          <a:xfrm>
            <a:off x="4645025" y="2262653"/>
            <a:ext cx="4041775" cy="4149725"/>
          </a:xfrm>
        </p:spPr>
        <p:txBody>
          <a:bodyPr>
            <a:noAutofit/>
          </a:bodyPr>
          <a:lstStyle/>
          <a:p>
            <a:pPr>
              <a:lnSpc>
                <a:spcPct val="80000"/>
              </a:lnSpc>
            </a:pPr>
            <a:r>
              <a:rPr lang="en-US" sz="2200" dirty="0"/>
              <a:t>Software that is commissioned by a specific customer to meet their own needs. </a:t>
            </a:r>
          </a:p>
          <a:p>
            <a:pPr>
              <a:lnSpc>
                <a:spcPct val="80000"/>
              </a:lnSpc>
            </a:pPr>
            <a:r>
              <a:rPr lang="en-US" sz="2200" dirty="0"/>
              <a:t>Examples – embedded control systems, air traffic control software, traffic monitoring systems.</a:t>
            </a:r>
          </a:p>
          <a:p>
            <a:pPr>
              <a:lnSpc>
                <a:spcPct val="80000"/>
              </a:lnSpc>
            </a:pPr>
            <a:r>
              <a:rPr lang="en-US" sz="2200" dirty="0">
                <a:ea typeface="ＭＳ Ｐゴシック" pitchFamily="-110" charset="-128"/>
              </a:rPr>
              <a:t>The specification of what the software should do is owned by the customer for the software and they make decisions on software changes that are required.</a:t>
            </a:r>
          </a:p>
          <a:p>
            <a:pPr marL="342900" lvl="1" indent="-342900">
              <a:buFontTx/>
              <a:buChar char="-"/>
            </a:pPr>
            <a:endParaRPr lang="en-US" sz="2200" dirty="0">
              <a:ea typeface="ＭＳ Ｐゴシック" pitchFamily="-110" charset="-128"/>
            </a:endParaRPr>
          </a:p>
          <a:p>
            <a:endParaRPr lang="en-US" sz="22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9</a:t>
            </a:fld>
            <a:endParaRPr lang="en-US"/>
          </a:p>
        </p:txBody>
      </p:sp>
    </p:spTree>
    <p:extLst>
      <p:ext uri="{BB962C8B-B14F-4D97-AF65-F5344CB8AC3E}">
        <p14:creationId xmlns:p14="http://schemas.microsoft.com/office/powerpoint/2010/main" val="3354282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38881" y="152400"/>
            <a:ext cx="8229600" cy="1143000"/>
          </a:xfrm>
        </p:spPr>
        <p:txBody>
          <a:bodyPr>
            <a:normAutofit fontScale="90000"/>
          </a:bodyPr>
          <a:lstStyle/>
          <a:p>
            <a:r>
              <a:rPr lang="en-US" dirty="0"/>
              <a:t>Software Engineering Diversity</a:t>
            </a:r>
            <a:r>
              <a:rPr lang="en-US"/>
              <a:t>: </a:t>
            </a:r>
            <a:br>
              <a:rPr lang="en-US"/>
            </a:br>
            <a:r>
              <a:rPr lang="en-US"/>
              <a:t>Types </a:t>
            </a:r>
            <a:r>
              <a:rPr lang="en-US" dirty="0"/>
              <a:t>of Software</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10</a:t>
            </a:fld>
            <a:endParaRPr lang="en-US"/>
          </a:p>
        </p:txBody>
      </p:sp>
      <p:grpSp>
        <p:nvGrpSpPr>
          <p:cNvPr id="2" name="Group 1">
            <a:extLst>
              <a:ext uri="{FF2B5EF4-FFF2-40B4-BE49-F238E27FC236}">
                <a16:creationId xmlns:a16="http://schemas.microsoft.com/office/drawing/2014/main" xmlns="" id="{67FDB8C3-314E-482F-AD35-12A213221992}"/>
              </a:ext>
            </a:extLst>
          </p:cNvPr>
          <p:cNvGrpSpPr/>
          <p:nvPr/>
        </p:nvGrpSpPr>
        <p:grpSpPr>
          <a:xfrm>
            <a:off x="2049794" y="1575475"/>
            <a:ext cx="4325944" cy="4268788"/>
            <a:chOff x="2049794" y="1575475"/>
            <a:chExt cx="4325944" cy="4268788"/>
          </a:xfrm>
        </p:grpSpPr>
        <p:sp>
          <p:nvSpPr>
            <p:cNvPr id="9" name="TextBox 8"/>
            <p:cNvSpPr txBox="1"/>
            <p:nvPr/>
          </p:nvSpPr>
          <p:spPr>
            <a:xfrm>
              <a:off x="3624661" y="3390191"/>
              <a:ext cx="1180644" cy="646331"/>
            </a:xfrm>
            <a:prstGeom prst="rect">
              <a:avLst/>
            </a:prstGeom>
            <a:noFill/>
          </p:spPr>
          <p:txBody>
            <a:bodyPr wrap="none" rtlCol="0">
              <a:spAutoFit/>
            </a:bodyPr>
            <a:lstStyle/>
            <a:p>
              <a:pPr algn="ctr" defTabSz="457200"/>
              <a:r>
                <a:rPr lang="en-US" b="1" dirty="0">
                  <a:solidFill>
                    <a:srgbClr val="FF0000"/>
                  </a:solidFill>
                  <a:latin typeface="Helvetica Neue Light"/>
                  <a:cs typeface="Helvetica Neue Light"/>
                </a:rPr>
                <a:t>Types of </a:t>
              </a:r>
            </a:p>
            <a:p>
              <a:pPr algn="ctr" defTabSz="457200"/>
              <a:r>
                <a:rPr lang="en-US" b="1" dirty="0">
                  <a:solidFill>
                    <a:srgbClr val="FF0000"/>
                  </a:solidFill>
                  <a:latin typeface="Helvetica Neue Light"/>
                  <a:cs typeface="Helvetica Neue Light"/>
                </a:rPr>
                <a:t>Software</a:t>
              </a:r>
              <a:endParaRPr lang="en-US" b="1" dirty="0">
                <a:solidFill>
                  <a:prstClr val="black"/>
                </a:solidFill>
                <a:latin typeface="Helvetica Neue Light"/>
                <a:cs typeface="Helvetica Neue Light"/>
              </a:endParaRPr>
            </a:p>
          </p:txBody>
        </p:sp>
        <p:sp>
          <p:nvSpPr>
            <p:cNvPr id="10" name="Freeform 9"/>
            <p:cNvSpPr>
              <a:spLocks/>
            </p:cNvSpPr>
            <p:nvPr/>
          </p:nvSpPr>
          <p:spPr bwMode="auto">
            <a:xfrm>
              <a:off x="2706856" y="1575475"/>
              <a:ext cx="1682750" cy="1465263"/>
            </a:xfrm>
            <a:custGeom>
              <a:avLst/>
              <a:gdLst>
                <a:gd name="T0" fmla="*/ 834 w 930"/>
                <a:gd name="T1" fmla="*/ 203 h 809"/>
                <a:gd name="T2" fmla="*/ 834 w 930"/>
                <a:gd name="T3" fmla="*/ 0 h 809"/>
                <a:gd name="T4" fmla="*/ 0 w 930"/>
                <a:gd name="T5" fmla="*/ 345 h 809"/>
                <a:gd name="T6" fmla="*/ 464 w 930"/>
                <a:gd name="T7" fmla="*/ 809 h 809"/>
                <a:gd name="T8" fmla="*/ 834 w 930"/>
                <a:gd name="T9" fmla="*/ 656 h 809"/>
                <a:gd name="T10" fmla="*/ 834 w 930"/>
                <a:gd name="T11" fmla="*/ 404 h 809"/>
                <a:gd name="T12" fmla="*/ 930 w 930"/>
                <a:gd name="T13" fmla="*/ 307 h 809"/>
                <a:gd name="T14" fmla="*/ 834 w 930"/>
                <a:gd name="T15" fmla="*/ 203 h 8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0" h="809">
                  <a:moveTo>
                    <a:pt x="834" y="203"/>
                  </a:moveTo>
                  <a:cubicBezTo>
                    <a:pt x="834" y="0"/>
                    <a:pt x="834" y="0"/>
                    <a:pt x="834" y="0"/>
                  </a:cubicBezTo>
                  <a:cubicBezTo>
                    <a:pt x="508" y="0"/>
                    <a:pt x="214" y="132"/>
                    <a:pt x="0" y="345"/>
                  </a:cubicBezTo>
                  <a:cubicBezTo>
                    <a:pt x="464" y="809"/>
                    <a:pt x="464" y="809"/>
                    <a:pt x="464" y="809"/>
                  </a:cubicBezTo>
                  <a:cubicBezTo>
                    <a:pt x="559" y="714"/>
                    <a:pt x="689" y="656"/>
                    <a:pt x="834" y="656"/>
                  </a:cubicBezTo>
                  <a:cubicBezTo>
                    <a:pt x="834" y="404"/>
                    <a:pt x="834" y="404"/>
                    <a:pt x="834" y="404"/>
                  </a:cubicBezTo>
                  <a:cubicBezTo>
                    <a:pt x="930" y="307"/>
                    <a:pt x="930" y="307"/>
                    <a:pt x="930" y="307"/>
                  </a:cubicBezTo>
                  <a:lnTo>
                    <a:pt x="834" y="203"/>
                  </a:lnTo>
                  <a:close/>
                </a:path>
              </a:pathLst>
            </a:custGeom>
            <a:solidFill>
              <a:srgbClr val="558ED5"/>
            </a:solidFill>
            <a:ln>
              <a:noFill/>
            </a:ln>
          </p:spPr>
          <p:txBody>
            <a:bodyPr vert="horz" wrap="square" lIns="91440" tIns="45720" rIns="91440" bIns="45720" numCol="1" anchor="t" anchorCtr="0" compatLnSpc="1">
              <a:prstTxWarp prst="textNoShape">
                <a:avLst/>
              </a:prstTxWarp>
            </a:bodyPr>
            <a:lstStyle/>
            <a:p>
              <a:pPr defTabSz="457200"/>
              <a:endParaRPr lang="en-US">
                <a:solidFill>
                  <a:prstClr val="black"/>
                </a:solidFill>
                <a:latin typeface="Rockwell"/>
              </a:endParaRPr>
            </a:p>
          </p:txBody>
        </p:sp>
        <p:sp>
          <p:nvSpPr>
            <p:cNvPr id="11" name="Freeform 10"/>
            <p:cNvSpPr>
              <a:spLocks/>
            </p:cNvSpPr>
            <p:nvPr/>
          </p:nvSpPr>
          <p:spPr bwMode="auto">
            <a:xfrm>
              <a:off x="2081381" y="2200950"/>
              <a:ext cx="1465263" cy="1508125"/>
            </a:xfrm>
            <a:custGeom>
              <a:avLst/>
              <a:gdLst>
                <a:gd name="T0" fmla="*/ 0 w 809"/>
                <a:gd name="T1" fmla="*/ 834 h 834"/>
                <a:gd name="T2" fmla="*/ 656 w 809"/>
                <a:gd name="T3" fmla="*/ 834 h 834"/>
                <a:gd name="T4" fmla="*/ 809 w 809"/>
                <a:gd name="T5" fmla="*/ 464 h 834"/>
                <a:gd name="T6" fmla="*/ 631 w 809"/>
                <a:gd name="T7" fmla="*/ 286 h 834"/>
                <a:gd name="T8" fmla="*/ 626 w 809"/>
                <a:gd name="T9" fmla="*/ 145 h 834"/>
                <a:gd name="T10" fmla="*/ 489 w 809"/>
                <a:gd name="T11" fmla="*/ 144 h 834"/>
                <a:gd name="T12" fmla="*/ 345 w 809"/>
                <a:gd name="T13" fmla="*/ 0 h 834"/>
                <a:gd name="T14" fmla="*/ 0 w 80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9" h="834">
                  <a:moveTo>
                    <a:pt x="0" y="834"/>
                  </a:moveTo>
                  <a:cubicBezTo>
                    <a:pt x="656" y="834"/>
                    <a:pt x="656" y="834"/>
                    <a:pt x="656" y="834"/>
                  </a:cubicBezTo>
                  <a:cubicBezTo>
                    <a:pt x="656" y="700"/>
                    <a:pt x="707" y="566"/>
                    <a:pt x="809" y="464"/>
                  </a:cubicBezTo>
                  <a:cubicBezTo>
                    <a:pt x="631" y="286"/>
                    <a:pt x="631" y="286"/>
                    <a:pt x="631" y="286"/>
                  </a:cubicBezTo>
                  <a:cubicBezTo>
                    <a:pt x="626" y="145"/>
                    <a:pt x="626" y="145"/>
                    <a:pt x="626" y="145"/>
                  </a:cubicBezTo>
                  <a:cubicBezTo>
                    <a:pt x="489" y="144"/>
                    <a:pt x="489" y="144"/>
                    <a:pt x="489" y="144"/>
                  </a:cubicBezTo>
                  <a:cubicBezTo>
                    <a:pt x="345" y="0"/>
                    <a:pt x="345" y="0"/>
                    <a:pt x="345" y="0"/>
                  </a:cubicBezTo>
                  <a:cubicBezTo>
                    <a:pt x="115" y="230"/>
                    <a:pt x="0" y="532"/>
                    <a:pt x="0" y="834"/>
                  </a:cubicBezTo>
                </a:path>
              </a:pathLst>
            </a:custGeom>
            <a:solidFill>
              <a:srgbClr val="FF9900"/>
            </a:solidFill>
            <a:ln>
              <a:noFill/>
            </a:ln>
          </p:spPr>
          <p:txBody>
            <a:bodyPr vert="horz" wrap="square" lIns="91440" tIns="45720" rIns="91440" bIns="45720" numCol="1" anchor="t" anchorCtr="0" compatLnSpc="1">
              <a:prstTxWarp prst="textNoShape">
                <a:avLst/>
              </a:prstTxWarp>
            </a:bodyPr>
            <a:lstStyle/>
            <a:p>
              <a:pPr defTabSz="457200"/>
              <a:endParaRPr lang="en-US">
                <a:solidFill>
                  <a:prstClr val="black"/>
                </a:solidFill>
                <a:latin typeface="Rockwell"/>
              </a:endParaRPr>
            </a:p>
          </p:txBody>
        </p:sp>
        <p:sp>
          <p:nvSpPr>
            <p:cNvPr id="12" name="Freeform 11"/>
            <p:cNvSpPr>
              <a:spLocks/>
            </p:cNvSpPr>
            <p:nvPr/>
          </p:nvSpPr>
          <p:spPr bwMode="auto">
            <a:xfrm>
              <a:off x="2081381" y="3536038"/>
              <a:ext cx="1465263" cy="1682750"/>
            </a:xfrm>
            <a:custGeom>
              <a:avLst/>
              <a:gdLst>
                <a:gd name="T0" fmla="*/ 345 w 809"/>
                <a:gd name="T1" fmla="*/ 930 h 930"/>
                <a:gd name="T2" fmla="*/ 809 w 809"/>
                <a:gd name="T3" fmla="*/ 466 h 930"/>
                <a:gd name="T4" fmla="*/ 656 w 809"/>
                <a:gd name="T5" fmla="*/ 96 h 930"/>
                <a:gd name="T6" fmla="*/ 404 w 809"/>
                <a:gd name="T7" fmla="*/ 96 h 930"/>
                <a:gd name="T8" fmla="*/ 301 w 809"/>
                <a:gd name="T9" fmla="*/ 0 h 930"/>
                <a:gd name="T10" fmla="*/ 204 w 809"/>
                <a:gd name="T11" fmla="*/ 96 h 930"/>
                <a:gd name="T12" fmla="*/ 0 w 809"/>
                <a:gd name="T13" fmla="*/ 96 h 930"/>
                <a:gd name="T14" fmla="*/ 345 w 809"/>
                <a:gd name="T15" fmla="*/ 930 h 9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9" h="930">
                  <a:moveTo>
                    <a:pt x="345" y="930"/>
                  </a:moveTo>
                  <a:cubicBezTo>
                    <a:pt x="809" y="466"/>
                    <a:pt x="809" y="466"/>
                    <a:pt x="809" y="466"/>
                  </a:cubicBezTo>
                  <a:cubicBezTo>
                    <a:pt x="714" y="371"/>
                    <a:pt x="656" y="240"/>
                    <a:pt x="656" y="96"/>
                  </a:cubicBezTo>
                  <a:cubicBezTo>
                    <a:pt x="404" y="96"/>
                    <a:pt x="404" y="96"/>
                    <a:pt x="404" y="96"/>
                  </a:cubicBezTo>
                  <a:cubicBezTo>
                    <a:pt x="301" y="0"/>
                    <a:pt x="301" y="0"/>
                    <a:pt x="301" y="0"/>
                  </a:cubicBezTo>
                  <a:cubicBezTo>
                    <a:pt x="204" y="96"/>
                    <a:pt x="204" y="96"/>
                    <a:pt x="204" y="96"/>
                  </a:cubicBezTo>
                  <a:cubicBezTo>
                    <a:pt x="0" y="96"/>
                    <a:pt x="0" y="96"/>
                    <a:pt x="0" y="96"/>
                  </a:cubicBezTo>
                  <a:cubicBezTo>
                    <a:pt x="0" y="421"/>
                    <a:pt x="132" y="716"/>
                    <a:pt x="345" y="930"/>
                  </a:cubicBezTo>
                </a:path>
              </a:pathLst>
            </a:custGeom>
            <a:solidFill>
              <a:srgbClr val="CC3300"/>
            </a:solidFill>
            <a:ln>
              <a:noFill/>
            </a:ln>
          </p:spPr>
          <p:txBody>
            <a:bodyPr vert="horz" wrap="square" lIns="91440" tIns="45720" rIns="91440" bIns="45720" numCol="1" anchor="t" anchorCtr="0" compatLnSpc="1">
              <a:prstTxWarp prst="textNoShape">
                <a:avLst/>
              </a:prstTxWarp>
            </a:bodyPr>
            <a:lstStyle/>
            <a:p>
              <a:pPr defTabSz="457200"/>
              <a:endParaRPr lang="en-US">
                <a:solidFill>
                  <a:prstClr val="black"/>
                </a:solidFill>
                <a:latin typeface="Rockwell"/>
              </a:endParaRPr>
            </a:p>
          </p:txBody>
        </p:sp>
        <p:sp>
          <p:nvSpPr>
            <p:cNvPr id="13" name="Freeform 12"/>
            <p:cNvSpPr>
              <a:spLocks/>
            </p:cNvSpPr>
            <p:nvPr/>
          </p:nvSpPr>
          <p:spPr bwMode="auto">
            <a:xfrm>
              <a:off x="2706856" y="4379000"/>
              <a:ext cx="1508125" cy="1465263"/>
            </a:xfrm>
            <a:custGeom>
              <a:avLst/>
              <a:gdLst>
                <a:gd name="T0" fmla="*/ 834 w 834"/>
                <a:gd name="T1" fmla="*/ 809 h 809"/>
                <a:gd name="T2" fmla="*/ 834 w 834"/>
                <a:gd name="T3" fmla="*/ 153 h 809"/>
                <a:gd name="T4" fmla="*/ 464 w 834"/>
                <a:gd name="T5" fmla="*/ 0 h 809"/>
                <a:gd name="T6" fmla="*/ 286 w 834"/>
                <a:gd name="T7" fmla="*/ 177 h 809"/>
                <a:gd name="T8" fmla="*/ 146 w 834"/>
                <a:gd name="T9" fmla="*/ 183 h 809"/>
                <a:gd name="T10" fmla="*/ 144 w 834"/>
                <a:gd name="T11" fmla="*/ 320 h 809"/>
                <a:gd name="T12" fmla="*/ 0 w 834"/>
                <a:gd name="T13" fmla="*/ 464 h 809"/>
                <a:gd name="T14" fmla="*/ 834 w 834"/>
                <a:gd name="T15" fmla="*/ 809 h 8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4" h="809">
                  <a:moveTo>
                    <a:pt x="834" y="809"/>
                  </a:moveTo>
                  <a:cubicBezTo>
                    <a:pt x="834" y="153"/>
                    <a:pt x="834" y="153"/>
                    <a:pt x="834" y="153"/>
                  </a:cubicBezTo>
                  <a:cubicBezTo>
                    <a:pt x="700" y="153"/>
                    <a:pt x="566" y="102"/>
                    <a:pt x="464" y="0"/>
                  </a:cubicBezTo>
                  <a:cubicBezTo>
                    <a:pt x="286" y="177"/>
                    <a:pt x="286" y="177"/>
                    <a:pt x="286" y="177"/>
                  </a:cubicBezTo>
                  <a:cubicBezTo>
                    <a:pt x="146" y="183"/>
                    <a:pt x="146" y="183"/>
                    <a:pt x="146" y="183"/>
                  </a:cubicBezTo>
                  <a:cubicBezTo>
                    <a:pt x="144" y="320"/>
                    <a:pt x="144" y="320"/>
                    <a:pt x="144" y="320"/>
                  </a:cubicBezTo>
                  <a:cubicBezTo>
                    <a:pt x="0" y="464"/>
                    <a:pt x="0" y="464"/>
                    <a:pt x="0" y="464"/>
                  </a:cubicBezTo>
                  <a:cubicBezTo>
                    <a:pt x="230" y="694"/>
                    <a:pt x="532" y="809"/>
                    <a:pt x="834" y="809"/>
                  </a:cubicBezTo>
                </a:path>
              </a:pathLst>
            </a:custGeom>
            <a:solidFill>
              <a:srgbClr val="0099FF"/>
            </a:solidFill>
            <a:ln>
              <a:noFill/>
            </a:ln>
          </p:spPr>
          <p:txBody>
            <a:bodyPr vert="horz" wrap="square" lIns="91440" tIns="45720" rIns="91440" bIns="45720" numCol="1" anchor="t" anchorCtr="0" compatLnSpc="1">
              <a:prstTxWarp prst="textNoShape">
                <a:avLst/>
              </a:prstTxWarp>
            </a:bodyPr>
            <a:lstStyle/>
            <a:p>
              <a:pPr defTabSz="457200"/>
              <a:endParaRPr lang="en-US">
                <a:solidFill>
                  <a:prstClr val="black"/>
                </a:solidFill>
                <a:latin typeface="Rockwell"/>
              </a:endParaRPr>
            </a:p>
          </p:txBody>
        </p:sp>
        <p:sp>
          <p:nvSpPr>
            <p:cNvPr id="14" name="Freeform 13"/>
            <p:cNvSpPr>
              <a:spLocks/>
            </p:cNvSpPr>
            <p:nvPr/>
          </p:nvSpPr>
          <p:spPr bwMode="auto">
            <a:xfrm>
              <a:off x="4041944" y="4379000"/>
              <a:ext cx="1682750" cy="1465263"/>
            </a:xfrm>
            <a:custGeom>
              <a:avLst/>
              <a:gdLst>
                <a:gd name="T0" fmla="*/ 930 w 930"/>
                <a:gd name="T1" fmla="*/ 464 h 809"/>
                <a:gd name="T2" fmla="*/ 466 w 930"/>
                <a:gd name="T3" fmla="*/ 0 h 809"/>
                <a:gd name="T4" fmla="*/ 96 w 930"/>
                <a:gd name="T5" fmla="*/ 153 h 809"/>
                <a:gd name="T6" fmla="*/ 96 w 930"/>
                <a:gd name="T7" fmla="*/ 404 h 809"/>
                <a:gd name="T8" fmla="*/ 0 w 930"/>
                <a:gd name="T9" fmla="*/ 508 h 809"/>
                <a:gd name="T10" fmla="*/ 96 w 930"/>
                <a:gd name="T11" fmla="*/ 605 h 809"/>
                <a:gd name="T12" fmla="*/ 96 w 930"/>
                <a:gd name="T13" fmla="*/ 809 h 809"/>
                <a:gd name="T14" fmla="*/ 930 w 930"/>
                <a:gd name="T15" fmla="*/ 464 h 8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0" h="809">
                  <a:moveTo>
                    <a:pt x="930" y="464"/>
                  </a:moveTo>
                  <a:cubicBezTo>
                    <a:pt x="466" y="0"/>
                    <a:pt x="466" y="0"/>
                    <a:pt x="466" y="0"/>
                  </a:cubicBezTo>
                  <a:cubicBezTo>
                    <a:pt x="371" y="94"/>
                    <a:pt x="240" y="153"/>
                    <a:pt x="96" y="153"/>
                  </a:cubicBezTo>
                  <a:cubicBezTo>
                    <a:pt x="96" y="404"/>
                    <a:pt x="96" y="404"/>
                    <a:pt x="96" y="404"/>
                  </a:cubicBezTo>
                  <a:cubicBezTo>
                    <a:pt x="0" y="508"/>
                    <a:pt x="0" y="508"/>
                    <a:pt x="0" y="508"/>
                  </a:cubicBezTo>
                  <a:cubicBezTo>
                    <a:pt x="96" y="605"/>
                    <a:pt x="96" y="605"/>
                    <a:pt x="96" y="605"/>
                  </a:cubicBezTo>
                  <a:cubicBezTo>
                    <a:pt x="96" y="809"/>
                    <a:pt x="96" y="809"/>
                    <a:pt x="96" y="809"/>
                  </a:cubicBezTo>
                  <a:cubicBezTo>
                    <a:pt x="422" y="809"/>
                    <a:pt x="716" y="677"/>
                    <a:pt x="930" y="464"/>
                  </a:cubicBezTo>
                </a:path>
              </a:pathLst>
            </a:custGeom>
            <a:solidFill>
              <a:srgbClr val="FF9900"/>
            </a:solidFill>
            <a:ln>
              <a:noFill/>
            </a:ln>
          </p:spPr>
          <p:txBody>
            <a:bodyPr vert="horz" wrap="square" lIns="91440" tIns="45720" rIns="91440" bIns="45720" numCol="1" anchor="t" anchorCtr="0" compatLnSpc="1">
              <a:prstTxWarp prst="textNoShape">
                <a:avLst/>
              </a:prstTxWarp>
            </a:bodyPr>
            <a:lstStyle/>
            <a:p>
              <a:pPr defTabSz="457200"/>
              <a:endParaRPr lang="en-US">
                <a:solidFill>
                  <a:prstClr val="black"/>
                </a:solidFill>
                <a:latin typeface="Rockwell"/>
              </a:endParaRPr>
            </a:p>
          </p:txBody>
        </p:sp>
        <p:sp>
          <p:nvSpPr>
            <p:cNvPr id="15" name="Freeform 14"/>
            <p:cNvSpPr>
              <a:spLocks/>
            </p:cNvSpPr>
            <p:nvPr/>
          </p:nvSpPr>
          <p:spPr bwMode="auto">
            <a:xfrm>
              <a:off x="4884906" y="3709075"/>
              <a:ext cx="1465263" cy="1509713"/>
            </a:xfrm>
            <a:custGeom>
              <a:avLst/>
              <a:gdLst>
                <a:gd name="T0" fmla="*/ 320 w 809"/>
                <a:gd name="T1" fmla="*/ 690 h 834"/>
                <a:gd name="T2" fmla="*/ 464 w 809"/>
                <a:gd name="T3" fmla="*/ 834 h 834"/>
                <a:gd name="T4" fmla="*/ 464 w 809"/>
                <a:gd name="T5" fmla="*/ 834 h 834"/>
                <a:gd name="T6" fmla="*/ 809 w 809"/>
                <a:gd name="T7" fmla="*/ 0 h 834"/>
                <a:gd name="T8" fmla="*/ 153 w 809"/>
                <a:gd name="T9" fmla="*/ 0 h 834"/>
                <a:gd name="T10" fmla="*/ 0 w 809"/>
                <a:gd name="T11" fmla="*/ 370 h 834"/>
                <a:gd name="T12" fmla="*/ 0 w 809"/>
                <a:gd name="T13" fmla="*/ 370 h 834"/>
                <a:gd name="T14" fmla="*/ 178 w 809"/>
                <a:gd name="T15" fmla="*/ 547 h 834"/>
                <a:gd name="T16" fmla="*/ 179 w 809"/>
                <a:gd name="T17" fmla="*/ 684 h 834"/>
                <a:gd name="T18" fmla="*/ 320 w 809"/>
                <a:gd name="T19" fmla="*/ 69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9" h="834">
                  <a:moveTo>
                    <a:pt x="320" y="690"/>
                  </a:moveTo>
                  <a:cubicBezTo>
                    <a:pt x="464" y="834"/>
                    <a:pt x="464" y="834"/>
                    <a:pt x="464" y="834"/>
                  </a:cubicBezTo>
                  <a:cubicBezTo>
                    <a:pt x="464" y="834"/>
                    <a:pt x="464" y="834"/>
                    <a:pt x="464" y="834"/>
                  </a:cubicBezTo>
                  <a:cubicBezTo>
                    <a:pt x="694" y="603"/>
                    <a:pt x="809" y="302"/>
                    <a:pt x="809" y="0"/>
                  </a:cubicBezTo>
                  <a:cubicBezTo>
                    <a:pt x="153" y="0"/>
                    <a:pt x="153" y="0"/>
                    <a:pt x="153" y="0"/>
                  </a:cubicBezTo>
                  <a:cubicBezTo>
                    <a:pt x="153" y="134"/>
                    <a:pt x="102" y="268"/>
                    <a:pt x="0" y="370"/>
                  </a:cubicBezTo>
                  <a:cubicBezTo>
                    <a:pt x="0" y="370"/>
                    <a:pt x="0" y="370"/>
                    <a:pt x="0" y="370"/>
                  </a:cubicBezTo>
                  <a:cubicBezTo>
                    <a:pt x="178" y="547"/>
                    <a:pt x="178" y="547"/>
                    <a:pt x="178" y="547"/>
                  </a:cubicBezTo>
                  <a:cubicBezTo>
                    <a:pt x="179" y="684"/>
                    <a:pt x="179" y="684"/>
                    <a:pt x="179" y="684"/>
                  </a:cubicBezTo>
                  <a:lnTo>
                    <a:pt x="320" y="690"/>
                  </a:lnTo>
                  <a:close/>
                </a:path>
              </a:pathLst>
            </a:custGeom>
            <a:solidFill>
              <a:srgbClr val="CC3300"/>
            </a:solidFill>
            <a:ln>
              <a:noFill/>
            </a:ln>
          </p:spPr>
          <p:txBody>
            <a:bodyPr vert="horz" wrap="square" lIns="91440" tIns="45720" rIns="91440" bIns="45720" numCol="1" anchor="t" anchorCtr="0" compatLnSpc="1">
              <a:prstTxWarp prst="textNoShape">
                <a:avLst/>
              </a:prstTxWarp>
            </a:bodyPr>
            <a:lstStyle/>
            <a:p>
              <a:pPr defTabSz="457200"/>
              <a:endParaRPr lang="en-US">
                <a:solidFill>
                  <a:prstClr val="black"/>
                </a:solidFill>
                <a:latin typeface="Rockwell"/>
              </a:endParaRPr>
            </a:p>
          </p:txBody>
        </p:sp>
        <p:sp>
          <p:nvSpPr>
            <p:cNvPr id="16" name="Freeform 15"/>
            <p:cNvSpPr>
              <a:spLocks/>
            </p:cNvSpPr>
            <p:nvPr/>
          </p:nvSpPr>
          <p:spPr bwMode="auto">
            <a:xfrm>
              <a:off x="4884906" y="2200950"/>
              <a:ext cx="1465263" cy="1681163"/>
            </a:xfrm>
            <a:custGeom>
              <a:avLst/>
              <a:gdLst>
                <a:gd name="T0" fmla="*/ 605 w 809"/>
                <a:gd name="T1" fmla="*/ 834 h 929"/>
                <a:gd name="T2" fmla="*/ 809 w 809"/>
                <a:gd name="T3" fmla="*/ 834 h 929"/>
                <a:gd name="T4" fmla="*/ 809 w 809"/>
                <a:gd name="T5" fmla="*/ 834 h 929"/>
                <a:gd name="T6" fmla="*/ 464 w 809"/>
                <a:gd name="T7" fmla="*/ 0 h 929"/>
                <a:gd name="T8" fmla="*/ 0 w 809"/>
                <a:gd name="T9" fmla="*/ 464 h 929"/>
                <a:gd name="T10" fmla="*/ 153 w 809"/>
                <a:gd name="T11" fmla="*/ 834 h 929"/>
                <a:gd name="T12" fmla="*/ 153 w 809"/>
                <a:gd name="T13" fmla="*/ 834 h 929"/>
                <a:gd name="T14" fmla="*/ 404 w 809"/>
                <a:gd name="T15" fmla="*/ 834 h 929"/>
                <a:gd name="T16" fmla="*/ 502 w 809"/>
                <a:gd name="T17" fmla="*/ 929 h 929"/>
                <a:gd name="T18" fmla="*/ 605 w 809"/>
                <a:gd name="T19" fmla="*/ 834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9" h="929">
                  <a:moveTo>
                    <a:pt x="605" y="834"/>
                  </a:moveTo>
                  <a:cubicBezTo>
                    <a:pt x="809" y="834"/>
                    <a:pt x="809" y="834"/>
                    <a:pt x="809" y="834"/>
                  </a:cubicBezTo>
                  <a:cubicBezTo>
                    <a:pt x="809" y="834"/>
                    <a:pt x="809" y="834"/>
                    <a:pt x="809" y="834"/>
                  </a:cubicBezTo>
                  <a:cubicBezTo>
                    <a:pt x="809" y="508"/>
                    <a:pt x="677" y="214"/>
                    <a:pt x="464" y="0"/>
                  </a:cubicBezTo>
                  <a:cubicBezTo>
                    <a:pt x="0" y="464"/>
                    <a:pt x="0" y="464"/>
                    <a:pt x="0" y="464"/>
                  </a:cubicBezTo>
                  <a:cubicBezTo>
                    <a:pt x="95" y="559"/>
                    <a:pt x="153" y="689"/>
                    <a:pt x="153" y="834"/>
                  </a:cubicBezTo>
                  <a:cubicBezTo>
                    <a:pt x="153" y="834"/>
                    <a:pt x="153" y="834"/>
                    <a:pt x="153" y="834"/>
                  </a:cubicBezTo>
                  <a:cubicBezTo>
                    <a:pt x="404" y="834"/>
                    <a:pt x="404" y="834"/>
                    <a:pt x="404" y="834"/>
                  </a:cubicBezTo>
                  <a:cubicBezTo>
                    <a:pt x="502" y="929"/>
                    <a:pt x="502" y="929"/>
                    <a:pt x="502" y="929"/>
                  </a:cubicBezTo>
                  <a:lnTo>
                    <a:pt x="605" y="834"/>
                  </a:lnTo>
                  <a:close/>
                </a:path>
              </a:pathLst>
            </a:custGeom>
            <a:solidFill>
              <a:srgbClr val="0099FF"/>
            </a:solidFill>
            <a:ln>
              <a:noFill/>
            </a:ln>
          </p:spPr>
          <p:txBody>
            <a:bodyPr vert="horz" wrap="square" lIns="91440" tIns="45720" rIns="91440" bIns="45720" numCol="1" anchor="t" anchorCtr="0" compatLnSpc="1">
              <a:prstTxWarp prst="textNoShape">
                <a:avLst/>
              </a:prstTxWarp>
            </a:bodyPr>
            <a:lstStyle/>
            <a:p>
              <a:pPr defTabSz="457200"/>
              <a:endParaRPr lang="en-US">
                <a:solidFill>
                  <a:prstClr val="black"/>
                </a:solidFill>
                <a:latin typeface="Rockwell"/>
              </a:endParaRPr>
            </a:p>
          </p:txBody>
        </p:sp>
        <p:grpSp>
          <p:nvGrpSpPr>
            <p:cNvPr id="17" name="Group 16"/>
            <p:cNvGrpSpPr/>
            <p:nvPr/>
          </p:nvGrpSpPr>
          <p:grpSpPr>
            <a:xfrm>
              <a:off x="4214981" y="1575475"/>
              <a:ext cx="1509713" cy="1465263"/>
              <a:chOff x="2481262" y="1034256"/>
              <a:chExt cx="1509713" cy="1465263"/>
            </a:xfrm>
            <a:solidFill>
              <a:srgbClr val="FF9900"/>
            </a:solidFill>
          </p:grpSpPr>
          <p:sp>
            <p:nvSpPr>
              <p:cNvPr id="18" name="Freeform 17"/>
              <p:cNvSpPr>
                <a:spLocks/>
              </p:cNvSpPr>
              <p:nvPr/>
            </p:nvSpPr>
            <p:spPr bwMode="auto">
              <a:xfrm>
                <a:off x="2481262" y="1034256"/>
                <a:ext cx="1509713" cy="1465263"/>
              </a:xfrm>
              <a:custGeom>
                <a:avLst/>
                <a:gdLst>
                  <a:gd name="T0" fmla="*/ 690 w 834"/>
                  <a:gd name="T1" fmla="*/ 489 h 809"/>
                  <a:gd name="T2" fmla="*/ 834 w 834"/>
                  <a:gd name="T3" fmla="*/ 345 h 809"/>
                  <a:gd name="T4" fmla="*/ 834 w 834"/>
                  <a:gd name="T5" fmla="*/ 345 h 809"/>
                  <a:gd name="T6" fmla="*/ 0 w 834"/>
                  <a:gd name="T7" fmla="*/ 0 h 809"/>
                  <a:gd name="T8" fmla="*/ 0 w 834"/>
                  <a:gd name="T9" fmla="*/ 656 h 809"/>
                  <a:gd name="T10" fmla="*/ 370 w 834"/>
                  <a:gd name="T11" fmla="*/ 809 h 809"/>
                  <a:gd name="T12" fmla="*/ 370 w 834"/>
                  <a:gd name="T13" fmla="*/ 809 h 809"/>
                  <a:gd name="T14" fmla="*/ 548 w 834"/>
                  <a:gd name="T15" fmla="*/ 631 h 809"/>
                  <a:gd name="T16" fmla="*/ 684 w 834"/>
                  <a:gd name="T17" fmla="*/ 630 h 809"/>
                  <a:gd name="T18" fmla="*/ 690 w 834"/>
                  <a:gd name="T19" fmla="*/ 489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809">
                    <a:moveTo>
                      <a:pt x="690" y="489"/>
                    </a:moveTo>
                    <a:cubicBezTo>
                      <a:pt x="834" y="345"/>
                      <a:pt x="834" y="345"/>
                      <a:pt x="834" y="345"/>
                    </a:cubicBezTo>
                    <a:cubicBezTo>
                      <a:pt x="834" y="345"/>
                      <a:pt x="834" y="345"/>
                      <a:pt x="834" y="345"/>
                    </a:cubicBezTo>
                    <a:cubicBezTo>
                      <a:pt x="603" y="115"/>
                      <a:pt x="302" y="0"/>
                      <a:pt x="0" y="0"/>
                    </a:cubicBezTo>
                    <a:cubicBezTo>
                      <a:pt x="0" y="656"/>
                      <a:pt x="0" y="656"/>
                      <a:pt x="0" y="656"/>
                    </a:cubicBezTo>
                    <a:cubicBezTo>
                      <a:pt x="134" y="656"/>
                      <a:pt x="268" y="707"/>
                      <a:pt x="370" y="809"/>
                    </a:cubicBezTo>
                    <a:cubicBezTo>
                      <a:pt x="370" y="809"/>
                      <a:pt x="370" y="809"/>
                      <a:pt x="370" y="809"/>
                    </a:cubicBezTo>
                    <a:cubicBezTo>
                      <a:pt x="548" y="631"/>
                      <a:pt x="548" y="631"/>
                      <a:pt x="548" y="631"/>
                    </a:cubicBezTo>
                    <a:cubicBezTo>
                      <a:pt x="684" y="630"/>
                      <a:pt x="684" y="630"/>
                      <a:pt x="684" y="630"/>
                    </a:cubicBezTo>
                    <a:lnTo>
                      <a:pt x="690" y="489"/>
                    </a:lnTo>
                    <a:close/>
                  </a:path>
                </a:pathLst>
              </a:custGeom>
              <a:grpFill/>
              <a:ln>
                <a:noFill/>
              </a:ln>
            </p:spPr>
            <p:txBody>
              <a:bodyPr vert="horz" wrap="square" lIns="91440" tIns="45720" rIns="91440" bIns="45720" numCol="1" anchor="t" anchorCtr="0" compatLnSpc="1">
                <a:prstTxWarp prst="textNoShape">
                  <a:avLst/>
                </a:prstTxWarp>
              </a:bodyPr>
              <a:lstStyle/>
              <a:p>
                <a:pPr defTabSz="457200"/>
                <a:endParaRPr lang="en-US">
                  <a:solidFill>
                    <a:prstClr val="black"/>
                  </a:solidFill>
                  <a:latin typeface="Rockwell"/>
                </a:endParaRPr>
              </a:p>
            </p:txBody>
          </p:sp>
          <p:sp>
            <p:nvSpPr>
              <p:cNvPr id="19" name="Freeform 18"/>
              <p:cNvSpPr>
                <a:spLocks/>
              </p:cNvSpPr>
              <p:nvPr/>
            </p:nvSpPr>
            <p:spPr bwMode="auto">
              <a:xfrm>
                <a:off x="3471862" y="1918494"/>
                <a:ext cx="257175" cy="255588"/>
              </a:xfrm>
              <a:custGeom>
                <a:avLst/>
                <a:gdLst>
                  <a:gd name="T0" fmla="*/ 162 w 162"/>
                  <a:gd name="T1" fmla="*/ 0 h 161"/>
                  <a:gd name="T2" fmla="*/ 155 w 162"/>
                  <a:gd name="T3" fmla="*/ 160 h 161"/>
                  <a:gd name="T4" fmla="*/ 0 w 162"/>
                  <a:gd name="T5" fmla="*/ 161 h 161"/>
                  <a:gd name="T6" fmla="*/ 162 w 162"/>
                  <a:gd name="T7" fmla="*/ 0 h 161"/>
                </a:gdLst>
                <a:ahLst/>
                <a:cxnLst>
                  <a:cxn ang="0">
                    <a:pos x="T0" y="T1"/>
                  </a:cxn>
                  <a:cxn ang="0">
                    <a:pos x="T2" y="T3"/>
                  </a:cxn>
                  <a:cxn ang="0">
                    <a:pos x="T4" y="T5"/>
                  </a:cxn>
                  <a:cxn ang="0">
                    <a:pos x="T6" y="T7"/>
                  </a:cxn>
                </a:cxnLst>
                <a:rect l="0" t="0" r="r" b="b"/>
                <a:pathLst>
                  <a:path w="162" h="161">
                    <a:moveTo>
                      <a:pt x="162" y="0"/>
                    </a:moveTo>
                    <a:lnTo>
                      <a:pt x="155" y="160"/>
                    </a:lnTo>
                    <a:lnTo>
                      <a:pt x="0" y="161"/>
                    </a:lnTo>
                    <a:lnTo>
                      <a:pt x="1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a:solidFill>
                    <a:prstClr val="black"/>
                  </a:solidFill>
                  <a:latin typeface="Rockwell"/>
                </a:endParaRPr>
              </a:p>
            </p:txBody>
          </p:sp>
        </p:grpSp>
        <p:sp>
          <p:nvSpPr>
            <p:cNvPr id="20" name="TextBox 19"/>
            <p:cNvSpPr txBox="1"/>
            <p:nvPr/>
          </p:nvSpPr>
          <p:spPr>
            <a:xfrm>
              <a:off x="2895600" y="1903761"/>
              <a:ext cx="1302088" cy="523220"/>
            </a:xfrm>
            <a:prstGeom prst="rect">
              <a:avLst/>
            </a:prstGeom>
            <a:noFill/>
          </p:spPr>
          <p:txBody>
            <a:bodyPr wrap="square">
              <a:spAutoFit/>
            </a:bodyPr>
            <a:lstStyle/>
            <a:p>
              <a:pPr algn="ctr" defTabSz="457200">
                <a:defRPr/>
              </a:pPr>
              <a:r>
                <a:rPr lang="en-US" sz="1400" dirty="0">
                  <a:solidFill>
                    <a:srgbClr val="FFFFFF"/>
                  </a:solidFill>
                  <a:latin typeface="Helvetica Neue Light"/>
                  <a:cs typeface="Helvetica Neue Light"/>
                </a:rPr>
                <a:t>System Software</a:t>
              </a:r>
            </a:p>
          </p:txBody>
        </p:sp>
        <p:sp>
          <p:nvSpPr>
            <p:cNvPr id="21" name="TextBox 20"/>
            <p:cNvSpPr txBox="1"/>
            <p:nvPr/>
          </p:nvSpPr>
          <p:spPr>
            <a:xfrm>
              <a:off x="4330434" y="2047061"/>
              <a:ext cx="1302088" cy="523220"/>
            </a:xfrm>
            <a:prstGeom prst="rect">
              <a:avLst/>
            </a:prstGeom>
            <a:noFill/>
          </p:spPr>
          <p:txBody>
            <a:bodyPr wrap="square">
              <a:spAutoFit/>
            </a:bodyPr>
            <a:lstStyle/>
            <a:p>
              <a:pPr algn="ctr" defTabSz="457200">
                <a:defRPr/>
              </a:pPr>
              <a:r>
                <a:rPr lang="en-US" sz="1400" dirty="0">
                  <a:solidFill>
                    <a:srgbClr val="FFFFFF"/>
                  </a:solidFill>
                  <a:latin typeface="Helvetica Neue Light"/>
                  <a:cs typeface="Helvetica Neue Light"/>
                </a:rPr>
                <a:t>Real Time Software</a:t>
              </a:r>
            </a:p>
          </p:txBody>
        </p:sp>
        <p:sp>
          <p:nvSpPr>
            <p:cNvPr id="22" name="TextBox 21"/>
            <p:cNvSpPr txBox="1"/>
            <p:nvPr/>
          </p:nvSpPr>
          <p:spPr>
            <a:xfrm>
              <a:off x="5073650" y="2937463"/>
              <a:ext cx="1302088" cy="523220"/>
            </a:xfrm>
            <a:prstGeom prst="rect">
              <a:avLst/>
            </a:prstGeom>
            <a:noFill/>
          </p:spPr>
          <p:txBody>
            <a:bodyPr wrap="square">
              <a:spAutoFit/>
            </a:bodyPr>
            <a:lstStyle/>
            <a:p>
              <a:pPr algn="ctr" defTabSz="457200">
                <a:defRPr/>
              </a:pPr>
              <a:r>
                <a:rPr lang="en-US" sz="1400" dirty="0">
                  <a:solidFill>
                    <a:srgbClr val="FFFFFF"/>
                  </a:solidFill>
                  <a:latin typeface="Helvetica Neue Light"/>
                  <a:cs typeface="Helvetica Neue Light"/>
                </a:rPr>
                <a:t>Embedded Software</a:t>
              </a:r>
            </a:p>
          </p:txBody>
        </p:sp>
        <p:sp>
          <p:nvSpPr>
            <p:cNvPr id="23" name="TextBox 22"/>
            <p:cNvSpPr txBox="1"/>
            <p:nvPr/>
          </p:nvSpPr>
          <p:spPr>
            <a:xfrm>
              <a:off x="4981478" y="4050616"/>
              <a:ext cx="1302088" cy="523220"/>
            </a:xfrm>
            <a:prstGeom prst="rect">
              <a:avLst/>
            </a:prstGeom>
            <a:noFill/>
          </p:spPr>
          <p:txBody>
            <a:bodyPr wrap="square">
              <a:spAutoFit/>
            </a:bodyPr>
            <a:lstStyle/>
            <a:p>
              <a:pPr algn="ctr" defTabSz="457200">
                <a:defRPr/>
              </a:pPr>
              <a:r>
                <a:rPr lang="en-US" sz="1400" dirty="0">
                  <a:solidFill>
                    <a:srgbClr val="FFFFFF"/>
                  </a:solidFill>
                  <a:latin typeface="Helvetica Neue Light"/>
                  <a:cs typeface="Helvetica Neue Light"/>
                </a:rPr>
                <a:t>Business Software</a:t>
              </a:r>
            </a:p>
          </p:txBody>
        </p:sp>
        <p:sp>
          <p:nvSpPr>
            <p:cNvPr id="24" name="TextBox 23"/>
            <p:cNvSpPr txBox="1"/>
            <p:nvPr/>
          </p:nvSpPr>
          <p:spPr>
            <a:xfrm>
              <a:off x="2113132" y="2829741"/>
              <a:ext cx="1302088" cy="738664"/>
            </a:xfrm>
            <a:prstGeom prst="rect">
              <a:avLst/>
            </a:prstGeom>
            <a:noFill/>
          </p:spPr>
          <p:txBody>
            <a:bodyPr wrap="square">
              <a:spAutoFit/>
            </a:bodyPr>
            <a:lstStyle/>
            <a:p>
              <a:pPr algn="ctr" defTabSz="457200">
                <a:defRPr/>
              </a:pPr>
              <a:r>
                <a:rPr lang="en-US" sz="1400" dirty="0">
                  <a:solidFill>
                    <a:srgbClr val="FFFFFF"/>
                  </a:solidFill>
                  <a:latin typeface="Helvetica Neue Light"/>
                  <a:cs typeface="Helvetica Neue Light"/>
                </a:rPr>
                <a:t>Systems for modeling and simulation</a:t>
              </a:r>
            </a:p>
          </p:txBody>
        </p:sp>
        <p:sp>
          <p:nvSpPr>
            <p:cNvPr id="25" name="TextBox 24"/>
            <p:cNvSpPr txBox="1"/>
            <p:nvPr/>
          </p:nvSpPr>
          <p:spPr>
            <a:xfrm>
              <a:off x="2049794" y="3906031"/>
              <a:ext cx="1302088" cy="954107"/>
            </a:xfrm>
            <a:prstGeom prst="rect">
              <a:avLst/>
            </a:prstGeom>
            <a:noFill/>
          </p:spPr>
          <p:txBody>
            <a:bodyPr wrap="square">
              <a:spAutoFit/>
            </a:bodyPr>
            <a:lstStyle/>
            <a:p>
              <a:pPr algn="ctr" defTabSz="457200">
                <a:defRPr/>
              </a:pPr>
              <a:r>
                <a:rPr lang="en-US" sz="1400" dirty="0">
                  <a:solidFill>
                    <a:srgbClr val="FFFFFF"/>
                  </a:solidFill>
                  <a:latin typeface="Helvetica Neue Light"/>
                  <a:cs typeface="Helvetica Neue Light"/>
                </a:rPr>
                <a:t>Interactive Transaction Based Software</a:t>
              </a:r>
            </a:p>
          </p:txBody>
        </p:sp>
        <p:sp>
          <p:nvSpPr>
            <p:cNvPr id="26" name="TextBox 25"/>
            <p:cNvSpPr txBox="1"/>
            <p:nvPr/>
          </p:nvSpPr>
          <p:spPr>
            <a:xfrm>
              <a:off x="2659936" y="4987955"/>
              <a:ext cx="1673563" cy="461665"/>
            </a:xfrm>
            <a:prstGeom prst="rect">
              <a:avLst/>
            </a:prstGeom>
            <a:noFill/>
          </p:spPr>
          <p:txBody>
            <a:bodyPr wrap="square">
              <a:spAutoFit/>
            </a:bodyPr>
            <a:lstStyle/>
            <a:p>
              <a:pPr algn="ctr" defTabSz="457200">
                <a:defRPr/>
              </a:pPr>
              <a:r>
                <a:rPr lang="en-US" sz="1200" dirty="0">
                  <a:solidFill>
                    <a:srgbClr val="FFFFFF"/>
                  </a:solidFill>
                  <a:latin typeface="Helvetica Neue Light"/>
                  <a:cs typeface="Helvetica Neue Light"/>
                </a:rPr>
                <a:t>Artificial Intelligence  Software</a:t>
              </a:r>
            </a:p>
          </p:txBody>
        </p:sp>
        <p:sp>
          <p:nvSpPr>
            <p:cNvPr id="27" name="TextBox 26"/>
            <p:cNvSpPr txBox="1"/>
            <p:nvPr/>
          </p:nvSpPr>
          <p:spPr>
            <a:xfrm>
              <a:off x="4214981" y="4849456"/>
              <a:ext cx="1302088" cy="523220"/>
            </a:xfrm>
            <a:prstGeom prst="rect">
              <a:avLst/>
            </a:prstGeom>
            <a:noFill/>
          </p:spPr>
          <p:txBody>
            <a:bodyPr wrap="square">
              <a:spAutoFit/>
            </a:bodyPr>
            <a:lstStyle/>
            <a:p>
              <a:pPr algn="ctr" defTabSz="457200">
                <a:defRPr/>
              </a:pPr>
              <a:r>
                <a:rPr lang="en-US" sz="1400" dirty="0">
                  <a:solidFill>
                    <a:srgbClr val="FFFFFF"/>
                  </a:solidFill>
                  <a:latin typeface="Helvetica Neue Light"/>
                  <a:cs typeface="Helvetica Neue Light"/>
                </a:rPr>
                <a:t>Stand alone application</a:t>
              </a:r>
            </a:p>
          </p:txBody>
        </p:sp>
      </p:grpSp>
      <p:sp>
        <p:nvSpPr>
          <p:cNvPr id="29" name="TextBox 28"/>
          <p:cNvSpPr txBox="1"/>
          <p:nvPr/>
        </p:nvSpPr>
        <p:spPr>
          <a:xfrm>
            <a:off x="242085" y="5867400"/>
            <a:ext cx="8763000" cy="646331"/>
          </a:xfrm>
          <a:prstGeom prst="rect">
            <a:avLst/>
          </a:prstGeom>
          <a:noFill/>
        </p:spPr>
        <p:txBody>
          <a:bodyPr wrap="square" rtlCol="0">
            <a:spAutoFit/>
          </a:bodyPr>
          <a:lstStyle/>
          <a:p>
            <a:r>
              <a:rPr lang="en-US" altLang="ja-JP" i="1" dirty="0">
                <a:solidFill>
                  <a:srgbClr val="C00000"/>
                </a:solidFill>
              </a:rPr>
              <a:t>Sources: Agarwal, U. (2012).  Software Engineering, </a:t>
            </a:r>
            <a:r>
              <a:rPr lang="en-US" altLang="ja-JP" i="1" dirty="0" err="1">
                <a:solidFill>
                  <a:srgbClr val="C00000"/>
                </a:solidFill>
              </a:rPr>
              <a:t>Kataria</a:t>
            </a:r>
            <a:r>
              <a:rPr lang="en-US" altLang="ja-JP" i="1" dirty="0">
                <a:solidFill>
                  <a:srgbClr val="C00000"/>
                </a:solidFill>
              </a:rPr>
              <a:t> and Sons.</a:t>
            </a:r>
          </a:p>
          <a:p>
            <a:r>
              <a:rPr lang="en-US" altLang="ja-JP" i="1" dirty="0">
                <a:solidFill>
                  <a:srgbClr val="C00000"/>
                </a:solidFill>
              </a:rPr>
              <a:t>               </a:t>
            </a:r>
            <a:r>
              <a:rPr lang="en-US" altLang="ja-JP" i="1" dirty="0" err="1">
                <a:solidFill>
                  <a:srgbClr val="C00000"/>
                </a:solidFill>
              </a:rPr>
              <a:t>Sommerville</a:t>
            </a:r>
            <a:r>
              <a:rPr lang="en-US" altLang="ja-JP" i="1" dirty="0">
                <a:solidFill>
                  <a:srgbClr val="C00000"/>
                </a:solidFill>
              </a:rPr>
              <a:t>, I. (2016). Software Engineering 10</a:t>
            </a:r>
            <a:r>
              <a:rPr lang="en-US" altLang="ja-JP" i="1" baseline="30000" dirty="0">
                <a:solidFill>
                  <a:srgbClr val="C00000"/>
                </a:solidFill>
              </a:rPr>
              <a:t>th</a:t>
            </a:r>
            <a:r>
              <a:rPr lang="en-US" altLang="ja-JP" i="1" dirty="0">
                <a:solidFill>
                  <a:srgbClr val="C00000"/>
                </a:solidFill>
              </a:rPr>
              <a:t> edition, Pearson. </a:t>
            </a:r>
            <a:endParaRPr lang="en-US" dirty="0">
              <a:solidFill>
                <a:srgbClr val="C00000"/>
              </a:solidFill>
            </a:endParaRPr>
          </a:p>
        </p:txBody>
      </p:sp>
    </p:spTree>
    <p:extLst>
      <p:ext uri="{BB962C8B-B14F-4D97-AF65-F5344CB8AC3E}">
        <p14:creationId xmlns:p14="http://schemas.microsoft.com/office/powerpoint/2010/main" val="916429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Types </a:t>
            </a:r>
            <a:r>
              <a:rPr lang="en-US"/>
              <a:t>of Software…</a:t>
            </a:r>
            <a:endParaRPr lang="en-MY" dirty="0"/>
          </a:p>
        </p:txBody>
      </p:sp>
      <p:sp>
        <p:nvSpPr>
          <p:cNvPr id="3" name="Content Placeholder 2"/>
          <p:cNvSpPr>
            <a:spLocks noGrp="1"/>
          </p:cNvSpPr>
          <p:nvPr>
            <p:ph idx="1"/>
          </p:nvPr>
        </p:nvSpPr>
        <p:spPr/>
        <p:txBody>
          <a:bodyPr>
            <a:noAutofit/>
          </a:bodyPr>
          <a:lstStyle/>
          <a:p>
            <a:pPr>
              <a:lnSpc>
                <a:spcPct val="90000"/>
              </a:lnSpc>
            </a:pPr>
            <a:r>
              <a:rPr lang="en-US" sz="2000" b="1" dirty="0"/>
              <a:t>System software</a:t>
            </a:r>
          </a:p>
          <a:p>
            <a:pPr marL="711200" lvl="1" indent="-261938">
              <a:lnSpc>
                <a:spcPct val="90000"/>
              </a:lnSpc>
            </a:pPr>
            <a:r>
              <a:rPr lang="en-US" sz="2000" dirty="0"/>
              <a:t>To manage resources and provide clean interfaces to OS services</a:t>
            </a:r>
          </a:p>
          <a:p>
            <a:pPr>
              <a:lnSpc>
                <a:spcPct val="90000"/>
              </a:lnSpc>
            </a:pPr>
            <a:r>
              <a:rPr lang="en-US" sz="2000" b="1" dirty="0"/>
              <a:t>Real-time software</a:t>
            </a:r>
          </a:p>
          <a:p>
            <a:pPr lvl="1">
              <a:lnSpc>
                <a:spcPct val="90000"/>
              </a:lnSpc>
            </a:pPr>
            <a:r>
              <a:rPr lang="en-US" sz="2000" dirty="0"/>
              <a:t>monitors, analyzes, and controls real-world events as they occur in real-time; design efforts for this type of software is to guarantee the tasks complete within deadlines</a:t>
            </a:r>
          </a:p>
          <a:p>
            <a:pPr lvl="1">
              <a:lnSpc>
                <a:spcPct val="90000"/>
              </a:lnSpc>
            </a:pPr>
            <a:r>
              <a:rPr lang="en-US" sz="2000" dirty="0"/>
              <a:t>Response time typically ranges from 1 millisecond to 1 second</a:t>
            </a:r>
          </a:p>
          <a:p>
            <a:pPr>
              <a:lnSpc>
                <a:spcPct val="90000"/>
              </a:lnSpc>
            </a:pPr>
            <a:r>
              <a:rPr lang="en-US" sz="2000" b="1" dirty="0"/>
              <a:t>Business software</a:t>
            </a:r>
            <a:endParaRPr lang="en-US" sz="2000" dirty="0"/>
          </a:p>
          <a:p>
            <a:pPr marL="796925" lvl="3" indent="-339725">
              <a:lnSpc>
                <a:spcPct val="90000"/>
              </a:lnSpc>
            </a:pPr>
            <a:r>
              <a:rPr lang="en-US" dirty="0"/>
              <a:t>Management information system (MIS) that accesses one or more databases containing business information (e.g. payroll, inventory)</a:t>
            </a:r>
          </a:p>
          <a:p>
            <a:pPr>
              <a:lnSpc>
                <a:spcPct val="90000"/>
              </a:lnSpc>
            </a:pPr>
            <a:r>
              <a:rPr lang="en-US" sz="2000" b="1" dirty="0"/>
              <a:t>Embedded software</a:t>
            </a:r>
          </a:p>
          <a:p>
            <a:pPr lvl="1">
              <a:lnSpc>
                <a:spcPct val="90000"/>
              </a:lnSpc>
            </a:pPr>
            <a:r>
              <a:rPr lang="en-US" sz="2000" dirty="0"/>
              <a:t>Runs on specific devices such as microwave ovens, washing machines, automobiles</a:t>
            </a:r>
          </a:p>
          <a:p>
            <a:pPr lvl="1">
              <a:lnSpc>
                <a:spcPct val="90000"/>
              </a:lnSpc>
            </a:pPr>
            <a:r>
              <a:rPr lang="en-US" sz="2000" dirty="0"/>
              <a:t>software resides in read only memory and used to control products and systems for the consumer and industrial market</a:t>
            </a:r>
          </a:p>
          <a:p>
            <a:pPr marL="914400" lvl="3" indent="0">
              <a:lnSpc>
                <a:spcPct val="90000"/>
              </a:lnSpc>
              <a:buNone/>
            </a:pPr>
            <a:endParaRPr lang="en-US" dirty="0"/>
          </a:p>
          <a:p>
            <a:pPr>
              <a:lnSpc>
                <a:spcPct val="90000"/>
              </a:lnSpc>
            </a:pPr>
            <a:endParaRPr lang="en-US" sz="2000" dirty="0"/>
          </a:p>
          <a:p>
            <a:pPr>
              <a:lnSpc>
                <a:spcPct val="90000"/>
              </a:lnSpc>
            </a:pPr>
            <a:endParaRPr lang="en-US" sz="2000" dirty="0"/>
          </a:p>
          <a:p>
            <a:pPr marL="0" indent="0">
              <a:buNone/>
            </a:pPr>
            <a:endParaRPr lang="en-MY" sz="20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11</a:t>
            </a:fld>
            <a:endParaRPr lang="en-US"/>
          </a:p>
        </p:txBody>
      </p:sp>
    </p:spTree>
    <p:extLst>
      <p:ext uri="{BB962C8B-B14F-4D97-AF65-F5344CB8AC3E}">
        <p14:creationId xmlns:p14="http://schemas.microsoft.com/office/powerpoint/2010/main" val="3998642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Types of Software</a:t>
            </a:r>
            <a:endParaRPr lang="en-MY" dirty="0"/>
          </a:p>
        </p:txBody>
      </p:sp>
      <p:sp>
        <p:nvSpPr>
          <p:cNvPr id="3" name="Content Placeholder 2"/>
          <p:cNvSpPr>
            <a:spLocks noGrp="1"/>
          </p:cNvSpPr>
          <p:nvPr>
            <p:ph idx="1"/>
          </p:nvPr>
        </p:nvSpPr>
        <p:spPr>
          <a:xfrm>
            <a:off x="457200" y="1439678"/>
            <a:ext cx="8229600" cy="5120433"/>
          </a:xfrm>
        </p:spPr>
        <p:txBody>
          <a:bodyPr>
            <a:noAutofit/>
          </a:bodyPr>
          <a:lstStyle/>
          <a:p>
            <a:pPr>
              <a:lnSpc>
                <a:spcPct val="90000"/>
              </a:lnSpc>
            </a:pPr>
            <a:r>
              <a:rPr lang="en-US" sz="2000" b="1" dirty="0"/>
              <a:t>System for modeling and simulation</a:t>
            </a:r>
          </a:p>
          <a:p>
            <a:pPr marL="914400" lvl="2" indent="0">
              <a:lnSpc>
                <a:spcPct val="90000"/>
              </a:lnSpc>
              <a:buNone/>
            </a:pPr>
            <a:r>
              <a:rPr lang="en-US" sz="2000" dirty="0"/>
              <a:t>These are systems developed by scientist and engineers to model physical processes or situations, which often computationally intensive and require high-performance parallel systems for execution</a:t>
            </a:r>
          </a:p>
          <a:p>
            <a:pPr>
              <a:lnSpc>
                <a:spcPct val="90000"/>
              </a:lnSpc>
            </a:pPr>
            <a:r>
              <a:rPr lang="en-US" sz="2000" b="1" dirty="0"/>
              <a:t>Stand alone application</a:t>
            </a:r>
          </a:p>
          <a:p>
            <a:pPr marL="800100" lvl="2" indent="0">
              <a:lnSpc>
                <a:spcPct val="90000"/>
              </a:lnSpc>
              <a:buNone/>
            </a:pPr>
            <a:r>
              <a:rPr lang="en-US" sz="2000" dirty="0"/>
              <a:t>Word processing, spreadsheets, computer graphics, multimedia, entertainment, personal and business financial applications, etc.</a:t>
            </a:r>
          </a:p>
          <a:p>
            <a:pPr>
              <a:lnSpc>
                <a:spcPct val="90000"/>
              </a:lnSpc>
            </a:pPr>
            <a:r>
              <a:rPr lang="en-US" sz="2000" b="1" dirty="0"/>
              <a:t>Interactive transaction-based software </a:t>
            </a:r>
          </a:p>
          <a:p>
            <a:pPr marL="857250" lvl="3" indent="0">
              <a:lnSpc>
                <a:spcPct val="90000"/>
              </a:lnSpc>
              <a:buNone/>
            </a:pPr>
            <a:r>
              <a:rPr lang="en-US" dirty="0"/>
              <a:t>Applications that execute on a remote computer/server and accessed by users from their own devices that include web applications such as e-commerce that nowadays can be accessed as mobile applications</a:t>
            </a:r>
          </a:p>
          <a:p>
            <a:pPr>
              <a:lnSpc>
                <a:spcPct val="90000"/>
              </a:lnSpc>
            </a:pPr>
            <a:r>
              <a:rPr lang="en-US" sz="2000" b="1" dirty="0"/>
              <a:t>Artificial intelligence software </a:t>
            </a:r>
          </a:p>
          <a:p>
            <a:pPr lvl="1">
              <a:lnSpc>
                <a:spcPct val="90000"/>
              </a:lnSpc>
            </a:pPr>
            <a:r>
              <a:rPr lang="en-US" sz="2000" dirty="0"/>
              <a:t>Uses non-numerical algorithms to solve complex problems</a:t>
            </a:r>
          </a:p>
          <a:p>
            <a:pPr lvl="1">
              <a:lnSpc>
                <a:spcPct val="90000"/>
              </a:lnSpc>
            </a:pPr>
            <a:r>
              <a:rPr lang="en-US" sz="2000" dirty="0"/>
              <a:t>Applications: robotics, expert systems, pattern recognition, adaptive control, game playing</a:t>
            </a:r>
          </a:p>
          <a:p>
            <a:pPr>
              <a:lnSpc>
                <a:spcPct val="90000"/>
              </a:lnSpc>
            </a:pPr>
            <a:endParaRPr lang="en-US" sz="2000" dirty="0"/>
          </a:p>
          <a:p>
            <a:pPr marL="0" indent="0">
              <a:buNone/>
            </a:pPr>
            <a:endParaRPr lang="en-MY" sz="20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12</a:t>
            </a:fld>
            <a:endParaRPr lang="en-US"/>
          </a:p>
        </p:txBody>
      </p:sp>
    </p:spTree>
    <p:extLst>
      <p:ext uri="{BB962C8B-B14F-4D97-AF65-F5344CB8AC3E}">
        <p14:creationId xmlns:p14="http://schemas.microsoft.com/office/powerpoint/2010/main" val="3275906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Inherent Difficulties</a:t>
            </a: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13</a:t>
            </a:fld>
            <a:endParaRPr lang="en-US"/>
          </a:p>
        </p:txBody>
      </p:sp>
      <p:sp>
        <p:nvSpPr>
          <p:cNvPr id="3" name="Content Placeholder 2">
            <a:extLst>
              <a:ext uri="{FF2B5EF4-FFF2-40B4-BE49-F238E27FC236}">
                <a16:creationId xmlns:a16="http://schemas.microsoft.com/office/drawing/2014/main" xmlns="" id="{6FA4DEE9-8C67-4E34-8261-605F42EC1683}"/>
              </a:ext>
            </a:extLst>
          </p:cNvPr>
          <p:cNvSpPr>
            <a:spLocks noGrp="1"/>
          </p:cNvSpPr>
          <p:nvPr>
            <p:ph idx="1"/>
          </p:nvPr>
        </p:nvSpPr>
        <p:spPr>
          <a:xfrm>
            <a:off x="457200" y="1600201"/>
            <a:ext cx="8229600" cy="2032848"/>
          </a:xfrm>
        </p:spPr>
        <p:txBody>
          <a:bodyPr/>
          <a:lstStyle/>
          <a:p>
            <a:r>
              <a:rPr lang="en-MY" dirty="0"/>
              <a:t>Software inherent difficulties include:</a:t>
            </a:r>
          </a:p>
          <a:p>
            <a:pPr lvl="1"/>
            <a:r>
              <a:rPr lang="en-MY" dirty="0"/>
              <a:t>Software complexity</a:t>
            </a:r>
          </a:p>
          <a:p>
            <a:pPr lvl="1"/>
            <a:r>
              <a:rPr lang="en-MY" dirty="0"/>
              <a:t>Software changeability</a:t>
            </a:r>
          </a:p>
          <a:p>
            <a:pPr lvl="1"/>
            <a:endParaRPr lang="en-GB" dirty="0"/>
          </a:p>
        </p:txBody>
      </p:sp>
      <p:pic>
        <p:nvPicPr>
          <p:cNvPr id="1026" name="Picture 2">
            <a:extLst>
              <a:ext uri="{FF2B5EF4-FFF2-40B4-BE49-F238E27FC236}">
                <a16:creationId xmlns:a16="http://schemas.microsoft.com/office/drawing/2014/main" xmlns="" id="{716B480B-ADA1-43A1-B9B0-DA5B52B926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69777" y="3429000"/>
            <a:ext cx="4192189" cy="290250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02A9F86C-35ED-4CEA-B6FD-3317C9D29732}"/>
              </a:ext>
            </a:extLst>
          </p:cNvPr>
          <p:cNvSpPr txBox="1"/>
          <p:nvPr/>
        </p:nvSpPr>
        <p:spPr>
          <a:xfrm>
            <a:off x="2590800" y="5921975"/>
            <a:ext cx="1443600" cy="369332"/>
          </a:xfrm>
          <a:prstGeom prst="rect">
            <a:avLst/>
          </a:prstGeom>
          <a:noFill/>
        </p:spPr>
        <p:txBody>
          <a:bodyPr wrap="none" rtlCol="0">
            <a:spAutoFit/>
          </a:bodyPr>
          <a:lstStyle/>
          <a:p>
            <a:r>
              <a:rPr lang="en-GB" dirty="0"/>
              <a:t>pautasso.info</a:t>
            </a:r>
          </a:p>
        </p:txBody>
      </p:sp>
    </p:spTree>
    <p:extLst>
      <p:ext uri="{BB962C8B-B14F-4D97-AF65-F5344CB8AC3E}">
        <p14:creationId xmlns:p14="http://schemas.microsoft.com/office/powerpoint/2010/main" val="2994639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Software Complexity…</a:t>
            </a:r>
            <a:endParaRPr lang="en-MY" dirty="0"/>
          </a:p>
        </p:txBody>
      </p:sp>
      <p:sp>
        <p:nvSpPr>
          <p:cNvPr id="3" name="Content Placeholder 2"/>
          <p:cNvSpPr>
            <a:spLocks noGrp="1"/>
          </p:cNvSpPr>
          <p:nvPr>
            <p:ph sz="half" idx="1"/>
          </p:nvPr>
        </p:nvSpPr>
        <p:spPr>
          <a:xfrm>
            <a:off x="439994" y="2133600"/>
            <a:ext cx="4038600" cy="4039659"/>
          </a:xfrm>
        </p:spPr>
        <p:txBody>
          <a:bodyPr>
            <a:normAutofit fontScale="77500" lnSpcReduction="20000"/>
          </a:bodyPr>
          <a:lstStyle/>
          <a:p>
            <a:pPr marL="0" indent="0">
              <a:buNone/>
            </a:pPr>
            <a:r>
              <a:rPr lang="en-US" sz="2600" dirty="0">
                <a:solidFill>
                  <a:srgbClr val="C00000"/>
                </a:solidFill>
              </a:rPr>
              <a:t>No one really understands a large software product as a whole</a:t>
            </a:r>
          </a:p>
          <a:p>
            <a:r>
              <a:rPr lang="en-US" sz="3000" dirty="0"/>
              <a:t>faults in specifications are made simply  because of a lack of understanding of all aspects of the product</a:t>
            </a:r>
          </a:p>
          <a:p>
            <a:r>
              <a:rPr lang="en-US" sz="3000" dirty="0"/>
              <a:t>no matter how trivial, the various pieces of the product will interact</a:t>
            </a:r>
          </a:p>
          <a:p>
            <a:r>
              <a:rPr lang="en-US" sz="3000" dirty="0"/>
              <a:t>difficulty due to invisible nature of relationships and imperfect model of reality</a:t>
            </a:r>
          </a:p>
          <a:p>
            <a:pPr marL="457200" lvl="1" indent="0">
              <a:buNone/>
            </a:pPr>
            <a:endParaRPr lang="en-US" sz="1800" dirty="0"/>
          </a:p>
          <a:p>
            <a:pPr marL="457200" lvl="1" indent="0">
              <a:buNone/>
            </a:pPr>
            <a:endParaRPr lang="en-US" sz="1800" dirty="0"/>
          </a:p>
          <a:p>
            <a:pPr marL="0" indent="0">
              <a:buNone/>
            </a:pPr>
            <a:endParaRPr lang="en-MY" sz="2000" dirty="0"/>
          </a:p>
        </p:txBody>
      </p:sp>
      <p:sp>
        <p:nvSpPr>
          <p:cNvPr id="9" name="Content Placeholder 8"/>
          <p:cNvSpPr>
            <a:spLocks noGrp="1"/>
          </p:cNvSpPr>
          <p:nvPr>
            <p:ph sz="half" idx="2"/>
          </p:nvPr>
        </p:nvSpPr>
        <p:spPr>
          <a:xfrm>
            <a:off x="4630994" y="2133600"/>
            <a:ext cx="4038600" cy="4039659"/>
          </a:xfrm>
        </p:spPr>
        <p:txBody>
          <a:bodyPr>
            <a:normAutofit fontScale="77500" lnSpcReduction="20000"/>
          </a:bodyPr>
          <a:lstStyle/>
          <a:p>
            <a:pPr marL="0" indent="0">
              <a:buNone/>
              <a:defRPr/>
            </a:pPr>
            <a:r>
              <a:rPr lang="en-US" sz="2600" dirty="0">
                <a:solidFill>
                  <a:srgbClr val="C00000"/>
                </a:solidFill>
              </a:rPr>
              <a:t>No silver bullet</a:t>
            </a:r>
          </a:p>
          <a:p>
            <a:pPr>
              <a:defRPr/>
            </a:pPr>
            <a:r>
              <a:rPr lang="en-US" dirty="0"/>
              <a:t>There are many different types of software system and there is no universal set of software techniques that is applicable to all </a:t>
            </a:r>
            <a:r>
              <a:rPr lang="en-US"/>
              <a:t>of these</a:t>
            </a:r>
            <a:endParaRPr lang="en-US" dirty="0"/>
          </a:p>
          <a:p>
            <a:pPr>
              <a:defRPr/>
            </a:pPr>
            <a:r>
              <a:rPr lang="en-US" dirty="0"/>
              <a:t>The software engineering methods and tools used depend on the type of application being developed, the requirements of the customer and the background of the </a:t>
            </a:r>
            <a:r>
              <a:rPr lang="en-US"/>
              <a:t>development team</a:t>
            </a:r>
            <a:endParaRPr lang="en-US" dirty="0"/>
          </a:p>
          <a:p>
            <a:endParaRPr lang="en-US" sz="20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dirty="0"/>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14</a:t>
            </a:fld>
            <a:endParaRPr lang="en-US"/>
          </a:p>
        </p:txBody>
      </p:sp>
      <p:sp>
        <p:nvSpPr>
          <p:cNvPr id="8" name="TextBox 7"/>
          <p:cNvSpPr txBox="1"/>
          <p:nvPr/>
        </p:nvSpPr>
        <p:spPr>
          <a:xfrm>
            <a:off x="-8467" y="6173259"/>
            <a:ext cx="3124200" cy="584775"/>
          </a:xfrm>
          <a:prstGeom prst="rect">
            <a:avLst/>
          </a:prstGeom>
          <a:noFill/>
        </p:spPr>
        <p:txBody>
          <a:bodyPr wrap="square" rtlCol="0">
            <a:spAutoFit/>
          </a:bodyPr>
          <a:lstStyle/>
          <a:p>
            <a:pPr marL="0" lvl="2"/>
            <a:r>
              <a:rPr lang="en-US" sz="1400" b="1" i="1" dirty="0">
                <a:solidFill>
                  <a:srgbClr val="4C4C4C"/>
                </a:solidFill>
                <a:latin typeface="Helvetica" panose="020B0604020202020204" pitchFamily="34" charset="0"/>
                <a:sym typeface="Helvetica" panose="020B0604020202020204" pitchFamily="34" charset="0"/>
              </a:rPr>
              <a:t>©2009 J. L. </a:t>
            </a:r>
            <a:r>
              <a:rPr lang="en-US" sz="1400" b="1" i="1" dirty="0" err="1">
                <a:solidFill>
                  <a:srgbClr val="4C4C4C"/>
                </a:solidFill>
                <a:latin typeface="Helvetica" panose="020B0604020202020204" pitchFamily="34" charset="0"/>
                <a:sym typeface="Helvetica" panose="020B0604020202020204" pitchFamily="34" charset="0"/>
              </a:rPr>
              <a:t>Díaz</a:t>
            </a:r>
            <a:r>
              <a:rPr lang="en-US" sz="1400" b="1" i="1" dirty="0">
                <a:solidFill>
                  <a:srgbClr val="4C4C4C"/>
                </a:solidFill>
                <a:latin typeface="Helvetica" panose="020B0604020202020204" pitchFamily="34" charset="0"/>
                <a:sym typeface="Helvetica" panose="020B0604020202020204" pitchFamily="34" charset="0"/>
              </a:rPr>
              <a:t>-Herrera</a:t>
            </a:r>
          </a:p>
          <a:p>
            <a:endParaRPr lang="en-MY" dirty="0"/>
          </a:p>
        </p:txBody>
      </p:sp>
      <p:sp>
        <p:nvSpPr>
          <p:cNvPr id="10" name="TextBox 9"/>
          <p:cNvSpPr txBox="1"/>
          <p:nvPr/>
        </p:nvSpPr>
        <p:spPr>
          <a:xfrm>
            <a:off x="248408" y="1567934"/>
            <a:ext cx="2574103" cy="461665"/>
          </a:xfrm>
          <a:prstGeom prst="rect">
            <a:avLst/>
          </a:prstGeom>
          <a:noFill/>
        </p:spPr>
        <p:txBody>
          <a:bodyPr wrap="none" rtlCol="0">
            <a:spAutoFit/>
          </a:bodyPr>
          <a:lstStyle/>
          <a:p>
            <a:r>
              <a:rPr lang="en-US" sz="2400" b="1" dirty="0"/>
              <a:t>Why is it complex?</a:t>
            </a:r>
          </a:p>
        </p:txBody>
      </p:sp>
    </p:spTree>
    <p:extLst>
      <p:ext uri="{BB962C8B-B14F-4D97-AF65-F5344CB8AC3E}">
        <p14:creationId xmlns:p14="http://schemas.microsoft.com/office/powerpoint/2010/main" val="1453000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Software Complexity…</a:t>
            </a:r>
            <a:endParaRPr lang="en-MY" dirty="0"/>
          </a:p>
        </p:txBody>
      </p:sp>
      <p:sp>
        <p:nvSpPr>
          <p:cNvPr id="3" name="Content Placeholder 2"/>
          <p:cNvSpPr>
            <a:spLocks noGrp="1"/>
          </p:cNvSpPr>
          <p:nvPr>
            <p:ph idx="1"/>
          </p:nvPr>
        </p:nvSpPr>
        <p:spPr>
          <a:xfrm>
            <a:off x="457200" y="1796287"/>
            <a:ext cx="8229600" cy="4525963"/>
          </a:xfrm>
        </p:spPr>
        <p:txBody>
          <a:bodyPr>
            <a:noAutofit/>
          </a:bodyPr>
          <a:lstStyle/>
          <a:p>
            <a:pPr>
              <a:lnSpc>
                <a:spcPct val="90000"/>
              </a:lnSpc>
            </a:pPr>
            <a:r>
              <a:rPr lang="en-US" sz="2400" b="1" dirty="0"/>
              <a:t>Application domain</a:t>
            </a:r>
          </a:p>
          <a:p>
            <a:pPr lvl="1">
              <a:lnSpc>
                <a:spcPct val="90000"/>
              </a:lnSpc>
            </a:pPr>
            <a:r>
              <a:rPr lang="en-US" sz="2400" dirty="0"/>
              <a:t>The problems are often very </a:t>
            </a:r>
            <a:r>
              <a:rPr lang="en-US" sz="2400" b="1" dirty="0">
                <a:solidFill>
                  <a:srgbClr val="C00000"/>
                </a:solidFill>
              </a:rPr>
              <a:t>complex</a:t>
            </a:r>
            <a:endParaRPr lang="en-US" sz="2400" dirty="0">
              <a:solidFill>
                <a:srgbClr val="C00000"/>
              </a:solidFill>
            </a:endParaRPr>
          </a:p>
          <a:p>
            <a:pPr lvl="1">
              <a:lnSpc>
                <a:spcPct val="90000"/>
              </a:lnSpc>
            </a:pPr>
            <a:r>
              <a:rPr lang="en-US" sz="2400" dirty="0"/>
              <a:t>The developers are </a:t>
            </a:r>
            <a:r>
              <a:rPr lang="en-US" sz="2400" b="1" dirty="0">
                <a:solidFill>
                  <a:srgbClr val="C00000"/>
                </a:solidFill>
              </a:rPr>
              <a:t>not domain experts</a:t>
            </a:r>
            <a:endParaRPr lang="en-US" sz="2400" dirty="0">
              <a:solidFill>
                <a:srgbClr val="C00000"/>
              </a:solidFill>
            </a:endParaRPr>
          </a:p>
          <a:p>
            <a:pPr>
              <a:lnSpc>
                <a:spcPct val="90000"/>
              </a:lnSpc>
            </a:pPr>
            <a:r>
              <a:rPr lang="en-US" sz="2400" b="1" dirty="0"/>
              <a:t>Communication among stakeholders (clients, developers)</a:t>
            </a:r>
          </a:p>
          <a:p>
            <a:pPr lvl="1">
              <a:lnSpc>
                <a:spcPct val="90000"/>
              </a:lnSpc>
            </a:pPr>
            <a:r>
              <a:rPr lang="en-US" sz="2400" dirty="0"/>
              <a:t>The stakeholders use </a:t>
            </a:r>
            <a:r>
              <a:rPr lang="en-US" sz="2400" b="1" dirty="0">
                <a:solidFill>
                  <a:srgbClr val="C00000"/>
                </a:solidFill>
              </a:rPr>
              <a:t>different vocabulary</a:t>
            </a:r>
            <a:r>
              <a:rPr lang="en-US" sz="2400" dirty="0"/>
              <a:t>:</a:t>
            </a:r>
          </a:p>
          <a:p>
            <a:pPr lvl="2">
              <a:lnSpc>
                <a:spcPct val="90000"/>
              </a:lnSpc>
            </a:pPr>
            <a:r>
              <a:rPr lang="en-US" dirty="0"/>
              <a:t>domain experts &lt;=&gt; developers &lt;=&gt; developers</a:t>
            </a:r>
          </a:p>
          <a:p>
            <a:pPr lvl="1">
              <a:lnSpc>
                <a:spcPct val="90000"/>
              </a:lnSpc>
            </a:pPr>
            <a:r>
              <a:rPr lang="en-US" sz="2400" dirty="0"/>
              <a:t>Human languages are inherently </a:t>
            </a:r>
            <a:r>
              <a:rPr lang="en-US" sz="2400" b="1" dirty="0">
                <a:solidFill>
                  <a:srgbClr val="C00000"/>
                </a:solidFill>
              </a:rPr>
              <a:t>ambiguous</a:t>
            </a:r>
            <a:endParaRPr lang="en-US" sz="2400" dirty="0"/>
          </a:p>
          <a:p>
            <a:pPr lvl="1">
              <a:lnSpc>
                <a:spcPct val="90000"/>
              </a:lnSpc>
            </a:pPr>
            <a:r>
              <a:rPr lang="en-US" sz="2400" dirty="0"/>
              <a:t>The stakeholders have </a:t>
            </a:r>
            <a:r>
              <a:rPr lang="en-US" sz="2400" b="1" dirty="0">
                <a:solidFill>
                  <a:srgbClr val="C00000"/>
                </a:solidFill>
              </a:rPr>
              <a:t>different background knowledge</a:t>
            </a:r>
            <a:endParaRPr lang="en-US" sz="2400" dirty="0"/>
          </a:p>
          <a:p>
            <a:pPr>
              <a:lnSpc>
                <a:spcPct val="90000"/>
              </a:lnSpc>
            </a:pPr>
            <a:r>
              <a:rPr lang="en-US" sz="2400" b="1" dirty="0"/>
              <a:t>Management of large software development projects</a:t>
            </a:r>
          </a:p>
          <a:p>
            <a:pPr lvl="1">
              <a:lnSpc>
                <a:spcPct val="90000"/>
              </a:lnSpc>
            </a:pPr>
            <a:r>
              <a:rPr lang="en-US" sz="2400" dirty="0"/>
              <a:t>Need to divide the project into pieces and reassemble the pieces</a:t>
            </a:r>
          </a:p>
          <a:p>
            <a:pPr lvl="1">
              <a:lnSpc>
                <a:spcPct val="90000"/>
              </a:lnSpc>
            </a:pPr>
            <a:r>
              <a:rPr lang="en-US" sz="2400" dirty="0"/>
              <a:t>Need to coordinate many people</a:t>
            </a:r>
          </a:p>
          <a:p>
            <a:pPr>
              <a:lnSpc>
                <a:spcPct val="90000"/>
              </a:lnSpc>
              <a:buNone/>
            </a:pPr>
            <a:r>
              <a:rPr lang="en-US" sz="2400" dirty="0"/>
              <a:t> </a:t>
            </a:r>
          </a:p>
          <a:p>
            <a:pPr>
              <a:lnSpc>
                <a:spcPct val="90000"/>
              </a:lnSpc>
            </a:pPr>
            <a:endParaRPr lang="en-US" sz="2400" dirty="0"/>
          </a:p>
          <a:p>
            <a:pPr marL="0" indent="0">
              <a:buNone/>
            </a:pPr>
            <a:endParaRPr lang="en-MY" sz="24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15</a:t>
            </a:fld>
            <a:endParaRPr lang="en-US"/>
          </a:p>
        </p:txBody>
      </p:sp>
      <p:sp>
        <p:nvSpPr>
          <p:cNvPr id="8" name="TextBox 7"/>
          <p:cNvSpPr txBox="1"/>
          <p:nvPr/>
        </p:nvSpPr>
        <p:spPr>
          <a:xfrm>
            <a:off x="248408" y="1359203"/>
            <a:ext cx="3791102" cy="461665"/>
          </a:xfrm>
          <a:prstGeom prst="rect">
            <a:avLst/>
          </a:prstGeom>
          <a:noFill/>
        </p:spPr>
        <p:txBody>
          <a:bodyPr wrap="none" rtlCol="0">
            <a:spAutoFit/>
          </a:bodyPr>
          <a:lstStyle/>
          <a:p>
            <a:r>
              <a:rPr lang="en-US" sz="2400" b="1" dirty="0"/>
              <a:t>The complexity comes from:</a:t>
            </a:r>
          </a:p>
        </p:txBody>
      </p:sp>
    </p:spTree>
    <p:extLst>
      <p:ext uri="{BB962C8B-B14F-4D97-AF65-F5344CB8AC3E}">
        <p14:creationId xmlns:p14="http://schemas.microsoft.com/office/powerpoint/2010/main" val="3258026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4D46B6-FCC2-4DC4-BDAD-F94142F4496E}"/>
              </a:ext>
            </a:extLst>
          </p:cNvPr>
          <p:cNvSpPr>
            <a:spLocks noGrp="1"/>
          </p:cNvSpPr>
          <p:nvPr>
            <p:ph type="title"/>
          </p:nvPr>
        </p:nvSpPr>
        <p:spPr/>
        <p:txBody>
          <a:bodyPr/>
          <a:lstStyle/>
          <a:p>
            <a:r>
              <a:rPr lang="en-MY" dirty="0"/>
              <a:t>Software Complexity…</a:t>
            </a:r>
            <a:endParaRPr lang="en-GB" dirty="0"/>
          </a:p>
        </p:txBody>
      </p:sp>
      <p:sp>
        <p:nvSpPr>
          <p:cNvPr id="3" name="Content Placeholder 2">
            <a:extLst>
              <a:ext uri="{FF2B5EF4-FFF2-40B4-BE49-F238E27FC236}">
                <a16:creationId xmlns:a16="http://schemas.microsoft.com/office/drawing/2014/main" xmlns="" id="{C5899A78-64CD-4D51-993B-7B328AF19067}"/>
              </a:ext>
            </a:extLst>
          </p:cNvPr>
          <p:cNvSpPr>
            <a:spLocks noGrp="1"/>
          </p:cNvSpPr>
          <p:nvPr>
            <p:ph idx="1"/>
          </p:nvPr>
        </p:nvSpPr>
        <p:spPr/>
        <p:txBody>
          <a:bodyPr>
            <a:normAutofit lnSpcReduction="10000"/>
          </a:bodyPr>
          <a:lstStyle/>
          <a:p>
            <a:pPr>
              <a:lnSpc>
                <a:spcPct val="90000"/>
              </a:lnSpc>
            </a:pPr>
            <a:r>
              <a:rPr lang="en-US" sz="3000" dirty="0"/>
              <a:t>Software complexity leads to software quality problems:</a:t>
            </a:r>
          </a:p>
          <a:p>
            <a:pPr lvl="1">
              <a:lnSpc>
                <a:spcPct val="90000"/>
              </a:lnSpc>
            </a:pPr>
            <a:r>
              <a:rPr lang="en-US" sz="2600" dirty="0"/>
              <a:t>Unreliable </a:t>
            </a:r>
            <a:r>
              <a:rPr lang="en-US" sz="2600" dirty="0">
                <a:sym typeface="Wingdings" panose="05000000000000000000" pitchFamily="2" charset="2"/>
              </a:rPr>
              <a:t> e.g. </a:t>
            </a:r>
            <a:r>
              <a:rPr lang="en-US" sz="2600" dirty="0"/>
              <a:t>ARIANE 5 rocket</a:t>
            </a:r>
          </a:p>
          <a:p>
            <a:pPr lvl="1">
              <a:lnSpc>
                <a:spcPct val="90000"/>
              </a:lnSpc>
            </a:pPr>
            <a:r>
              <a:rPr lang="en-US" sz="2600" dirty="0"/>
              <a:t>Unsafe </a:t>
            </a:r>
            <a:r>
              <a:rPr lang="en-US" sz="2600" dirty="0">
                <a:sym typeface="Wingdings" panose="05000000000000000000" pitchFamily="2" charset="2"/>
              </a:rPr>
              <a:t> e.g. </a:t>
            </a:r>
            <a:r>
              <a:rPr lang="en-US" sz="2600" dirty="0"/>
              <a:t>London Ambulance</a:t>
            </a:r>
          </a:p>
          <a:p>
            <a:pPr lvl="1">
              <a:lnSpc>
                <a:spcPct val="90000"/>
              </a:lnSpc>
            </a:pPr>
            <a:r>
              <a:rPr lang="en-US" sz="2600" dirty="0"/>
              <a:t>Abandoned </a:t>
            </a:r>
            <a:r>
              <a:rPr lang="en-US" sz="2600" dirty="0">
                <a:sym typeface="Wingdings" panose="05000000000000000000" pitchFamily="2" charset="2"/>
              </a:rPr>
              <a:t></a:t>
            </a:r>
            <a:r>
              <a:rPr lang="en-US" sz="2600" dirty="0"/>
              <a:t> e.g. London Stock Exchange</a:t>
            </a:r>
          </a:p>
          <a:p>
            <a:pPr lvl="1">
              <a:lnSpc>
                <a:spcPct val="90000"/>
              </a:lnSpc>
            </a:pPr>
            <a:r>
              <a:rPr lang="en-US" sz="2600" dirty="0"/>
              <a:t>Inflexible </a:t>
            </a:r>
            <a:r>
              <a:rPr lang="en-US" sz="2600" dirty="0">
                <a:sym typeface="Wingdings" panose="05000000000000000000" pitchFamily="2" charset="2"/>
              </a:rPr>
              <a:t> </a:t>
            </a:r>
            <a:r>
              <a:rPr lang="en-US" sz="2600" dirty="0"/>
              <a:t>hard to change/maintain</a:t>
            </a:r>
          </a:p>
          <a:p>
            <a:pPr>
              <a:lnSpc>
                <a:spcPct val="90000"/>
              </a:lnSpc>
            </a:pPr>
            <a:r>
              <a:rPr lang="en-US" sz="3000" dirty="0"/>
              <a:t>Software project management problems</a:t>
            </a:r>
          </a:p>
          <a:p>
            <a:pPr>
              <a:lnSpc>
                <a:spcPct val="90000"/>
              </a:lnSpc>
            </a:pPr>
            <a:r>
              <a:rPr lang="en-US" sz="3000" dirty="0"/>
              <a:t>Often over schedule and over budget by an order of magnitude</a:t>
            </a:r>
          </a:p>
          <a:p>
            <a:pPr>
              <a:lnSpc>
                <a:spcPct val="90000"/>
              </a:lnSpc>
            </a:pPr>
            <a:r>
              <a:rPr lang="en-US" sz="3000" dirty="0"/>
              <a:t>Software engineer productivity problems</a:t>
            </a:r>
          </a:p>
          <a:p>
            <a:endParaRPr lang="en-GB" dirty="0"/>
          </a:p>
        </p:txBody>
      </p:sp>
      <p:sp>
        <p:nvSpPr>
          <p:cNvPr id="4" name="Date Placeholder 3">
            <a:extLst>
              <a:ext uri="{FF2B5EF4-FFF2-40B4-BE49-F238E27FC236}">
                <a16:creationId xmlns:a16="http://schemas.microsoft.com/office/drawing/2014/main" xmlns="" id="{B286B4A1-4606-46E7-B963-0BFD4559F814}"/>
              </a:ext>
            </a:extLst>
          </p:cNvPr>
          <p:cNvSpPr>
            <a:spLocks noGrp="1"/>
          </p:cNvSpPr>
          <p:nvPr>
            <p:ph type="dt" sz="half" idx="10"/>
          </p:nvPr>
        </p:nvSpPr>
        <p:spPr/>
        <p:txBody>
          <a:bodyPr/>
          <a:lstStyle/>
          <a:p>
            <a:r>
              <a:rPr lang="en-US"/>
              <a:t>2020</a:t>
            </a:r>
          </a:p>
        </p:txBody>
      </p:sp>
      <p:sp>
        <p:nvSpPr>
          <p:cNvPr id="5" name="Footer Placeholder 4">
            <a:extLst>
              <a:ext uri="{FF2B5EF4-FFF2-40B4-BE49-F238E27FC236}">
                <a16:creationId xmlns:a16="http://schemas.microsoft.com/office/drawing/2014/main" xmlns="" id="{815179FA-6D4C-4FC9-A063-16842CF72E35}"/>
              </a:ext>
            </a:extLst>
          </p:cNvPr>
          <p:cNvSpPr>
            <a:spLocks noGrp="1"/>
          </p:cNvSpPr>
          <p:nvPr>
            <p:ph type="ftr" sz="quarter" idx="11"/>
          </p:nvPr>
        </p:nvSpPr>
        <p:spPr/>
        <p:txBody>
          <a:bodyPr/>
          <a:lstStyle/>
          <a:p>
            <a:r>
              <a:rPr lang="en-US"/>
              <a:t>Software Engineering</a:t>
            </a:r>
          </a:p>
        </p:txBody>
      </p:sp>
      <p:sp>
        <p:nvSpPr>
          <p:cNvPr id="6" name="Slide Number Placeholder 5">
            <a:extLst>
              <a:ext uri="{FF2B5EF4-FFF2-40B4-BE49-F238E27FC236}">
                <a16:creationId xmlns:a16="http://schemas.microsoft.com/office/drawing/2014/main" xmlns="" id="{39A94C35-7072-4A73-99EB-F56DC739E680}"/>
              </a:ext>
            </a:extLst>
          </p:cNvPr>
          <p:cNvSpPr>
            <a:spLocks noGrp="1"/>
          </p:cNvSpPr>
          <p:nvPr>
            <p:ph type="sldNum" sz="quarter" idx="12"/>
          </p:nvPr>
        </p:nvSpPr>
        <p:spPr/>
        <p:txBody>
          <a:bodyPr/>
          <a:lstStyle/>
          <a:p>
            <a:fld id="{0362C787-829C-4B6B-B21B-90D8981190F3}" type="slidenum">
              <a:rPr lang="en-US" smtClean="0"/>
              <a:pPr/>
              <a:t>16</a:t>
            </a:fld>
            <a:endParaRPr lang="en-US"/>
          </a:p>
        </p:txBody>
      </p:sp>
    </p:spTree>
    <p:extLst>
      <p:ext uri="{BB962C8B-B14F-4D97-AF65-F5344CB8AC3E}">
        <p14:creationId xmlns:p14="http://schemas.microsoft.com/office/powerpoint/2010/main" val="2424699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996B63-580A-4FAA-802F-2248A3A40446}"/>
              </a:ext>
            </a:extLst>
          </p:cNvPr>
          <p:cNvSpPr>
            <a:spLocks noGrp="1"/>
          </p:cNvSpPr>
          <p:nvPr>
            <p:ph type="title"/>
          </p:nvPr>
        </p:nvSpPr>
        <p:spPr/>
        <p:txBody>
          <a:bodyPr/>
          <a:lstStyle/>
          <a:p>
            <a:r>
              <a:rPr lang="en-MY" dirty="0"/>
              <a:t>Software Complexity…</a:t>
            </a:r>
            <a:endParaRPr lang="en-GB" dirty="0"/>
          </a:p>
        </p:txBody>
      </p:sp>
      <p:sp>
        <p:nvSpPr>
          <p:cNvPr id="3" name="Content Placeholder 2">
            <a:extLst>
              <a:ext uri="{FF2B5EF4-FFF2-40B4-BE49-F238E27FC236}">
                <a16:creationId xmlns:a16="http://schemas.microsoft.com/office/drawing/2014/main" xmlns="" id="{75BA5E55-342B-4588-A2B3-64E820C07621}"/>
              </a:ext>
            </a:extLst>
          </p:cNvPr>
          <p:cNvSpPr>
            <a:spLocks noGrp="1"/>
          </p:cNvSpPr>
          <p:nvPr>
            <p:ph idx="1"/>
          </p:nvPr>
        </p:nvSpPr>
        <p:spPr>
          <a:xfrm>
            <a:off x="457200" y="1439678"/>
            <a:ext cx="8229600" cy="4686485"/>
          </a:xfrm>
        </p:spPr>
        <p:txBody>
          <a:bodyPr>
            <a:noAutofit/>
          </a:bodyPr>
          <a:lstStyle/>
          <a:p>
            <a:pPr>
              <a:lnSpc>
                <a:spcPct val="80000"/>
              </a:lnSpc>
            </a:pPr>
            <a:r>
              <a:rPr lang="en-US" sz="2400" b="1" dirty="0"/>
              <a:t>Ariane 5 rocket:</a:t>
            </a:r>
          </a:p>
          <a:p>
            <a:pPr lvl="1">
              <a:lnSpc>
                <a:spcPct val="80000"/>
              </a:lnSpc>
            </a:pPr>
            <a:r>
              <a:rPr lang="en-US" sz="2400" dirty="0"/>
              <a:t>Its maiden flight on June 4, 1996 ended in the launcher being exploded because of a chain of software failures </a:t>
            </a:r>
          </a:p>
          <a:p>
            <a:pPr>
              <a:lnSpc>
                <a:spcPct val="80000"/>
              </a:lnSpc>
            </a:pPr>
            <a:r>
              <a:rPr lang="en-US" sz="2400" b="1" dirty="0"/>
              <a:t>London Ambulance:</a:t>
            </a:r>
          </a:p>
          <a:p>
            <a:pPr lvl="1">
              <a:lnSpc>
                <a:spcPct val="80000"/>
              </a:lnSpc>
            </a:pPr>
            <a:r>
              <a:rPr lang="en-US" sz="2400" dirty="0"/>
              <a:t>Because of a succession of software engineering failures the system was introduced that failed twice in the autumn of 1992</a:t>
            </a:r>
          </a:p>
          <a:p>
            <a:pPr lvl="1">
              <a:lnSpc>
                <a:spcPct val="80000"/>
              </a:lnSpc>
            </a:pPr>
            <a:r>
              <a:rPr lang="en-US" sz="2400" dirty="0"/>
              <a:t>Although the monetary costed at </a:t>
            </a:r>
            <a:r>
              <a:rPr lang="ja-JP" altLang="en-US" sz="2400" dirty="0"/>
              <a:t>“</a:t>
            </a:r>
            <a:r>
              <a:rPr lang="en-US" altLang="ja-JP" sz="2400" dirty="0"/>
              <a:t>only</a:t>
            </a:r>
            <a:r>
              <a:rPr lang="ja-JP" altLang="en-US" sz="2400" dirty="0"/>
              <a:t>”</a:t>
            </a:r>
            <a:r>
              <a:rPr lang="en-US" altLang="ja-JP" sz="2400" dirty="0"/>
              <a:t> about £9m, was small by comparison with other examples, it is believed that PEOPLE DIED due to the ambulance do not come as promptly as they would </a:t>
            </a:r>
          </a:p>
          <a:p>
            <a:pPr>
              <a:lnSpc>
                <a:spcPct val="80000"/>
              </a:lnSpc>
            </a:pPr>
            <a:r>
              <a:rPr lang="en-US" sz="2400" b="1" dirty="0"/>
              <a:t>London Stock Exchange (LSE):</a:t>
            </a:r>
          </a:p>
          <a:p>
            <a:pPr lvl="1">
              <a:lnSpc>
                <a:spcPct val="80000"/>
              </a:lnSpc>
            </a:pPr>
            <a:r>
              <a:rPr lang="en-US" sz="2400" dirty="0"/>
              <a:t>The estimated loss to customers was around £450m and the damage to the reputation of the LSE was incalculable</a:t>
            </a:r>
          </a:p>
        </p:txBody>
      </p:sp>
      <p:sp>
        <p:nvSpPr>
          <p:cNvPr id="4" name="Date Placeholder 3">
            <a:extLst>
              <a:ext uri="{FF2B5EF4-FFF2-40B4-BE49-F238E27FC236}">
                <a16:creationId xmlns:a16="http://schemas.microsoft.com/office/drawing/2014/main" xmlns="" id="{8A6F78B3-6F4F-4C23-9437-C3FDFC8BA47F}"/>
              </a:ext>
            </a:extLst>
          </p:cNvPr>
          <p:cNvSpPr>
            <a:spLocks noGrp="1"/>
          </p:cNvSpPr>
          <p:nvPr>
            <p:ph type="dt" sz="half" idx="10"/>
          </p:nvPr>
        </p:nvSpPr>
        <p:spPr/>
        <p:txBody>
          <a:bodyPr/>
          <a:lstStyle/>
          <a:p>
            <a:r>
              <a:rPr lang="en-US"/>
              <a:t>2020</a:t>
            </a:r>
          </a:p>
        </p:txBody>
      </p:sp>
      <p:sp>
        <p:nvSpPr>
          <p:cNvPr id="5" name="Footer Placeholder 4">
            <a:extLst>
              <a:ext uri="{FF2B5EF4-FFF2-40B4-BE49-F238E27FC236}">
                <a16:creationId xmlns:a16="http://schemas.microsoft.com/office/drawing/2014/main" xmlns="" id="{CD5EB182-ADFF-4495-8B06-F6BF23E7E7F9}"/>
              </a:ext>
            </a:extLst>
          </p:cNvPr>
          <p:cNvSpPr>
            <a:spLocks noGrp="1"/>
          </p:cNvSpPr>
          <p:nvPr>
            <p:ph type="ftr" sz="quarter" idx="11"/>
          </p:nvPr>
        </p:nvSpPr>
        <p:spPr/>
        <p:txBody>
          <a:bodyPr/>
          <a:lstStyle/>
          <a:p>
            <a:r>
              <a:rPr lang="en-US"/>
              <a:t>Software Engineering</a:t>
            </a:r>
          </a:p>
        </p:txBody>
      </p:sp>
      <p:sp>
        <p:nvSpPr>
          <p:cNvPr id="6" name="Slide Number Placeholder 5">
            <a:extLst>
              <a:ext uri="{FF2B5EF4-FFF2-40B4-BE49-F238E27FC236}">
                <a16:creationId xmlns:a16="http://schemas.microsoft.com/office/drawing/2014/main" xmlns="" id="{0A85CDA2-66DD-483C-9584-7A1EC4066B7F}"/>
              </a:ext>
            </a:extLst>
          </p:cNvPr>
          <p:cNvSpPr>
            <a:spLocks noGrp="1"/>
          </p:cNvSpPr>
          <p:nvPr>
            <p:ph type="sldNum" sz="quarter" idx="12"/>
          </p:nvPr>
        </p:nvSpPr>
        <p:spPr/>
        <p:txBody>
          <a:bodyPr/>
          <a:lstStyle/>
          <a:p>
            <a:fld id="{0362C787-829C-4B6B-B21B-90D8981190F3}" type="slidenum">
              <a:rPr lang="en-US" smtClean="0"/>
              <a:pPr/>
              <a:t>17</a:t>
            </a:fld>
            <a:endParaRPr lang="en-US"/>
          </a:p>
        </p:txBody>
      </p:sp>
    </p:spTree>
    <p:extLst>
      <p:ext uri="{BB962C8B-B14F-4D97-AF65-F5344CB8AC3E}">
        <p14:creationId xmlns:p14="http://schemas.microsoft.com/office/powerpoint/2010/main" val="1579144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A1A605-83A6-48C6-81D7-E58EB0C58CFC}"/>
              </a:ext>
            </a:extLst>
          </p:cNvPr>
          <p:cNvSpPr>
            <a:spLocks noGrp="1"/>
          </p:cNvSpPr>
          <p:nvPr>
            <p:ph type="title"/>
          </p:nvPr>
        </p:nvSpPr>
        <p:spPr/>
        <p:txBody>
          <a:bodyPr/>
          <a:lstStyle/>
          <a:p>
            <a:pPr algn="r"/>
            <a:r>
              <a:rPr lang="en-MY" dirty="0"/>
              <a:t>LSE Example</a:t>
            </a:r>
            <a:endParaRPr lang="en-GB" dirty="0"/>
          </a:p>
        </p:txBody>
      </p:sp>
      <p:sp>
        <p:nvSpPr>
          <p:cNvPr id="3" name="Date Placeholder 2">
            <a:extLst>
              <a:ext uri="{FF2B5EF4-FFF2-40B4-BE49-F238E27FC236}">
                <a16:creationId xmlns:a16="http://schemas.microsoft.com/office/drawing/2014/main" xmlns="" id="{75327737-348A-434B-9B5D-A2CEBF3403C5}"/>
              </a:ext>
            </a:extLst>
          </p:cNvPr>
          <p:cNvSpPr>
            <a:spLocks noGrp="1"/>
          </p:cNvSpPr>
          <p:nvPr>
            <p:ph type="dt" sz="half" idx="10"/>
          </p:nvPr>
        </p:nvSpPr>
        <p:spPr/>
        <p:txBody>
          <a:bodyPr/>
          <a:lstStyle/>
          <a:p>
            <a:r>
              <a:rPr lang="en-US"/>
              <a:t>2020</a:t>
            </a:r>
          </a:p>
        </p:txBody>
      </p:sp>
      <p:sp>
        <p:nvSpPr>
          <p:cNvPr id="4" name="Footer Placeholder 3">
            <a:extLst>
              <a:ext uri="{FF2B5EF4-FFF2-40B4-BE49-F238E27FC236}">
                <a16:creationId xmlns:a16="http://schemas.microsoft.com/office/drawing/2014/main" xmlns="" id="{B5427E4A-F4EF-4424-B833-B1B9B6B7870C}"/>
              </a:ext>
            </a:extLst>
          </p:cNvPr>
          <p:cNvSpPr>
            <a:spLocks noGrp="1"/>
          </p:cNvSpPr>
          <p:nvPr>
            <p:ph type="ftr" sz="quarter" idx="11"/>
          </p:nvPr>
        </p:nvSpPr>
        <p:spPr/>
        <p:txBody>
          <a:bodyPr/>
          <a:lstStyle/>
          <a:p>
            <a:r>
              <a:rPr lang="en-US"/>
              <a:t>Software Engineering</a:t>
            </a:r>
          </a:p>
        </p:txBody>
      </p:sp>
      <p:sp>
        <p:nvSpPr>
          <p:cNvPr id="5" name="Slide Number Placeholder 4">
            <a:extLst>
              <a:ext uri="{FF2B5EF4-FFF2-40B4-BE49-F238E27FC236}">
                <a16:creationId xmlns:a16="http://schemas.microsoft.com/office/drawing/2014/main" xmlns="" id="{265B2E04-D4A6-4B24-B23A-C052480F4ED0}"/>
              </a:ext>
            </a:extLst>
          </p:cNvPr>
          <p:cNvSpPr>
            <a:spLocks noGrp="1"/>
          </p:cNvSpPr>
          <p:nvPr>
            <p:ph type="sldNum" sz="quarter" idx="12"/>
          </p:nvPr>
        </p:nvSpPr>
        <p:spPr/>
        <p:txBody>
          <a:bodyPr/>
          <a:lstStyle/>
          <a:p>
            <a:fld id="{0362C787-829C-4B6B-B21B-90D8981190F3}" type="slidenum">
              <a:rPr lang="en-US" smtClean="0"/>
              <a:pPr/>
              <a:t>18</a:t>
            </a:fld>
            <a:endParaRPr lang="en-US"/>
          </a:p>
        </p:txBody>
      </p:sp>
      <p:pic>
        <p:nvPicPr>
          <p:cNvPr id="6" name="Picture 5">
            <a:extLst>
              <a:ext uri="{FF2B5EF4-FFF2-40B4-BE49-F238E27FC236}">
                <a16:creationId xmlns:a16="http://schemas.microsoft.com/office/drawing/2014/main" xmlns="" id="{1037323D-A9C4-4634-8FBE-676EFC1D46B0}"/>
              </a:ext>
            </a:extLst>
          </p:cNvPr>
          <p:cNvPicPr>
            <a:picLocks noChangeAspect="1"/>
          </p:cNvPicPr>
          <p:nvPr/>
        </p:nvPicPr>
        <p:blipFill>
          <a:blip r:embed="rId2">
            <a:lum bright="-20000" contrast="20000"/>
          </a:blip>
          <a:stretch>
            <a:fillRect/>
          </a:stretch>
        </p:blipFill>
        <p:spPr>
          <a:xfrm>
            <a:off x="495899" y="108284"/>
            <a:ext cx="4286053" cy="6172201"/>
          </a:xfrm>
          <a:prstGeom prst="rect">
            <a:avLst/>
          </a:prstGeom>
          <a:ln>
            <a:solidFill>
              <a:schemeClr val="accent1"/>
            </a:solidFill>
          </a:ln>
        </p:spPr>
      </p:pic>
      <p:pic>
        <p:nvPicPr>
          <p:cNvPr id="7" name="Picture 6">
            <a:extLst>
              <a:ext uri="{FF2B5EF4-FFF2-40B4-BE49-F238E27FC236}">
                <a16:creationId xmlns:a16="http://schemas.microsoft.com/office/drawing/2014/main" xmlns="" id="{29E632C7-76D3-438C-A559-CEAD97C07927}"/>
              </a:ext>
            </a:extLst>
          </p:cNvPr>
          <p:cNvPicPr>
            <a:picLocks noChangeAspect="1"/>
          </p:cNvPicPr>
          <p:nvPr/>
        </p:nvPicPr>
        <p:blipFill>
          <a:blip r:embed="rId3">
            <a:lum bright="-20000" contrast="20000"/>
          </a:blip>
          <a:stretch>
            <a:fillRect/>
          </a:stretch>
        </p:blipFill>
        <p:spPr>
          <a:xfrm>
            <a:off x="4953000" y="2317866"/>
            <a:ext cx="4042322" cy="1753035"/>
          </a:xfrm>
          <a:prstGeom prst="rect">
            <a:avLst/>
          </a:prstGeom>
          <a:ln>
            <a:solidFill>
              <a:schemeClr val="accent1"/>
            </a:solidFill>
          </a:ln>
        </p:spPr>
      </p:pic>
      <p:sp>
        <p:nvSpPr>
          <p:cNvPr id="8" name="TextBox 7">
            <a:extLst>
              <a:ext uri="{FF2B5EF4-FFF2-40B4-BE49-F238E27FC236}">
                <a16:creationId xmlns:a16="http://schemas.microsoft.com/office/drawing/2014/main" xmlns="" id="{8221AF98-03A9-4F88-8CEE-3124645BAB1F}"/>
              </a:ext>
            </a:extLst>
          </p:cNvPr>
          <p:cNvSpPr txBox="1"/>
          <p:nvPr/>
        </p:nvSpPr>
        <p:spPr>
          <a:xfrm>
            <a:off x="5105401" y="4648200"/>
            <a:ext cx="3733800" cy="923330"/>
          </a:xfrm>
          <a:prstGeom prst="rect">
            <a:avLst/>
          </a:prstGeom>
          <a:noFill/>
        </p:spPr>
        <p:txBody>
          <a:bodyPr wrap="square" rtlCol="0">
            <a:spAutoFit/>
          </a:bodyPr>
          <a:lstStyle/>
          <a:p>
            <a:r>
              <a:rPr lang="en-MY" dirty="0"/>
              <a:t>Source: Financial Times</a:t>
            </a:r>
          </a:p>
          <a:p>
            <a:r>
              <a:rPr lang="en-GB" dirty="0">
                <a:hlinkClick r:id="rId4"/>
              </a:rPr>
              <a:t>https://www.ft.com/content/7c32d086-bff4-11e9-b350-db00d509634e</a:t>
            </a:r>
            <a:endParaRPr lang="en-GB" dirty="0"/>
          </a:p>
        </p:txBody>
      </p:sp>
    </p:spTree>
    <p:extLst>
      <p:ext uri="{BB962C8B-B14F-4D97-AF65-F5344CB8AC3E}">
        <p14:creationId xmlns:p14="http://schemas.microsoft.com/office/powerpoint/2010/main" val="410058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Changeability</a:t>
            </a:r>
            <a:endParaRPr lang="en-MY" dirty="0"/>
          </a:p>
        </p:txBody>
      </p:sp>
      <p:sp>
        <p:nvSpPr>
          <p:cNvPr id="3" name="Content Placeholder 2"/>
          <p:cNvSpPr>
            <a:spLocks noGrp="1"/>
          </p:cNvSpPr>
          <p:nvPr>
            <p:ph idx="1"/>
          </p:nvPr>
        </p:nvSpPr>
        <p:spPr/>
        <p:txBody>
          <a:bodyPr/>
          <a:lstStyle/>
          <a:p>
            <a:r>
              <a:rPr lang="en-US" dirty="0"/>
              <a:t>Major changes to software will always and frequently be demanded</a:t>
            </a:r>
          </a:p>
          <a:p>
            <a:pPr lvl="1"/>
            <a:r>
              <a:rPr lang="en-US" dirty="0"/>
              <a:t>successful software is required to provide more functionality</a:t>
            </a:r>
          </a:p>
          <a:p>
            <a:pPr lvl="1"/>
            <a:r>
              <a:rPr lang="en-US" dirty="0"/>
              <a:t>software survives hardware</a:t>
            </a:r>
          </a:p>
          <a:p>
            <a:r>
              <a:rPr lang="en-US" dirty="0"/>
              <a:t>Changing software (</a:t>
            </a:r>
            <a:r>
              <a:rPr lang="ja-JP" altLang="en-US" dirty="0"/>
              <a:t>“</a:t>
            </a:r>
            <a:r>
              <a:rPr lang="en-US" altLang="ja-JP" dirty="0"/>
              <a:t>maintenance</a:t>
            </a:r>
            <a:r>
              <a:rPr lang="ja-JP" altLang="en-US" dirty="0"/>
              <a:t>”</a:t>
            </a:r>
            <a:r>
              <a:rPr lang="en-US" altLang="ja-JP" dirty="0"/>
              <a:t>)</a:t>
            </a:r>
          </a:p>
          <a:p>
            <a:pPr lvl="1"/>
            <a:r>
              <a:rPr lang="en-US" dirty="0"/>
              <a:t>is difficult due to dynamic nature of relationships between its interacting parts</a:t>
            </a:r>
          </a:p>
          <a:p>
            <a:pPr marL="0" indent="0">
              <a:buNone/>
            </a:pP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19</a:t>
            </a:fld>
            <a:endParaRPr lang="en-US"/>
          </a:p>
        </p:txBody>
      </p:sp>
      <p:sp>
        <p:nvSpPr>
          <p:cNvPr id="7" name="TextBox 6"/>
          <p:cNvSpPr txBox="1"/>
          <p:nvPr/>
        </p:nvSpPr>
        <p:spPr>
          <a:xfrm>
            <a:off x="152400" y="6126163"/>
            <a:ext cx="3276600" cy="307777"/>
          </a:xfrm>
          <a:prstGeom prst="rect">
            <a:avLst/>
          </a:prstGeom>
          <a:noFill/>
        </p:spPr>
        <p:txBody>
          <a:bodyPr wrap="square" rtlCol="0">
            <a:spAutoFit/>
          </a:bodyPr>
          <a:lstStyle/>
          <a:p>
            <a:pPr marL="0" lvl="2"/>
            <a:r>
              <a:rPr lang="en-US" sz="1400" b="1" i="1" dirty="0">
                <a:solidFill>
                  <a:srgbClr val="4C4C4C"/>
                </a:solidFill>
                <a:latin typeface="Helvetica" panose="020B0604020202020204" pitchFamily="34" charset="0"/>
                <a:sym typeface="Helvetica" panose="020B0604020202020204" pitchFamily="34" charset="0"/>
              </a:rPr>
              <a:t>©2009 J. L. </a:t>
            </a:r>
            <a:r>
              <a:rPr lang="en-US" sz="1400" b="1" i="1" dirty="0" err="1">
                <a:solidFill>
                  <a:srgbClr val="4C4C4C"/>
                </a:solidFill>
                <a:latin typeface="Helvetica" panose="020B0604020202020204" pitchFamily="34" charset="0"/>
                <a:sym typeface="Helvetica" panose="020B0604020202020204" pitchFamily="34" charset="0"/>
              </a:rPr>
              <a:t>Díaz</a:t>
            </a:r>
            <a:r>
              <a:rPr lang="en-US" sz="1400" b="1" i="1" dirty="0">
                <a:solidFill>
                  <a:srgbClr val="4C4C4C"/>
                </a:solidFill>
                <a:latin typeface="Helvetica" panose="020B0604020202020204" pitchFamily="34" charset="0"/>
                <a:sym typeface="Helvetica" panose="020B0604020202020204" pitchFamily="34" charset="0"/>
              </a:rPr>
              <a:t>-Herrera</a:t>
            </a:r>
          </a:p>
        </p:txBody>
      </p:sp>
    </p:spTree>
    <p:extLst>
      <p:ext uri="{BB962C8B-B14F-4D97-AF65-F5344CB8AC3E}">
        <p14:creationId xmlns:p14="http://schemas.microsoft.com/office/powerpoint/2010/main" val="1028037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half" idx="2"/>
          </p:nvPr>
        </p:nvSpPr>
        <p:spPr>
          <a:xfrm>
            <a:off x="282678" y="1541352"/>
            <a:ext cx="4060722" cy="4584811"/>
          </a:xfrm>
        </p:spPr>
        <p:txBody>
          <a:bodyPr>
            <a:normAutofit/>
          </a:bodyPr>
          <a:lstStyle/>
          <a:p>
            <a:r>
              <a:rPr lang="en-US" sz="2000" u="sng" dirty="0"/>
              <a:t>Computer science</a:t>
            </a:r>
          </a:p>
          <a:p>
            <a:r>
              <a:rPr lang="en-US" sz="2000" dirty="0"/>
              <a:t>- The study of computation &amp; information processing, both in hardware and software</a:t>
            </a:r>
          </a:p>
          <a:p>
            <a:r>
              <a:rPr lang="en-US" sz="2000" dirty="0"/>
              <a:t>- The discipline concerned with developing large applications</a:t>
            </a:r>
          </a:p>
          <a:p>
            <a:endParaRPr lang="en-US" sz="2000" dirty="0"/>
          </a:p>
          <a:p>
            <a:r>
              <a:rPr lang="en-US" sz="2000" u="sng" dirty="0"/>
              <a:t>Software engineering </a:t>
            </a:r>
          </a:p>
          <a:p>
            <a:r>
              <a:rPr lang="en-US" sz="2000" dirty="0"/>
              <a:t>- Covers not only the technical aspects of building software systems, but also management issues, such as directing programming teams, scheduling, and budgeting</a:t>
            </a:r>
          </a:p>
          <a:p>
            <a:endParaRPr lang="en-US" sz="2000" dirty="0"/>
          </a:p>
        </p:txBody>
      </p:sp>
      <p:sp>
        <p:nvSpPr>
          <p:cNvPr id="4" name="Date Placeholder 3"/>
          <p:cNvSpPr>
            <a:spLocks noGrp="1"/>
          </p:cNvSpPr>
          <p:nvPr>
            <p:ph type="dt" sz="half" idx="10"/>
          </p:nvPr>
        </p:nvSpPr>
        <p:spPr/>
        <p:txBody>
          <a:bodyPr/>
          <a:lstStyle/>
          <a:p>
            <a:r>
              <a:rPr lang="en-US"/>
              <a:t>2020</a:t>
            </a:r>
            <a:endParaRPr lang="en-US" dirty="0"/>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20</a:t>
            </a:fld>
            <a:endParaRPr lang="en-US" dirty="0"/>
          </a:p>
        </p:txBody>
      </p:sp>
      <p:sp>
        <p:nvSpPr>
          <p:cNvPr id="7" name="TextBox 6"/>
          <p:cNvSpPr txBox="1"/>
          <p:nvPr/>
        </p:nvSpPr>
        <p:spPr>
          <a:xfrm>
            <a:off x="282678" y="5975866"/>
            <a:ext cx="8763000" cy="369332"/>
          </a:xfrm>
          <a:prstGeom prst="rect">
            <a:avLst/>
          </a:prstGeom>
          <a:noFill/>
        </p:spPr>
        <p:txBody>
          <a:bodyPr wrap="square" rtlCol="0">
            <a:spAutoFit/>
          </a:bodyPr>
          <a:lstStyle/>
          <a:p>
            <a:r>
              <a:rPr lang="en-US" altLang="ja-JP" i="1" dirty="0">
                <a:solidFill>
                  <a:srgbClr val="C00000"/>
                </a:solidFill>
              </a:rPr>
              <a:t>Source : Agarwal, U. (2012).  Software Engineering, </a:t>
            </a:r>
            <a:r>
              <a:rPr lang="en-US" altLang="ja-JP" i="1" dirty="0" err="1">
                <a:solidFill>
                  <a:srgbClr val="C00000"/>
                </a:solidFill>
              </a:rPr>
              <a:t>Kataria</a:t>
            </a:r>
            <a:r>
              <a:rPr lang="en-US" altLang="ja-JP" i="1" dirty="0">
                <a:solidFill>
                  <a:srgbClr val="C00000"/>
                </a:solidFill>
              </a:rPr>
              <a:t> and Sons. </a:t>
            </a:r>
            <a:endParaRPr lang="en-US" dirty="0">
              <a:solidFill>
                <a:srgbClr val="C00000"/>
              </a:solidFill>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91000" y="1541352"/>
            <a:ext cx="4724400" cy="44345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p:cNvSpPr/>
          <p:nvPr/>
        </p:nvSpPr>
        <p:spPr>
          <a:xfrm>
            <a:off x="282678" y="-93512"/>
            <a:ext cx="8480322" cy="1323439"/>
          </a:xfrm>
          <a:prstGeom prst="rect">
            <a:avLst/>
          </a:prstGeom>
        </p:spPr>
        <p:txBody>
          <a:bodyPr wrap="square">
            <a:spAutoFit/>
          </a:bodyPr>
          <a:lstStyle/>
          <a:p>
            <a:pPr algn="ctr"/>
            <a:r>
              <a:rPr lang="en-US" sz="4000" dirty="0">
                <a:solidFill>
                  <a:prstClr val="black"/>
                </a:solidFill>
                <a:ea typeface="+mj-ea"/>
                <a:cs typeface="+mj-cs"/>
              </a:rPr>
              <a:t>Computer Science vs</a:t>
            </a:r>
            <a:r>
              <a:rPr lang="en-US" sz="4000">
                <a:solidFill>
                  <a:prstClr val="black"/>
                </a:solidFill>
                <a:ea typeface="+mj-ea"/>
                <a:cs typeface="+mj-cs"/>
              </a:rPr>
              <a:t>. </a:t>
            </a:r>
          </a:p>
          <a:p>
            <a:pPr algn="ctr"/>
            <a:r>
              <a:rPr lang="en-US" sz="4000">
                <a:solidFill>
                  <a:prstClr val="black"/>
                </a:solidFill>
                <a:ea typeface="+mj-ea"/>
                <a:cs typeface="+mj-cs"/>
              </a:rPr>
              <a:t>Software </a:t>
            </a:r>
            <a:r>
              <a:rPr lang="en-US" sz="4000" dirty="0">
                <a:solidFill>
                  <a:prstClr val="black"/>
                </a:solidFill>
                <a:ea typeface="+mj-ea"/>
                <a:cs typeface="+mj-cs"/>
              </a:rPr>
              <a:t>Engineering</a:t>
            </a:r>
            <a:endParaRPr lang="en-US" sz="1600" dirty="0"/>
          </a:p>
        </p:txBody>
      </p:sp>
    </p:spTree>
    <p:extLst>
      <p:ext uri="{BB962C8B-B14F-4D97-AF65-F5344CB8AC3E}">
        <p14:creationId xmlns:p14="http://schemas.microsoft.com/office/powerpoint/2010/main" val="3019846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Software </a:t>
            </a:r>
            <a:r>
              <a:rPr lang="en-US"/>
              <a:t>Engineering vs. </a:t>
            </a:r>
            <a:br>
              <a:rPr lang="en-US"/>
            </a:br>
            <a:r>
              <a:rPr lang="en-US"/>
              <a:t>Software </a:t>
            </a:r>
            <a:r>
              <a:rPr lang="en-US" dirty="0"/>
              <a:t>Programming</a:t>
            </a: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21</a:t>
            </a:fld>
            <a:endParaRPr lang="en-US"/>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1660106212"/>
              </p:ext>
            </p:extLst>
          </p:nvPr>
        </p:nvGraphicFramePr>
        <p:xfrm>
          <a:off x="457200" y="1600200"/>
          <a:ext cx="8229600" cy="4236344"/>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xmlns="" val="20000"/>
                    </a:ext>
                  </a:extLst>
                </a:gridCol>
                <a:gridCol w="4114800">
                  <a:extLst>
                    <a:ext uri="{9D8B030D-6E8A-4147-A177-3AD203B41FA5}">
                      <a16:colId xmlns:a16="http://schemas.microsoft.com/office/drawing/2014/main" xmlns="" val="20001"/>
                    </a:ext>
                  </a:extLst>
                </a:gridCol>
              </a:tblGrid>
              <a:tr h="533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MY" sz="2000" b="1" dirty="0">
                          <a:latin typeface="Arial" panose="020B0604020202020204" pitchFamily="34" charset="0"/>
                          <a:cs typeface="Arial" panose="020B0604020202020204" pitchFamily="34" charset="0"/>
                        </a:rPr>
                        <a:t>Software Programming</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Software Engineering</a:t>
                      </a:r>
                    </a:p>
                  </a:txBody>
                  <a:tcPr/>
                </a:tc>
                <a:extLst>
                  <a:ext uri="{0D108BD9-81ED-4DB2-BD59-A6C34878D82A}">
                    <a16:rowId xmlns:a16="http://schemas.microsoft.com/office/drawing/2014/main" xmlns="" val="10000"/>
                  </a:ext>
                </a:extLst>
              </a:tr>
              <a:tr h="869058">
                <a:tc>
                  <a:txBody>
                    <a:bodyPr/>
                    <a:lstStyle/>
                    <a:p>
                      <a:r>
                        <a:rPr lang="en-MY" sz="2000" dirty="0">
                          <a:latin typeface="Arial" panose="020B0604020202020204" pitchFamily="34" charset="0"/>
                          <a:cs typeface="Arial" panose="020B0604020202020204" pitchFamily="34" charset="0"/>
                        </a:rPr>
                        <a:t>Single</a:t>
                      </a:r>
                      <a:r>
                        <a:rPr lang="en-MY" sz="2000" baseline="0" dirty="0">
                          <a:latin typeface="Arial" panose="020B0604020202020204" pitchFamily="34" charset="0"/>
                          <a:cs typeface="Arial" panose="020B0604020202020204" pitchFamily="34" charset="0"/>
                        </a:rPr>
                        <a:t> developer</a:t>
                      </a:r>
                      <a:endParaRPr lang="en-MY" sz="2000" dirty="0">
                        <a:latin typeface="Arial" panose="020B0604020202020204" pitchFamily="34" charset="0"/>
                        <a:cs typeface="Arial" panose="020B0604020202020204" pitchFamily="34" charset="0"/>
                      </a:endParaRPr>
                    </a:p>
                  </a:txBody>
                  <a:tcPr/>
                </a:tc>
                <a:tc>
                  <a:txBody>
                    <a:bodyPr/>
                    <a:lstStyle/>
                    <a:p>
                      <a:r>
                        <a:rPr lang="en-MY" sz="2000" dirty="0">
                          <a:latin typeface="Arial" panose="020B0604020202020204" pitchFamily="34" charset="0"/>
                          <a:cs typeface="Arial" panose="020B0604020202020204" pitchFamily="34" charset="0"/>
                        </a:rPr>
                        <a:t>Teams of developers</a:t>
                      </a:r>
                      <a:r>
                        <a:rPr lang="en-MY" sz="2000" baseline="0" dirty="0">
                          <a:latin typeface="Arial" panose="020B0604020202020204" pitchFamily="34" charset="0"/>
                          <a:cs typeface="Arial" panose="020B0604020202020204" pitchFamily="34" charset="0"/>
                        </a:rPr>
                        <a:t> with multiple roles</a:t>
                      </a:r>
                      <a:endParaRPr lang="en-MY"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1"/>
                  </a:ext>
                </a:extLst>
              </a:tr>
              <a:tr h="491207">
                <a:tc>
                  <a:txBody>
                    <a:bodyPr/>
                    <a:lstStyle/>
                    <a:p>
                      <a:r>
                        <a:rPr lang="en-MY" sz="2000" dirty="0">
                          <a:latin typeface="Arial" panose="020B0604020202020204" pitchFamily="34" charset="0"/>
                          <a:cs typeface="Arial" panose="020B0604020202020204" pitchFamily="34" charset="0"/>
                        </a:rPr>
                        <a:t>“Toy” applications</a:t>
                      </a:r>
                    </a:p>
                  </a:txBody>
                  <a:tcPr/>
                </a:tc>
                <a:tc>
                  <a:txBody>
                    <a:bodyPr/>
                    <a:lstStyle/>
                    <a:p>
                      <a:r>
                        <a:rPr lang="en-MY" sz="2000" dirty="0">
                          <a:latin typeface="Arial" panose="020B0604020202020204" pitchFamily="34" charset="0"/>
                          <a:cs typeface="Arial" panose="020B0604020202020204" pitchFamily="34" charset="0"/>
                        </a:rPr>
                        <a:t>Complex</a:t>
                      </a:r>
                      <a:r>
                        <a:rPr lang="en-MY" sz="2000" baseline="0" dirty="0">
                          <a:latin typeface="Arial" panose="020B0604020202020204" pitchFamily="34" charset="0"/>
                          <a:cs typeface="Arial" panose="020B0604020202020204" pitchFamily="34" charset="0"/>
                        </a:rPr>
                        <a:t> systems</a:t>
                      </a:r>
                      <a:endParaRPr lang="en-MY"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2"/>
                  </a:ext>
                </a:extLst>
              </a:tr>
              <a:tr h="491207">
                <a:tc>
                  <a:txBody>
                    <a:bodyPr/>
                    <a:lstStyle/>
                    <a:p>
                      <a:r>
                        <a:rPr lang="en-MY" sz="2000" dirty="0">
                          <a:latin typeface="Arial" panose="020B0604020202020204" pitchFamily="34" charset="0"/>
                          <a:cs typeface="Arial" panose="020B0604020202020204" pitchFamily="34" charset="0"/>
                        </a:rPr>
                        <a:t>Short lifespan</a:t>
                      </a:r>
                    </a:p>
                  </a:txBody>
                  <a:tcPr/>
                </a:tc>
                <a:tc>
                  <a:txBody>
                    <a:bodyPr/>
                    <a:lstStyle/>
                    <a:p>
                      <a:r>
                        <a:rPr lang="en-MY" sz="2000" dirty="0">
                          <a:latin typeface="Arial" panose="020B0604020202020204" pitchFamily="34" charset="0"/>
                          <a:cs typeface="Arial" panose="020B0604020202020204" pitchFamily="34" charset="0"/>
                        </a:rPr>
                        <a:t>Indefinite lifespan</a:t>
                      </a:r>
                    </a:p>
                  </a:txBody>
                  <a:tcPr/>
                </a:tc>
                <a:extLst>
                  <a:ext uri="{0D108BD9-81ED-4DB2-BD59-A6C34878D82A}">
                    <a16:rowId xmlns:a16="http://schemas.microsoft.com/office/drawing/2014/main" xmlns="" val="10003"/>
                  </a:ext>
                </a:extLst>
              </a:tr>
              <a:tr h="491207">
                <a:tc>
                  <a:txBody>
                    <a:bodyPr/>
                    <a:lstStyle/>
                    <a:p>
                      <a:r>
                        <a:rPr lang="en-MY" sz="2000" dirty="0">
                          <a:latin typeface="Arial" panose="020B0604020202020204" pitchFamily="34" charset="0"/>
                          <a:cs typeface="Arial" panose="020B0604020202020204" pitchFamily="34" charset="0"/>
                        </a:rPr>
                        <a:t>One-of-a-kind systems</a:t>
                      </a:r>
                    </a:p>
                  </a:txBody>
                  <a:tcPr/>
                </a:tc>
                <a:tc>
                  <a:txBody>
                    <a:bodyPr/>
                    <a:lstStyle/>
                    <a:p>
                      <a:r>
                        <a:rPr lang="en-MY" sz="2000" dirty="0">
                          <a:latin typeface="Arial" panose="020B0604020202020204" pitchFamily="34" charset="0"/>
                          <a:cs typeface="Arial" panose="020B0604020202020204" pitchFamily="34" charset="0"/>
                        </a:rPr>
                        <a:t>System families</a:t>
                      </a:r>
                    </a:p>
                  </a:txBody>
                  <a:tcPr/>
                </a:tc>
                <a:extLst>
                  <a:ext uri="{0D108BD9-81ED-4DB2-BD59-A6C34878D82A}">
                    <a16:rowId xmlns:a16="http://schemas.microsoft.com/office/drawing/2014/main" xmlns="" val="10004"/>
                  </a:ext>
                </a:extLst>
              </a:tr>
              <a:tr h="491207">
                <a:tc>
                  <a:txBody>
                    <a:bodyPr/>
                    <a:lstStyle/>
                    <a:p>
                      <a:r>
                        <a:rPr lang="en-MY" sz="2000" dirty="0">
                          <a:latin typeface="Arial" panose="020B0604020202020204" pitchFamily="34" charset="0"/>
                          <a:cs typeface="Arial" panose="020B0604020202020204" pitchFamily="34" charset="0"/>
                        </a:rPr>
                        <a:t>Built from scratch</a:t>
                      </a:r>
                    </a:p>
                  </a:txBody>
                  <a:tcPr/>
                </a:tc>
                <a:tc>
                  <a:txBody>
                    <a:bodyPr/>
                    <a:lstStyle/>
                    <a:p>
                      <a:r>
                        <a:rPr lang="en-MY" sz="2000" dirty="0">
                          <a:latin typeface="Arial" panose="020B0604020202020204" pitchFamily="34" charset="0"/>
                          <a:cs typeface="Arial" panose="020B0604020202020204" pitchFamily="34" charset="0"/>
                        </a:rPr>
                        <a:t>May </a:t>
                      </a:r>
                      <a:r>
                        <a:rPr lang="en-MY" sz="2000">
                          <a:latin typeface="Arial" panose="020B0604020202020204" pitchFamily="34" charset="0"/>
                          <a:cs typeface="Arial" panose="020B0604020202020204" pitchFamily="34" charset="0"/>
                        </a:rPr>
                        <a:t>be reused </a:t>
                      </a:r>
                      <a:r>
                        <a:rPr lang="en-MY" sz="2000" dirty="0">
                          <a:latin typeface="Arial" panose="020B0604020202020204" pitchFamily="34" charset="0"/>
                          <a:cs typeface="Arial" panose="020B0604020202020204" pitchFamily="34" charset="0"/>
                        </a:rPr>
                        <a:t>to reduce costs</a:t>
                      </a:r>
                    </a:p>
                  </a:txBody>
                  <a:tcPr/>
                </a:tc>
                <a:extLst>
                  <a:ext uri="{0D108BD9-81ED-4DB2-BD59-A6C34878D82A}">
                    <a16:rowId xmlns:a16="http://schemas.microsoft.com/office/drawing/2014/main" xmlns="" val="10005"/>
                  </a:ext>
                </a:extLst>
              </a:tr>
              <a:tr h="869058">
                <a:tc>
                  <a:txBody>
                    <a:bodyPr/>
                    <a:lstStyle/>
                    <a:p>
                      <a:r>
                        <a:rPr lang="en-MY" sz="2000" dirty="0">
                          <a:latin typeface="Arial" panose="020B0604020202020204" pitchFamily="34" charset="0"/>
                          <a:cs typeface="Arial" panose="020B0604020202020204" pitchFamily="34" charset="0"/>
                        </a:rPr>
                        <a:t>Minimal maintenance </a:t>
                      </a:r>
                    </a:p>
                  </a:txBody>
                  <a:tcPr/>
                </a:tc>
                <a:tc>
                  <a:txBody>
                    <a:bodyPr/>
                    <a:lstStyle/>
                    <a:p>
                      <a:r>
                        <a:rPr lang="en-MY" sz="2000" dirty="0">
                          <a:latin typeface="Arial" panose="020B0604020202020204" pitchFamily="34" charset="0"/>
                          <a:cs typeface="Arial" panose="020B0604020202020204" pitchFamily="34" charset="0"/>
                        </a:rPr>
                        <a:t>Maintenance</a:t>
                      </a:r>
                      <a:r>
                        <a:rPr lang="en-MY" sz="2000" baseline="0" dirty="0">
                          <a:latin typeface="Arial" panose="020B0604020202020204" pitchFamily="34" charset="0"/>
                          <a:cs typeface="Arial" panose="020B0604020202020204" pitchFamily="34" charset="0"/>
                        </a:rPr>
                        <a:t> accounts for over 60% of overall development costs</a:t>
                      </a:r>
                      <a:endParaRPr lang="en-MY"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4082214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Quality Focus</a:t>
            </a:r>
            <a:endParaRPr lang="en-MY" dirty="0"/>
          </a:p>
        </p:txBody>
      </p:sp>
      <p:sp>
        <p:nvSpPr>
          <p:cNvPr id="3" name="Content Placeholder 2"/>
          <p:cNvSpPr>
            <a:spLocks noGrp="1"/>
          </p:cNvSpPr>
          <p:nvPr>
            <p:ph idx="1"/>
          </p:nvPr>
        </p:nvSpPr>
        <p:spPr/>
        <p:txBody>
          <a:bodyPr>
            <a:normAutofit lnSpcReduction="10000"/>
          </a:bodyPr>
          <a:lstStyle/>
          <a:p>
            <a:pPr>
              <a:lnSpc>
                <a:spcPct val="80000"/>
              </a:lnSpc>
              <a:spcBef>
                <a:spcPts val="600"/>
              </a:spcBef>
            </a:pPr>
            <a:r>
              <a:rPr lang="en-US" sz="2200" u="sng"/>
              <a:t>External </a:t>
            </a:r>
            <a:r>
              <a:rPr lang="en-US" sz="2200" u="sng" dirty="0"/>
              <a:t>qualities</a:t>
            </a:r>
            <a:r>
              <a:rPr lang="en-US" sz="2200" dirty="0"/>
              <a:t> are visible to the </a:t>
            </a:r>
            <a:r>
              <a:rPr lang="en-US" sz="2200" u="sng" dirty="0"/>
              <a:t>user</a:t>
            </a:r>
          </a:p>
          <a:p>
            <a:pPr lvl="1">
              <a:lnSpc>
                <a:spcPct val="80000"/>
              </a:lnSpc>
              <a:spcBef>
                <a:spcPts val="900"/>
              </a:spcBef>
            </a:pPr>
            <a:r>
              <a:rPr lang="en-US" sz="2200" dirty="0"/>
              <a:t>reliability, efficiency, usability</a:t>
            </a:r>
          </a:p>
          <a:p>
            <a:pPr>
              <a:lnSpc>
                <a:spcPct val="80000"/>
              </a:lnSpc>
              <a:spcBef>
                <a:spcPts val="600"/>
              </a:spcBef>
            </a:pPr>
            <a:r>
              <a:rPr lang="en-US" sz="2200" u="sng" dirty="0"/>
              <a:t>Internal qualities</a:t>
            </a:r>
            <a:r>
              <a:rPr lang="en-US" sz="2200" dirty="0"/>
              <a:t> are the concern of </a:t>
            </a:r>
            <a:r>
              <a:rPr lang="en-US" sz="2200" u="sng" dirty="0"/>
              <a:t>developers</a:t>
            </a:r>
          </a:p>
          <a:p>
            <a:pPr lvl="1">
              <a:lnSpc>
                <a:spcPct val="80000"/>
              </a:lnSpc>
              <a:spcBef>
                <a:spcPts val="900"/>
              </a:spcBef>
            </a:pPr>
            <a:r>
              <a:rPr lang="en-US" sz="2200" dirty="0"/>
              <a:t>they help developers achieve external qualities</a:t>
            </a:r>
          </a:p>
          <a:p>
            <a:pPr lvl="1">
              <a:lnSpc>
                <a:spcPct val="80000"/>
              </a:lnSpc>
              <a:spcBef>
                <a:spcPts val="900"/>
              </a:spcBef>
            </a:pPr>
            <a:r>
              <a:rPr lang="en-US" sz="2200" dirty="0"/>
              <a:t>verifiability, maintainability, extensibility, </a:t>
            </a:r>
            <a:r>
              <a:rPr lang="en-US" sz="2200" dirty="0" err="1"/>
              <a:t>evolvability</a:t>
            </a:r>
            <a:r>
              <a:rPr lang="en-US" sz="2200" dirty="0"/>
              <a:t>, adaptability</a:t>
            </a:r>
          </a:p>
          <a:p>
            <a:pPr>
              <a:lnSpc>
                <a:spcPct val="80000"/>
              </a:lnSpc>
              <a:spcBef>
                <a:spcPts val="900"/>
              </a:spcBef>
              <a:buNone/>
            </a:pPr>
            <a:endParaRPr lang="en-US" sz="2000" b="1" u="sng" dirty="0">
              <a:effectLst>
                <a:outerShdw blurRad="38100" dist="38100" dir="2700000" algn="tl">
                  <a:srgbClr val="C0C0C0"/>
                </a:outerShdw>
              </a:effectLst>
            </a:endParaRPr>
          </a:p>
          <a:p>
            <a:pPr>
              <a:lnSpc>
                <a:spcPct val="80000"/>
              </a:lnSpc>
              <a:spcBef>
                <a:spcPts val="900"/>
              </a:spcBef>
              <a:buNone/>
            </a:pPr>
            <a:r>
              <a:rPr lang="en-US" sz="2000" b="1" u="sng" dirty="0">
                <a:effectLst>
                  <a:outerShdw blurRad="38100" dist="38100" dir="2700000" algn="tl">
                    <a:srgbClr val="C0C0C0"/>
                  </a:outerShdw>
                </a:effectLst>
              </a:rPr>
              <a:t>Product vs. Process Qualities:</a:t>
            </a:r>
          </a:p>
          <a:p>
            <a:pPr>
              <a:lnSpc>
                <a:spcPct val="120000"/>
              </a:lnSpc>
            </a:pPr>
            <a:r>
              <a:rPr lang="en-US" sz="2000" dirty="0"/>
              <a:t> </a:t>
            </a:r>
            <a:r>
              <a:rPr lang="en-US" sz="2200" dirty="0"/>
              <a:t>Product qualities concern the developed artifacts</a:t>
            </a:r>
          </a:p>
          <a:p>
            <a:pPr lvl="1">
              <a:lnSpc>
                <a:spcPct val="80000"/>
              </a:lnSpc>
              <a:spcBef>
                <a:spcPts val="900"/>
              </a:spcBef>
            </a:pPr>
            <a:r>
              <a:rPr lang="en-US" sz="2200"/>
              <a:t>maintainability</a:t>
            </a:r>
            <a:r>
              <a:rPr lang="en-US" sz="2200" dirty="0"/>
              <a:t>, understandability, performance</a:t>
            </a:r>
          </a:p>
          <a:p>
            <a:pPr>
              <a:lnSpc>
                <a:spcPct val="80000"/>
              </a:lnSpc>
              <a:spcBef>
                <a:spcPts val="600"/>
              </a:spcBef>
            </a:pPr>
            <a:r>
              <a:rPr lang="en-US" sz="2200" dirty="0"/>
              <a:t> Process qualities deal with the development activity </a:t>
            </a:r>
          </a:p>
          <a:p>
            <a:pPr>
              <a:lnSpc>
                <a:spcPct val="80000"/>
              </a:lnSpc>
              <a:spcBef>
                <a:spcPts val="600"/>
              </a:spcBef>
            </a:pPr>
            <a:r>
              <a:rPr lang="en-US" sz="2200" dirty="0"/>
              <a:t> Products are developed through process</a:t>
            </a:r>
          </a:p>
          <a:p>
            <a:pPr lvl="1">
              <a:lnSpc>
                <a:spcPct val="80000"/>
              </a:lnSpc>
              <a:spcBef>
                <a:spcPts val="900"/>
              </a:spcBef>
            </a:pPr>
            <a:r>
              <a:rPr lang="en-US" sz="2200"/>
              <a:t>maintainability</a:t>
            </a:r>
            <a:r>
              <a:rPr lang="en-US" sz="2200" dirty="0"/>
              <a:t>, productivity, timeliness</a:t>
            </a:r>
          </a:p>
          <a:p>
            <a:pPr marL="0" indent="0">
              <a:buNone/>
            </a:pP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22</a:t>
            </a:fld>
            <a:endParaRPr lang="en-US"/>
          </a:p>
        </p:txBody>
      </p:sp>
      <p:sp>
        <p:nvSpPr>
          <p:cNvPr id="8" name="Rectangular Callout 7"/>
          <p:cNvSpPr/>
          <p:nvPr/>
        </p:nvSpPr>
        <p:spPr>
          <a:xfrm>
            <a:off x="5532341" y="1464491"/>
            <a:ext cx="1280836" cy="451366"/>
          </a:xfrm>
          <a:prstGeom prst="wedgeRectCallout">
            <a:avLst>
              <a:gd name="adj1" fmla="val -47817"/>
              <a:gd name="adj2" fmla="val 91071"/>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TextBox 8"/>
          <p:cNvSpPr txBox="1"/>
          <p:nvPr/>
        </p:nvSpPr>
        <p:spPr>
          <a:xfrm>
            <a:off x="5684741" y="1546525"/>
            <a:ext cx="976036" cy="369332"/>
          </a:xfrm>
          <a:prstGeom prst="rect">
            <a:avLst/>
          </a:prstGeom>
          <a:noFill/>
        </p:spPr>
        <p:txBody>
          <a:bodyPr wrap="none" rtlCol="0">
            <a:spAutoFit/>
          </a:bodyPr>
          <a:lstStyle/>
          <a:p>
            <a:r>
              <a:rPr lang="en-MY" dirty="0"/>
              <a:t>Product </a:t>
            </a:r>
          </a:p>
        </p:txBody>
      </p:sp>
      <p:sp>
        <p:nvSpPr>
          <p:cNvPr id="10" name="Rectangular Callout 9"/>
          <p:cNvSpPr/>
          <p:nvPr/>
        </p:nvSpPr>
        <p:spPr>
          <a:xfrm>
            <a:off x="7162800" y="2209800"/>
            <a:ext cx="1280836" cy="451366"/>
          </a:xfrm>
          <a:prstGeom prst="wedgeRectCallout">
            <a:avLst>
              <a:gd name="adj1" fmla="val -47817"/>
              <a:gd name="adj2" fmla="val 91071"/>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 name="TextBox 11"/>
          <p:cNvSpPr txBox="1"/>
          <p:nvPr/>
        </p:nvSpPr>
        <p:spPr>
          <a:xfrm>
            <a:off x="7328024" y="2291834"/>
            <a:ext cx="950388" cy="369332"/>
          </a:xfrm>
          <a:prstGeom prst="rect">
            <a:avLst/>
          </a:prstGeom>
          <a:noFill/>
        </p:spPr>
        <p:txBody>
          <a:bodyPr wrap="none" rtlCol="0">
            <a:spAutoFit/>
          </a:bodyPr>
          <a:lstStyle/>
          <a:p>
            <a:r>
              <a:rPr lang="en-MY" dirty="0"/>
              <a:t>Process </a:t>
            </a:r>
          </a:p>
        </p:txBody>
      </p:sp>
    </p:spTree>
    <p:extLst>
      <p:ext uri="{BB962C8B-B14F-4D97-AF65-F5344CB8AC3E}">
        <p14:creationId xmlns:p14="http://schemas.microsoft.com/office/powerpoint/2010/main" val="3234994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dirty="0"/>
              <a:t>Quality Focus: Example of </a:t>
            </a:r>
            <a:r>
              <a:rPr lang="en-GB"/>
              <a:t>Software Quality…</a:t>
            </a:r>
            <a:endParaRPr lang="en-MY"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604392126"/>
              </p:ext>
            </p:extLst>
          </p:nvPr>
        </p:nvGraphicFramePr>
        <p:xfrm>
          <a:off x="457200" y="1600200"/>
          <a:ext cx="8305800" cy="4462272"/>
        </p:xfrm>
        <a:graphic>
          <a:graphicData uri="http://schemas.openxmlformats.org/drawingml/2006/table">
            <a:tbl>
              <a:tblPr firstRow="1" bandRow="1">
                <a:tableStyleId>{5C22544A-7EE6-4342-B048-85BDC9FD1C3A}</a:tableStyleId>
              </a:tblPr>
              <a:tblGrid>
                <a:gridCol w="1691922">
                  <a:extLst>
                    <a:ext uri="{9D8B030D-6E8A-4147-A177-3AD203B41FA5}">
                      <a16:colId xmlns:a16="http://schemas.microsoft.com/office/drawing/2014/main" xmlns="" val="20000"/>
                    </a:ext>
                  </a:extLst>
                </a:gridCol>
                <a:gridCol w="6613878">
                  <a:extLst>
                    <a:ext uri="{9D8B030D-6E8A-4147-A177-3AD203B41FA5}">
                      <a16:colId xmlns:a16="http://schemas.microsoft.com/office/drawing/2014/main" xmlns="" val="20001"/>
                    </a:ext>
                  </a:extLst>
                </a:gridCol>
              </a:tblGrid>
              <a:tr h="370840">
                <a:tc>
                  <a:txBody>
                    <a:bodyPr/>
                    <a:lstStyle/>
                    <a:p>
                      <a:pPr algn="ctr"/>
                      <a:r>
                        <a:rPr lang="en-MY" sz="1800" dirty="0">
                          <a:latin typeface="Arial" panose="020B0604020202020204" pitchFamily="34" charset="0"/>
                          <a:cs typeface="Arial" panose="020B0604020202020204" pitchFamily="34" charset="0"/>
                        </a:rPr>
                        <a:t>Product characteristic</a:t>
                      </a:r>
                    </a:p>
                  </a:txBody>
                  <a:tcPr/>
                </a:tc>
                <a:tc>
                  <a:txBody>
                    <a:bodyPr/>
                    <a:lstStyle/>
                    <a:p>
                      <a:pPr algn="ctr"/>
                      <a:r>
                        <a:rPr lang="en-MY" sz="1800" dirty="0">
                          <a:latin typeface="Arial" panose="020B0604020202020204" pitchFamily="34" charset="0"/>
                          <a:cs typeface="Arial" panose="020B0604020202020204" pitchFamily="34" charset="0"/>
                        </a:rPr>
                        <a:t>Description</a:t>
                      </a:r>
                      <a:r>
                        <a:rPr lang="en-MY" sz="1800" baseline="0" dirty="0">
                          <a:latin typeface="Arial" panose="020B0604020202020204" pitchFamily="34" charset="0"/>
                          <a:cs typeface="Arial" panose="020B0604020202020204" pitchFamily="34" charset="0"/>
                        </a:rPr>
                        <a:t> </a:t>
                      </a:r>
                      <a:endParaRPr lang="en-MY"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Maintainability</a:t>
                      </a:r>
                      <a:endParaRPr lang="en-MY" sz="18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Software should be written in such a way so that it can </a:t>
                      </a:r>
                      <a:r>
                        <a:rPr kumimoji="0" lang="en-GB" sz="1800" b="1" i="0" u="none" strike="noStrike" cap="none" normalizeH="0" baseline="0" dirty="0">
                          <a:ln>
                            <a:noFill/>
                          </a:ln>
                          <a:solidFill>
                            <a:srgbClr val="C00000"/>
                          </a:solidFill>
                          <a:effectLst/>
                          <a:latin typeface="Arial" panose="020B0604020202020204" pitchFamily="34" charset="0"/>
                          <a:ea typeface="MS PGothic" panose="020B0600070205080204" pitchFamily="34" charset="-128"/>
                          <a:cs typeface="Arial" panose="020B0604020202020204" pitchFamily="34" charset="0"/>
                        </a:rPr>
                        <a:t>evolve</a:t>
                      </a:r>
                      <a:r>
                        <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 to meet the </a:t>
                      </a:r>
                      <a:r>
                        <a:rPr kumimoji="0" lang="en-GB" sz="1800" b="1" i="0" u="none" strike="noStrike" cap="none" normalizeH="0" baseline="0" dirty="0">
                          <a:ln>
                            <a:noFill/>
                          </a:ln>
                          <a:solidFill>
                            <a:srgbClr val="C00000"/>
                          </a:solidFill>
                          <a:effectLst/>
                          <a:latin typeface="Arial" panose="020B0604020202020204" pitchFamily="34" charset="0"/>
                          <a:ea typeface="MS PGothic" panose="020B0600070205080204" pitchFamily="34" charset="-128"/>
                          <a:cs typeface="Arial" panose="020B0604020202020204" pitchFamily="34" charset="0"/>
                        </a:rPr>
                        <a:t>changing</a:t>
                      </a:r>
                      <a:r>
                        <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 needs of customers. This is a critical attribute because software change is an inevitable requirement of a changing business </a:t>
                      </a:r>
                      <a:r>
                        <a:rPr kumimoji="0" lang="en-GB" sz="18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environment.</a:t>
                      </a:r>
                      <a:endPar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endParaRPr>
                    </a:p>
                  </a:txBody>
                  <a:tcPr/>
                </a:tc>
                <a:extLst>
                  <a:ext uri="{0D108BD9-81ED-4DB2-BD59-A6C34878D82A}">
                    <a16:rowId xmlns:a16="http://schemas.microsoft.com/office/drawing/2014/main" xmlns="" val="10001"/>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Verifiability</a:t>
                      </a:r>
                    </a:p>
                  </a:txBody>
                  <a:tcPr/>
                </a:tc>
                <a:tc>
                  <a:txBody>
                    <a:bodyPr/>
                    <a:lstStyle/>
                    <a:p>
                      <a:pPr marL="0" lvl="1" indent="0">
                        <a:lnSpc>
                          <a:spcPct val="80000"/>
                        </a:lnSpc>
                      </a:pPr>
                      <a:r>
                        <a:rPr lang="en-US" sz="1800" dirty="0">
                          <a:latin typeface="Arial" panose="020B0604020202020204" pitchFamily="34" charset="0"/>
                          <a:cs typeface="Arial" panose="020B0604020202020204" pitchFamily="34" charset="0"/>
                        </a:rPr>
                        <a:t>Its properties can be verified easily</a:t>
                      </a:r>
                      <a:r>
                        <a:rPr lang="en-US" sz="1800" baseline="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performed by formal analysis or testing  internal quality</a:t>
                      </a:r>
                    </a:p>
                  </a:txBody>
                  <a:tcPr/>
                </a:tc>
                <a:extLst>
                  <a:ext uri="{0D108BD9-81ED-4DB2-BD59-A6C34878D82A}">
                    <a16:rowId xmlns:a16="http://schemas.microsoft.com/office/drawing/2014/main" xmlns="" val="10002"/>
                  </a:ext>
                </a:extLst>
              </a:tr>
              <a:tr h="37084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Efficiency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Software should not make wasteful use of system resources such as memory and processor cycles. Efficiency therefore includes </a:t>
                      </a:r>
                      <a:r>
                        <a:rPr kumimoji="0" lang="en-GB" sz="1800" b="1" i="0" u="none" strike="noStrike" cap="none" normalizeH="0" baseline="0" dirty="0">
                          <a:ln>
                            <a:noFill/>
                          </a:ln>
                          <a:solidFill>
                            <a:srgbClr val="C00000"/>
                          </a:solidFill>
                          <a:effectLst/>
                          <a:latin typeface="Arial" panose="020B0604020202020204" pitchFamily="34" charset="0"/>
                          <a:ea typeface="MS PGothic" panose="020B0600070205080204" pitchFamily="34" charset="-128"/>
                          <a:cs typeface="Arial" panose="020B0604020202020204" pitchFamily="34" charset="0"/>
                        </a:rPr>
                        <a:t>responsiveness</a:t>
                      </a:r>
                      <a:r>
                        <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 processing time, memory utilisation, </a:t>
                      </a:r>
                      <a:r>
                        <a:rPr kumimoji="0" lang="en-GB" sz="18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etc.</a:t>
                      </a:r>
                      <a:endPar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endParaRPr>
                    </a:p>
                  </a:txBody>
                  <a:tcPr/>
                </a:tc>
                <a:extLst>
                  <a:ext uri="{0D108BD9-81ED-4DB2-BD59-A6C34878D82A}">
                    <a16:rowId xmlns:a16="http://schemas.microsoft.com/office/drawing/2014/main" xmlns="" val="100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Acceptability</a:t>
                      </a:r>
                      <a:endParaRPr lang="en-MY" sz="18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Software must be acceptable to the type of users for which it is designed. This means that it must be </a:t>
                      </a:r>
                      <a:r>
                        <a:rPr kumimoji="0" lang="en-GB" sz="1800" b="1" i="0" u="none" strike="noStrike" cap="none" normalizeH="0" baseline="0" dirty="0">
                          <a:ln>
                            <a:noFill/>
                          </a:ln>
                          <a:solidFill>
                            <a:srgbClr val="C00000"/>
                          </a:solidFill>
                          <a:effectLst/>
                          <a:latin typeface="Arial" panose="020B0604020202020204" pitchFamily="34" charset="0"/>
                          <a:ea typeface="MS PGothic" panose="020B0600070205080204" pitchFamily="34" charset="-128"/>
                          <a:cs typeface="Arial" panose="020B0604020202020204" pitchFamily="34" charset="0"/>
                        </a:rPr>
                        <a:t>understandable, usable </a:t>
                      </a:r>
                      <a:r>
                        <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and </a:t>
                      </a:r>
                      <a:r>
                        <a:rPr kumimoji="0" lang="en-GB" sz="1800" b="1" i="0" u="none" strike="noStrike" cap="none" normalizeH="0" baseline="0" dirty="0">
                          <a:ln>
                            <a:noFill/>
                          </a:ln>
                          <a:solidFill>
                            <a:srgbClr val="C00000"/>
                          </a:solidFill>
                          <a:effectLst/>
                          <a:latin typeface="Arial" panose="020B0604020202020204" pitchFamily="34" charset="0"/>
                          <a:ea typeface="MS PGothic" panose="020B0600070205080204" pitchFamily="34" charset="-128"/>
                          <a:cs typeface="Arial" panose="020B0604020202020204" pitchFamily="34" charset="0"/>
                        </a:rPr>
                        <a:t>compatible</a:t>
                      </a:r>
                      <a:r>
                        <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 with other systems that they use</a:t>
                      </a:r>
                      <a:r>
                        <a:rPr kumimoji="0" lang="en-GB" sz="18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 </a:t>
                      </a:r>
                      <a:endParaRPr kumimoji="0" lang="en-GB" sz="18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endParaRPr>
                    </a:p>
                  </a:txBody>
                  <a:tcPr/>
                </a:tc>
                <a:extLst>
                  <a:ext uri="{0D108BD9-81ED-4DB2-BD59-A6C34878D82A}">
                    <a16:rowId xmlns:a16="http://schemas.microsoft.com/office/drawing/2014/main" xmlns="" val="10004"/>
                  </a:ext>
                </a:extLst>
              </a:tr>
            </a:tbl>
          </a:graphicData>
        </a:graphic>
      </p:graphicFrame>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23</a:t>
            </a:fld>
            <a:endParaRPr lang="en-US"/>
          </a:p>
        </p:txBody>
      </p:sp>
    </p:spTree>
    <p:extLst>
      <p:ext uri="{BB962C8B-B14F-4D97-AF65-F5344CB8AC3E}">
        <p14:creationId xmlns:p14="http://schemas.microsoft.com/office/powerpoint/2010/main" val="1057396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dirty="0"/>
              <a:t>Quality Focus: Example of Software Quality</a:t>
            </a:r>
            <a:endParaRPr lang="en-MY"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049974907"/>
              </p:ext>
            </p:extLst>
          </p:nvPr>
        </p:nvGraphicFramePr>
        <p:xfrm>
          <a:off x="333828" y="1507487"/>
          <a:ext cx="8505372" cy="4867656"/>
        </p:xfrm>
        <a:graphic>
          <a:graphicData uri="http://schemas.openxmlformats.org/drawingml/2006/table">
            <a:tbl>
              <a:tblPr firstRow="1" bandRow="1">
                <a:tableStyleId>{5C22544A-7EE6-4342-B048-85BDC9FD1C3A}</a:tableStyleId>
              </a:tblPr>
              <a:tblGrid>
                <a:gridCol w="1701074">
                  <a:extLst>
                    <a:ext uri="{9D8B030D-6E8A-4147-A177-3AD203B41FA5}">
                      <a16:colId xmlns:a16="http://schemas.microsoft.com/office/drawing/2014/main" xmlns="" val="20000"/>
                    </a:ext>
                  </a:extLst>
                </a:gridCol>
                <a:gridCol w="6804298">
                  <a:extLst>
                    <a:ext uri="{9D8B030D-6E8A-4147-A177-3AD203B41FA5}">
                      <a16:colId xmlns:a16="http://schemas.microsoft.com/office/drawing/2014/main" xmlns="" val="20001"/>
                    </a:ext>
                  </a:extLst>
                </a:gridCol>
              </a:tblGrid>
              <a:tr h="509606">
                <a:tc>
                  <a:txBody>
                    <a:bodyPr/>
                    <a:lstStyle/>
                    <a:p>
                      <a:pPr algn="ctr"/>
                      <a:r>
                        <a:rPr lang="en-MY" sz="1600" dirty="0">
                          <a:latin typeface="Arial" panose="020B0604020202020204" pitchFamily="34" charset="0"/>
                          <a:cs typeface="Arial" panose="020B0604020202020204" pitchFamily="34" charset="0"/>
                        </a:rPr>
                        <a:t>Product characteristic</a:t>
                      </a:r>
                    </a:p>
                  </a:txBody>
                  <a:tcPr/>
                </a:tc>
                <a:tc>
                  <a:txBody>
                    <a:bodyPr/>
                    <a:lstStyle/>
                    <a:p>
                      <a:pPr algn="ctr"/>
                      <a:r>
                        <a:rPr lang="en-MY" sz="1600" dirty="0">
                          <a:latin typeface="Arial" panose="020B0604020202020204" pitchFamily="34" charset="0"/>
                          <a:cs typeface="Arial" panose="020B0604020202020204" pitchFamily="34" charset="0"/>
                        </a:rPr>
                        <a:t>Description</a:t>
                      </a:r>
                      <a:r>
                        <a:rPr lang="en-MY" sz="1600" baseline="0" dirty="0">
                          <a:latin typeface="Arial" panose="020B0604020202020204" pitchFamily="34" charset="0"/>
                          <a:cs typeface="Arial" panose="020B0604020202020204" pitchFamily="34" charset="0"/>
                        </a:rPr>
                        <a:t> </a:t>
                      </a:r>
                      <a:endParaRPr lang="en-MY"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0"/>
                  </a:ext>
                </a:extLst>
              </a:tr>
              <a:tr h="719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Usability</a:t>
                      </a:r>
                      <a:endParaRPr lang="en-MY" sz="1600" dirty="0">
                        <a:latin typeface="Arial" panose="020B0604020202020204" pitchFamily="34" charset="0"/>
                        <a:cs typeface="Arial" panose="020B0604020202020204" pitchFamily="34" charset="0"/>
                      </a:endParaRPr>
                    </a:p>
                  </a:txBody>
                  <a:tcPr/>
                </a:tc>
                <a:tc>
                  <a:txBody>
                    <a:bodyPr/>
                    <a:lstStyle/>
                    <a:p>
                      <a:pPr lvl="0"/>
                      <a:r>
                        <a:rPr lang="en-US" sz="1600" dirty="0">
                          <a:latin typeface="Arial" panose="020B0604020202020204" pitchFamily="34" charset="0"/>
                          <a:cs typeface="Arial" panose="020B0604020202020204" pitchFamily="34" charset="0"/>
                        </a:rPr>
                        <a:t>The higher the usability of software, the easier it is for users to work with it. There</a:t>
                      </a:r>
                      <a:r>
                        <a:rPr lang="en-US" sz="1600" baseline="0" dirty="0">
                          <a:latin typeface="Arial" panose="020B0604020202020204" pitchFamily="34" charset="0"/>
                          <a:cs typeface="Arial" panose="020B0604020202020204" pitchFamily="34" charset="0"/>
                        </a:rPr>
                        <a:t> are several aspects of usability, including </a:t>
                      </a:r>
                      <a:r>
                        <a:rPr lang="en-US" sz="1600" b="1" baseline="0" dirty="0">
                          <a:solidFill>
                            <a:srgbClr val="C00000"/>
                          </a:solidFill>
                          <a:latin typeface="Arial" panose="020B0604020202020204" pitchFamily="34" charset="0"/>
                          <a:cs typeface="Arial" panose="020B0604020202020204" pitchFamily="34" charset="0"/>
                        </a:rPr>
                        <a:t>learnability</a:t>
                      </a:r>
                      <a:r>
                        <a:rPr lang="en-US" sz="1600" baseline="0" dirty="0">
                          <a:latin typeface="Arial" panose="020B0604020202020204" pitchFamily="34" charset="0"/>
                          <a:cs typeface="Arial" panose="020B0604020202020204" pitchFamily="34" charset="0"/>
                        </a:rPr>
                        <a:t> for novices, </a:t>
                      </a:r>
                      <a:r>
                        <a:rPr lang="en-US" sz="1600" b="1" baseline="0" dirty="0">
                          <a:solidFill>
                            <a:srgbClr val="C00000"/>
                          </a:solidFill>
                          <a:latin typeface="Arial" panose="020B0604020202020204" pitchFamily="34" charset="0"/>
                          <a:cs typeface="Arial" panose="020B0604020202020204" pitchFamily="34" charset="0"/>
                        </a:rPr>
                        <a:t>efficiency</a:t>
                      </a:r>
                      <a:r>
                        <a:rPr lang="en-US" sz="1600" baseline="0" dirty="0">
                          <a:latin typeface="Arial" panose="020B0604020202020204" pitchFamily="34" charset="0"/>
                          <a:cs typeface="Arial" panose="020B0604020202020204" pitchFamily="34" charset="0"/>
                        </a:rPr>
                        <a:t> of use for experts and </a:t>
                      </a:r>
                      <a:r>
                        <a:rPr lang="en-US" sz="1600" b="1" baseline="0" dirty="0">
                          <a:solidFill>
                            <a:srgbClr val="C00000"/>
                          </a:solidFill>
                          <a:latin typeface="Arial" panose="020B0604020202020204" pitchFamily="34" charset="0"/>
                          <a:cs typeface="Arial" panose="020B0604020202020204" pitchFamily="34" charset="0"/>
                        </a:rPr>
                        <a:t>handling </a:t>
                      </a:r>
                      <a:r>
                        <a:rPr lang="en-US" sz="1600" b="1" baseline="0">
                          <a:solidFill>
                            <a:srgbClr val="C00000"/>
                          </a:solidFill>
                          <a:latin typeface="Arial" panose="020B0604020202020204" pitchFamily="34" charset="0"/>
                          <a:cs typeface="Arial" panose="020B0604020202020204" pitchFamily="34" charset="0"/>
                        </a:rPr>
                        <a:t>of errors</a:t>
                      </a:r>
                      <a:r>
                        <a:rPr lang="en-US" sz="1600" baseline="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1"/>
                  </a:ext>
                </a:extLst>
              </a:tr>
              <a:tr h="71944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Reliability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Software is more reliable if it has </a:t>
                      </a:r>
                      <a:r>
                        <a:rPr kumimoji="0" lang="en-GB" sz="1600" b="1" i="0" u="none" strike="noStrike" cap="none" normalizeH="0" baseline="0" dirty="0">
                          <a:ln>
                            <a:noFill/>
                          </a:ln>
                          <a:solidFill>
                            <a:srgbClr val="C00000"/>
                          </a:solidFill>
                          <a:effectLst/>
                          <a:latin typeface="Arial" panose="020B0604020202020204" pitchFamily="34" charset="0"/>
                          <a:ea typeface="MS PGothic" panose="020B0600070205080204" pitchFamily="34" charset="-128"/>
                          <a:cs typeface="Arial" panose="020B0604020202020204" pitchFamily="34" charset="0"/>
                        </a:rPr>
                        <a:t>fewer failures</a:t>
                      </a:r>
                      <a:r>
                        <a:rPr kumimoji="0" lang="en-GB" sz="16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 Since software engineers do not deliberately plan for their software to fail, reliability depends on the </a:t>
                      </a:r>
                      <a:r>
                        <a:rPr kumimoji="0" lang="en-GB"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number and </a:t>
                      </a:r>
                      <a:r>
                        <a:rPr kumimoji="0" lang="en-GB" sz="16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types of mistakes they </a:t>
                      </a:r>
                      <a:r>
                        <a:rPr kumimoji="0" lang="en-GB"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make.</a:t>
                      </a:r>
                      <a:endParaRPr kumimoji="0" lang="en-GB" sz="16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endParaRPr>
                    </a:p>
                  </a:txBody>
                  <a:tcPr/>
                </a:tc>
                <a:extLst>
                  <a:ext uri="{0D108BD9-81ED-4DB2-BD59-A6C34878D82A}">
                    <a16:rowId xmlns:a16="http://schemas.microsoft.com/office/drawing/2014/main" xmlns="" val="10002"/>
                  </a:ext>
                </a:extLst>
              </a:tr>
              <a:tr h="719444">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Reusability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A </a:t>
                      </a:r>
                      <a:r>
                        <a:rPr kumimoji="0" lang="en-GB" sz="16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software component is reusable if it can be used in several different  systems with </a:t>
                      </a:r>
                      <a:r>
                        <a:rPr kumimoji="0" lang="en-GB" sz="1600" b="1" i="0" u="none" strike="noStrike" cap="none" normalizeH="0" baseline="0" dirty="0">
                          <a:ln>
                            <a:noFill/>
                          </a:ln>
                          <a:solidFill>
                            <a:srgbClr val="C00000"/>
                          </a:solidFill>
                          <a:effectLst/>
                          <a:latin typeface="Arial" panose="020B0604020202020204" pitchFamily="34" charset="0"/>
                          <a:ea typeface="MS PGothic" panose="020B0600070205080204" pitchFamily="34" charset="-128"/>
                          <a:cs typeface="Arial" panose="020B0604020202020204" pitchFamily="34" charset="0"/>
                        </a:rPr>
                        <a:t>little or no modification</a:t>
                      </a:r>
                      <a:r>
                        <a:rPr kumimoji="0" lang="en-GB" sz="16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 High reusability can reduce the long term costs faced by the development </a:t>
                      </a:r>
                      <a:r>
                        <a:rPr kumimoji="0" lang="en-GB"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team.</a:t>
                      </a:r>
                      <a:endParaRPr kumimoji="0" lang="en-GB" sz="16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endParaRPr>
                    </a:p>
                  </a:txBody>
                  <a:tcPr/>
                </a:tc>
                <a:extLst>
                  <a:ext uri="{0D108BD9-81ED-4DB2-BD59-A6C34878D82A}">
                    <a16:rowId xmlns:a16="http://schemas.microsoft.com/office/drawing/2014/main" xmlns="" val="10003"/>
                  </a:ext>
                </a:extLst>
              </a:tr>
              <a:tr h="794386">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Correctness</a:t>
                      </a:r>
                    </a:p>
                  </a:txBody>
                  <a:tcPr/>
                </a:tc>
                <a:tc>
                  <a:txBody>
                    <a:bodyPr/>
                    <a:lstStyle/>
                    <a:p>
                      <a:pPr marL="58738" lvl="1" indent="0"/>
                      <a:r>
                        <a:rPr lang="en-US" sz="1600" b="1">
                          <a:solidFill>
                            <a:srgbClr val="C00000"/>
                          </a:solidFill>
                          <a:latin typeface="Arial" panose="020B0604020202020204" pitchFamily="34" charset="0"/>
                          <a:cs typeface="Arial" panose="020B0604020202020204" pitchFamily="34" charset="0"/>
                        </a:rPr>
                        <a:t>Ideal quality</a:t>
                      </a:r>
                      <a:r>
                        <a:rPr lang="en-US" sz="160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established with respect to the </a:t>
                      </a:r>
                      <a:r>
                        <a:rPr lang="en-US" sz="1600">
                          <a:latin typeface="Arial" panose="020B0604020202020204" pitchFamily="34" charset="0"/>
                          <a:cs typeface="Arial" panose="020B0604020202020204" pitchFamily="34" charset="0"/>
                        </a:rPr>
                        <a:t>requirements specification</a:t>
                      </a:r>
                      <a:endParaRPr lang="en-US" sz="1600" dirty="0">
                        <a:latin typeface="Arial" panose="020B0604020202020204" pitchFamily="34" charset="0"/>
                        <a:cs typeface="Arial" panose="020B0604020202020204" pitchFamily="34" charset="0"/>
                      </a:endParaRPr>
                    </a:p>
                    <a:p>
                      <a:pPr marL="58738" lvl="1" indent="0">
                        <a:spcBef>
                          <a:spcPts val="600"/>
                        </a:spcBef>
                      </a:pPr>
                      <a:r>
                        <a:rPr lang="en-US" sz="1600" b="1" dirty="0">
                          <a:solidFill>
                            <a:srgbClr val="C00000"/>
                          </a:solidFill>
                          <a:latin typeface="Arial" panose="020B0604020202020204" pitchFamily="34" charset="0"/>
                          <a:cs typeface="Arial" panose="020B0604020202020204" pitchFamily="34" charset="0"/>
                        </a:rPr>
                        <a:t>A</a:t>
                      </a:r>
                      <a:r>
                        <a:rPr lang="en-US" sz="1600" b="1">
                          <a:solidFill>
                            <a:srgbClr val="C00000"/>
                          </a:solidFill>
                          <a:latin typeface="Arial" panose="020B0604020202020204" pitchFamily="34" charset="0"/>
                          <a:cs typeface="Arial" panose="020B0604020202020204" pitchFamily="34" charset="0"/>
                        </a:rPr>
                        <a:t>bsolute</a:t>
                      </a:r>
                      <a:r>
                        <a:rPr lang="en-US" sz="1600" b="1" kern="1200">
                          <a:solidFill>
                            <a:srgbClr val="C00000"/>
                          </a:solidFill>
                          <a:effectLst/>
                          <a:latin typeface="Arial" panose="020B0604020202020204" pitchFamily="34" charset="0"/>
                          <a:ea typeface="+mn-ea"/>
                          <a:cs typeface="Arial" panose="020B0604020202020204" pitchFamily="34" charset="0"/>
                        </a:rPr>
                        <a:t> </a:t>
                      </a:r>
                      <a:r>
                        <a:rPr lang="en-US" sz="1600" b="1" kern="1200" dirty="0">
                          <a:solidFill>
                            <a:srgbClr val="C00000"/>
                          </a:solidFill>
                          <a:effectLst/>
                          <a:latin typeface="Arial" panose="020B0604020202020204" pitchFamily="34" charset="0"/>
                          <a:ea typeface="+mn-ea"/>
                          <a:cs typeface="Arial" panose="020B0604020202020204" pitchFamily="34" charset="0"/>
                        </a:rPr>
                        <a:t>software quality</a:t>
                      </a:r>
                      <a:r>
                        <a:rPr lang="en-US" sz="1600" kern="1200" dirty="0">
                          <a:solidFill>
                            <a:schemeClr val="dk1"/>
                          </a:solidFill>
                          <a:effectLst/>
                          <a:latin typeface="Arial" panose="020B0604020202020204" pitchFamily="34" charset="0"/>
                          <a:ea typeface="+mn-ea"/>
                          <a:cs typeface="Arial" panose="020B0604020202020204" pitchFamily="34" charset="0"/>
                        </a:rPr>
                        <a:t>: any deviation from the requirements makes the software incorrect, regardless of how minor or serious is the consequence of </a:t>
                      </a:r>
                      <a:r>
                        <a:rPr lang="en-US" sz="1600" kern="1200">
                          <a:solidFill>
                            <a:schemeClr val="dk1"/>
                          </a:solidFill>
                          <a:effectLst/>
                          <a:latin typeface="Arial" panose="020B0604020202020204" pitchFamily="34" charset="0"/>
                          <a:ea typeface="+mn-ea"/>
                          <a:cs typeface="Arial" panose="020B0604020202020204" pitchFamily="34" charset="0"/>
                        </a:rPr>
                        <a:t>the deviation</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4"/>
                  </a:ext>
                </a:extLst>
              </a:tr>
              <a:tr h="593541">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Robustness</a:t>
                      </a:r>
                    </a:p>
                  </a:txBody>
                  <a:tcPr/>
                </a:tc>
                <a:tc>
                  <a:txBody>
                    <a:bodyPr/>
                    <a:lstStyle/>
                    <a:p>
                      <a:pPr marL="58738" lvl="1" indent="0">
                        <a:lnSpc>
                          <a:spcPct val="80000"/>
                        </a:lnSpc>
                      </a:pPr>
                      <a:r>
                        <a:rPr lang="ja-JP" altLang="en-US" sz="1600">
                          <a:latin typeface="Arial" panose="020B0604020202020204" pitchFamily="34" charset="0"/>
                          <a:cs typeface="Arial" panose="020B0604020202020204" pitchFamily="34" charset="0"/>
                        </a:rPr>
                        <a:t>“</a:t>
                      </a:r>
                      <a:r>
                        <a:rPr lang="en-MY" altLang="ja-JP" sz="1600">
                          <a:latin typeface="Arial" panose="020B0604020202020204" pitchFamily="34" charset="0"/>
                          <a:cs typeface="Arial" panose="020B0604020202020204" pitchFamily="34" charset="0"/>
                        </a:rPr>
                        <a:t>R</a:t>
                      </a:r>
                      <a:r>
                        <a:rPr lang="en-US" altLang="ja-JP" sz="1600">
                          <a:latin typeface="Arial" panose="020B0604020202020204" pitchFamily="34" charset="0"/>
                          <a:cs typeface="Arial" panose="020B0604020202020204" pitchFamily="34" charset="0"/>
                        </a:rPr>
                        <a:t>easonable</a:t>
                      </a:r>
                      <a:r>
                        <a:rPr lang="ja-JP" altLang="en-US" sz="1600" dirty="0">
                          <a:latin typeface="Arial" panose="020B0604020202020204" pitchFamily="34" charset="0"/>
                          <a:cs typeface="Arial" panose="020B0604020202020204" pitchFamily="34" charset="0"/>
                        </a:rPr>
                        <a:t>”</a:t>
                      </a:r>
                      <a:r>
                        <a:rPr lang="en-US" altLang="ja-JP" sz="1600" dirty="0">
                          <a:latin typeface="Arial" panose="020B0604020202020204" pitchFamily="34" charset="0"/>
                          <a:cs typeface="Arial" panose="020B0604020202020204" pitchFamily="34" charset="0"/>
                        </a:rPr>
                        <a:t> behavior in </a:t>
                      </a:r>
                      <a:r>
                        <a:rPr lang="en-US" altLang="ja-JP" sz="1600">
                          <a:latin typeface="Arial" panose="020B0604020202020204" pitchFamily="34" charset="0"/>
                          <a:cs typeface="Arial" panose="020B0604020202020204" pitchFamily="34" charset="0"/>
                        </a:rPr>
                        <a:t>unforeseen circumstances; </a:t>
                      </a:r>
                      <a:r>
                        <a:rPr lang="en-US" sz="1600">
                          <a:latin typeface="Arial" panose="020B0604020202020204" pitchFamily="34" charset="0"/>
                          <a:cs typeface="Arial" panose="020B0604020202020204" pitchFamily="34" charset="0"/>
                        </a:rPr>
                        <a:t>subjective;  </a:t>
                      </a:r>
                      <a:r>
                        <a:rPr lang="en-US" sz="1600" dirty="0">
                          <a:latin typeface="Arial" panose="020B0604020202020204" pitchFamily="34" charset="0"/>
                          <a:cs typeface="Arial" panose="020B0604020202020204" pitchFamily="34" charset="0"/>
                        </a:rPr>
                        <a:t>a specified requirement is an issue of correctness; an unspecified requirement is an issue of robustness </a:t>
                      </a:r>
                      <a:endParaRPr lang="en-MY"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5"/>
                  </a:ext>
                </a:extLst>
              </a:tr>
            </a:tbl>
          </a:graphicData>
        </a:graphic>
      </p:graphicFrame>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24</a:t>
            </a:fld>
            <a:endParaRPr lang="en-US"/>
          </a:p>
        </p:txBody>
      </p:sp>
    </p:spTree>
    <p:extLst>
      <p:ext uri="{BB962C8B-B14F-4D97-AF65-F5344CB8AC3E}">
        <p14:creationId xmlns:p14="http://schemas.microsoft.com/office/powerpoint/2010/main" val="4152203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Priority</a:t>
            </a:r>
            <a:endParaRPr lang="en-MY" dirty="0"/>
          </a:p>
        </p:txBody>
      </p:sp>
      <p:sp>
        <p:nvSpPr>
          <p:cNvPr id="3" name="Content Placeholder 2"/>
          <p:cNvSpPr>
            <a:spLocks noGrp="1"/>
          </p:cNvSpPr>
          <p:nvPr>
            <p:ph idx="1"/>
          </p:nvPr>
        </p:nvSpPr>
        <p:spPr/>
        <p:txBody>
          <a:bodyPr>
            <a:noAutofit/>
          </a:bodyPr>
          <a:lstStyle/>
          <a:p>
            <a:pPr>
              <a:lnSpc>
                <a:spcPct val="90000"/>
              </a:lnSpc>
            </a:pPr>
            <a:r>
              <a:rPr lang="en-US" sz="2200" dirty="0"/>
              <a:t>All the quality are important. However  the importance of each quality differs from different application area and it can be costly where improving one quality can be an expense in cost to other quality.</a:t>
            </a:r>
          </a:p>
          <a:p>
            <a:pPr>
              <a:lnSpc>
                <a:spcPct val="90000"/>
              </a:lnSpc>
            </a:pPr>
            <a:r>
              <a:rPr lang="en-US" sz="2200"/>
              <a:t> </a:t>
            </a:r>
            <a:r>
              <a:rPr lang="en-US" sz="2200" b="1" dirty="0"/>
              <a:t>Depends on the application area</a:t>
            </a:r>
            <a:r>
              <a:rPr lang="en-US" sz="2200" dirty="0"/>
              <a:t>:-</a:t>
            </a:r>
          </a:p>
          <a:p>
            <a:pPr lvl="1">
              <a:lnSpc>
                <a:spcPct val="90000"/>
              </a:lnSpc>
            </a:pPr>
            <a:r>
              <a:rPr lang="en-US" sz="2000" dirty="0"/>
              <a:t>Information systems (library cataloguing, personnel system)</a:t>
            </a:r>
          </a:p>
          <a:p>
            <a:pPr lvl="1">
              <a:lnSpc>
                <a:spcPct val="90000"/>
              </a:lnSpc>
            </a:pPr>
            <a:r>
              <a:rPr lang="en-US" sz="2000"/>
              <a:t>Safety </a:t>
            </a:r>
            <a:r>
              <a:rPr lang="en-US" sz="2000" dirty="0"/>
              <a:t>critical system (Nuclear power plant )</a:t>
            </a:r>
          </a:p>
          <a:p>
            <a:pPr lvl="1">
              <a:lnSpc>
                <a:spcPct val="90000"/>
              </a:lnSpc>
            </a:pPr>
            <a:r>
              <a:rPr lang="en-US" sz="2000"/>
              <a:t>Distributed </a:t>
            </a:r>
            <a:r>
              <a:rPr lang="en-US" sz="2000" dirty="0"/>
              <a:t>systems (banking system)</a:t>
            </a:r>
          </a:p>
          <a:p>
            <a:pPr lvl="1">
              <a:lnSpc>
                <a:spcPct val="90000"/>
              </a:lnSpc>
            </a:pPr>
            <a:r>
              <a:rPr lang="en-US" sz="2000"/>
              <a:t>Embedded </a:t>
            </a:r>
            <a:r>
              <a:rPr lang="en-US" sz="2000" dirty="0"/>
              <a:t>systems (vending machine, patient monitoring system  )</a:t>
            </a:r>
          </a:p>
          <a:p>
            <a:pPr>
              <a:lnSpc>
                <a:spcPct val="90000"/>
              </a:lnSpc>
            </a:pPr>
            <a:r>
              <a:rPr lang="en-US" sz="2200" b="1"/>
              <a:t>Influenced </a:t>
            </a:r>
            <a:r>
              <a:rPr lang="en-US" sz="2200" b="1" dirty="0"/>
              <a:t>by cost </a:t>
            </a:r>
          </a:p>
          <a:p>
            <a:pPr lvl="1">
              <a:lnSpc>
                <a:spcPct val="90000"/>
              </a:lnSpc>
            </a:pPr>
            <a:r>
              <a:rPr lang="en-US" sz="2000"/>
              <a:t>Efficiency </a:t>
            </a:r>
            <a:r>
              <a:rPr lang="en-US" sz="2000" dirty="0"/>
              <a:t>vs</a:t>
            </a:r>
            <a:r>
              <a:rPr lang="en-US" sz="2000"/>
              <a:t>. Cost: Improving </a:t>
            </a:r>
            <a:r>
              <a:rPr lang="en-US" sz="2000" dirty="0"/>
              <a:t>efficiency may make the design less easy </a:t>
            </a:r>
            <a:r>
              <a:rPr lang="en-US" sz="2000"/>
              <a:t>to be understood </a:t>
            </a:r>
            <a:r>
              <a:rPr lang="en-US" sz="2000" dirty="0"/>
              <a:t>which make it costly to be </a:t>
            </a:r>
            <a:r>
              <a:rPr lang="en-US" sz="2000"/>
              <a:t>maintained.</a:t>
            </a:r>
            <a:endParaRPr lang="en-US" sz="2000" dirty="0"/>
          </a:p>
          <a:p>
            <a:pPr lvl="1">
              <a:lnSpc>
                <a:spcPct val="90000"/>
              </a:lnSpc>
            </a:pPr>
            <a:r>
              <a:rPr lang="en-US" sz="2000"/>
              <a:t>Reliability </a:t>
            </a:r>
            <a:r>
              <a:rPr lang="en-US" sz="2000" dirty="0"/>
              <a:t>vs</a:t>
            </a:r>
            <a:r>
              <a:rPr lang="en-US" sz="2000"/>
              <a:t>. Cost: High </a:t>
            </a:r>
            <a:r>
              <a:rPr lang="en-US" sz="2000" dirty="0"/>
              <a:t>reliability entails repeatedly checking for errors, adding redundant computations which make </a:t>
            </a:r>
            <a:r>
              <a:rPr lang="en-US" sz="2000"/>
              <a:t>efficiency cannot </a:t>
            </a:r>
            <a:r>
              <a:rPr lang="en-US" sz="2000" dirty="0"/>
              <a:t>be achieved.</a:t>
            </a:r>
          </a:p>
          <a:p>
            <a:pPr lvl="1">
              <a:lnSpc>
                <a:spcPct val="90000"/>
              </a:lnSpc>
            </a:pPr>
            <a:endParaRPr lang="en-US" sz="2200" dirty="0"/>
          </a:p>
          <a:p>
            <a:pPr marL="0" indent="0">
              <a:buNone/>
            </a:pPr>
            <a:endParaRPr lang="en-MY" sz="22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25</a:t>
            </a:fld>
            <a:endParaRPr lang="en-US"/>
          </a:p>
        </p:txBody>
      </p:sp>
    </p:spTree>
    <p:extLst>
      <p:ext uri="{BB962C8B-B14F-4D97-AF65-F5344CB8AC3E}">
        <p14:creationId xmlns:p14="http://schemas.microsoft.com/office/powerpoint/2010/main" val="3063275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dirty="0"/>
              <a:t>Software Standard and Document</a:t>
            </a:r>
          </a:p>
        </p:txBody>
      </p:sp>
      <p:sp>
        <p:nvSpPr>
          <p:cNvPr id="3" name="Content Placeholder 2"/>
          <p:cNvSpPr>
            <a:spLocks noGrp="1"/>
          </p:cNvSpPr>
          <p:nvPr>
            <p:ph idx="1"/>
          </p:nvPr>
        </p:nvSpPr>
        <p:spPr/>
        <p:txBody>
          <a:bodyPr>
            <a:normAutofit fontScale="92500" lnSpcReduction="20000"/>
          </a:bodyPr>
          <a:lstStyle/>
          <a:p>
            <a:r>
              <a:rPr lang="en-MY" dirty="0"/>
              <a:t>Standard contributes to software quality mainly in producing documents for each Software Development Life Cycle (SDLC)</a:t>
            </a:r>
          </a:p>
          <a:p>
            <a:r>
              <a:rPr lang="en-MY" dirty="0"/>
              <a:t>Example of document standards by IEEE:</a:t>
            </a:r>
          </a:p>
          <a:p>
            <a:pPr lvl="1"/>
            <a:r>
              <a:rPr lang="en-MY" dirty="0"/>
              <a:t>IEEE-Std830-1998-Software Requirements Specifications</a:t>
            </a:r>
          </a:p>
          <a:p>
            <a:pPr lvl="1"/>
            <a:r>
              <a:rPr lang="en-MY" dirty="0"/>
              <a:t>IEEE-Std1016-2009-Software Design </a:t>
            </a:r>
            <a:r>
              <a:rPr lang="en-MY" dirty="0" err="1"/>
              <a:t>Desriptions</a:t>
            </a:r>
            <a:endParaRPr lang="en-MY" dirty="0"/>
          </a:p>
          <a:p>
            <a:pPr lvl="1"/>
            <a:r>
              <a:rPr lang="en-MY" dirty="0"/>
              <a:t>IEEE 829 - Standard for Test Documentation Overview-Test Plan Outline</a:t>
            </a:r>
          </a:p>
          <a:p>
            <a:pPr lvl="1"/>
            <a:r>
              <a:rPr lang="en-MY" dirty="0"/>
              <a:t>IEEE Std829-2008-Software and System Test Documentation</a:t>
            </a:r>
          </a:p>
          <a:p>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26</a:t>
            </a:fld>
            <a:endParaRPr lang="en-US"/>
          </a:p>
        </p:txBody>
      </p:sp>
    </p:spTree>
    <p:extLst>
      <p:ext uri="{BB962C8B-B14F-4D97-AF65-F5344CB8AC3E}">
        <p14:creationId xmlns:p14="http://schemas.microsoft.com/office/powerpoint/2010/main" val="386069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Example: IEEE Standards</a:t>
            </a:r>
          </a:p>
        </p:txBody>
      </p:sp>
      <p:pic>
        <p:nvPicPr>
          <p:cNvPr id="7" name="Content Placeholder 6"/>
          <p:cNvPicPr>
            <a:picLocks noGrp="1" noChangeAspect="1"/>
          </p:cNvPicPr>
          <p:nvPr>
            <p:ph idx="1"/>
          </p:nvPr>
        </p:nvPicPr>
        <p:blipFill>
          <a:blip r:embed="rId2"/>
          <a:stretch>
            <a:fillRect/>
          </a:stretch>
        </p:blipFill>
        <p:spPr>
          <a:xfrm>
            <a:off x="457200" y="1807332"/>
            <a:ext cx="8229600" cy="4111699"/>
          </a:xfrm>
          <a:prstGeom prst="rect">
            <a:avLst/>
          </a:prstGeom>
          <a:ln>
            <a:solidFill>
              <a:schemeClr val="tx1"/>
            </a:solidFill>
          </a:ln>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27</a:t>
            </a:fld>
            <a:endParaRPr lang="en-US"/>
          </a:p>
        </p:txBody>
      </p:sp>
    </p:spTree>
    <p:extLst>
      <p:ext uri="{BB962C8B-B14F-4D97-AF65-F5344CB8AC3E}">
        <p14:creationId xmlns:p14="http://schemas.microsoft.com/office/powerpoint/2010/main" val="28627128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1623</TotalTime>
  <Words>2120</Words>
  <Application>Microsoft Office PowerPoint</Application>
  <PresentationFormat>On-screen Show (4:3)</PresentationFormat>
  <Paragraphs>314</Paragraphs>
  <Slides>27</Slides>
  <Notes>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27</vt:i4>
      </vt:variant>
    </vt:vector>
  </HeadingPairs>
  <TitlesOfParts>
    <vt:vector size="38" baseType="lpstr">
      <vt:lpstr>ＭＳ Ｐゴシック</vt:lpstr>
      <vt:lpstr>ＭＳ Ｐゴシック</vt:lpstr>
      <vt:lpstr>Arial</vt:lpstr>
      <vt:lpstr>Baskerville Old Face</vt:lpstr>
      <vt:lpstr>Calibri</vt:lpstr>
      <vt:lpstr>Helvetica</vt:lpstr>
      <vt:lpstr>Helvetica Neue Light</vt:lpstr>
      <vt:lpstr>Rockwell</vt:lpstr>
      <vt:lpstr>Wingdings</vt:lpstr>
      <vt:lpstr>Office Theme</vt:lpstr>
      <vt:lpstr>Custom Design</vt:lpstr>
      <vt:lpstr>Module 1: Introduction to Software Engineering</vt:lpstr>
      <vt:lpstr>Outline</vt:lpstr>
      <vt:lpstr>Objectives</vt:lpstr>
      <vt:lpstr>The Importance of Software Engineering</vt:lpstr>
      <vt:lpstr>Software Engineering Costs</vt:lpstr>
      <vt:lpstr>Software Engineering in Software Development</vt:lpstr>
      <vt:lpstr>Software Engineering Definition</vt:lpstr>
      <vt:lpstr>Software Engineering as a Layered Technology</vt:lpstr>
      <vt:lpstr>Software Products and  Product Specification</vt:lpstr>
      <vt:lpstr>Software Engineering Diversity:  Types of Software</vt:lpstr>
      <vt:lpstr>Different Types of Software…</vt:lpstr>
      <vt:lpstr>Different Types of Software</vt:lpstr>
      <vt:lpstr>Inherent Difficulties</vt:lpstr>
      <vt:lpstr>Software Complexity…</vt:lpstr>
      <vt:lpstr>Software Complexity…</vt:lpstr>
      <vt:lpstr>Software Complexity…</vt:lpstr>
      <vt:lpstr>Software Complexity…</vt:lpstr>
      <vt:lpstr>LSE Example</vt:lpstr>
      <vt:lpstr>Software Changeability</vt:lpstr>
      <vt:lpstr>PowerPoint Presentation</vt:lpstr>
      <vt:lpstr>Software Engineering vs.  Software Programming</vt:lpstr>
      <vt:lpstr>Quality Focus</vt:lpstr>
      <vt:lpstr>Quality Focus: Example of Software Quality…</vt:lpstr>
      <vt:lpstr>Quality Focus: Example of Software Quality</vt:lpstr>
      <vt:lpstr>Quality Priority</vt:lpstr>
      <vt:lpstr>Software Standard and Document</vt:lpstr>
      <vt:lpstr>Example: IEEE Standards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Referee</dc:creator>
  <cp:lastModifiedBy>HP</cp:lastModifiedBy>
  <cp:revision>252</cp:revision>
  <dcterms:created xsi:type="dcterms:W3CDTF">2012-07-30T02:22:03Z</dcterms:created>
  <dcterms:modified xsi:type="dcterms:W3CDTF">2020-02-10T02:54:32Z</dcterms:modified>
</cp:coreProperties>
</file>