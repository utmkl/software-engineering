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ink/inkAction1.xml" ContentType="application/vnd.ms-office.inkActio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Action2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768" r:id="rId2"/>
    <p:sldId id="707" r:id="rId3"/>
    <p:sldId id="686" r:id="rId4"/>
    <p:sldId id="767" r:id="rId5"/>
    <p:sldId id="64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4:08:10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7893">
    <iact:property name="dataType"/>
    <iact:actionData xml:id="d0">
      <inkml:trace xmlns:inkml="http://www.w3.org/2003/InkML" xml:id="stk0" contextRef="#ctx0" brushRef="#br0">21436 14485 0,'-26'0'370,"1"0"-357,-1 0 15,1 0-13,0 0-9,-1 0 3,1 0 0,-26 0-2,26 0 8,0 0 5</inkml:trace>
    </iact:actionData>
  </iact:action>
  <iact:action type="add" startTime="53613">
    <iact:property name="dataType"/>
    <iact:actionData xml:id="d1">
      <inkml:trace xmlns:inkml="http://www.w3.org/2003/InkML" xml:id="stk1" contextRef="#ctx0" brushRef="#br0">11821 12430 0,'-25'0'89,"-1"25"-83,-24-25 27,24 0-25,1 0 10,-51 26 4,50-1-5,1-25 13,-26 0-6,26 0-13,-26 0 19</inkml:trace>
    </iact:actionData>
  </iact:action>
  <iact:action type="add" startTime="71725">
    <iact:property name="dataType"/>
    <iact:actionData xml:id="d2">
      <inkml:trace xmlns:inkml="http://www.w3.org/2003/InkML" xml:id="stk2" contextRef="#ctx0" brushRef="#br0">30746 13140 0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4:08:10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4538">
    <iact:property name="dataType"/>
    <iact:actionData xml:id="d0">
      <inkml:trace xmlns:inkml="http://www.w3.org/2003/InkML" xml:id="stk0" contextRef="#ctx0" brushRef="#br0">11796 6900 0,'50'0'99,"-24"0"-74,50 0-22,-51 0 15,1 0-8,24 0-6,-24 0 12,50 0-8,-25 0 0,-26 0 2,26 0-2,-26 0 0,0 0-2,51 0 12,-50 0-11,-1 0 3,26 0-3,-26 0 3,1 0 4,50 0-7,-51 0 4,1 0-7,24 0 7,-24 0-4,-1 0-1,26 0 4,-1 0-2,27 0 0,-52 0-2,26 0 2,-1 0 2,27 0-1,-1 0-2,-51 0 1,51 0-1,-51 0 1,77 0 0,-77 0 2,51 0-4,-25 0 4,51 0-5,-52 0 6,26 51-6,-25-51 3,51 51 1,-77-51-1,0 0 0,26 0 0,-26 0 0,26 0 0,25 25-1,-50-25 2,-1 0-2,51 0 2,-50 0-1,-1 0 0,0 0 2,26 0-5,-26 0 15,26 0-15,-26 0 2,1 0 5,25 0 19,-26 0-23,0 0 6,1 0 9</inkml:trace>
    </iact:actionData>
  </iact:action>
  <iact:action type="add" startTime="17698">
    <iact:property name="dataType"/>
    <iact:actionData xml:id="d1">
      <inkml:trace xmlns:inkml="http://www.w3.org/2003/InkML" xml:id="stk1" contextRef="#ctx0" brushRef="#br0">12379 8422 0,'25'0'135,"1"0"-117,50 0-12,0 0 5,-25-25-5,0 25 4,50 0-5,26 0 7,-51-25-7,51-1 3,-26 26 1,26 0 0,-51-25-2,51 25 2,-25 0-3,24 0 5,-50 0-7,1 0 4,24 0 0,0 0 0,-24 0 0,24 0 2,26-76-2,-51 76-2,25 0 3,-24 0 0,-1 0-1,-51 0 0,51 0-2,-25-26 4,-26 26-4,1 0 2,24-25 1,52 25 0,-26 0-1,0 0-1,-51 0 3,52-25-3,-52 25 2,26 0-2,-26 0 1,0 0 0,26-26 0,-26 1 0,26 25-1,-25 0 1,50 0 0,0 0 8,-25 0-8,75-26 0,-75 26 0,25 0 0,0 0 0,0 0-2,-25 0 3,51 0-1,-77 0 0,76 0-1,-50-25 10,0 0-7,0 25-3,50 0 3,-75 0-4,24 0 3,-24 0-2,-1 0 1,0 0-1,26 0 17,-26 0-15,1 0 24,25 0-2,-26 0 18</inkml:trace>
    </iact:actionData>
  </iact:action>
  <iact:action type="add" startTime="19698">
    <iact:property name="dataType"/>
    <iact:actionData xml:id="d2">
      <inkml:trace xmlns:inkml="http://www.w3.org/2003/InkML" xml:id="stk2" contextRef="#ctx0" brushRef="#br0">22298 8194 0,'76'0'112,"0"0"-102,26 0-4,-26 0 3,25 0 0,1 0-3,-26 0 4,51 51-1,-102-51-2,26 0 3,25 0-4,-25 0 2,25 0-3,-25 0 3,25 25 2,25 0-1,-50-25-2,0 0 2,25 0-2,-26 0 1,27 0 0,-27 0 0,26 0 0,-25 0-2,-26 0 2,52 0 0,-52 0 10,26 0-4,-1 0 2,1-25-5,0 25-6,-26 0 13,1 0-12,-1 0 2,0 0 16,26 0 10,0 0-19,-26-25 0,1 25 52,-1-26-61</inkml:trace>
    </iact:actionData>
  </iact:action>
  <iact:action type="add" startTime="38514">
    <iact:property name="dataType"/>
    <iact:actionData xml:id="d3">
      <inkml:trace xmlns:inkml="http://www.w3.org/2003/InkML" xml:id="stk3" contextRef="#ctx0" brushRef="#br0">22856 9564 0,'0'-26'26,"51"-24"92,25 50-107,0 0-7,51 0 6,-51 0-2,76-51-1,-76 51 1,1 0 0,75-25 0,-102 25-1,1-26 2,51 26-1,50-51 0,-101 51 0,-26 0 0,26 0 0,25-25-1,-51 25 2,1-25 0,-1 25-2,0-26 32,51-24 33,-50 50-61,24 0 3,-24-26-2,25 26 58,-1-25-64,26-102 17,-50 127-14,25-25 17,-26-1-11,26 1 16,-26 0-5,26 25 54,-26 0-70</inkml:trace>
    </iact:actionData>
  </iact:action>
  <iact:action type="add" startTime="66610">
    <iact:property name="dataType"/>
    <iact:actionData xml:id="d4">
      <inkml:trace xmlns:inkml="http://www.w3.org/2003/InkML" xml:id="stk4" contextRef="#ctx0" brushRef="#br0">8346 14485 0,'25'0'25,"26"0"-3,-26 0-13,26 0-1,25 0 0,-51 0 0,51 0 0,-25 0 0,25 0 7,-50 0-6,50 0-1,-51 0 1,0 0-2,51 0 1,-50 0 9,-1 0-11,51 25 11,77-25-11,-128 0 4,26 51-3,-1-51 1,1 0 0,76 76 1,-26-76 7,1 25-8,-51-25 8,25 0-8,-51 26-1,77-26 2,-77 0-2,51 0 2,-25 25-1,25-25 0,-25 0-1,-26 0 3,51 0-4,-51 0 5,26 51-5,-25-51 4,-1 0 20,0 0 3</inkml:trace>
    </iact:actionData>
  </iact:action>
  <iact:action type="add" startTime="68273">
    <iact:property name="dataType"/>
    <iact:actionData xml:id="d5">
      <inkml:trace xmlns:inkml="http://www.w3.org/2003/InkML" xml:id="stk5" contextRef="#ctx0" brushRef="#br0">15525 14612 0,'101'25'289,"-50"-25"-282,0 0 4,-1 0-3,1 0-3,76-25 3,-76 25 8,25 0-8,-25 0 4,-1 0-7,-24 0 3,-1 0 0,26 0 1,0 0-3,25 0 4,-51 0-3,26 0 1,25 0 1,-51 0-2,1 0 2,24 0-1,-24 0-1,-1 0 16,51 0-6,-25 0-8,25 0 5,-51 0-4,1 0-4,24 0 4,1 0-4,-25 0 3,-1 0 47,0 0-32,1 0-14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31260-2789-47D1-B72F-CCD06CFFD672}" type="datetimeFigureOut">
              <a:rPr lang="en-MY" smtClean="0"/>
              <a:t>26/4/2020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8E1B1-75AC-48A6-9C01-BF380EF2978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323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536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900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7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4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8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4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84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5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4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2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1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5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11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3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media3.m4a"/><Relationship Id="rId7" Type="http://schemas.microsoft.com/office/2011/relationships/inkAction" Target="../ink/inkAction1.xml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0.png"/><Relationship Id="rId5" Type="http://schemas.microsoft.com/office/2011/relationships/inkAction" Target="../ink/inkAction2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Update design class diagram</a:t>
            </a:r>
            <a:endParaRPr lang="en-MY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en-MY" dirty="0"/>
          </a:p>
        </p:txBody>
      </p:sp>
      <p:sp>
        <p:nvSpPr>
          <p:cNvPr id="512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512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512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3789E4DB-563A-40E4-9A1B-66379F2CD0D2}" type="slidenum">
              <a:rPr lang="en-US">
                <a:solidFill>
                  <a:srgbClr val="000000"/>
                </a:solidFill>
              </a:rPr>
              <a:pPr/>
              <a:t>1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5AA5C95-D5FC-457E-805F-69DA698A40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01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67"/>
    </mc:Choice>
    <mc:Fallback>
      <p:transition spd="slow" advTm="133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Updating Design </a:t>
            </a:r>
            <a:r>
              <a:rPr lang="en-US" altLang="en-US" dirty="0"/>
              <a:t>Class Diagram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Add classes for the </a:t>
            </a:r>
            <a:r>
              <a:rPr lang="en-US" altLang="en-US" sz="2800" b="1" dirty="0">
                <a:solidFill>
                  <a:srgbClr val="C00000"/>
                </a:solidFill>
              </a:rPr>
              <a:t>view and data access layers</a:t>
            </a:r>
          </a:p>
          <a:p>
            <a:r>
              <a:rPr lang="en-US" altLang="en-US" sz="2800" dirty="0"/>
              <a:t>Update classes with </a:t>
            </a:r>
            <a:r>
              <a:rPr lang="en-US" altLang="en-US" sz="2800" b="1" dirty="0">
                <a:solidFill>
                  <a:srgbClr val="C00000"/>
                </a:solidFill>
              </a:rPr>
              <a:t>method signatures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dirty="0"/>
              <a:t>Constructor and get and set methods are optional</a:t>
            </a:r>
          </a:p>
          <a:p>
            <a:pPr lvl="1"/>
            <a:r>
              <a:rPr lang="en-US" altLang="en-US" dirty="0"/>
              <a:t>Use case specific methods are required</a:t>
            </a:r>
          </a:p>
          <a:p>
            <a:r>
              <a:rPr lang="en-US" altLang="en-US" sz="2800" dirty="0"/>
              <a:t>Every </a:t>
            </a:r>
            <a:r>
              <a:rPr lang="en-US" altLang="en-US" sz="2800" b="1" dirty="0">
                <a:solidFill>
                  <a:srgbClr val="C00000"/>
                </a:solidFill>
              </a:rPr>
              <a:t>message</a:t>
            </a:r>
            <a:r>
              <a:rPr lang="en-US" altLang="en-US" sz="2800" dirty="0"/>
              <a:t> in a sequence diagram </a:t>
            </a:r>
            <a:r>
              <a:rPr lang="en-US" altLang="en-US" sz="2800" b="1" dirty="0">
                <a:solidFill>
                  <a:srgbClr val="C00000"/>
                </a:solidFill>
              </a:rPr>
              <a:t>requires a method</a:t>
            </a:r>
            <a:r>
              <a:rPr lang="en-US" altLang="en-US" sz="2800" dirty="0"/>
              <a:t> in the destination object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D21A92C2-4C9D-4F4A-9AFB-D5CB3FB771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90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013"/>
    </mc:Choice>
    <mc:Fallback>
      <p:transition spd="slow" advTm="570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Sequence Diagram vs. Domain Model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pic>
        <p:nvPicPr>
          <p:cNvPr id="7" name="Picture 3" descr="Fi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00201"/>
            <a:ext cx="5410200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Fi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743200"/>
            <a:ext cx="4114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6858000" y="2438400"/>
            <a:ext cx="2286000" cy="25146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MY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5486400" y="4724400"/>
            <a:ext cx="3733800" cy="6096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MY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4343400" y="3962400"/>
            <a:ext cx="2895600" cy="15240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MY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4800600" y="4419600"/>
            <a:ext cx="4419600" cy="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MY">
              <a:solidFill>
                <a:prstClr val="black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77D284-1CA1-480F-A594-89156D44880C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4109400" y="4474800"/>
              <a:ext cx="6959520" cy="740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77D284-1CA1-480F-A594-89156D4488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00040" y="4465440"/>
                <a:ext cx="6978240" cy="7588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89841A85-82A3-4012-B985-C01C88DA4E5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8716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350"/>
    </mc:Choice>
    <mc:Fallback>
      <p:transition spd="slow" advTm="105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Design Class Diagram vs. </a:t>
            </a:r>
            <a:br>
              <a:rPr lang="en-US" altLang="en-US" dirty="0"/>
            </a:br>
            <a:r>
              <a:rPr lang="en-US" altLang="en-US" dirty="0"/>
              <a:t>Sequence Diagram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30827"/>
            <a:ext cx="8229600" cy="4525963"/>
          </a:xfrm>
        </p:spPr>
        <p:txBody>
          <a:bodyPr/>
          <a:lstStyle/>
          <a:p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pic>
        <p:nvPicPr>
          <p:cNvPr id="7" name="Picture 3" descr="Fi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16476"/>
            <a:ext cx="4343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Fi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6476"/>
            <a:ext cx="4572000" cy="546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895600" y="5664651"/>
            <a:ext cx="1600200" cy="609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n-MY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8001000" y="2111826"/>
            <a:ext cx="838200" cy="4267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n-MY" altLang="en-US" sz="1800">
              <a:solidFill>
                <a:prstClr val="black"/>
              </a:solidFill>
            </a:endParaRP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V="1">
            <a:off x="4114800" y="2514600"/>
            <a:ext cx="3810000" cy="32766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MY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6146800" y="3993808"/>
            <a:ext cx="1752600" cy="853263"/>
          </a:xfrm>
          <a:prstGeom prst="wedgeRoundRectCallout">
            <a:avLst>
              <a:gd name="adj1" fmla="val -20753"/>
              <a:gd name="adj2" fmla="val -930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2000" dirty="0">
                <a:solidFill>
                  <a:prstClr val="black"/>
                </a:solidFill>
              </a:rPr>
              <a:t>Same input message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71E6724C-7444-4F3A-A385-4049A61B79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35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558"/>
    </mc:Choice>
    <mc:Fallback>
      <p:transition spd="slow" advTm="795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382000" cy="4648201"/>
          </a:xfrm>
        </p:spPr>
        <p:txBody>
          <a:bodyPr>
            <a:noAutofit/>
          </a:bodyPr>
          <a:lstStyle/>
          <a:p>
            <a:r>
              <a:rPr lang="en-GB" sz="2800">
                <a:ea typeface="ＭＳ Ｐゴシック" panose="020B0600070205080204" pitchFamily="34" charset="-128"/>
              </a:rPr>
              <a:t>Object-oriented </a:t>
            </a:r>
            <a:r>
              <a:rPr lang="en-GB" sz="2800" dirty="0">
                <a:ea typeface="ＭＳ Ｐゴシック" panose="020B0600070205080204" pitchFamily="34" charset="-128"/>
              </a:rPr>
              <a:t>detailed design is a low level </a:t>
            </a:r>
            <a:r>
              <a:rPr lang="en-GB" sz="2800">
                <a:ea typeface="ＭＳ Ｐゴシック" panose="020B0600070205080204" pitchFamily="34" charset="-128"/>
              </a:rPr>
              <a:t>design involves </a:t>
            </a:r>
            <a:r>
              <a:rPr lang="en-GB" sz="2800" dirty="0">
                <a:ea typeface="ＭＳ Ｐゴシック" panose="020B0600070205080204" pitchFamily="34" charset="-128"/>
              </a:rPr>
              <a:t>the identification and description of sets of objects that must work together for each </a:t>
            </a:r>
            <a:r>
              <a:rPr lang="en-GB" sz="2800">
                <a:ea typeface="ＭＳ Ｐゴシック" panose="020B0600070205080204" pitchFamily="34" charset="-128"/>
              </a:rPr>
              <a:t>use case</a:t>
            </a:r>
          </a:p>
          <a:p>
            <a:r>
              <a:rPr lang="en-GB" sz="2800">
                <a:ea typeface="ＭＳ Ｐゴシック" panose="020B0600070205080204" pitchFamily="34" charset="-128"/>
              </a:rPr>
              <a:t>Fundamental design principles include encapsulation, object reuse, information hiding, navigation visibility, cohesion, coupling and separation of responsibilities </a:t>
            </a:r>
            <a:endParaRPr lang="en-GB" sz="2800" dirty="0">
              <a:ea typeface="ＭＳ Ｐゴシック" panose="020B0600070205080204" pitchFamily="34" charset="-128"/>
            </a:endParaRPr>
          </a:p>
          <a:p>
            <a:r>
              <a:rPr lang="en-GB" sz="2800" dirty="0">
                <a:ea typeface="ＭＳ Ｐゴシック" panose="020B0600070205080204" pitchFamily="34" charset="-128"/>
              </a:rPr>
              <a:t>Models involved in detailed </a:t>
            </a:r>
            <a:r>
              <a:rPr lang="en-GB" sz="2800">
                <a:ea typeface="ＭＳ Ｐゴシック" panose="020B0600070205080204" pitchFamily="34" charset="-128"/>
              </a:rPr>
              <a:t>design from analysis stage are </a:t>
            </a:r>
            <a:r>
              <a:rPr lang="en-GB" sz="2800" dirty="0">
                <a:ea typeface="ＭＳ Ｐゴシック" panose="020B0600070205080204" pitchFamily="34" charset="-128"/>
              </a:rPr>
              <a:t>class diagram and </a:t>
            </a:r>
            <a:r>
              <a:rPr lang="en-GB" sz="2800">
                <a:ea typeface="ＭＳ Ｐゴシック" panose="020B0600070205080204" pitchFamily="34" charset="-128"/>
              </a:rPr>
              <a:t>sequence diagram</a:t>
            </a:r>
          </a:p>
          <a:p>
            <a:r>
              <a:rPr lang="en-GB" sz="2800">
                <a:ea typeface="ＭＳ Ｐゴシック" panose="020B0600070205080204" pitchFamily="34" charset="-128"/>
              </a:rPr>
              <a:t>Classes with related resonsibilites should be grouped in a package as a subsystem of the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8D4875-47DE-4493-A97F-7DDE743EF4AB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004560" y="2484000"/>
              <a:ext cx="5991120" cy="2831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8D4875-47DE-4493-A97F-7DDE743EF4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95200" y="2474640"/>
                <a:ext cx="6009840" cy="285012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B9DBBE04-A16A-4AEE-8CB3-9895F83433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77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629"/>
    </mc:Choice>
    <mc:Fallback>
      <p:transition spd="slow" advTm="906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3.2|3|1.9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165</Words>
  <Application>Microsoft Office PowerPoint</Application>
  <PresentationFormat>Widescreen</PresentationFormat>
  <Paragraphs>32</Paragraphs>
  <Slides>5</Slides>
  <Notes>2</Notes>
  <HiddenSlides>0</HiddenSlides>
  <MMClips>5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1_Office Theme</vt:lpstr>
      <vt:lpstr>Update design class diagram</vt:lpstr>
      <vt:lpstr>Updating Design Class Diagram</vt:lpstr>
      <vt:lpstr>Sequence Diagram vs. Domain Model</vt:lpstr>
      <vt:lpstr>Design Class Diagram vs.  Sequence Diagram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design class diagram</dc:title>
  <dc:creator>Norsham Idris</dc:creator>
  <cp:lastModifiedBy>Norsham Idris</cp:lastModifiedBy>
  <cp:revision>2</cp:revision>
  <dcterms:created xsi:type="dcterms:W3CDTF">2020-04-20T02:05:37Z</dcterms:created>
  <dcterms:modified xsi:type="dcterms:W3CDTF">2020-04-26T04:18:13Z</dcterms:modified>
</cp:coreProperties>
</file>