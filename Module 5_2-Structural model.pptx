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B2A18-DB1A-403A-B0D5-CCE6FD250078}" type="datetimeFigureOut">
              <a:rPr lang="en-MY" smtClean="0"/>
              <a:t>1/4/2020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2FAD2-B6AF-423B-AD28-EFBCA5D07A2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95431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18F6A6-5BDF-41D7-9B84-3DCB4D0C04F4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89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5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2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3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68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4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73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410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9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20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40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747" y="6487366"/>
            <a:ext cx="91313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9"/>
          <p:cNvSpPr>
            <a:spLocks noChangeArrowheads="1"/>
          </p:cNvSpPr>
          <p:nvPr userDrawn="1"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prstClr val="black"/>
              </a:solidFill>
              <a:ea typeface="ＭＳ Ｐゴシック" pitchFamily="-112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20" descr="header_UTM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3500" y="106363"/>
            <a:ext cx="1195388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2" descr="header_url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169894"/>
            <a:ext cx="2376488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0362C787-829C-4B6B-B21B-90D8981190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6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Structural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/>
              <a:t>Class Diagram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0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Structural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Structural models of software display the </a:t>
            </a:r>
            <a:r>
              <a:rPr lang="en-US" b="1" dirty="0">
                <a:solidFill>
                  <a:srgbClr val="C00000"/>
                </a:solidFill>
              </a:rPr>
              <a:t>organization of a system </a:t>
            </a:r>
            <a:r>
              <a:rPr lang="en-US" dirty="0"/>
              <a:t>in terms of the components that make up that system and their relationships</a:t>
            </a:r>
          </a:p>
          <a:p>
            <a:r>
              <a:rPr lang="en-US" dirty="0"/>
              <a:t>Structural models may be </a:t>
            </a:r>
            <a:r>
              <a:rPr lang="en-US" b="1" dirty="0">
                <a:solidFill>
                  <a:srgbClr val="C00000"/>
                </a:solidFill>
              </a:rPr>
              <a:t>static models</a:t>
            </a:r>
            <a:r>
              <a:rPr lang="en-US" dirty="0"/>
              <a:t>, which show the structure of the system design, or </a:t>
            </a:r>
            <a:r>
              <a:rPr lang="en-US" b="1" dirty="0">
                <a:solidFill>
                  <a:srgbClr val="C00000"/>
                </a:solidFill>
              </a:rPr>
              <a:t>dynamic models</a:t>
            </a:r>
            <a:r>
              <a:rPr lang="en-US" dirty="0"/>
              <a:t>, which show the organization of the system when it is executing</a:t>
            </a:r>
          </a:p>
          <a:p>
            <a:r>
              <a:rPr lang="en-US" dirty="0"/>
              <a:t>Create structural models of a system when discussing and designing the system architecture </a:t>
            </a:r>
          </a:p>
          <a:p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1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Class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Class diagrams are used when developing an object-oriented system model to show the </a:t>
            </a:r>
            <a:r>
              <a:rPr lang="en-US" b="1" dirty="0">
                <a:solidFill>
                  <a:srgbClr val="C00000"/>
                </a:solidFill>
              </a:rPr>
              <a:t>classes</a:t>
            </a:r>
            <a:r>
              <a:rPr lang="en-US" dirty="0"/>
              <a:t> in a system and the </a:t>
            </a:r>
            <a:r>
              <a:rPr lang="en-US" b="1" dirty="0">
                <a:solidFill>
                  <a:srgbClr val="C00000"/>
                </a:solidFill>
              </a:rPr>
              <a:t>associations</a:t>
            </a:r>
            <a:r>
              <a:rPr lang="en-US" dirty="0"/>
              <a:t> between these classes</a:t>
            </a:r>
          </a:p>
          <a:p>
            <a:r>
              <a:rPr lang="en-US" dirty="0"/>
              <a:t>An object class can be thought of as a general definition of one kind of system object</a:t>
            </a:r>
          </a:p>
          <a:p>
            <a:r>
              <a:rPr lang="en-US" dirty="0"/>
              <a:t>An association is a link between classes that indicates that there is some </a:t>
            </a:r>
            <a:r>
              <a:rPr lang="en-US" b="1" dirty="0">
                <a:solidFill>
                  <a:srgbClr val="C00000"/>
                </a:solidFill>
              </a:rPr>
              <a:t>relationship</a:t>
            </a:r>
            <a:r>
              <a:rPr lang="en-US" dirty="0"/>
              <a:t> between these classes</a:t>
            </a:r>
            <a:r>
              <a:rPr lang="en-GB" dirty="0"/>
              <a:t> </a:t>
            </a:r>
          </a:p>
          <a:p>
            <a:r>
              <a:rPr lang="en-US" dirty="0"/>
              <a:t>When developing models during the early stages of the software engineering process, </a:t>
            </a:r>
            <a:r>
              <a:rPr lang="en-US" b="1" dirty="0">
                <a:solidFill>
                  <a:srgbClr val="C00000"/>
                </a:solidFill>
              </a:rPr>
              <a:t>objects represent something in the real world</a:t>
            </a:r>
            <a:r>
              <a:rPr lang="en-US" dirty="0"/>
              <a:t>, such as a patient, a prescription, doctor, etc.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1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cs typeface="Times New Roman" panose="02020603050405020304" pitchFamily="18" charset="0"/>
              </a:rPr>
              <a:t>Domain Model Class Diagram Notation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Class diagram key: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General class symbol:  rectangle with three sections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Sections convey name, attributes, and behaviors 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Methods</a:t>
            </a:r>
            <a:r>
              <a:rPr lang="en-US" altLang="en-US" dirty="0">
                <a:cs typeface="Times New Roman" panose="02020603050405020304" pitchFamily="18" charset="0"/>
              </a:rPr>
              <a:t> (behaviors) </a:t>
            </a:r>
            <a:r>
              <a:rPr lang="en-US" alt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not shown </a:t>
            </a:r>
            <a:r>
              <a:rPr lang="en-US" altLang="en-US" dirty="0">
                <a:cs typeface="Times New Roman" panose="02020603050405020304" pitchFamily="18" charset="0"/>
              </a:rPr>
              <a:t>in domain model class diagram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Lines connecting rectangles show associations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Multiplicity reflected above connecting lines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cs typeface="Times New Roman" panose="02020603050405020304" pitchFamily="18" charset="0"/>
              </a:rPr>
              <a:t>Domain class objects reflect business concern, policies, </a:t>
            </a:r>
            <a:r>
              <a:rPr lang="en-US" altLang="en-US">
                <a:cs typeface="Times New Roman" panose="02020603050405020304" pitchFamily="18" charset="0"/>
              </a:rPr>
              <a:t>and constraints</a:t>
            </a:r>
          </a:p>
          <a:p>
            <a:pPr>
              <a:lnSpc>
                <a:spcPct val="90000"/>
              </a:lnSpc>
            </a:pPr>
            <a:r>
              <a:rPr lang="en-US" altLang="en-US">
                <a:cs typeface="Times New Roman" panose="02020603050405020304" pitchFamily="18" charset="0"/>
              </a:rPr>
              <a:t>When moving to design, methods and details of methods are included (design class diagram)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2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Class and Object Instantiation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262" y="1810544"/>
            <a:ext cx="7229475" cy="41052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1774258"/>
            <a:ext cx="19050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2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Class as a Template of Objects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446" y="2515439"/>
            <a:ext cx="4133850" cy="27146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87" y="3021575"/>
            <a:ext cx="1857375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4357" y="5657808"/>
            <a:ext cx="727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</a:rPr>
              <a:t>Note: Do not include operation part in analysis stage – only in design stage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146" y="2415108"/>
            <a:ext cx="1876425" cy="27432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2138362" y="4800600"/>
            <a:ext cx="985838" cy="85720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396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Class Stereotype Syntax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612" y="2663031"/>
            <a:ext cx="6962775" cy="24003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63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Types of Class Stereotype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987" y="1600200"/>
            <a:ext cx="5586413" cy="4525963"/>
          </a:xfrm>
        </p:spPr>
        <p:txBody>
          <a:bodyPr>
            <a:normAutofit fontScale="85000" lnSpcReduction="20000"/>
          </a:bodyPr>
          <a:lstStyle/>
          <a:p>
            <a:r>
              <a:rPr lang="en-MY" b="1">
                <a:solidFill>
                  <a:srgbClr val="C00000"/>
                </a:solidFill>
              </a:rPr>
              <a:t>Boundary class</a:t>
            </a:r>
            <a:r>
              <a:rPr lang="en-MY"/>
              <a:t>: interacts with actors outside the system and other objects in the system</a:t>
            </a:r>
          </a:p>
          <a:p>
            <a:r>
              <a:rPr lang="en-MY" b="1">
                <a:solidFill>
                  <a:srgbClr val="C00000"/>
                </a:solidFill>
              </a:rPr>
              <a:t>Entity class</a:t>
            </a:r>
            <a:r>
              <a:rPr lang="en-MY"/>
              <a:t>: a passive class i.e. does not initiate interactions on its own, store and manage information, normally persistent data</a:t>
            </a:r>
          </a:p>
          <a:p>
            <a:r>
              <a:rPr lang="en-MY" b="1">
                <a:solidFill>
                  <a:srgbClr val="C00000"/>
                </a:solidFill>
              </a:rPr>
              <a:t>Control class</a:t>
            </a:r>
            <a:r>
              <a:rPr lang="en-MY"/>
              <a:t>: coordinate boundary and entity object(s) – collect inform from boundary and dispatch to entity, usually has behavior specific for one use case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166" y="1585292"/>
            <a:ext cx="2980192" cy="11813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0987" y="6128075"/>
            <a:ext cx="8758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>
                <a:solidFill>
                  <a:srgbClr val="C00000"/>
                </a:solidFill>
              </a:rPr>
              <a:t>Source: https://www.ibm.com/support/knowledgecenter/en/SS6RBX_11.4.2/com.ibm.sa.oomethod.doc/topics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196" y="4612981"/>
            <a:ext cx="3200400" cy="13525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2978517"/>
            <a:ext cx="31337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06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Good Analysis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MY" dirty="0"/>
              <a:t>What makes a good analysis class:</a:t>
            </a:r>
          </a:p>
          <a:p>
            <a:r>
              <a:rPr lang="en-MY" dirty="0"/>
              <a:t>its name reflects its intent</a:t>
            </a:r>
          </a:p>
          <a:p>
            <a:r>
              <a:rPr lang="en-MY" dirty="0"/>
              <a:t>it is a crisp abstraction that models one specific element of the problem domain</a:t>
            </a:r>
          </a:p>
          <a:p>
            <a:r>
              <a:rPr lang="en-MY" dirty="0"/>
              <a:t>it maps on to a clearly identifiable feature of the problem domain</a:t>
            </a:r>
          </a:p>
          <a:p>
            <a:r>
              <a:rPr lang="en-MY" dirty="0"/>
              <a:t>it has a small, well-defined set of responsibilities</a:t>
            </a:r>
          </a:p>
          <a:p>
            <a:r>
              <a:rPr lang="en-MY" dirty="0"/>
              <a:t>it has high cohesion</a:t>
            </a:r>
          </a:p>
          <a:p>
            <a:r>
              <a:rPr lang="en-MY" dirty="0"/>
              <a:t>it has low coupling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916488"/>
            <a:ext cx="1895475" cy="12096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314" y="5930205"/>
            <a:ext cx="844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600">
                <a:solidFill>
                  <a:srgbClr val="C00000"/>
                </a:solidFill>
              </a:rPr>
              <a:t>Note: Our SE course focuses on domain models. Thus, the concepts of high cohesion and low coupling will be elaborated in design stage where we include operations in class diagram.  </a:t>
            </a:r>
          </a:p>
        </p:txBody>
      </p:sp>
    </p:spTree>
    <p:extLst>
      <p:ext uri="{BB962C8B-B14F-4D97-AF65-F5344CB8AC3E}">
        <p14:creationId xmlns:p14="http://schemas.microsoft.com/office/powerpoint/2010/main" val="2808858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Association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5075" y="2205666"/>
            <a:ext cx="4000500" cy="15144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53" y="2238963"/>
            <a:ext cx="1866900" cy="1333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046" y="4188871"/>
            <a:ext cx="4343400" cy="1685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1678" y="3762541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>
                <a:solidFill>
                  <a:prstClr val="black"/>
                </a:solidFill>
              </a:rPr>
              <a:t>OR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53" y="4041193"/>
            <a:ext cx="1885950" cy="19240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3960" y="2914816"/>
            <a:ext cx="1809750" cy="1695450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H="1">
            <a:off x="6183664" y="2060429"/>
            <a:ext cx="375422" cy="43042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399" y="1472566"/>
            <a:ext cx="3657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</a:rPr>
              <a:t>Note: The arrow head in navigability can be ignored in analysis stage</a:t>
            </a:r>
          </a:p>
        </p:txBody>
      </p:sp>
    </p:spTree>
    <p:extLst>
      <p:ext uri="{BB962C8B-B14F-4D97-AF65-F5344CB8AC3E}">
        <p14:creationId xmlns:p14="http://schemas.microsoft.com/office/powerpoint/2010/main" val="3663794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Multiplicity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603808"/>
            <a:ext cx="4905375" cy="2209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063" y="1687223"/>
            <a:ext cx="1876425" cy="1866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916" y="3928331"/>
            <a:ext cx="6161314" cy="227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93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Reflexive Association 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9829" y="1734016"/>
            <a:ext cx="5292914" cy="452596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362200"/>
            <a:ext cx="183832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59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Association Class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777" y="2201748"/>
            <a:ext cx="5686425" cy="19145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72350"/>
            <a:ext cx="18192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02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Generalization…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Generalization is an everyday technique that can be used to </a:t>
            </a:r>
            <a:r>
              <a:rPr lang="en-US" sz="2800" dirty="0">
                <a:solidFill>
                  <a:srgbClr val="C00000"/>
                </a:solidFill>
              </a:rPr>
              <a:t>manage complexity</a:t>
            </a:r>
            <a:endParaRPr lang="en-US" sz="2800" dirty="0"/>
          </a:p>
          <a:p>
            <a:r>
              <a:rPr lang="en-US" sz="2800" dirty="0"/>
              <a:t>Rather than learning the detailed characteristics of every entity, place these entities in more </a:t>
            </a:r>
            <a:r>
              <a:rPr lang="en-US" sz="2800" dirty="0">
                <a:solidFill>
                  <a:srgbClr val="C00000"/>
                </a:solidFill>
              </a:rPr>
              <a:t>general classes </a:t>
            </a:r>
            <a:r>
              <a:rPr lang="en-US" sz="2800" dirty="0"/>
              <a:t>(animals, cars, houses, etc.) and learn the characteristics of these classes</a:t>
            </a:r>
          </a:p>
          <a:p>
            <a:r>
              <a:rPr lang="en-US" sz="2800" dirty="0"/>
              <a:t>This allows us to infer that different members of these classes have some </a:t>
            </a:r>
            <a:r>
              <a:rPr lang="en-US" sz="2800" dirty="0">
                <a:solidFill>
                  <a:srgbClr val="C00000"/>
                </a:solidFill>
              </a:rPr>
              <a:t>common characteristics </a:t>
            </a:r>
            <a:r>
              <a:rPr lang="en-US" sz="2800" dirty="0"/>
              <a:t>e.g. square, circle and triangle are shape</a:t>
            </a:r>
          </a:p>
          <a:p>
            <a:endParaRPr lang="en-MY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50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Generalization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9678"/>
            <a:ext cx="8534400" cy="512043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600" dirty="0"/>
              <a:t>In modeling systems, it is often useful to </a:t>
            </a:r>
            <a:r>
              <a:rPr lang="en-US" sz="2600" dirty="0">
                <a:solidFill>
                  <a:srgbClr val="C00000"/>
                </a:solidFill>
              </a:rPr>
              <a:t>examine the classes</a:t>
            </a:r>
            <a:r>
              <a:rPr lang="en-US" sz="2600" dirty="0"/>
              <a:t> in a system to see if there is </a:t>
            </a:r>
            <a:r>
              <a:rPr lang="en-US" sz="2600" dirty="0">
                <a:solidFill>
                  <a:srgbClr val="C00000"/>
                </a:solidFill>
              </a:rPr>
              <a:t>scope for generalization</a:t>
            </a:r>
          </a:p>
          <a:p>
            <a:pPr>
              <a:spcBef>
                <a:spcPts val="600"/>
              </a:spcBef>
            </a:pPr>
            <a:r>
              <a:rPr lang="en-US" sz="2600" dirty="0"/>
              <a:t>Do not have to look at all classes in the system to see if they are affected by the change in future</a:t>
            </a:r>
          </a:p>
          <a:p>
            <a:pPr>
              <a:spcBef>
                <a:spcPts val="600"/>
              </a:spcBef>
            </a:pPr>
            <a:r>
              <a:rPr lang="en-US" sz="2600" dirty="0"/>
              <a:t>In a generalization, the </a:t>
            </a:r>
            <a:r>
              <a:rPr lang="en-US" sz="2600" dirty="0">
                <a:solidFill>
                  <a:srgbClr val="C00000"/>
                </a:solidFill>
              </a:rPr>
              <a:t>attributes and operations </a:t>
            </a:r>
            <a:r>
              <a:rPr lang="en-US" sz="2600" dirty="0"/>
              <a:t>associated with higher-level classes are also associated with the lower-level classes</a:t>
            </a:r>
          </a:p>
          <a:p>
            <a:pPr>
              <a:spcBef>
                <a:spcPts val="600"/>
              </a:spcBef>
            </a:pPr>
            <a:r>
              <a:rPr lang="en-US" sz="2600" dirty="0"/>
              <a:t>The lower-level classes are </a:t>
            </a:r>
            <a:r>
              <a:rPr lang="en-US" sz="2600" dirty="0">
                <a:solidFill>
                  <a:srgbClr val="C00000"/>
                </a:solidFill>
              </a:rPr>
              <a:t>subclasses</a:t>
            </a:r>
            <a:r>
              <a:rPr lang="en-US" sz="2600" dirty="0"/>
              <a:t> inherit the attributes and operations from their </a:t>
            </a:r>
            <a:r>
              <a:rPr lang="en-US" sz="2600" dirty="0" err="1">
                <a:solidFill>
                  <a:srgbClr val="C00000"/>
                </a:solidFill>
              </a:rPr>
              <a:t>superclasses</a:t>
            </a:r>
            <a:endParaRPr lang="en-US" sz="2600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600" dirty="0"/>
              <a:t>These lower-level classes then </a:t>
            </a:r>
            <a:r>
              <a:rPr lang="en-US" sz="2600" dirty="0">
                <a:solidFill>
                  <a:srgbClr val="C00000"/>
                </a:solidFill>
              </a:rPr>
              <a:t>add more specific attributes and operations</a:t>
            </a:r>
          </a:p>
          <a:p>
            <a:pPr>
              <a:spcBef>
                <a:spcPts val="600"/>
              </a:spcBef>
            </a:pPr>
            <a:endParaRPr lang="en-MY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48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Class Generalization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777" y="2395291"/>
            <a:ext cx="6076950" cy="30765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806960"/>
            <a:ext cx="18859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17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Example: Generalization Hierarchy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Content Placeholder 6" descr="5.11 GeneralizationHierarchy.ep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33600"/>
            <a:ext cx="3429000" cy="2467207"/>
          </a:xfrm>
          <a:prstGeom prst="rect">
            <a:avLst/>
          </a:prstGeom>
        </p:spPr>
      </p:pic>
      <p:pic>
        <p:nvPicPr>
          <p:cNvPr id="8" name="Picture 7" descr="5.12 GeneralisationDetail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944" y="2159497"/>
            <a:ext cx="4576879" cy="3771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14115" y="1938453"/>
            <a:ext cx="3657600" cy="13381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prstClr val="white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171715" y="3276600"/>
            <a:ext cx="933685" cy="5208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315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Aggregation and Composition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0" y="1417638"/>
            <a:ext cx="3855061" cy="206856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" y="4535783"/>
            <a:ext cx="4200525" cy="1238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79" y="3446570"/>
            <a:ext cx="1866900" cy="1009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290" y="4152210"/>
            <a:ext cx="4114800" cy="1457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719" y="3499492"/>
            <a:ext cx="1847850" cy="1114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726851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</a:rPr>
              <a:t>Part </a:t>
            </a:r>
            <a:r>
              <a:rPr lang="en-MY" b="1">
                <a:solidFill>
                  <a:srgbClr val="C00000"/>
                </a:solidFill>
              </a:rPr>
              <a:t>can </a:t>
            </a:r>
            <a:r>
              <a:rPr lang="en-MY">
                <a:solidFill>
                  <a:srgbClr val="C00000"/>
                </a:solidFill>
              </a:rPr>
              <a:t>exist without whole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800" y="5734409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</a:rPr>
              <a:t>Part </a:t>
            </a:r>
            <a:r>
              <a:rPr lang="en-MY" b="1">
                <a:solidFill>
                  <a:srgbClr val="C00000"/>
                </a:solidFill>
              </a:rPr>
              <a:t>cannot</a:t>
            </a:r>
            <a:r>
              <a:rPr lang="en-MY">
                <a:solidFill>
                  <a:srgbClr val="C00000"/>
                </a:solidFill>
              </a:rPr>
              <a:t> exist without whole 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2996413" y="4223378"/>
            <a:ext cx="851343" cy="62480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19400" y="3635515"/>
            <a:ext cx="377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</a:rPr>
              <a:t>Note: The arrow head in navigability can be ignored in the analysis stage</a:t>
            </a:r>
          </a:p>
        </p:txBody>
      </p:sp>
    </p:spTree>
    <p:extLst>
      <p:ext uri="{BB962C8B-B14F-4D97-AF65-F5344CB8AC3E}">
        <p14:creationId xmlns:p14="http://schemas.microsoft.com/office/powerpoint/2010/main" val="3810053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Example: </a:t>
            </a:r>
            <a:r>
              <a:rPr lang="en-US" dirty="0"/>
              <a:t>Classes and Associations in MHC-PMS</a:t>
            </a:r>
            <a:endParaRPr lang="en-MY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Content Placeholder 6" descr="5.9 MHCPMS-classes.ep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0" y="1646850"/>
            <a:ext cx="6715248" cy="4495800"/>
          </a:xfrm>
          <a:prstGeom prst="rect">
            <a:avLst/>
          </a:prstGeom>
        </p:spPr>
      </p:pic>
      <p:pic>
        <p:nvPicPr>
          <p:cNvPr id="8" name="Picture 7" descr="5.13 Aggregation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54" y="4328365"/>
            <a:ext cx="3128635" cy="175985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65462" y="2590800"/>
            <a:ext cx="2495315" cy="2438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prstClr val="white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634207" y="3942514"/>
            <a:ext cx="1531255" cy="61989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954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/>
              <a:t>Example: Domain Model for Online Shopping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399" y="1524000"/>
            <a:ext cx="5181715" cy="480060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/>
              <a:t>Software Engineering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C787-829C-4B6B-B21B-90D8981190F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2570" y="6069641"/>
            <a:ext cx="411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prstClr val="black"/>
                </a:solidFill>
              </a:rPr>
              <a:t>source: https://www.uml-diagrams.org/index-examples.html</a:t>
            </a:r>
            <a:endParaRPr lang="en-MY" sz="1200">
              <a:solidFill>
                <a:prstClr val="black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590800" y="4191001"/>
            <a:ext cx="609600" cy="98403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2399" y="5213319"/>
            <a:ext cx="3641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>
                <a:solidFill>
                  <a:srgbClr val="C00000"/>
                </a:solidFill>
              </a:rPr>
              <a:t>Note: Stating the type for the attribute is optional in analysis stage</a:t>
            </a:r>
          </a:p>
        </p:txBody>
      </p:sp>
    </p:spTree>
    <p:extLst>
      <p:ext uri="{BB962C8B-B14F-4D97-AF65-F5344CB8AC3E}">
        <p14:creationId xmlns:p14="http://schemas.microsoft.com/office/powerpoint/2010/main" val="35918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PresentationFormat>On-screen Show (4:3)</PresentationFormat>
  <Paragraphs>125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1_Office Theme</vt:lpstr>
      <vt:lpstr>Structural model</vt:lpstr>
      <vt:lpstr>Structural Models</vt:lpstr>
      <vt:lpstr>Class Diagrams</vt:lpstr>
      <vt:lpstr>Domain Model Class Diagram Notation</vt:lpstr>
      <vt:lpstr>Class and Object Instantiation</vt:lpstr>
      <vt:lpstr>Class as a Template of Objects</vt:lpstr>
      <vt:lpstr>Class Stereotype Syntax</vt:lpstr>
      <vt:lpstr>Types of Class Stereotype</vt:lpstr>
      <vt:lpstr>Good Analysis Class</vt:lpstr>
      <vt:lpstr>Association</vt:lpstr>
      <vt:lpstr>Multiplicity</vt:lpstr>
      <vt:lpstr>Reflexive Association </vt:lpstr>
      <vt:lpstr>Association Class</vt:lpstr>
      <vt:lpstr>Generalization…</vt:lpstr>
      <vt:lpstr>Generalization</vt:lpstr>
      <vt:lpstr>Class Generalization</vt:lpstr>
      <vt:lpstr>Example: Generalization Hierarchy</vt:lpstr>
      <vt:lpstr>Aggregation and Composition</vt:lpstr>
      <vt:lpstr>Example: Classes and Associations in MHC-PMS</vt:lpstr>
      <vt:lpstr>Example: Domain Model for Online Shopping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Structural model</dc:title>
  <dc:creator>Windows User</dc:creator>
  <cp:lastModifiedBy>Windows User</cp:lastModifiedBy>
  <cp:revision>1</cp:revision>
  <dcterms:created xsi:type="dcterms:W3CDTF">2020-04-01T07:21:09Z</dcterms:created>
  <dcterms:modified xsi:type="dcterms:W3CDTF">2020-04-01T07:21:51Z</dcterms:modified>
</cp:coreProperties>
</file>