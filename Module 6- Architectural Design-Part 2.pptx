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Action1.xml" ContentType="application/vnd.ms-office.inkAct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8"/>
  </p:notesMasterIdLst>
  <p:sldIdLst>
    <p:sldId id="257" r:id="rId3"/>
    <p:sldId id="714" r:id="rId4"/>
    <p:sldId id="663" r:id="rId5"/>
    <p:sldId id="664" r:id="rId6"/>
    <p:sldId id="665" r:id="rId7"/>
    <p:sldId id="667" r:id="rId8"/>
    <p:sldId id="716" r:id="rId9"/>
    <p:sldId id="715" r:id="rId10"/>
    <p:sldId id="668" r:id="rId11"/>
    <p:sldId id="669" r:id="rId12"/>
    <p:sldId id="670" r:id="rId13"/>
    <p:sldId id="671" r:id="rId14"/>
    <p:sldId id="697" r:id="rId15"/>
    <p:sldId id="699" r:id="rId16"/>
    <p:sldId id="70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13T04:37:22.3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25835">
    <iact:property name="dataType"/>
    <iact:actionData xml:id="d0">
      <inkml:trace xmlns:inkml="http://www.w3.org/2003/InkML" xml:id="stk0" contextRef="#ctx0" brushRef="#br0">18341 11618 0,'126'0'159,"103"0"-150,-26 26 0,50 24-3,-50-50 1,-25 77 2,-51-77 0,25 25 5,-101-25-11,50 0 3,26 0 1,-76 0 4,50 0-5,-50 0 1,25 0 2,-25 0-1,0 0 0,-1 0 0,-24 0 0,50 0-1,-25 0 2,25 0-1,-26 0 0,26 0 0,-50 0 0,75 0 0,-50 0 0,51 0 0,-26 0 1,-26 0-3,52 0 4,-51 0-3,25 0 4,-26 0-7,52 0 7,-77 0-6,51 0 6,-50 0-5,50 0 4,-25 0-4,-1 0 10,1 0-8,0 0 0,25-25 0,-51 25-1,51 0 2,-25 0-1,76-26-1,-102 26 2,51 0 8,26-51-11,-77 51 4,102 0-4,-51-50 4,-25 50-3,0-26 1,50 1 0,-50 25 7,0-25-3,-1 25-7,-24 0 10</inkml:trace>
    </iact:actionData>
  </iact:action>
  <iact:action type="add" startTime="27842">
    <iact:property name="dataType"/>
    <iact:actionData xml:id="d1">
      <inkml:trace xmlns:inkml="http://www.w3.org/2003/InkML" xml:id="stk1" contextRef="#ctx0" brushRef="#br0">5961 12861 0,'0'26'67,"51"-26"-62,101 0 5,0 0-2,0 0-3,102-26 3,-153 1 3,52 25-6,-77 0 6,-26-25-4,1 25 2,0 0-2,-26 0 1,51 0 0,1 0 14,-27-26-14,-24 26 0,24 0 2,1 0-4,25 0 4,-25 0-4,25 0 4,-25-50-4,50 50 4,-50 0-2,25 0-2,0 0 4,-25 0-2,0 0 0,25 0 0,-51 0-2,26 0 5,0 0-6,-1 0 12,1 0-6,0 0-5,25 0 4,0 0-4,26 0 4,-52 0-4,52 0 0,-26 0 4,25 0-1,-25 25-2,-25-25-1,25 0 4,-25 25-4,0-25 13,-26 0-12,0 0 1,52 0 0,-27 0 14,52 76-11,-51-76 4,25 0 2,-26 26-10,1-26 9,0 0-7,0 0 4,-1 0-4,-24 0 2,50 0-7,-51 0 6,1 0-4,-1 0 4,0 0-4,1 0 4,50 0-2,-51 0 0,0 0 0,26 0 7,-25 0 3,24 0-13,1 0 11,0 0-4,0 25-8,-1-25 8,1 0-8,0 0 8,-26 25-8</inkml:trace>
    </iact:actionData>
  </iact:action>
  <iact:action type="add" startTime="34435">
    <iact:property name="dataType"/>
    <iact:actionData xml:id="d2">
      <inkml:trace xmlns:inkml="http://www.w3.org/2003/InkML" xml:id="stk2" contextRef="#ctx0" brushRef="#br0">18315 14282 0,'26'0'49,"75"0"-43,-25 0 1,0 0 1,-25 0 4,51 0-3,-1 0-3,-50 0-1,25 0 5,-25 0-2,25 0 0,-51 0 0,26 0 0,-26 0-1,1 0 2,-1 0-3,0 0 4,26 0-4,-26 0 3,26 0 0,-26 0 0,1 0 6,-1 0 3,1 0 4,24 0-16,1 0 10,-26 0-8,1 0 1,25 0-2,-26 0 1,51 0 2,-51 0 5,1 0 24,24 0-28,-24 0 4,-1 0-7,26 0 2,-26 0-6,1 0 14,-1 0-9,26 0 4,-26 0 6,1 0-12,24 0-1,1 0 4,-26 0-4,51 0 4,-50 0 5,25 0-8,-26 0 1,26 0 1,25 0 0,-51 0-3,1 0 5,50 0-6,-51 0 7,76 0-8,-50 0 8,25 0-6,-50 0 3,50 0-2,-25 25-1,25-25 2,-51 0 0,51 0 9,-51 0-8,1 0 0,50 0-4,-25 0 5,-26 0-2,26 0 0,0 26-2,-1-26 13,-24 0-12,-1 0 0,0 0 2,1 25-1,-1-25-2,0 0 5,1 0-5,25 0 4,-1 0-4,-24 0 4,50 0-4,-51 0 2,51 0 9,-50 0-10,24 0 1,1 0 0,-26 0 0,52 0 0,-27 0 7,1 0-8,-26 0 3,26 0-2,0 0-1,0 0 10,-26 0-10,0 0 3,26 0-3,25 0 2,-50 0-2,24 0 3,1 0-4,-26 0 1,1 0 2,50 0 1,-51 0 4,1 0-6,24 0-1,1 0 2,-26 0-2,52 0 1,-52 0 10,51 0-11,-51 0 0,1 0 1,25 0 2,-26 0-4,51 0 11,-51 0-8,1 0-2,-1 0 3,26 0-4,0 0 4,25 0 3,-26 0-5,1 0 3,0 0-5,-26 0 2,26 0-1,-26 0 2,1 0-1,24 0 7,1 0-6,-25 0-1,75-25 0,-76-1-1,51 26 1,-50 0 2,75-25-3,-50 25 9,0 0-6,-26 0-4,51-26 10,-25 26 0,-26 0-9,1 0 2,-1 0-1,0 0 0,1-25 0,75 25 8,-75 0-9,24 0 11,1-25-10,-25 25-2,24 0 4,1 0-2,-26-26 0,26 26-2,-26 0 3,26-25 1,-25 25-3,24 0 2,-24 0-3,-1 0 4,26 0-5,-26 0 7,26 0 9,-26 0-1,26 0-14,0 0 7,-26 0-2,0 0 3,26 0-3,-25 0-4,-1 0 11,0 0-15,26 0 6,0 0 14,0 0-11,-1 0-7,-24 0 6,24 0-8,-24 0 7,-1 0 7,51 0-10,-50 0 1,-1 0 6,26 0-4,-1 0-2,1 0 8,-25 25-9,-1-25 2,26 0 0,-1 0-2,1 0 3,0 0-4,0 26 10,-1-26-8,1 0 0,25 0 8,-50 25-10,-1-25 4,0 0-2,51 0 0,-50 0-1,50 0 10,-51 0-9,1 0 0,24 0-2,-24 0 4,-1 0 6,26 0 7,-26 0 1,1 0-7,-1 0-6,26 0-3,-26 0 5,0 0 3,26 0-6,-26 25-4,1 1 3,-1-26 14</inkml:trace>
    </iact:actionData>
  </iact:action>
  <iact:action type="add" startTime="40307">
    <iact:property name="dataType"/>
    <iact:actionData xml:id="d3">
      <inkml:trace xmlns:inkml="http://www.w3.org/2003/InkML" xml:id="stk3" contextRef="#ctx0" brushRef="#br0">8548 15601 0,'26'0'97,"126"0"-91,-25 0 4,25 0-1,-76 0-1,76 0 0,1 0-2,-1 0 2,-25 0 0,-26 0-2,-50 0 3,76 0 0,-26 0 0,26 0-2,-51 0 3,0 0-6,-25 0 8,76 0-8,-51 0 9,0 0-8,51 0 3,-51 0 0,76 0-2,-76 0 2,77 0 2,-1 0-2,0 0 0,-25 0 0,25 0 1,-51 0-4,52 0 6,-26 25-4,-51-25 2,50 0-3,27 0 4,-52 0-2,51 0-1,-50 0 3,50 0-5,-50 0 6,-1 0-7,26 0 8,-76 0-7,101 0 5,-76 0-6,-25 0 6,101 0-2,-76 0 0,25 0 0,1 0 0,-26 0 0,25 0 0,-24 0 0,49 0 0,-50 0 0,1 0 0,49 0-1,-24 0 2,25 0-1,-51 0 0,0 0 1,51 0-2,-76 0 3,25 0-5,-26 0 4,26 0-1,-50 0 2,25 0-4,25 0 4,-26 0-4,52 0 2,25 0 1,-77 0-2,103 0 2,-77 0-2,-25 0 1,101 0 0,-76 0 0,-25 0-1,25 0 1,-26 0 1,27 0-2,-27 0 2,26 0-2,51 0 2,-76 0 0,-26 0-2,26 0 1,-26 0-1,1 0 3,50 0-3,-51 0 3,1 0-4,24 0 1,-24 0 1,-1 0 1,26 0-1,0 0-2,-26 0 13,26 0-11,-26 0 1</inkml:trace>
    </iact:actionData>
  </iact:action>
  <iact:action type="add" startTime="42770">
    <iact:property name="dataType"/>
    <iact:actionData xml:id="d4">
      <inkml:trace xmlns:inkml="http://www.w3.org/2003/InkML" xml:id="stk4" contextRef="#ctx0" brushRef="#br0">22019 15499 0,'76'0'26,"-25"0"-17,50 0-1,-25 0 1,1 0-1,49 0-3,27 0 4,-52 0 1,51 0-5,26 0 5,-77 0-5,52 0 6,-27 0-5,77 26 2,0-26-1,0 0 2,0 0-2,76 0 1,-127 0 0,1 0 0,-1 0 0,-76 0 0,76 0 0,-25 0-2,25 25 4,-25 1-2,-76-26 0,50 0 0,-25 0 0,0 0-1,26 0 2,-1 0-1,-50 0 2,25 0-4,-25 0 5,76 0-6,-51 0 11,-25 0-6,50 0-4,-75 0 2,75 0 0,-25 0 0,0 0 0,-25 0-1,50 0 2,1 0-3,-51 0 4,50 0-2,-50 0 0,25 0 0,51 0 0,-51 0 0,-25 0 1,-1 0-2,1 0 2,0 0-2,-26 0 3,77 0-6,-52 0 8,52 0-6,-26 0 4,-25 0-4,76 0 4,-77 76-4,26-76 2,-25 0-1,25 0 2,0 25-1,26-25 0,-77 0 0,26 0-1,0 0 2,50 0-2,-75 0 8,24 0-5,-24 0 9,-1 0 28</inkml:trace>
    </iact:actionData>
  </iact:action>
  <iact:action type="add" startTime="44443">
    <iact:property name="dataType"/>
    <iact:actionData xml:id="d5">
      <inkml:trace xmlns:inkml="http://www.w3.org/2003/InkML" xml:id="stk5" contextRef="#ctx0" brushRef="#br0">4033 16692 0,'25'-51'64,"102"51"-56,51 0 0,50 0 2,-25 0-5,0 0 4,101 0 0,-101 0-3,102 0 3,-102 0-1,-51 0 0,51 0-2,-76 0 4,-26 0-2,1 0 1,-1 0-2,26 0-1,-26 0 4,-25 0-4,26 0 4,-1 0-4,-50 0 3,51 0-1,-52 0 0,1 0 0,0 0-1,-26 0 35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41DAB4-BF3C-4FC6-B631-2E9EEAF0469C}" type="datetimeFigureOut">
              <a:rPr lang="en-MY" smtClean="0"/>
              <a:t>13/4/2020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A8396-3A1B-4436-813C-EF3C17581F5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86839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1809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644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3812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391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6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19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18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3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40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8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32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39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36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59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66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6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09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79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5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09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895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648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86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142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007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7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96" y="6487369"/>
            <a:ext cx="12175067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 dirty="0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668" y="106366"/>
            <a:ext cx="1593851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" y="1169894"/>
            <a:ext cx="3168651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9839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036" y="6620436"/>
            <a:ext cx="5588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9839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4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96" y="6487367"/>
            <a:ext cx="12175067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 dirty="0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667" y="106364"/>
            <a:ext cx="1593851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3168651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036" y="6620436"/>
            <a:ext cx="5588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953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4.png"/><Relationship Id="rId5" Type="http://schemas.openxmlformats.org/officeDocument/2006/relationships/image" Target="../media/image5.emf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9.jpe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4.png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microsoft.com/office/2011/relationships/inkAction" Target="../ink/inkAction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6: </a:t>
            </a:r>
            <a:r>
              <a:rPr lang="en-US" dirty="0">
                <a:ea typeface="ＭＳ Ｐゴシック" panose="020B0600070205080204" pitchFamily="34" charset="-128"/>
              </a:rPr>
              <a:t>Architectural Design</a:t>
            </a:r>
            <a:br>
              <a:rPr lang="en-US" dirty="0">
                <a:ea typeface="ＭＳ Ｐゴシック" panose="020B0600070205080204" pitchFamily="34" charset="-128"/>
              </a:rPr>
            </a:br>
            <a:r>
              <a:rPr lang="en-US" dirty="0">
                <a:ea typeface="ＭＳ Ｐゴシック" panose="020B0600070205080204" pitchFamily="34" charset="-128"/>
              </a:rPr>
              <a:t>Part 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chemeClr val="tx2"/>
                </a:solidFill>
              </a:rPr>
              <a:t>Software Engineering</a:t>
            </a:r>
          </a:p>
          <a:p>
            <a:r>
              <a:rPr lang="en-US" sz="2100" dirty="0"/>
              <a:t>School of Computing, Faculty of Engineering</a:t>
            </a:r>
          </a:p>
          <a:p>
            <a:r>
              <a:rPr lang="en-US" sz="2100" dirty="0" err="1"/>
              <a:t>Universiti</a:t>
            </a:r>
            <a:r>
              <a:rPr lang="en-US" sz="2100" dirty="0"/>
              <a:t> </a:t>
            </a:r>
            <a:r>
              <a:rPr lang="en-US" sz="2100" dirty="0" err="1"/>
              <a:t>Teknologi</a:t>
            </a:r>
            <a:r>
              <a:rPr lang="en-US" sz="2100" dirty="0"/>
              <a:t> Malaysia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95D2D09A-57B8-4089-85CC-F0076A8BDF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94"/>
    </mc:Choice>
    <mc:Fallback>
      <p:transition spd="slow" advTm="105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Architectural design decision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721273C7-F9D9-4347-AE86-EBB08EB062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96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2"/>
    </mc:Choice>
    <mc:Fallback>
      <p:transition spd="slow" advTm="30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Architectural Design Decision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Architectural design is a </a:t>
            </a:r>
            <a:r>
              <a:rPr lang="en-US" b="1" dirty="0">
                <a:solidFill>
                  <a:srgbClr val="C00000"/>
                </a:solidFill>
              </a:rPr>
              <a:t>creative process,</a:t>
            </a:r>
            <a:r>
              <a:rPr lang="en-US" dirty="0"/>
              <a:t> so the process differs depending on the type of system being developed</a:t>
            </a:r>
          </a:p>
          <a:p>
            <a:r>
              <a:rPr lang="en-US" dirty="0"/>
              <a:t>However, a number of common decisions span all design processes and these decisions </a:t>
            </a:r>
            <a:r>
              <a:rPr lang="en-US" b="1" dirty="0">
                <a:solidFill>
                  <a:srgbClr val="C00000"/>
                </a:solidFill>
              </a:rPr>
              <a:t>affect the non-functional characteristics</a:t>
            </a:r>
            <a:r>
              <a:rPr lang="en-US" dirty="0"/>
              <a:t> of the system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C0EEFB25-801A-4544-8C45-84E0FAB4F2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701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116"/>
    </mc:Choice>
    <mc:Fallback>
      <p:transition spd="slow" advTm="491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Architectural Design Decision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6" name="Picture 5" descr="6.2 Arch design questions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840" y="1684422"/>
            <a:ext cx="8705841" cy="4671929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DB5CC4CC-14B3-476A-AF3C-AC7F013E82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43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896"/>
    </mc:Choice>
    <mc:Fallback>
      <p:transition spd="slow" advTm="758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Reuse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Systems in the </a:t>
            </a:r>
            <a:r>
              <a:rPr lang="en-US" b="1" dirty="0">
                <a:solidFill>
                  <a:srgbClr val="C00000"/>
                </a:solidFill>
              </a:rPr>
              <a:t>same domain often have similar architectures</a:t>
            </a:r>
            <a:r>
              <a:rPr lang="en-US" dirty="0"/>
              <a:t> that reflect domain concepts</a:t>
            </a:r>
          </a:p>
          <a:p>
            <a:r>
              <a:rPr lang="en-US" dirty="0"/>
              <a:t>Application </a:t>
            </a:r>
            <a:r>
              <a:rPr lang="en-US" b="1" dirty="0">
                <a:solidFill>
                  <a:srgbClr val="C00000"/>
                </a:solidFill>
              </a:rPr>
              <a:t>product lines </a:t>
            </a:r>
            <a:r>
              <a:rPr lang="en-US" dirty="0"/>
              <a:t>are built around a core architecture with variants that satisfy particular customer requirements</a:t>
            </a:r>
          </a:p>
          <a:p>
            <a:r>
              <a:rPr lang="en-US" dirty="0"/>
              <a:t>The architecture of a system may be designed around one of more </a:t>
            </a:r>
            <a:r>
              <a:rPr lang="en-US" b="1" dirty="0">
                <a:solidFill>
                  <a:srgbClr val="C00000"/>
                </a:solidFill>
              </a:rPr>
              <a:t>architectural patterns or ‘styles’ </a:t>
            </a:r>
            <a:r>
              <a:rPr lang="en-US" dirty="0"/>
              <a:t>to capture the essence of an architecture and can be instantiated in different ways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19877E28-B041-4A6D-BDEA-6C07082C80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51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732"/>
    </mc:Choice>
    <mc:Fallback>
      <p:transition spd="slow" advTm="737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28600"/>
            <a:ext cx="8991600" cy="1189038"/>
          </a:xfrm>
        </p:spPr>
        <p:txBody>
          <a:bodyPr>
            <a:noAutofit/>
          </a:bodyPr>
          <a:lstStyle/>
          <a:p>
            <a:r>
              <a:rPr lang="en-US" sz="4000" dirty="0"/>
              <a:t>Architecture and System Characteristics (Non-Functional Requirements)</a:t>
            </a:r>
            <a:endParaRPr lang="en-MY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2610" y="1600201"/>
            <a:ext cx="8610600" cy="45259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300" b="1" dirty="0">
                <a:solidFill>
                  <a:srgbClr val="C00000"/>
                </a:solidFill>
              </a:rPr>
              <a:t>Performance</a:t>
            </a:r>
          </a:p>
          <a:p>
            <a:pPr lvl="1">
              <a:lnSpc>
                <a:spcPct val="90000"/>
              </a:lnSpc>
            </a:pPr>
            <a:r>
              <a:rPr lang="en-US" sz="2300" dirty="0" err="1"/>
              <a:t>Localise</a:t>
            </a:r>
            <a:r>
              <a:rPr lang="en-US" sz="2300" dirty="0"/>
              <a:t> critical operations and </a:t>
            </a:r>
            <a:r>
              <a:rPr lang="en-US" sz="2300" dirty="0" err="1"/>
              <a:t>minimise</a:t>
            </a:r>
            <a:r>
              <a:rPr lang="en-US" sz="2300" dirty="0"/>
              <a:t> communications</a:t>
            </a:r>
          </a:p>
          <a:p>
            <a:pPr lvl="1">
              <a:lnSpc>
                <a:spcPct val="90000"/>
              </a:lnSpc>
            </a:pPr>
            <a:r>
              <a:rPr lang="en-US" sz="2300" dirty="0"/>
              <a:t>Use large rather than fine-grain components</a:t>
            </a:r>
          </a:p>
          <a:p>
            <a:pPr>
              <a:lnSpc>
                <a:spcPct val="90000"/>
              </a:lnSpc>
            </a:pPr>
            <a:r>
              <a:rPr lang="en-US" sz="2300" b="1" dirty="0">
                <a:solidFill>
                  <a:srgbClr val="C00000"/>
                </a:solidFill>
              </a:rPr>
              <a:t>Security</a:t>
            </a:r>
          </a:p>
          <a:p>
            <a:pPr lvl="1">
              <a:lnSpc>
                <a:spcPct val="90000"/>
              </a:lnSpc>
            </a:pPr>
            <a:r>
              <a:rPr lang="en-US" sz="2300" dirty="0"/>
              <a:t>Use a layered architecture with critical assets in the inner layers</a:t>
            </a:r>
          </a:p>
          <a:p>
            <a:pPr>
              <a:lnSpc>
                <a:spcPct val="90000"/>
              </a:lnSpc>
            </a:pPr>
            <a:r>
              <a:rPr lang="en-US" sz="2300" b="1" dirty="0">
                <a:solidFill>
                  <a:srgbClr val="C00000"/>
                </a:solidFill>
              </a:rPr>
              <a:t>Safety</a:t>
            </a:r>
          </a:p>
          <a:p>
            <a:pPr lvl="1">
              <a:lnSpc>
                <a:spcPct val="90000"/>
              </a:lnSpc>
            </a:pPr>
            <a:r>
              <a:rPr lang="en-US" sz="2300" dirty="0" err="1"/>
              <a:t>Localise</a:t>
            </a:r>
            <a:r>
              <a:rPr lang="en-US" sz="2300" dirty="0"/>
              <a:t> safety-critical features in a small number of sub-systems</a:t>
            </a:r>
          </a:p>
          <a:p>
            <a:pPr>
              <a:lnSpc>
                <a:spcPct val="90000"/>
              </a:lnSpc>
            </a:pPr>
            <a:r>
              <a:rPr lang="en-US" sz="2300" b="1" dirty="0">
                <a:solidFill>
                  <a:srgbClr val="C00000"/>
                </a:solidFill>
              </a:rPr>
              <a:t>Availability</a:t>
            </a:r>
          </a:p>
          <a:p>
            <a:pPr lvl="1">
              <a:lnSpc>
                <a:spcPct val="90000"/>
              </a:lnSpc>
            </a:pPr>
            <a:r>
              <a:rPr lang="en-US" sz="2300" dirty="0"/>
              <a:t>Include redundant components and mechanisms for fault tolerance</a:t>
            </a:r>
          </a:p>
          <a:p>
            <a:pPr>
              <a:lnSpc>
                <a:spcPct val="90000"/>
              </a:lnSpc>
            </a:pPr>
            <a:r>
              <a:rPr lang="en-US" sz="2300" b="1" dirty="0">
                <a:solidFill>
                  <a:srgbClr val="C00000"/>
                </a:solidFill>
              </a:rPr>
              <a:t>Maintainability</a:t>
            </a:r>
          </a:p>
          <a:p>
            <a:pPr lvl="1">
              <a:lnSpc>
                <a:spcPct val="90000"/>
              </a:lnSpc>
            </a:pPr>
            <a:r>
              <a:rPr lang="en-US" sz="2300" dirty="0"/>
              <a:t>Use fine-grain, replaceable components</a:t>
            </a:r>
            <a:endParaRPr lang="en-MY" sz="23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97E4EC0B-6652-47A6-A01C-0AF9010A1F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7258"/>
    </mc:Choice>
    <mc:Fallback>
      <p:transition spd="slow" advTm="1272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9FD2-1E72-4A82-873F-D5BD89DF7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9D1D694-EBA8-4076-AC22-32B67E339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301" y="198438"/>
            <a:ext cx="2245784" cy="27813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659DB-ADEC-464A-B0A4-9E82334A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5B7C8-0293-41E6-891E-E15FE577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9AA52-0EF8-45B7-8D61-7E31F0B1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B7BF92-C4AA-4006-8526-D09AB4A325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786" y="198438"/>
            <a:ext cx="2574364" cy="2781300"/>
          </a:xfrm>
          <a:prstGeom prst="rect">
            <a:avLst/>
          </a:prstGeom>
        </p:spPr>
      </p:pic>
      <p:pic>
        <p:nvPicPr>
          <p:cNvPr id="12" name="Picture 11" descr="A close up of text on a whiteboard&#10;&#10;Description automatically generated">
            <a:extLst>
              <a:ext uri="{FF2B5EF4-FFF2-40B4-BE49-F238E27FC236}">
                <a16:creationId xmlns:a16="http://schemas.microsoft.com/office/drawing/2014/main" id="{1E68B0A1-B706-49DA-A480-60EDB58DBE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036" y="198438"/>
            <a:ext cx="2574364" cy="2781300"/>
          </a:xfrm>
          <a:prstGeom prst="rect">
            <a:avLst/>
          </a:prstGeom>
        </p:spPr>
      </p:pic>
      <p:pic>
        <p:nvPicPr>
          <p:cNvPr id="14" name="Picture 13" descr="A close up of text on a whiteboard&#10;&#10;Description automatically generated">
            <a:extLst>
              <a:ext uri="{FF2B5EF4-FFF2-40B4-BE49-F238E27FC236}">
                <a16:creationId xmlns:a16="http://schemas.microsoft.com/office/drawing/2014/main" id="{5D034D02-B839-4E59-B798-2B21E0EB4D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300" y="3215948"/>
            <a:ext cx="2455085" cy="3124200"/>
          </a:xfrm>
          <a:prstGeom prst="rect">
            <a:avLst/>
          </a:prstGeom>
        </p:spPr>
      </p:pic>
      <p:pic>
        <p:nvPicPr>
          <p:cNvPr id="16" name="Picture 15" descr="A close up of text on a whiteboard&#10;&#10;Description automatically generated">
            <a:extLst>
              <a:ext uri="{FF2B5EF4-FFF2-40B4-BE49-F238E27FC236}">
                <a16:creationId xmlns:a16="http://schemas.microsoft.com/office/drawing/2014/main" id="{982E8D31-372E-48E7-8EBF-45A65CB4BD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574" y="3260026"/>
            <a:ext cx="2686051" cy="3080122"/>
          </a:xfrm>
          <a:prstGeom prst="rect">
            <a:avLst/>
          </a:prstGeom>
        </p:spPr>
      </p:pic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AB87532A-0F9D-4AB8-B398-A5F7BF5188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138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4255"/>
    </mc:Choice>
    <mc:Fallback>
      <p:transition spd="slow" advTm="1642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Architectural 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/>
              <a:t>4+1 View Model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F31E7E22-7664-41F4-91F9-34C5B1C05E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57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09"/>
    </mc:Choice>
    <mc:Fallback>
      <p:transition spd="slow" advTm="79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Architectural 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95991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 </a:t>
            </a:r>
            <a:r>
              <a:rPr lang="en-US" b="1" dirty="0">
                <a:solidFill>
                  <a:srgbClr val="C00000"/>
                </a:solidFill>
              </a:rPr>
              <a:t>views or perspectives</a:t>
            </a:r>
            <a:r>
              <a:rPr lang="en-US" dirty="0"/>
              <a:t> are useful when designing and documenting a system’s architecture?</a:t>
            </a:r>
            <a:endParaRPr lang="en-GB" dirty="0"/>
          </a:p>
          <a:p>
            <a:r>
              <a:rPr lang="en-US" dirty="0"/>
              <a:t>What </a:t>
            </a:r>
            <a:r>
              <a:rPr lang="en-US" b="1" dirty="0">
                <a:solidFill>
                  <a:srgbClr val="C00000"/>
                </a:solidFill>
              </a:rPr>
              <a:t>notations</a:t>
            </a:r>
            <a:r>
              <a:rPr lang="en-US" dirty="0"/>
              <a:t> should be used for describing architectural models?</a:t>
            </a:r>
          </a:p>
          <a:p>
            <a:r>
              <a:rPr lang="en-US" dirty="0"/>
              <a:t>Each architectural model only shows one view or perspective of the system</a:t>
            </a:r>
          </a:p>
          <a:p>
            <a:pPr lvl="1"/>
            <a:r>
              <a:rPr lang="en-US" dirty="0"/>
              <a:t>It might show how a system is </a:t>
            </a:r>
            <a:r>
              <a:rPr lang="en-US" b="1" dirty="0">
                <a:solidFill>
                  <a:srgbClr val="C00000"/>
                </a:solidFill>
              </a:rPr>
              <a:t>decomposed into modules</a:t>
            </a:r>
            <a:r>
              <a:rPr lang="en-US" dirty="0"/>
              <a:t>, how the run-time </a:t>
            </a:r>
            <a:r>
              <a:rPr lang="en-US" b="1" dirty="0">
                <a:solidFill>
                  <a:srgbClr val="C00000"/>
                </a:solidFill>
              </a:rPr>
              <a:t>processes interact </a:t>
            </a:r>
            <a:r>
              <a:rPr lang="en-US" dirty="0"/>
              <a:t>or the different ways in which system </a:t>
            </a:r>
            <a:r>
              <a:rPr lang="en-US" b="1" dirty="0">
                <a:solidFill>
                  <a:srgbClr val="C00000"/>
                </a:solidFill>
              </a:rPr>
              <a:t>components are distributed</a:t>
            </a:r>
            <a:r>
              <a:rPr lang="en-US" dirty="0"/>
              <a:t> across a network</a:t>
            </a:r>
          </a:p>
          <a:p>
            <a:pPr lvl="1"/>
            <a:r>
              <a:rPr lang="en-US" dirty="0"/>
              <a:t>For both design and documentation, we usually need to present multiple views of the software architecture</a:t>
            </a:r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83C1608F-CC9E-4A53-B90A-BCEBCB3C79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993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889"/>
    </mc:Choice>
    <mc:Fallback>
      <p:transition spd="slow" advTm="418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Architectural Views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6" name="Picture 5" descr="6.3 Architectural views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384" y="1877595"/>
            <a:ext cx="5375755" cy="404461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4EA8DD43-DFBF-4662-8C14-06F9EE0E25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90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049"/>
    </mc:Choice>
    <mc:Fallback>
      <p:transition spd="slow" advTm="280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 + </a:t>
            </a:r>
            <a:r>
              <a:rPr lang="en-US"/>
              <a:t>1 View Model of Software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4582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Logical view</a:t>
            </a:r>
            <a:r>
              <a:rPr lang="en-US" dirty="0"/>
              <a:t> shows the key abstractions in the system as objects or object classes</a:t>
            </a:r>
            <a:endParaRPr lang="en-GB" dirty="0"/>
          </a:p>
          <a:p>
            <a:r>
              <a:rPr lang="en-US" b="1" dirty="0">
                <a:solidFill>
                  <a:srgbClr val="C00000"/>
                </a:solidFill>
              </a:rPr>
              <a:t>Process view</a:t>
            </a:r>
            <a:r>
              <a:rPr lang="en-US" dirty="0"/>
              <a:t> shows how, at run-time, the system is composed of interacting processes</a:t>
            </a:r>
            <a:endParaRPr lang="en-GB" dirty="0"/>
          </a:p>
          <a:p>
            <a:r>
              <a:rPr lang="en-US" b="1" dirty="0">
                <a:solidFill>
                  <a:srgbClr val="C00000"/>
                </a:solidFill>
              </a:rPr>
              <a:t>Development (or implementation) view</a:t>
            </a:r>
            <a:r>
              <a:rPr lang="en-US" dirty="0"/>
              <a:t> shows how the software is decomposed for development</a:t>
            </a:r>
            <a:endParaRPr lang="en-GB" dirty="0"/>
          </a:p>
          <a:p>
            <a:r>
              <a:rPr lang="en-US" b="1" dirty="0">
                <a:solidFill>
                  <a:srgbClr val="C00000"/>
                </a:solidFill>
              </a:rPr>
              <a:t>Physical (or deployment) view</a:t>
            </a:r>
            <a:r>
              <a:rPr lang="en-US" dirty="0"/>
              <a:t> shows the system hardware and how software components are distributed across the processors in the system</a:t>
            </a:r>
          </a:p>
          <a:p>
            <a:r>
              <a:rPr lang="en-US" dirty="0"/>
              <a:t>Related using </a:t>
            </a:r>
            <a:r>
              <a:rPr lang="en-US" b="1" dirty="0">
                <a:solidFill>
                  <a:srgbClr val="C00000"/>
                </a:solidFill>
              </a:rPr>
              <a:t>use cases or scenarios</a:t>
            </a:r>
            <a:r>
              <a:rPr lang="en-US" dirty="0"/>
              <a:t> (+1) </a:t>
            </a:r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11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BE9DB840-4B44-47F8-BED2-A6398F2EF3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297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379"/>
    </mc:Choice>
    <mc:Fallback>
      <p:transition spd="slow" advTm="473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UML Diagrams to Represent Architectural Views (4+1 View Model)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057400" y="1689820"/>
            <a:ext cx="8229600" cy="31684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0" y="4753575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prstClr val="black"/>
                </a:solidFill>
                <a:latin typeface="Calibri"/>
              </a:rPr>
              <a:t>Source: Kruchten (2000) in Arlow and Neustadt (2002)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2200" y="5434212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C00000"/>
                </a:solidFill>
                <a:latin typeface="Calibri"/>
              </a:rPr>
              <a:t>Note: Sommerville (2016) states implementation view as development view, while deployment view as physical view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12</a:t>
            </a:fld>
            <a:endParaRPr lang="en-US">
              <a:latin typeface="Calibri"/>
            </a:endParaRP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B1F5FFEA-C64F-490C-8559-66A50789E2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379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03"/>
    </mc:Choice>
    <mc:Fallback>
      <p:transition spd="slow" advTm="690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From Design to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/>
              <a:t>The key artefact of the implementation workflow from the point of view of the OO analyst or designer is the implementation model</a:t>
            </a:r>
          </a:p>
          <a:p>
            <a:r>
              <a:rPr lang="en-MY" dirty="0"/>
              <a:t>This model consists of </a:t>
            </a:r>
            <a:r>
              <a:rPr lang="en-MY" b="1" dirty="0">
                <a:solidFill>
                  <a:srgbClr val="C00000"/>
                </a:solidFill>
              </a:rPr>
              <a:t>2 types of diagram</a:t>
            </a:r>
            <a:r>
              <a:rPr lang="en-MY" dirty="0"/>
              <a:t>:</a:t>
            </a:r>
          </a:p>
          <a:p>
            <a:pPr lvl="1"/>
            <a:r>
              <a:rPr lang="en-MY" b="1" dirty="0">
                <a:solidFill>
                  <a:srgbClr val="C00000"/>
                </a:solidFill>
              </a:rPr>
              <a:t>Component diagram</a:t>
            </a:r>
            <a:r>
              <a:rPr lang="en-MY" dirty="0"/>
              <a:t>: models the dependencies between the software components that constitute the system</a:t>
            </a:r>
          </a:p>
          <a:p>
            <a:pPr lvl="1"/>
            <a:r>
              <a:rPr lang="en-MY" b="1" dirty="0">
                <a:solidFill>
                  <a:srgbClr val="C00000"/>
                </a:solidFill>
              </a:rPr>
              <a:t>Deployment diagram</a:t>
            </a:r>
            <a:r>
              <a:rPr lang="en-MY" dirty="0"/>
              <a:t>: models the physical computational nodes on which the software will be deployed, and the relationships between those nodes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5992947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>
                <a:solidFill>
                  <a:prstClr val="black"/>
                </a:solidFill>
                <a:latin typeface="Calibri"/>
              </a:rPr>
              <a:t>Source: Arlow and Neustadt (2002)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13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0C6305C-807A-43A3-8C10-3F9338CF7236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451880" y="4164480"/>
              <a:ext cx="9078120" cy="1845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0C6305C-807A-43A3-8C10-3F9338CF72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2520" y="4155120"/>
                <a:ext cx="9096840" cy="186372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EA3F8E38-F89C-40CB-8BD1-3C3E83731C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86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418"/>
    </mc:Choice>
    <mc:Fallback>
      <p:transition spd="slow" advTm="544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Relationship between Implementation Model and Design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800" dirty="0"/>
              <a:t>Implementation model is really just the implementation view of a design model i.e. it is part of the design model, see the relationship &lt;&lt;trace&gt;&gt;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Content Placeholder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3858" y="3018972"/>
            <a:ext cx="6926943" cy="31644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4114800"/>
            <a:ext cx="1600200" cy="118414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14</a:t>
            </a:fld>
            <a:endParaRPr lang="en-US">
              <a:latin typeface="Calibri"/>
            </a:endParaRP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CD54E43C-8ED7-4C77-AA11-21262472EB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145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555"/>
    </mc:Choice>
    <mc:Fallback>
      <p:transition spd="slow" advTm="255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/>
              <a:t>Relationship between Design Subsystems and Implementation Subsystems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800" dirty="0"/>
              <a:t>There is a one-to-one «trace» relationship between design subsystems and implementation subsystems</a:t>
            </a:r>
          </a:p>
          <a:p>
            <a:r>
              <a:rPr lang="en-MY" sz="2800" dirty="0"/>
              <a:t>Design subsystems contain </a:t>
            </a:r>
            <a:r>
              <a:rPr lang="en-MY" sz="2800" b="1" dirty="0">
                <a:solidFill>
                  <a:srgbClr val="C00000"/>
                </a:solidFill>
              </a:rPr>
              <a:t>design classes </a:t>
            </a:r>
            <a:r>
              <a:rPr lang="en-MY" sz="2800" dirty="0"/>
              <a:t>but implementation subsystems contain </a:t>
            </a:r>
            <a:r>
              <a:rPr lang="en-MY" sz="2800" b="1" dirty="0">
                <a:solidFill>
                  <a:srgbClr val="C00000"/>
                </a:solidFill>
              </a:rPr>
              <a:t>components that package those classes</a:t>
            </a:r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970" y="3886201"/>
            <a:ext cx="5735089" cy="253357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15</a:t>
            </a:fld>
            <a:endParaRPr lang="en-US">
              <a:latin typeface="Calibri"/>
            </a:endParaRP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1BFE750D-A9BC-49B0-AE42-9E055CEE0D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085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544"/>
    </mc:Choice>
    <mc:Fallback>
      <p:transition spd="slow" advTm="735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614</Words>
  <Application>Microsoft Office PowerPoint</Application>
  <PresentationFormat>Widescreen</PresentationFormat>
  <Paragraphs>100</Paragraphs>
  <Slides>15</Slides>
  <Notes>4</Notes>
  <HiddenSlides>0</HiddenSlides>
  <MMClips>15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1_Office Theme</vt:lpstr>
      <vt:lpstr>2_Office Theme</vt:lpstr>
      <vt:lpstr>Module 6: Architectural Design Part II</vt:lpstr>
      <vt:lpstr>Architectural design decision</vt:lpstr>
      <vt:lpstr>Architectural Design Decision</vt:lpstr>
      <vt:lpstr>Architectural Design Decision</vt:lpstr>
      <vt:lpstr>Architecture Reuse</vt:lpstr>
      <vt:lpstr>Architecture and System Characteristics (Non-Functional Requirements)</vt:lpstr>
      <vt:lpstr>PowerPoint Presentation</vt:lpstr>
      <vt:lpstr>Architectural view</vt:lpstr>
      <vt:lpstr>Architectural Views</vt:lpstr>
      <vt:lpstr>Architectural Views</vt:lpstr>
      <vt:lpstr>4 + 1 View Model of Software Architecture</vt:lpstr>
      <vt:lpstr>UML Diagrams to Represent Architectural Views (4+1 View Model)</vt:lpstr>
      <vt:lpstr>From Design to Implementation</vt:lpstr>
      <vt:lpstr>Relationship between Implementation Model and Design Model</vt:lpstr>
      <vt:lpstr>Relationship between Design Subsystems and Implementation Subsystems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Norsham Idris</dc:creator>
  <cp:lastModifiedBy>Norsham Idris</cp:lastModifiedBy>
  <cp:revision>5</cp:revision>
  <dcterms:created xsi:type="dcterms:W3CDTF">2020-04-12T21:30:35Z</dcterms:created>
  <dcterms:modified xsi:type="dcterms:W3CDTF">2020-04-13T04:54:05Z</dcterms:modified>
</cp:coreProperties>
</file>