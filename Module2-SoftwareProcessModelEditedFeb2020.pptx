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</p:sldMasterIdLst>
  <p:notesMasterIdLst>
    <p:notesMasterId r:id="rId62"/>
  </p:notesMasterIdLst>
  <p:sldIdLst>
    <p:sldId id="256" r:id="rId3"/>
    <p:sldId id="257" r:id="rId4"/>
    <p:sldId id="316" r:id="rId5"/>
    <p:sldId id="315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7" r:id="rId59"/>
    <p:sldId id="318" r:id="rId60"/>
    <p:sldId id="314" r:id="rId6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03" autoAdjust="0"/>
    <p:restoredTop sz="94660"/>
  </p:normalViewPr>
  <p:slideViewPr>
    <p:cSldViewPr>
      <p:cViewPr varScale="1">
        <p:scale>
          <a:sx n="70" d="100"/>
          <a:sy n="70" d="100"/>
        </p:scale>
        <p:origin x="136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tableStyles" Target="tableStyle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4453C5-5F93-4EDF-9717-DF2EC48773D7}" type="doc">
      <dgm:prSet loTypeId="urn:microsoft.com/office/officeart/2005/8/layout/process1" loCatId="process" qsTypeId="urn:microsoft.com/office/officeart/2005/8/quickstyle/simple1" qsCatId="simple" csTypeId="urn:microsoft.com/office/officeart/2005/8/colors/accent0_3" csCatId="mainScheme" phldr="1"/>
      <dgm:spPr/>
    </dgm:pt>
    <dgm:pt modelId="{18FCDE5B-713A-45C1-83E8-5B46EE0436A5}">
      <dgm:prSet phldrT="[Text]"/>
      <dgm:spPr/>
      <dgm:t>
        <a:bodyPr/>
        <a:lstStyle/>
        <a:p>
          <a:r>
            <a:rPr lang="en-MY"/>
            <a:t>Input</a:t>
          </a:r>
          <a:endParaRPr lang="en-MY" dirty="0"/>
        </a:p>
      </dgm:t>
    </dgm:pt>
    <dgm:pt modelId="{98FB92EF-A264-43D7-AA08-AA8E022BFDF1}" type="parTrans" cxnId="{7CB1828A-3793-428E-9854-22C635280369}">
      <dgm:prSet/>
      <dgm:spPr/>
      <dgm:t>
        <a:bodyPr/>
        <a:lstStyle/>
        <a:p>
          <a:endParaRPr lang="en-MY"/>
        </a:p>
      </dgm:t>
    </dgm:pt>
    <dgm:pt modelId="{03E38C03-6A5D-42D2-8332-A84BE2898550}" type="sibTrans" cxnId="{7CB1828A-3793-428E-9854-22C635280369}">
      <dgm:prSet/>
      <dgm:spPr/>
      <dgm:t>
        <a:bodyPr/>
        <a:lstStyle/>
        <a:p>
          <a:endParaRPr lang="en-MY"/>
        </a:p>
      </dgm:t>
    </dgm:pt>
    <dgm:pt modelId="{5538D5CE-36A3-4405-A158-06B52C3F3834}">
      <dgm:prSet phldrT="[Text]"/>
      <dgm:spPr>
        <a:solidFill>
          <a:srgbClr val="92D050"/>
        </a:solidFill>
      </dgm:spPr>
      <dgm:t>
        <a:bodyPr/>
        <a:lstStyle/>
        <a:p>
          <a:r>
            <a:rPr lang="en-MY" dirty="0"/>
            <a:t>PROCESS</a:t>
          </a:r>
        </a:p>
      </dgm:t>
    </dgm:pt>
    <dgm:pt modelId="{23B0D6B6-B462-433A-B3AB-CF264C592985}" type="parTrans" cxnId="{A95D9471-BD16-4AF8-AA73-291E69CD0FA1}">
      <dgm:prSet/>
      <dgm:spPr/>
      <dgm:t>
        <a:bodyPr/>
        <a:lstStyle/>
        <a:p>
          <a:endParaRPr lang="en-MY"/>
        </a:p>
      </dgm:t>
    </dgm:pt>
    <dgm:pt modelId="{7F23BBCC-9E8A-4C3B-9D3B-3BD70484C0AB}" type="sibTrans" cxnId="{A95D9471-BD16-4AF8-AA73-291E69CD0FA1}">
      <dgm:prSet/>
      <dgm:spPr/>
      <dgm:t>
        <a:bodyPr/>
        <a:lstStyle/>
        <a:p>
          <a:endParaRPr lang="en-MY"/>
        </a:p>
      </dgm:t>
    </dgm:pt>
    <dgm:pt modelId="{E069686A-FE9D-4E72-BB7F-339A78CDDF09}">
      <dgm:prSet phldrT="[Text]"/>
      <dgm:spPr/>
      <dgm:t>
        <a:bodyPr/>
        <a:lstStyle/>
        <a:p>
          <a:r>
            <a:rPr lang="en-MY"/>
            <a:t>Output</a:t>
          </a:r>
          <a:endParaRPr lang="en-MY" dirty="0"/>
        </a:p>
      </dgm:t>
    </dgm:pt>
    <dgm:pt modelId="{776697EA-33B1-495A-8606-AC0D16296FD3}" type="parTrans" cxnId="{0B10BBD6-E5D0-40A0-B364-C9B60CDB948A}">
      <dgm:prSet/>
      <dgm:spPr/>
      <dgm:t>
        <a:bodyPr/>
        <a:lstStyle/>
        <a:p>
          <a:endParaRPr lang="en-MY"/>
        </a:p>
      </dgm:t>
    </dgm:pt>
    <dgm:pt modelId="{BB688AD4-945D-4710-95F7-8FA1251D9182}" type="sibTrans" cxnId="{0B10BBD6-E5D0-40A0-B364-C9B60CDB948A}">
      <dgm:prSet/>
      <dgm:spPr/>
      <dgm:t>
        <a:bodyPr/>
        <a:lstStyle/>
        <a:p>
          <a:endParaRPr lang="en-MY"/>
        </a:p>
      </dgm:t>
    </dgm:pt>
    <dgm:pt modelId="{3C6F9A4F-FD4B-48D8-A374-3542CDF29EA6}" type="pres">
      <dgm:prSet presAssocID="{BF4453C5-5F93-4EDF-9717-DF2EC48773D7}" presName="Name0" presStyleCnt="0">
        <dgm:presLayoutVars>
          <dgm:dir/>
          <dgm:resizeHandles val="exact"/>
        </dgm:presLayoutVars>
      </dgm:prSet>
      <dgm:spPr/>
    </dgm:pt>
    <dgm:pt modelId="{6322D275-D588-41CD-9304-896F8B62A90E}" type="pres">
      <dgm:prSet presAssocID="{18FCDE5B-713A-45C1-83E8-5B46EE0436A5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MY"/>
        </a:p>
      </dgm:t>
    </dgm:pt>
    <dgm:pt modelId="{22628575-CBBA-42E0-98D8-505DCC143450}" type="pres">
      <dgm:prSet presAssocID="{03E38C03-6A5D-42D2-8332-A84BE2898550}" presName="sibTrans" presStyleLbl="sibTrans2D1" presStyleIdx="0" presStyleCnt="2"/>
      <dgm:spPr/>
      <dgm:t>
        <a:bodyPr/>
        <a:lstStyle/>
        <a:p>
          <a:endParaRPr lang="en-MY"/>
        </a:p>
      </dgm:t>
    </dgm:pt>
    <dgm:pt modelId="{8B3682A6-F5F9-4B2F-991F-B42B2FCF7EDC}" type="pres">
      <dgm:prSet presAssocID="{03E38C03-6A5D-42D2-8332-A84BE2898550}" presName="connectorText" presStyleLbl="sibTrans2D1" presStyleIdx="0" presStyleCnt="2"/>
      <dgm:spPr/>
      <dgm:t>
        <a:bodyPr/>
        <a:lstStyle/>
        <a:p>
          <a:endParaRPr lang="en-MY"/>
        </a:p>
      </dgm:t>
    </dgm:pt>
    <dgm:pt modelId="{CF5B39B0-E7FB-4592-9AB7-758833FC85D7}" type="pres">
      <dgm:prSet presAssocID="{5538D5CE-36A3-4405-A158-06B52C3F3834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MY"/>
        </a:p>
      </dgm:t>
    </dgm:pt>
    <dgm:pt modelId="{6B6C1476-F7AF-4011-A716-7DF80592E28D}" type="pres">
      <dgm:prSet presAssocID="{7F23BBCC-9E8A-4C3B-9D3B-3BD70484C0AB}" presName="sibTrans" presStyleLbl="sibTrans2D1" presStyleIdx="1" presStyleCnt="2"/>
      <dgm:spPr/>
      <dgm:t>
        <a:bodyPr/>
        <a:lstStyle/>
        <a:p>
          <a:endParaRPr lang="en-MY"/>
        </a:p>
      </dgm:t>
    </dgm:pt>
    <dgm:pt modelId="{00C73888-D49F-462B-8850-030B17F9AC1D}" type="pres">
      <dgm:prSet presAssocID="{7F23BBCC-9E8A-4C3B-9D3B-3BD70484C0AB}" presName="connectorText" presStyleLbl="sibTrans2D1" presStyleIdx="1" presStyleCnt="2"/>
      <dgm:spPr/>
      <dgm:t>
        <a:bodyPr/>
        <a:lstStyle/>
        <a:p>
          <a:endParaRPr lang="en-MY"/>
        </a:p>
      </dgm:t>
    </dgm:pt>
    <dgm:pt modelId="{698A4B44-F027-49E4-ABCC-A061D54B7BDC}" type="pres">
      <dgm:prSet presAssocID="{E069686A-FE9D-4E72-BB7F-339A78CDDF09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MY"/>
        </a:p>
      </dgm:t>
    </dgm:pt>
  </dgm:ptLst>
  <dgm:cxnLst>
    <dgm:cxn modelId="{A95D9471-BD16-4AF8-AA73-291E69CD0FA1}" srcId="{BF4453C5-5F93-4EDF-9717-DF2EC48773D7}" destId="{5538D5CE-36A3-4405-A158-06B52C3F3834}" srcOrd="1" destOrd="0" parTransId="{23B0D6B6-B462-433A-B3AB-CF264C592985}" sibTransId="{7F23BBCC-9E8A-4C3B-9D3B-3BD70484C0AB}"/>
    <dgm:cxn modelId="{5E06281E-BF48-40FA-8A6D-03076DA341E6}" type="presOf" srcId="{5538D5CE-36A3-4405-A158-06B52C3F3834}" destId="{CF5B39B0-E7FB-4592-9AB7-758833FC85D7}" srcOrd="0" destOrd="0" presId="urn:microsoft.com/office/officeart/2005/8/layout/process1"/>
    <dgm:cxn modelId="{1BB24143-93F3-4EC9-89DF-25FB8519861C}" type="presOf" srcId="{7F23BBCC-9E8A-4C3B-9D3B-3BD70484C0AB}" destId="{6B6C1476-F7AF-4011-A716-7DF80592E28D}" srcOrd="0" destOrd="0" presId="urn:microsoft.com/office/officeart/2005/8/layout/process1"/>
    <dgm:cxn modelId="{DDC3E497-8192-47C4-BCD5-B41AABA282F4}" type="presOf" srcId="{BF4453C5-5F93-4EDF-9717-DF2EC48773D7}" destId="{3C6F9A4F-FD4B-48D8-A374-3542CDF29EA6}" srcOrd="0" destOrd="0" presId="urn:microsoft.com/office/officeart/2005/8/layout/process1"/>
    <dgm:cxn modelId="{7CB1828A-3793-428E-9854-22C635280369}" srcId="{BF4453C5-5F93-4EDF-9717-DF2EC48773D7}" destId="{18FCDE5B-713A-45C1-83E8-5B46EE0436A5}" srcOrd="0" destOrd="0" parTransId="{98FB92EF-A264-43D7-AA08-AA8E022BFDF1}" sibTransId="{03E38C03-6A5D-42D2-8332-A84BE2898550}"/>
    <dgm:cxn modelId="{1C5680B1-9203-4714-B989-1D0EAFD82B34}" type="presOf" srcId="{7F23BBCC-9E8A-4C3B-9D3B-3BD70484C0AB}" destId="{00C73888-D49F-462B-8850-030B17F9AC1D}" srcOrd="1" destOrd="0" presId="urn:microsoft.com/office/officeart/2005/8/layout/process1"/>
    <dgm:cxn modelId="{0B10BBD6-E5D0-40A0-B364-C9B60CDB948A}" srcId="{BF4453C5-5F93-4EDF-9717-DF2EC48773D7}" destId="{E069686A-FE9D-4E72-BB7F-339A78CDDF09}" srcOrd="2" destOrd="0" parTransId="{776697EA-33B1-495A-8606-AC0D16296FD3}" sibTransId="{BB688AD4-945D-4710-95F7-8FA1251D9182}"/>
    <dgm:cxn modelId="{D5E2C195-6282-4254-8170-D309BF90C708}" type="presOf" srcId="{18FCDE5B-713A-45C1-83E8-5B46EE0436A5}" destId="{6322D275-D588-41CD-9304-896F8B62A90E}" srcOrd="0" destOrd="0" presId="urn:microsoft.com/office/officeart/2005/8/layout/process1"/>
    <dgm:cxn modelId="{C9564B6F-0E74-4AA7-9EA2-6B6181EAB238}" type="presOf" srcId="{E069686A-FE9D-4E72-BB7F-339A78CDDF09}" destId="{698A4B44-F027-49E4-ABCC-A061D54B7BDC}" srcOrd="0" destOrd="0" presId="urn:microsoft.com/office/officeart/2005/8/layout/process1"/>
    <dgm:cxn modelId="{FA4EE25B-A7EE-4504-9DFA-ADBA3A3F65D6}" type="presOf" srcId="{03E38C03-6A5D-42D2-8332-A84BE2898550}" destId="{8B3682A6-F5F9-4B2F-991F-B42B2FCF7EDC}" srcOrd="1" destOrd="0" presId="urn:microsoft.com/office/officeart/2005/8/layout/process1"/>
    <dgm:cxn modelId="{FE731A93-A72B-401B-9251-10A725FE980E}" type="presOf" srcId="{03E38C03-6A5D-42D2-8332-A84BE2898550}" destId="{22628575-CBBA-42E0-98D8-505DCC143450}" srcOrd="0" destOrd="0" presId="urn:microsoft.com/office/officeart/2005/8/layout/process1"/>
    <dgm:cxn modelId="{2D18617F-611A-4056-A751-339CF9EC686C}" type="presParOf" srcId="{3C6F9A4F-FD4B-48D8-A374-3542CDF29EA6}" destId="{6322D275-D588-41CD-9304-896F8B62A90E}" srcOrd="0" destOrd="0" presId="urn:microsoft.com/office/officeart/2005/8/layout/process1"/>
    <dgm:cxn modelId="{9B37F205-0AEC-473E-B1DE-7E8091CB295F}" type="presParOf" srcId="{3C6F9A4F-FD4B-48D8-A374-3542CDF29EA6}" destId="{22628575-CBBA-42E0-98D8-505DCC143450}" srcOrd="1" destOrd="0" presId="urn:microsoft.com/office/officeart/2005/8/layout/process1"/>
    <dgm:cxn modelId="{DCA97D79-BC56-4476-9048-F55D94AFD15A}" type="presParOf" srcId="{22628575-CBBA-42E0-98D8-505DCC143450}" destId="{8B3682A6-F5F9-4B2F-991F-B42B2FCF7EDC}" srcOrd="0" destOrd="0" presId="urn:microsoft.com/office/officeart/2005/8/layout/process1"/>
    <dgm:cxn modelId="{6E961FC3-FF21-4893-B57F-5B4DC37FCAD6}" type="presParOf" srcId="{3C6F9A4F-FD4B-48D8-A374-3542CDF29EA6}" destId="{CF5B39B0-E7FB-4592-9AB7-758833FC85D7}" srcOrd="2" destOrd="0" presId="urn:microsoft.com/office/officeart/2005/8/layout/process1"/>
    <dgm:cxn modelId="{9251ACFF-27E3-465A-9C35-F5043480D114}" type="presParOf" srcId="{3C6F9A4F-FD4B-48D8-A374-3542CDF29EA6}" destId="{6B6C1476-F7AF-4011-A716-7DF80592E28D}" srcOrd="3" destOrd="0" presId="urn:microsoft.com/office/officeart/2005/8/layout/process1"/>
    <dgm:cxn modelId="{07825B80-BDD9-4D68-BC33-9E3B0DFCF152}" type="presParOf" srcId="{6B6C1476-F7AF-4011-A716-7DF80592E28D}" destId="{00C73888-D49F-462B-8850-030B17F9AC1D}" srcOrd="0" destOrd="0" presId="urn:microsoft.com/office/officeart/2005/8/layout/process1"/>
    <dgm:cxn modelId="{0669A8E7-E3EB-481C-9F4D-689DF0952792}" type="presParOf" srcId="{3C6F9A4F-FD4B-48D8-A374-3542CDF29EA6}" destId="{698A4B44-F027-49E4-ABCC-A061D54B7BDC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ED72AD-98F2-48AA-9584-1CD8673FAED1}" type="datetimeFigureOut">
              <a:rPr lang="en-US" smtClean="0"/>
              <a:pPr/>
              <a:t>2/17/2020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18F6A6-5BDF-41D7-9B84-3DCB4D0C04F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00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18F6A6-5BDF-41D7-9B84-3DCB4D0C04F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4091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3C3B8A7-7F54-4E01-A0DC-C0B1ACB08BB1}" type="slidenum">
              <a:rPr lang="en-US" altLang="en-US">
                <a:solidFill>
                  <a:srgbClr val="000000"/>
                </a:solidFill>
              </a:rPr>
              <a:pPr/>
              <a:t>4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94064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18F6A6-5BDF-41D7-9B84-3DCB4D0C04F4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0560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18F6A6-5BDF-41D7-9B84-3DCB4D0C04F4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264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heme" Target="../theme/theme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747" y="6487366"/>
            <a:ext cx="9131300" cy="35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19"/>
          <p:cNvSpPr>
            <a:spLocks noChangeArrowheads="1"/>
          </p:cNvSpPr>
          <p:nvPr userDrawn="1"/>
        </p:nvSpPr>
        <p:spPr bwMode="auto">
          <a:xfrm>
            <a:off x="0" y="0"/>
            <a:ext cx="9144000" cy="1417638"/>
          </a:xfrm>
          <a:prstGeom prst="rect">
            <a:avLst/>
          </a:prstGeom>
          <a:solidFill>
            <a:srgbClr val="FFE1A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pitchFamily="-112" charset="-128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10" name="Picture 20" descr="header_UTM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63500" y="106363"/>
            <a:ext cx="1195388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22" descr="header_url"/>
          <p:cNvPicPr>
            <a:picLocks noChangeAspect="1" noChangeArrowheads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1169894"/>
            <a:ext cx="2376488" cy="255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ysClr val="windowText" lastClr="000000"/>
                </a:solidFill>
              </a:defRPr>
            </a:lvl1pPr>
          </a:lstStyle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 txBox="1">
            <a:spLocks/>
          </p:cNvSpPr>
          <p:nvPr userDrawn="1"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5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Terima Kasih</a:t>
            </a:r>
          </a:p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atas keprihatinan anda</a:t>
            </a:r>
          </a:p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askerville Old Face" pitchFamily="18" charset="0"/>
                <a:ea typeface="+mn-ea"/>
                <a:cs typeface="+mn-cs"/>
              </a:rPr>
              <a:t>“I Care, You Care, We Care”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Baskerville Old Face" pitchFamily="18" charset="0"/>
              <a:ea typeface="+mn-ea"/>
              <a:cs typeface="+mn-cs"/>
            </a:endParaRPr>
          </a:p>
        </p:txBody>
      </p:sp>
      <p:pic>
        <p:nvPicPr>
          <p:cNvPr id="13" name="Picture 10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747" y="6487366"/>
            <a:ext cx="9131300" cy="35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600451"/>
            <a:ext cx="15476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2020</a:t>
            </a:r>
            <a:endParaRPr lang="en-US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16416" y="6600451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C038A795-CA2C-4B96-A1E0-C7053193AE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6" name="Rectangle 19"/>
          <p:cNvSpPr>
            <a:spLocks noChangeArrowheads="1"/>
          </p:cNvSpPr>
          <p:nvPr userDrawn="1"/>
        </p:nvSpPr>
        <p:spPr bwMode="auto">
          <a:xfrm>
            <a:off x="0" y="0"/>
            <a:ext cx="9144000" cy="1417638"/>
          </a:xfrm>
          <a:prstGeom prst="rect">
            <a:avLst/>
          </a:prstGeom>
          <a:solidFill>
            <a:srgbClr val="FFE1A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pitchFamily="-112" charset="-128"/>
            </a:endParaRPr>
          </a:p>
        </p:txBody>
      </p:sp>
      <p:pic>
        <p:nvPicPr>
          <p:cNvPr id="17" name="Picture 20" descr="header_UTM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500" y="106363"/>
            <a:ext cx="1195388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Picture 22" descr="header_url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1009650"/>
            <a:ext cx="2376488" cy="388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Picture 7"/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873008" y="53788"/>
            <a:ext cx="580837" cy="4381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8" descr="PNG_newlogo"/>
          <p:cNvPicPr>
            <a:picLocks noChangeAspect="1" noChangeArrowheads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354633" y="26894"/>
            <a:ext cx="504056" cy="477366"/>
          </a:xfrm>
          <a:prstGeom prst="rect">
            <a:avLst/>
          </a:prstGeom>
          <a:noFill/>
          <a:ln w="9525" algn="in">
            <a:noFill/>
            <a:miter lim="800000"/>
            <a:headEnd/>
            <a:tailEnd/>
          </a:ln>
        </p:spPr>
      </p:pic>
      <p:sp>
        <p:nvSpPr>
          <p:cNvPr id="2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81520" y="6647328"/>
            <a:ext cx="4704928" cy="365125"/>
          </a:xfrm>
          <a:prstGeom prst="rect">
            <a:avLst/>
          </a:prstGeom>
        </p:spPr>
        <p:txBody>
          <a:bodyPr/>
          <a:lstStyle>
            <a:lvl1pPr algn="ctr">
              <a:defRPr sz="1100"/>
            </a:lvl1pPr>
          </a:lstStyle>
          <a:p>
            <a:pPr>
              <a:defRPr/>
            </a:pPr>
            <a:r>
              <a:rPr lang="en-US"/>
              <a:t>Software Engineering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Module 2</a:t>
            </a:r>
            <a:r>
              <a:rPr lang="en-US" dirty="0"/>
              <a:t>: </a:t>
            </a:r>
            <a:r>
              <a:rPr lang="en-US"/>
              <a:t>Software Process Model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en-US" sz="4000" dirty="0">
                <a:solidFill>
                  <a:schemeClr val="tx2"/>
                </a:solidFill>
              </a:rPr>
              <a:t>Software Engineering</a:t>
            </a:r>
          </a:p>
          <a:p>
            <a:r>
              <a:rPr lang="en-US" sz="2800" dirty="0"/>
              <a:t>School of Computing, Faculty of Engineering</a:t>
            </a:r>
          </a:p>
          <a:p>
            <a:r>
              <a:rPr lang="en-US" sz="2800" dirty="0" err="1"/>
              <a:t>Universiti</a:t>
            </a:r>
            <a:r>
              <a:rPr lang="en-US" sz="2800" dirty="0"/>
              <a:t> </a:t>
            </a:r>
            <a:r>
              <a:rPr lang="en-US" sz="2800" dirty="0" err="1"/>
              <a:t>Teknologi</a:t>
            </a:r>
            <a:r>
              <a:rPr lang="en-US" sz="2800" dirty="0"/>
              <a:t> Malaysia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/>
              <a:t>Software process, software process models  </a:t>
            </a:r>
          </a:p>
          <a:p>
            <a:r>
              <a:rPr lang="en-GB"/>
              <a:t>Plan-driven and Agile process</a:t>
            </a:r>
          </a:p>
          <a:p>
            <a:r>
              <a:rPr lang="en-GB"/>
              <a:t>Waterfall model</a:t>
            </a:r>
          </a:p>
          <a:p>
            <a:r>
              <a:rPr lang="en-GB"/>
              <a:t>Incremental model</a:t>
            </a:r>
          </a:p>
          <a:p>
            <a:r>
              <a:rPr lang="en-GB"/>
              <a:t>Reuse-oriented software engineering</a:t>
            </a:r>
            <a:endParaRPr lang="en-GB" dirty="0"/>
          </a:p>
          <a:p>
            <a:r>
              <a:rPr lang="en-GB"/>
              <a:t>Spiral model: coping with </a:t>
            </a:r>
            <a:r>
              <a:rPr lang="en-GB" dirty="0"/>
              <a:t>change</a:t>
            </a:r>
          </a:p>
          <a:p>
            <a:r>
              <a:rPr lang="en-GB" dirty="0"/>
              <a:t>The Rational Unified Process (</a:t>
            </a:r>
            <a:r>
              <a:rPr lang="en-GB"/>
              <a:t>RUP)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46315" y="5764087"/>
            <a:ext cx="83928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C00000"/>
                </a:solidFill>
              </a:rPr>
              <a:t>Note: The overall contents of the slide are based on the main reference that is Sommerville (2016) with other references specified directly in respective slides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MY"/>
              <a:t>The objectives of this module are:</a:t>
            </a:r>
          </a:p>
          <a:p>
            <a:r>
              <a:rPr lang="en-MY"/>
              <a:t>To understand software process, its activities and diverse software process models</a:t>
            </a:r>
          </a:p>
          <a:p>
            <a:r>
              <a:rPr lang="en-MY"/>
              <a:t>To recognise the relation between plan-driven and Agile process</a:t>
            </a:r>
          </a:p>
          <a:p>
            <a:r>
              <a:rPr lang="en-MY"/>
              <a:t>To differentiate the differences among software process models and their uses</a:t>
            </a:r>
          </a:p>
          <a:p>
            <a:r>
              <a:rPr lang="en-MY"/>
              <a:t>To understand spiral model for coping changes and the Rational Unified Process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113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Recap: </a:t>
            </a:r>
            <a:r>
              <a:rPr lang="en-US" dirty="0"/>
              <a:t>What is Software Engineering?</a:t>
            </a:r>
          </a:p>
        </p:txBody>
      </p:sp>
      <p:pic>
        <p:nvPicPr>
          <p:cNvPr id="18435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1978025"/>
            <a:ext cx="4267200" cy="3581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572000" y="1469184"/>
            <a:ext cx="4343400" cy="4233116"/>
          </a:xfrm>
        </p:spPr>
        <p:txBody>
          <a:bodyPr rtlCol="0">
            <a:normAutofit fontScale="25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7200" b="1" dirty="0">
                <a:solidFill>
                  <a:schemeClr val="accent1">
                    <a:lumMod val="75000"/>
                  </a:schemeClr>
                </a:solidFill>
              </a:rPr>
              <a:t>Quality Focus: </a:t>
            </a:r>
            <a:r>
              <a:rPr lang="en-US" sz="7200" dirty="0"/>
              <a:t>The bedrock that supports software engineering is quality focus where it ensures continuous process improvement culture.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7200" b="1" dirty="0">
                <a:solidFill>
                  <a:schemeClr val="accent1">
                    <a:lumMod val="75000"/>
                  </a:schemeClr>
                </a:solidFill>
              </a:rPr>
              <a:t>Process :</a:t>
            </a:r>
            <a:r>
              <a:rPr lang="en-US" sz="7200" dirty="0"/>
              <a:t>Foundation for software engineering which enables rational and timely development of computer software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7200" b="1" dirty="0">
                <a:solidFill>
                  <a:schemeClr val="accent1">
                    <a:lumMod val="75000"/>
                  </a:schemeClr>
                </a:solidFill>
              </a:rPr>
              <a:t>Methods:</a:t>
            </a:r>
            <a:r>
              <a:rPr lang="en-US" sz="7200" dirty="0"/>
              <a:t> provide technical how </a:t>
            </a:r>
            <a:r>
              <a:rPr lang="en-US" sz="7200" dirty="0" err="1"/>
              <a:t>to’s</a:t>
            </a:r>
            <a:r>
              <a:rPr lang="en-US" sz="7200" dirty="0"/>
              <a:t> for building software. Involve different tasks including requirements analysis, design, program construction, testing and support. Methods also include modeling activities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7200" b="1" dirty="0">
                <a:solidFill>
                  <a:schemeClr val="accent1">
                    <a:lumMod val="75000"/>
                  </a:schemeClr>
                </a:solidFill>
              </a:rPr>
              <a:t>Tools: </a:t>
            </a:r>
            <a:r>
              <a:rPr lang="en-US" sz="7200" dirty="0"/>
              <a:t>provide automated or semi-automated support for the process and methods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437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000000"/>
                </a:solidFill>
              </a:rPr>
              <a:t>2020</a:t>
            </a:r>
          </a:p>
        </p:txBody>
      </p:sp>
      <p:sp>
        <p:nvSpPr>
          <p:cNvPr id="18438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000000"/>
                </a:solidFill>
              </a:rPr>
              <a:t>Software Engineering</a:t>
            </a:r>
          </a:p>
        </p:txBody>
      </p:sp>
      <p:sp>
        <p:nvSpPr>
          <p:cNvPr id="18439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DED182C-B0D1-4E61-A7A6-676D210D25FE}" type="slidenum">
              <a:rPr lang="en-US" altLang="en-US">
                <a:solidFill>
                  <a:srgbClr val="000000"/>
                </a:solidFill>
              </a:rPr>
              <a:pPr/>
              <a:t>4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100" y="5684838"/>
            <a:ext cx="8915400" cy="862012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9144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rgbClr val="FF0000"/>
                </a:solidFill>
                <a:latin typeface="Calibri"/>
                <a:ea typeface="+mn-ea"/>
              </a:rPr>
              <a:t>Source:</a:t>
            </a:r>
          </a:p>
          <a:p>
            <a:pPr defTabSz="9144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1600" i="1" dirty="0">
                <a:solidFill>
                  <a:srgbClr val="FF0000"/>
                </a:solidFill>
                <a:latin typeface="Calibri"/>
                <a:ea typeface="ＭＳ Ｐゴシック"/>
              </a:rPr>
              <a:t>Agarwal, U. (2012).  Software Engineering, </a:t>
            </a:r>
            <a:r>
              <a:rPr lang="en-US" altLang="ja-JP" sz="1600" i="1" dirty="0" err="1">
                <a:solidFill>
                  <a:srgbClr val="FF0000"/>
                </a:solidFill>
                <a:latin typeface="Calibri"/>
                <a:ea typeface="ＭＳ Ｐゴシック"/>
              </a:rPr>
              <a:t>Kataria</a:t>
            </a:r>
            <a:r>
              <a:rPr lang="en-US" altLang="ja-JP" sz="1600" i="1" dirty="0">
                <a:solidFill>
                  <a:srgbClr val="FF0000"/>
                </a:solidFill>
                <a:latin typeface="Calibri"/>
                <a:ea typeface="ＭＳ Ｐゴシック"/>
              </a:rPr>
              <a:t> and Sons. </a:t>
            </a:r>
            <a:endParaRPr lang="en-US" sz="1600" dirty="0">
              <a:solidFill>
                <a:srgbClr val="FF0000"/>
              </a:solidFill>
              <a:latin typeface="Calibri"/>
              <a:ea typeface="+mn-ea"/>
            </a:endParaRPr>
          </a:p>
          <a:p>
            <a:pPr defTabSz="9144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i="1" dirty="0">
                <a:solidFill>
                  <a:srgbClr val="FF0000"/>
                </a:solidFill>
                <a:latin typeface="Calibri"/>
                <a:ea typeface="+mn-ea"/>
              </a:rPr>
              <a:t>http://sesolution.blogspot.my/p/software-engineering-layered-technology.html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1552575"/>
            <a:ext cx="4495800" cy="8318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9144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prstClr val="black"/>
                </a:solidFill>
                <a:latin typeface="Calibri"/>
                <a:ea typeface="+mn-ea"/>
              </a:rPr>
              <a:t>Software Engineering as Layered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5458125"/>
            <a:ext cx="4381500" cy="52322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defTabSz="9144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prstClr val="black"/>
                </a:solidFill>
                <a:latin typeface="Calibri"/>
                <a:ea typeface="+mn-ea"/>
              </a:rPr>
              <a:t>** The layered technology will be the focus in this lecture and throughout </a:t>
            </a:r>
            <a:r>
              <a:rPr lang="en-US" sz="1400">
                <a:solidFill>
                  <a:prstClr val="black"/>
                </a:solidFill>
                <a:latin typeface="Calibri"/>
                <a:ea typeface="+mn-ea"/>
              </a:rPr>
              <a:t>the semester</a:t>
            </a:r>
            <a:endParaRPr lang="en-US" sz="1400" dirty="0">
              <a:solidFill>
                <a:prstClr val="black"/>
              </a:solidFill>
              <a:latin typeface="Calibri"/>
              <a:ea typeface="+mn-ea"/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152400" y="4149725"/>
            <a:ext cx="458788" cy="0"/>
          </a:xfrm>
          <a:prstGeom prst="straightConnector1">
            <a:avLst/>
          </a:prstGeom>
          <a:ln w="5715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44" name="TextBox 11"/>
          <p:cNvSpPr txBox="1">
            <a:spLocks noChangeArrowheads="1"/>
          </p:cNvSpPr>
          <p:nvPr/>
        </p:nvSpPr>
        <p:spPr bwMode="auto">
          <a:xfrm>
            <a:off x="38100" y="3644900"/>
            <a:ext cx="819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/>
              <a:t>Focus</a:t>
            </a:r>
          </a:p>
        </p:txBody>
      </p:sp>
    </p:spTree>
    <p:extLst>
      <p:ext uri="{BB962C8B-B14F-4D97-AF65-F5344CB8AC3E}">
        <p14:creationId xmlns:p14="http://schemas.microsoft.com/office/powerpoint/2010/main" val="4155089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Role of Process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sz="2800" dirty="0"/>
              <a:t>Even the finest </a:t>
            </a:r>
            <a:r>
              <a:rPr lang="en-US" sz="2800"/>
              <a:t>people canno</a:t>
            </a:r>
            <a:r>
              <a:rPr lang="en-US" altLang="ja-JP" sz="2800"/>
              <a:t>t </a:t>
            </a:r>
            <a:r>
              <a:rPr lang="en-US" altLang="ja-JP" sz="2800" dirty="0"/>
              <a:t>perform at their best when the process is not understood or operating at its best</a:t>
            </a:r>
            <a:endParaRPr lang="en-US" sz="2800" dirty="0"/>
          </a:p>
          <a:p>
            <a:pPr marL="0" indent="0">
              <a:buNone/>
            </a:pPr>
            <a:endParaRPr lang="en-MY" dirty="0"/>
          </a:p>
          <a:p>
            <a:pPr marL="0" indent="0">
              <a:buNone/>
            </a:pP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3276600"/>
            <a:ext cx="4100513" cy="270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04800" y="6248400"/>
            <a:ext cx="2667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/>
            <a:r>
              <a:rPr lang="en-US" sz="1400" b="1" i="1" dirty="0">
                <a:solidFill>
                  <a:srgbClr val="4C4C4C"/>
                </a:solidFill>
                <a:latin typeface="Helvetica" panose="020B0604020202020204" pitchFamily="34" charset="0"/>
                <a:sym typeface="Helvetica" panose="020B0604020202020204" pitchFamily="34" charset="0"/>
              </a:rPr>
              <a:t>©2009 J. L. </a:t>
            </a:r>
            <a:r>
              <a:rPr lang="en-US" sz="1400" b="1" i="1" dirty="0" err="1">
                <a:solidFill>
                  <a:srgbClr val="4C4C4C"/>
                </a:solidFill>
                <a:latin typeface="Helvetica" panose="020B0604020202020204" pitchFamily="34" charset="0"/>
                <a:sym typeface="Helvetica" panose="020B0604020202020204" pitchFamily="34" charset="0"/>
              </a:rPr>
              <a:t>Díaz</a:t>
            </a:r>
            <a:r>
              <a:rPr lang="en-US" sz="1400" b="1" i="1" dirty="0">
                <a:solidFill>
                  <a:srgbClr val="4C4C4C"/>
                </a:solidFill>
                <a:latin typeface="Helvetica" panose="020B0604020202020204" pitchFamily="34" charset="0"/>
                <a:sym typeface="Helvetica" panose="020B0604020202020204" pitchFamily="34" charset="0"/>
              </a:rPr>
              <a:t>-Herrera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566724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Software Process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sz="2400" dirty="0"/>
              <a:t>A structured set of activities required to develop a </a:t>
            </a:r>
            <a:br>
              <a:rPr lang="en-GB" sz="2400" dirty="0"/>
            </a:br>
            <a:r>
              <a:rPr lang="en-GB" sz="2400" dirty="0"/>
              <a:t>software system</a:t>
            </a:r>
          </a:p>
          <a:p>
            <a:pPr algn="just"/>
            <a:r>
              <a:rPr lang="en-GB" sz="2400" dirty="0"/>
              <a:t>Many different software processes but all involve (SDIVE):</a:t>
            </a:r>
          </a:p>
          <a:p>
            <a:pPr lvl="1" algn="just"/>
            <a:r>
              <a:rPr lang="en-GB" sz="2000" b="1" dirty="0">
                <a:solidFill>
                  <a:srgbClr val="C00000"/>
                </a:solidFill>
              </a:rPr>
              <a:t>S</a:t>
            </a:r>
            <a:r>
              <a:rPr lang="en-GB" sz="2000" dirty="0"/>
              <a:t>pecification – defining what the system should do</a:t>
            </a:r>
          </a:p>
          <a:p>
            <a:pPr lvl="1" algn="just"/>
            <a:r>
              <a:rPr lang="en-GB" sz="2000" b="1" dirty="0">
                <a:solidFill>
                  <a:srgbClr val="C00000"/>
                </a:solidFill>
              </a:rPr>
              <a:t>D</a:t>
            </a:r>
            <a:r>
              <a:rPr lang="en-GB" sz="2000" dirty="0"/>
              <a:t>esign and </a:t>
            </a:r>
            <a:r>
              <a:rPr lang="en-GB" sz="2000" b="1" dirty="0">
                <a:solidFill>
                  <a:srgbClr val="C00000"/>
                </a:solidFill>
              </a:rPr>
              <a:t>I</a:t>
            </a:r>
            <a:r>
              <a:rPr lang="en-GB" sz="2000" dirty="0"/>
              <a:t>mplementation – defining the organization of the system and implementing the system</a:t>
            </a:r>
          </a:p>
          <a:p>
            <a:pPr lvl="1" algn="just"/>
            <a:r>
              <a:rPr lang="en-GB" sz="2000" b="1" dirty="0">
                <a:solidFill>
                  <a:srgbClr val="C00000"/>
                </a:solidFill>
              </a:rPr>
              <a:t>V</a:t>
            </a:r>
            <a:r>
              <a:rPr lang="en-GB" sz="2000" dirty="0"/>
              <a:t>alidation – checking that it does what the customer wants</a:t>
            </a:r>
          </a:p>
          <a:p>
            <a:pPr lvl="1" algn="just"/>
            <a:r>
              <a:rPr lang="en-GB" sz="2000" b="1" dirty="0">
                <a:solidFill>
                  <a:srgbClr val="C00000"/>
                </a:solidFill>
              </a:rPr>
              <a:t>E</a:t>
            </a:r>
            <a:r>
              <a:rPr lang="en-GB" sz="2000" dirty="0"/>
              <a:t>volution – changing the system in response to changing customer needs</a:t>
            </a:r>
          </a:p>
          <a:p>
            <a:pPr algn="just"/>
            <a:r>
              <a:rPr lang="en-GB" sz="2400" dirty="0"/>
              <a:t>A software process </a:t>
            </a:r>
            <a:r>
              <a:rPr lang="en-GB" sz="2400" b="1" dirty="0">
                <a:solidFill>
                  <a:srgbClr val="C00000"/>
                </a:solidFill>
              </a:rPr>
              <a:t>model</a:t>
            </a:r>
            <a:r>
              <a:rPr lang="en-GB" sz="2400" dirty="0"/>
              <a:t> is an abstract representation of a process. It presents a description of a process from some particular perspectives.</a:t>
            </a:r>
          </a:p>
          <a:p>
            <a:pPr marL="0" indent="0" algn="just">
              <a:buNone/>
            </a:pP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81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Process Descriptions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n-GB" dirty="0"/>
              <a:t>When we describe and discuss processes, we usually talk about the </a:t>
            </a:r>
            <a:r>
              <a:rPr lang="en-GB" b="1" dirty="0">
                <a:solidFill>
                  <a:srgbClr val="C00000"/>
                </a:solidFill>
              </a:rPr>
              <a:t>activities in these processes </a:t>
            </a:r>
            <a:r>
              <a:rPr lang="en-GB" dirty="0"/>
              <a:t>such as specifying a data model, designing a user interface and the ordering of these activities</a:t>
            </a:r>
          </a:p>
          <a:p>
            <a:pPr algn="just"/>
            <a:r>
              <a:rPr lang="en-GB" dirty="0"/>
              <a:t>Process descriptions may also include:</a:t>
            </a:r>
          </a:p>
          <a:p>
            <a:pPr lvl="1" algn="just"/>
            <a:r>
              <a:rPr lang="en-GB" b="1" dirty="0">
                <a:solidFill>
                  <a:srgbClr val="C00000"/>
                </a:solidFill>
              </a:rPr>
              <a:t>Products</a:t>
            </a:r>
            <a:r>
              <a:rPr lang="en-GB" dirty="0"/>
              <a:t>, which are the outcomes of a process activity </a:t>
            </a:r>
          </a:p>
          <a:p>
            <a:pPr lvl="1" algn="just"/>
            <a:r>
              <a:rPr lang="en-GB" b="1" dirty="0">
                <a:solidFill>
                  <a:srgbClr val="C00000"/>
                </a:solidFill>
              </a:rPr>
              <a:t>Roles</a:t>
            </a:r>
            <a:r>
              <a:rPr lang="en-GB" dirty="0"/>
              <a:t>, which reflect the responsibilities of the people involved in the process</a:t>
            </a:r>
          </a:p>
          <a:p>
            <a:pPr lvl="1" algn="just"/>
            <a:r>
              <a:rPr lang="en-GB" b="1" dirty="0">
                <a:solidFill>
                  <a:srgbClr val="C00000"/>
                </a:solidFill>
              </a:rPr>
              <a:t>Pre- and post-conditions</a:t>
            </a:r>
            <a:r>
              <a:rPr lang="en-GB" dirty="0"/>
              <a:t>, which are statements that are true before and after a process activity has been enacted or a product produced   </a:t>
            </a:r>
            <a:endParaRPr lang="en-US" dirty="0"/>
          </a:p>
          <a:p>
            <a:pPr marL="0" indent="0" algn="just">
              <a:buNone/>
            </a:pP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902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/>
              <a:t>Process Descriptions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1150195"/>
              </p:ext>
            </p:extLst>
          </p:nvPr>
        </p:nvGraphicFramePr>
        <p:xfrm>
          <a:off x="457200" y="1600201"/>
          <a:ext cx="8229600" cy="3352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3" name="Group 2"/>
          <p:cNvGrpSpPr/>
          <p:nvPr/>
        </p:nvGrpSpPr>
        <p:grpSpPr>
          <a:xfrm>
            <a:off x="4309269" y="4311858"/>
            <a:ext cx="525462" cy="942316"/>
            <a:chOff x="4309269" y="4054553"/>
            <a:chExt cx="525462" cy="1199621"/>
          </a:xfrm>
        </p:grpSpPr>
        <p:sp>
          <p:nvSpPr>
            <p:cNvPr id="10" name="Flowchart: Delay 9"/>
            <p:cNvSpPr/>
            <p:nvPr/>
          </p:nvSpPr>
          <p:spPr>
            <a:xfrm rot="16200000">
              <a:off x="4140200" y="4559643"/>
              <a:ext cx="863600" cy="525462"/>
            </a:xfrm>
            <a:prstGeom prst="flowChartDelay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endParaRPr 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4427537" y="4054553"/>
              <a:ext cx="288925" cy="369887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endParaRPr 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482203" y="4010895"/>
            <a:ext cx="2590800" cy="379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Pre-condition (if any)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33333" y="5281481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Roles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7067" y="3916330"/>
            <a:ext cx="2330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Product </a:t>
            </a:r>
          </a:p>
          <a:p>
            <a:pPr algn="ctr"/>
            <a:r>
              <a:rPr lang="en-MY" dirty="0"/>
              <a:t>Post-condition (if any)</a:t>
            </a:r>
          </a:p>
        </p:txBody>
      </p:sp>
    </p:spTree>
    <p:extLst>
      <p:ext uri="{BB962C8B-B14F-4D97-AF65-F5344CB8AC3E}">
        <p14:creationId xmlns:p14="http://schemas.microsoft.com/office/powerpoint/2010/main" val="3693381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Plan-Driven and Agile Processes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GB" dirty="0"/>
              <a:t>Plan-driven processes are processes where all of the process activities are </a:t>
            </a:r>
            <a:r>
              <a:rPr lang="en-GB" b="1" dirty="0">
                <a:solidFill>
                  <a:srgbClr val="C00000"/>
                </a:solidFill>
              </a:rPr>
              <a:t>planned in advance </a:t>
            </a:r>
            <a:r>
              <a:rPr lang="en-GB" dirty="0"/>
              <a:t>and progress is measured against this plan</a:t>
            </a:r>
          </a:p>
          <a:p>
            <a:pPr algn="just"/>
            <a:r>
              <a:rPr lang="en-GB" dirty="0"/>
              <a:t>In agile processes, </a:t>
            </a:r>
            <a:r>
              <a:rPr lang="en-GB" b="1" dirty="0">
                <a:solidFill>
                  <a:srgbClr val="C00000"/>
                </a:solidFill>
              </a:rPr>
              <a:t>planning is incremental, </a:t>
            </a:r>
            <a:r>
              <a:rPr lang="en-GB" dirty="0"/>
              <a:t>and it is easier to change the process to reflect changing customer requirements</a:t>
            </a:r>
          </a:p>
          <a:p>
            <a:pPr algn="just"/>
            <a:r>
              <a:rPr lang="en-GB" dirty="0"/>
              <a:t>In practice, most practical processes include elements of both plan-driven and agile approaches</a:t>
            </a:r>
          </a:p>
          <a:p>
            <a:pPr algn="just"/>
            <a:r>
              <a:rPr lang="en-GB" dirty="0"/>
              <a:t>There are no right or wrong software processes</a:t>
            </a:r>
            <a:endParaRPr lang="en-US" dirty="0"/>
          </a:p>
          <a:p>
            <a:pPr marL="0" indent="0" algn="just">
              <a:buNone/>
            </a:pP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564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Process Models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GB" dirty="0"/>
              <a:t>The waterfall model</a:t>
            </a:r>
          </a:p>
          <a:p>
            <a:pPr lvl="1" algn="just"/>
            <a:r>
              <a:rPr lang="en-GB" dirty="0"/>
              <a:t>Plan-driven model, separate and distinct phases of specification and development</a:t>
            </a:r>
          </a:p>
          <a:p>
            <a:pPr algn="just"/>
            <a:r>
              <a:rPr lang="en-GB" dirty="0"/>
              <a:t>Incremental development</a:t>
            </a:r>
          </a:p>
          <a:p>
            <a:pPr lvl="1" algn="just"/>
            <a:r>
              <a:rPr lang="en-GB" dirty="0"/>
              <a:t>Specification, development and validation are interleaved; may be plan-driven or agile</a:t>
            </a:r>
          </a:p>
          <a:p>
            <a:pPr algn="just"/>
            <a:r>
              <a:rPr lang="en-GB" dirty="0"/>
              <a:t>Reuse-oriented software engineering</a:t>
            </a:r>
          </a:p>
          <a:p>
            <a:pPr lvl="1" algn="just"/>
            <a:r>
              <a:rPr lang="en-GB" dirty="0"/>
              <a:t>The system is assembled from existing components; may be plan-driven or agile.</a:t>
            </a:r>
          </a:p>
          <a:p>
            <a:pPr algn="just"/>
            <a:r>
              <a:rPr lang="en-GB" dirty="0"/>
              <a:t>In practice, most large systems are developed using a process that incorporates elements from all of these models</a:t>
            </a:r>
          </a:p>
          <a:p>
            <a:pPr marL="0" indent="0" algn="just">
              <a:buNone/>
            </a:pP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196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/>
              <a:t/>
            </a:r>
            <a:br>
              <a:rPr lang="en-GB" dirty="0"/>
            </a:br>
            <a:r>
              <a:rPr lang="en-GB" dirty="0"/>
              <a:t>The Waterfall Model</a:t>
            </a:r>
            <a:br>
              <a:rPr lang="en-GB" dirty="0"/>
            </a:b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953" y="1752600"/>
            <a:ext cx="6820647" cy="4061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23821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Waterfall Model Phases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GB" dirty="0"/>
              <a:t>There are separate identified phases in the waterfall model:</a:t>
            </a:r>
          </a:p>
          <a:p>
            <a:pPr lvl="1" algn="just"/>
            <a:r>
              <a:rPr lang="en-GB" dirty="0"/>
              <a:t>Requirements analysis and definition</a:t>
            </a:r>
          </a:p>
          <a:p>
            <a:pPr lvl="1" algn="just"/>
            <a:r>
              <a:rPr lang="en-GB" dirty="0"/>
              <a:t>System and software design</a:t>
            </a:r>
          </a:p>
          <a:p>
            <a:pPr lvl="1" algn="just"/>
            <a:r>
              <a:rPr lang="en-GB" dirty="0"/>
              <a:t>Implementation and unit testing</a:t>
            </a:r>
          </a:p>
          <a:p>
            <a:pPr lvl="1" algn="just"/>
            <a:r>
              <a:rPr lang="en-GB" dirty="0"/>
              <a:t>Integration and system testing</a:t>
            </a:r>
          </a:p>
          <a:p>
            <a:pPr lvl="1" algn="just"/>
            <a:r>
              <a:rPr lang="en-GB" dirty="0"/>
              <a:t>Operation and maintenance</a:t>
            </a:r>
          </a:p>
          <a:p>
            <a:pPr algn="just"/>
            <a:r>
              <a:rPr lang="en-GB" dirty="0"/>
              <a:t>The </a:t>
            </a:r>
            <a:r>
              <a:rPr lang="en-GB" b="1" dirty="0">
                <a:solidFill>
                  <a:srgbClr val="C00000"/>
                </a:solidFill>
              </a:rPr>
              <a:t>main drawback </a:t>
            </a:r>
            <a:r>
              <a:rPr lang="en-GB" dirty="0"/>
              <a:t>of the waterfall model is the difficulty of accommodating change after the process is underway</a:t>
            </a:r>
          </a:p>
          <a:p>
            <a:pPr algn="just"/>
            <a:r>
              <a:rPr lang="en-GB" dirty="0"/>
              <a:t>In principle, a phase has to be complete before moving onto the next phase</a:t>
            </a:r>
          </a:p>
          <a:p>
            <a:pPr marL="0" indent="0" algn="just">
              <a:buNone/>
            </a:pP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526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Waterfall Model Problems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GB" dirty="0"/>
              <a:t>Inflexible partitioning of the project into distinct stages makes it difficult to respond to changing customer requirements</a:t>
            </a:r>
          </a:p>
          <a:p>
            <a:pPr lvl="1" algn="just"/>
            <a:r>
              <a:rPr lang="en-GB" dirty="0"/>
              <a:t>Therefore, this model is </a:t>
            </a:r>
            <a:r>
              <a:rPr lang="en-GB" b="1" dirty="0">
                <a:solidFill>
                  <a:srgbClr val="C00000"/>
                </a:solidFill>
              </a:rPr>
              <a:t>only appropriate when the requirements are well-understood and changes will be fairly limited</a:t>
            </a:r>
            <a:r>
              <a:rPr lang="en-GB" dirty="0"/>
              <a:t> during the design process</a:t>
            </a:r>
          </a:p>
          <a:p>
            <a:pPr lvl="1" algn="just"/>
            <a:r>
              <a:rPr lang="en-GB" dirty="0"/>
              <a:t>Few business systems have stable requirements</a:t>
            </a:r>
          </a:p>
          <a:p>
            <a:pPr algn="just"/>
            <a:r>
              <a:rPr lang="en-GB" dirty="0"/>
              <a:t>The waterfall model is </a:t>
            </a:r>
            <a:r>
              <a:rPr lang="en-GB" b="1" dirty="0">
                <a:solidFill>
                  <a:srgbClr val="C00000"/>
                </a:solidFill>
              </a:rPr>
              <a:t>mostly used for large systems</a:t>
            </a:r>
            <a:r>
              <a:rPr lang="en-GB" dirty="0"/>
              <a:t> engineering projects where a system is developed at several sites</a:t>
            </a:r>
          </a:p>
          <a:p>
            <a:pPr lvl="1" algn="just"/>
            <a:r>
              <a:rPr lang="en-GB" dirty="0"/>
              <a:t>In those circumstances, the </a:t>
            </a:r>
            <a:r>
              <a:rPr lang="en-GB" b="1" dirty="0">
                <a:solidFill>
                  <a:srgbClr val="C00000"/>
                </a:solidFill>
              </a:rPr>
              <a:t>plan-driven</a:t>
            </a:r>
            <a:r>
              <a:rPr lang="en-GB" dirty="0"/>
              <a:t> nature of the waterfall model helps coordinate the work</a:t>
            </a:r>
          </a:p>
          <a:p>
            <a:pPr marL="0" indent="0" algn="just">
              <a:buNone/>
            </a:pP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7215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Incremental Development </a:t>
            </a: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791101"/>
            <a:ext cx="7239000" cy="4100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34842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Incremental Development Benefits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GB" dirty="0"/>
              <a:t>The </a:t>
            </a:r>
            <a:r>
              <a:rPr lang="en-GB" b="1" dirty="0">
                <a:solidFill>
                  <a:srgbClr val="C00000"/>
                </a:solidFill>
              </a:rPr>
              <a:t>cost of accommodating changing </a:t>
            </a:r>
            <a:r>
              <a:rPr lang="en-GB" dirty="0"/>
              <a:t>customer requirements is </a:t>
            </a:r>
            <a:r>
              <a:rPr lang="en-GB" b="1" dirty="0">
                <a:solidFill>
                  <a:srgbClr val="C00000"/>
                </a:solidFill>
              </a:rPr>
              <a:t>reduced</a:t>
            </a:r>
            <a:endParaRPr lang="en-GB" dirty="0"/>
          </a:p>
          <a:p>
            <a:pPr lvl="1" algn="just"/>
            <a:r>
              <a:rPr lang="en-GB" dirty="0"/>
              <a:t>The amount of analysis and documentation that has to be redone is much less than is required with the waterfall model</a:t>
            </a:r>
          </a:p>
          <a:p>
            <a:pPr algn="just"/>
            <a:r>
              <a:rPr lang="en-GB" dirty="0"/>
              <a:t>It is </a:t>
            </a:r>
            <a:r>
              <a:rPr lang="en-GB" b="1" dirty="0">
                <a:solidFill>
                  <a:srgbClr val="C00000"/>
                </a:solidFill>
              </a:rPr>
              <a:t>easier to get customer feedback </a:t>
            </a:r>
            <a:r>
              <a:rPr lang="en-GB" dirty="0"/>
              <a:t>on the development work that has been done</a:t>
            </a:r>
          </a:p>
          <a:p>
            <a:pPr lvl="1" algn="just"/>
            <a:r>
              <a:rPr lang="en-GB" dirty="0"/>
              <a:t>Customers can comment on demonstrations of the software and see how much has been implemented</a:t>
            </a:r>
          </a:p>
          <a:p>
            <a:pPr algn="just"/>
            <a:r>
              <a:rPr lang="en-GB" dirty="0"/>
              <a:t>More </a:t>
            </a:r>
            <a:r>
              <a:rPr lang="en-GB" b="1" dirty="0">
                <a:solidFill>
                  <a:srgbClr val="C00000"/>
                </a:solidFill>
              </a:rPr>
              <a:t>rapid delivery and deployment </a:t>
            </a:r>
            <a:r>
              <a:rPr lang="en-GB" dirty="0"/>
              <a:t>of useful software to the customer is possible</a:t>
            </a:r>
          </a:p>
          <a:p>
            <a:pPr lvl="1" algn="just"/>
            <a:r>
              <a:rPr lang="en-GB" dirty="0"/>
              <a:t>Customers are able to use and gain value from the software earlier than is possible with a waterfall process</a:t>
            </a:r>
          </a:p>
          <a:p>
            <a:pPr marL="0" indent="0" algn="just">
              <a:buNone/>
            </a:pP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7530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Incremental Development Problems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9911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GB" dirty="0"/>
              <a:t>The </a:t>
            </a:r>
            <a:r>
              <a:rPr lang="en-GB" b="1" dirty="0">
                <a:solidFill>
                  <a:srgbClr val="C00000"/>
                </a:solidFill>
              </a:rPr>
              <a:t>process is not visible</a:t>
            </a:r>
            <a:endParaRPr lang="en-GB" dirty="0"/>
          </a:p>
          <a:p>
            <a:pPr lvl="1" algn="just"/>
            <a:r>
              <a:rPr lang="en-GB" dirty="0"/>
              <a:t>Managers need regular deliverables to measure progress</a:t>
            </a:r>
          </a:p>
          <a:p>
            <a:pPr lvl="1" algn="just"/>
            <a:r>
              <a:rPr lang="en-GB" dirty="0"/>
              <a:t>If systems are developed quickly, it is not cost-effective to produce documents that reflect every version of the system</a:t>
            </a:r>
          </a:p>
          <a:p>
            <a:pPr algn="just"/>
            <a:r>
              <a:rPr lang="en-GB" dirty="0"/>
              <a:t>System </a:t>
            </a:r>
            <a:r>
              <a:rPr lang="en-GB" b="1" dirty="0">
                <a:solidFill>
                  <a:srgbClr val="C00000"/>
                </a:solidFill>
              </a:rPr>
              <a:t>structure tends to degrade </a:t>
            </a:r>
            <a:r>
              <a:rPr lang="en-GB" dirty="0"/>
              <a:t>as new increments are added </a:t>
            </a:r>
          </a:p>
          <a:p>
            <a:pPr lvl="1" algn="just"/>
            <a:r>
              <a:rPr lang="en-GB" dirty="0"/>
              <a:t>Unless time and money is spent on refactoring to improve the software, regular change tends to corrupt its structure</a:t>
            </a:r>
          </a:p>
          <a:p>
            <a:pPr lvl="1" algn="just"/>
            <a:r>
              <a:rPr lang="en-GB" dirty="0"/>
              <a:t>Incorporating further software changes becomes increasingly difficult and costly</a:t>
            </a:r>
          </a:p>
          <a:p>
            <a:pPr marL="0" indent="0" algn="just">
              <a:buNone/>
            </a:pP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4847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/>
              <a:t>Reuse-Oriented </a:t>
            </a:r>
            <a:r>
              <a:rPr lang="en-GB"/>
              <a:t>Software Engineering…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GB" dirty="0"/>
              <a:t>Based on systematic reuse where systems are integrated from existing components or COTS (</a:t>
            </a:r>
            <a:r>
              <a:rPr lang="en-GB" dirty="0">
                <a:solidFill>
                  <a:srgbClr val="C00000"/>
                </a:solidFill>
              </a:rPr>
              <a:t>Commercial-off-the-shelf</a:t>
            </a:r>
            <a:r>
              <a:rPr lang="en-GB" dirty="0"/>
              <a:t>) systems</a:t>
            </a:r>
          </a:p>
          <a:p>
            <a:pPr algn="just"/>
            <a:r>
              <a:rPr lang="en-GB" dirty="0"/>
              <a:t>Process stages:</a:t>
            </a:r>
          </a:p>
          <a:p>
            <a:pPr lvl="1" algn="just"/>
            <a:r>
              <a:rPr lang="en-GB" dirty="0"/>
              <a:t>Component analysis</a:t>
            </a:r>
          </a:p>
          <a:p>
            <a:pPr lvl="1" algn="just"/>
            <a:r>
              <a:rPr lang="en-GB" dirty="0"/>
              <a:t>Requirements modification</a:t>
            </a:r>
          </a:p>
          <a:p>
            <a:pPr lvl="1" algn="just"/>
            <a:r>
              <a:rPr lang="en-GB" dirty="0"/>
              <a:t>System design with reuse</a:t>
            </a:r>
          </a:p>
          <a:p>
            <a:pPr lvl="1" algn="just"/>
            <a:r>
              <a:rPr lang="en-GB" dirty="0"/>
              <a:t>Development and integration</a:t>
            </a:r>
          </a:p>
          <a:p>
            <a:pPr algn="just"/>
            <a:r>
              <a:rPr lang="en-GB" dirty="0"/>
              <a:t>Reuse is now the standard approach for building many types of business system</a:t>
            </a:r>
          </a:p>
          <a:p>
            <a:pPr marL="0" indent="0" algn="just">
              <a:buNone/>
            </a:pP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2493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/>
              <a:t>Reuse-Oriented Software Engineering</a:t>
            </a: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230" y="1676400"/>
            <a:ext cx="8224569" cy="3765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24186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Software Component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Web services that are </a:t>
            </a:r>
            <a:r>
              <a:rPr lang="en-GB" dirty="0">
                <a:solidFill>
                  <a:srgbClr val="C00000"/>
                </a:solidFill>
              </a:rPr>
              <a:t>developed according to service standards </a:t>
            </a:r>
            <a:r>
              <a:rPr lang="en-GB" dirty="0"/>
              <a:t>and which are available for remote invocation</a:t>
            </a:r>
          </a:p>
          <a:p>
            <a:pPr algn="just"/>
            <a:r>
              <a:rPr lang="en-GB" dirty="0"/>
              <a:t>Collections of objects that are developed as a </a:t>
            </a:r>
            <a:r>
              <a:rPr lang="en-GB" dirty="0">
                <a:solidFill>
                  <a:srgbClr val="C00000"/>
                </a:solidFill>
              </a:rPr>
              <a:t>package</a:t>
            </a:r>
            <a:r>
              <a:rPr lang="en-GB" dirty="0"/>
              <a:t> to be integrated with a component framework such as .NET or J2EE</a:t>
            </a:r>
          </a:p>
          <a:p>
            <a:pPr algn="just"/>
            <a:r>
              <a:rPr lang="en-GB" dirty="0"/>
              <a:t>Stand-alone software systems (COTS) that are configured for use in a particular environment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1817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Activities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GB" dirty="0"/>
              <a:t>Real software processes are inter-leaved sequences of technical, collaborative and managerial activities with the overall goal of specifying, designing, implementing and testing a software system</a:t>
            </a:r>
          </a:p>
          <a:p>
            <a:pPr algn="just"/>
            <a:r>
              <a:rPr lang="en-GB" dirty="0"/>
              <a:t>The four basic process activities of </a:t>
            </a:r>
            <a:r>
              <a:rPr lang="en-GB" b="1" dirty="0">
                <a:solidFill>
                  <a:srgbClr val="C00000"/>
                </a:solidFill>
              </a:rPr>
              <a:t>specification, development, validation and evolution </a:t>
            </a:r>
            <a:r>
              <a:rPr lang="en-GB" dirty="0"/>
              <a:t>are organized differently in different development processes. In the waterfall model, they are organized in sequence, whereas in incremental development they are inter-leaved</a:t>
            </a:r>
            <a:endParaRPr lang="en-US" dirty="0"/>
          </a:p>
          <a:p>
            <a:pPr marL="0" indent="0" algn="just">
              <a:buNone/>
            </a:pP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2943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Software Specification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GB" dirty="0"/>
              <a:t>The process of establishing what </a:t>
            </a:r>
            <a:r>
              <a:rPr lang="en-GB" b="1" dirty="0">
                <a:solidFill>
                  <a:srgbClr val="C00000"/>
                </a:solidFill>
              </a:rPr>
              <a:t>services</a:t>
            </a:r>
            <a:r>
              <a:rPr lang="en-GB" dirty="0"/>
              <a:t> are required and the </a:t>
            </a:r>
            <a:r>
              <a:rPr lang="en-GB" b="1" dirty="0">
                <a:solidFill>
                  <a:srgbClr val="C00000"/>
                </a:solidFill>
              </a:rPr>
              <a:t>constraints</a:t>
            </a:r>
            <a:r>
              <a:rPr lang="en-GB" dirty="0"/>
              <a:t> on the system</a:t>
            </a:r>
            <a:r>
              <a:rPr lang="en-GB" altLang="en-US" dirty="0"/>
              <a:t>’</a:t>
            </a:r>
            <a:r>
              <a:rPr lang="en-GB" dirty="0"/>
              <a:t>s operation and development</a:t>
            </a:r>
          </a:p>
          <a:p>
            <a:pPr algn="just"/>
            <a:r>
              <a:rPr lang="en-GB" dirty="0"/>
              <a:t>Requirements engineering process:</a:t>
            </a:r>
          </a:p>
          <a:p>
            <a:pPr lvl="1" algn="just"/>
            <a:r>
              <a:rPr lang="en-GB" dirty="0"/>
              <a:t>Feasibility study</a:t>
            </a:r>
          </a:p>
          <a:p>
            <a:pPr lvl="2" algn="just"/>
            <a:r>
              <a:rPr lang="en-GB" dirty="0"/>
              <a:t>Is it technically and financially feasible to build the system?</a:t>
            </a:r>
          </a:p>
          <a:p>
            <a:pPr lvl="1" algn="just"/>
            <a:r>
              <a:rPr lang="en-GB" dirty="0"/>
              <a:t>Requirements elicitation and analysis</a:t>
            </a:r>
          </a:p>
          <a:p>
            <a:pPr lvl="2" algn="just"/>
            <a:r>
              <a:rPr lang="en-GB" dirty="0"/>
              <a:t>What do the system stakeholders require or expect from the system?</a:t>
            </a:r>
          </a:p>
          <a:p>
            <a:pPr lvl="1" algn="just"/>
            <a:r>
              <a:rPr lang="en-GB" dirty="0"/>
              <a:t>Requirements specification	</a:t>
            </a:r>
          </a:p>
          <a:p>
            <a:pPr lvl="2" algn="just"/>
            <a:r>
              <a:rPr lang="en-GB" dirty="0"/>
              <a:t>Defining the requirements in detail</a:t>
            </a:r>
          </a:p>
          <a:p>
            <a:pPr lvl="1" algn="just"/>
            <a:r>
              <a:rPr lang="en-GB" dirty="0"/>
              <a:t>Requirements validation</a:t>
            </a:r>
          </a:p>
          <a:p>
            <a:pPr lvl="2" algn="just"/>
            <a:r>
              <a:rPr lang="en-GB" dirty="0"/>
              <a:t>Checking the validity of the requirements</a:t>
            </a:r>
          </a:p>
          <a:p>
            <a:pPr marL="0" indent="0" algn="just">
              <a:buNone/>
            </a:pP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4914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/>
              <a:t>The Requirements Engineering Process</a:t>
            </a: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74324"/>
            <a:ext cx="8229599" cy="4577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73800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/>
              <a:t>Software Design and Implementation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GB" dirty="0"/>
              <a:t>The process of converting the system specification into an executable system</a:t>
            </a:r>
          </a:p>
          <a:p>
            <a:pPr algn="just"/>
            <a:r>
              <a:rPr lang="en-GB" dirty="0"/>
              <a:t>Software design</a:t>
            </a:r>
          </a:p>
          <a:p>
            <a:pPr lvl="1" algn="just"/>
            <a:r>
              <a:rPr lang="en-GB" dirty="0"/>
              <a:t>Design a software structure that realises the specification</a:t>
            </a:r>
          </a:p>
          <a:p>
            <a:pPr algn="just"/>
            <a:r>
              <a:rPr lang="en-GB" dirty="0"/>
              <a:t>Implementation</a:t>
            </a:r>
          </a:p>
          <a:p>
            <a:pPr lvl="1" algn="just"/>
            <a:r>
              <a:rPr lang="en-GB" dirty="0"/>
              <a:t>Translate this structure into an executable program</a:t>
            </a:r>
          </a:p>
          <a:p>
            <a:pPr algn="just"/>
            <a:r>
              <a:rPr lang="en-GB" dirty="0"/>
              <a:t>The activities of design and implementation are closely related and may be inter-leaved</a:t>
            </a:r>
          </a:p>
          <a:p>
            <a:pPr marL="0" indent="0" algn="just">
              <a:buNone/>
            </a:pP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4486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/>
              <a:t>A General Model of the Design Process</a:t>
            </a: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211" y="1458417"/>
            <a:ext cx="6835589" cy="50065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278961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Activities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n-GB" b="1" dirty="0">
                <a:solidFill>
                  <a:srgbClr val="C00000"/>
                </a:solidFill>
              </a:rPr>
              <a:t>Architectural design:</a:t>
            </a:r>
            <a:r>
              <a:rPr lang="en-GB" dirty="0"/>
              <a:t> identify the overall structure of the system, the principal components (sometimes called sub-systems or modules), their relationships and how they are distributed</a:t>
            </a:r>
          </a:p>
          <a:p>
            <a:pPr algn="just"/>
            <a:r>
              <a:rPr lang="en-GB" b="1" dirty="0">
                <a:solidFill>
                  <a:srgbClr val="C00000"/>
                </a:solidFill>
              </a:rPr>
              <a:t>Interface design:</a:t>
            </a:r>
            <a:r>
              <a:rPr lang="en-GB" dirty="0"/>
              <a:t> define the interfaces between system components</a:t>
            </a:r>
          </a:p>
          <a:p>
            <a:pPr algn="just"/>
            <a:r>
              <a:rPr lang="en-GB" b="1" dirty="0">
                <a:solidFill>
                  <a:srgbClr val="C00000"/>
                </a:solidFill>
              </a:rPr>
              <a:t>Component design:</a:t>
            </a:r>
            <a:r>
              <a:rPr lang="en-GB" dirty="0"/>
              <a:t> take each system component and design how it will operate</a:t>
            </a:r>
          </a:p>
          <a:p>
            <a:pPr algn="just"/>
            <a:r>
              <a:rPr lang="en-GB" b="1" dirty="0">
                <a:solidFill>
                  <a:srgbClr val="C00000"/>
                </a:solidFill>
              </a:rPr>
              <a:t>Database design:</a:t>
            </a:r>
            <a:r>
              <a:rPr lang="en-GB" dirty="0"/>
              <a:t> design the system data structures and how these are to be represented in a database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0385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Validation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4196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GB" dirty="0"/>
              <a:t>Verification and validation (V &amp; V) is intended to show that a system </a:t>
            </a:r>
            <a:r>
              <a:rPr lang="en-GB" dirty="0">
                <a:solidFill>
                  <a:srgbClr val="C00000"/>
                </a:solidFill>
              </a:rPr>
              <a:t>conforms to its specification </a:t>
            </a:r>
            <a:r>
              <a:rPr lang="en-GB" dirty="0"/>
              <a:t>and meets the requirements of the system customer</a:t>
            </a:r>
          </a:p>
          <a:p>
            <a:pPr algn="just"/>
            <a:r>
              <a:rPr lang="en-GB" dirty="0"/>
              <a:t>Involves </a:t>
            </a:r>
            <a:r>
              <a:rPr lang="en-GB" dirty="0">
                <a:solidFill>
                  <a:srgbClr val="C00000"/>
                </a:solidFill>
              </a:rPr>
              <a:t>checking and review processes </a:t>
            </a:r>
            <a:r>
              <a:rPr lang="en-GB" dirty="0"/>
              <a:t>and system testing</a:t>
            </a:r>
          </a:p>
          <a:p>
            <a:pPr algn="just"/>
            <a:r>
              <a:rPr lang="en-GB" dirty="0"/>
              <a:t>System testing involves </a:t>
            </a:r>
            <a:r>
              <a:rPr lang="en-GB" dirty="0">
                <a:solidFill>
                  <a:srgbClr val="C00000"/>
                </a:solidFill>
              </a:rPr>
              <a:t>executing the system with test cases</a:t>
            </a:r>
            <a:r>
              <a:rPr lang="en-GB" dirty="0"/>
              <a:t> that are derived from the specification of the real data to be processed by the system</a:t>
            </a:r>
          </a:p>
          <a:p>
            <a:pPr algn="just"/>
            <a:r>
              <a:rPr lang="en-GB" dirty="0"/>
              <a:t>Testing is the most commonly used V &amp; V activity</a:t>
            </a:r>
          </a:p>
          <a:p>
            <a:pPr marL="0" indent="0" algn="just">
              <a:buNone/>
            </a:pP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8023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/>
              <a:t/>
            </a:r>
            <a:br>
              <a:rPr lang="en-GB" dirty="0"/>
            </a:br>
            <a:r>
              <a:rPr lang="en-GB" dirty="0"/>
              <a:t>Stages of Testing</a:t>
            </a:r>
            <a:br>
              <a:rPr lang="en-GB" dirty="0"/>
            </a:b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905000"/>
            <a:ext cx="7288734" cy="2978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479860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Testing Stages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GB" dirty="0"/>
              <a:t>Development or component testing</a:t>
            </a:r>
          </a:p>
          <a:p>
            <a:pPr lvl="1" algn="just"/>
            <a:r>
              <a:rPr lang="en-GB" dirty="0"/>
              <a:t>Individual components are </a:t>
            </a:r>
            <a:r>
              <a:rPr lang="en-GB" dirty="0">
                <a:solidFill>
                  <a:srgbClr val="C00000"/>
                </a:solidFill>
              </a:rPr>
              <a:t>tested independently</a:t>
            </a:r>
          </a:p>
          <a:p>
            <a:pPr lvl="1" algn="just"/>
            <a:r>
              <a:rPr lang="en-GB" dirty="0"/>
              <a:t>Components may be functions or objects or coherent groupings of these entities</a:t>
            </a:r>
          </a:p>
          <a:p>
            <a:pPr algn="just"/>
            <a:r>
              <a:rPr lang="en-GB" dirty="0"/>
              <a:t>System testing</a:t>
            </a:r>
          </a:p>
          <a:p>
            <a:pPr lvl="1" algn="just"/>
            <a:r>
              <a:rPr lang="en-GB" dirty="0"/>
              <a:t>Testing of the system </a:t>
            </a:r>
            <a:r>
              <a:rPr lang="en-GB" dirty="0">
                <a:solidFill>
                  <a:srgbClr val="C00000"/>
                </a:solidFill>
              </a:rPr>
              <a:t>as a whole</a:t>
            </a:r>
          </a:p>
          <a:p>
            <a:pPr lvl="1" algn="just"/>
            <a:r>
              <a:rPr lang="en-GB" dirty="0"/>
              <a:t>Testing of emergent properties is particularly important</a:t>
            </a:r>
          </a:p>
          <a:p>
            <a:pPr algn="just"/>
            <a:r>
              <a:rPr lang="en-GB" dirty="0"/>
              <a:t>Acceptance testing</a:t>
            </a:r>
          </a:p>
          <a:p>
            <a:pPr lvl="1" algn="just"/>
            <a:r>
              <a:rPr lang="en-GB" dirty="0"/>
              <a:t>Testing with </a:t>
            </a:r>
            <a:r>
              <a:rPr lang="en-GB" dirty="0">
                <a:solidFill>
                  <a:srgbClr val="C00000"/>
                </a:solidFill>
              </a:rPr>
              <a:t>customer data</a:t>
            </a:r>
            <a:r>
              <a:rPr lang="en-GB" dirty="0"/>
              <a:t> to check that the system meets the customer</a:t>
            </a:r>
            <a:r>
              <a:rPr lang="en-GB" altLang="en-US" dirty="0"/>
              <a:t>’</a:t>
            </a:r>
            <a:r>
              <a:rPr lang="en-GB" dirty="0"/>
              <a:t>s needs</a:t>
            </a:r>
          </a:p>
          <a:p>
            <a:pPr marL="0" indent="0" algn="just">
              <a:buNone/>
            </a:pP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2079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/>
              <a:t>Testing Phases in a Plan-Driven Software Process</a:t>
            </a: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851" y="1600200"/>
            <a:ext cx="8133949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543362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Evolution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sz="2800" dirty="0"/>
              <a:t>Software is inherently flexible and can change</a:t>
            </a:r>
          </a:p>
          <a:p>
            <a:pPr algn="just"/>
            <a:r>
              <a:rPr lang="en-GB" sz="2800" dirty="0"/>
              <a:t>As requirements change through </a:t>
            </a:r>
            <a:r>
              <a:rPr lang="en-GB" sz="2800" dirty="0">
                <a:solidFill>
                  <a:srgbClr val="C00000"/>
                </a:solidFill>
              </a:rPr>
              <a:t>changing business circumstances</a:t>
            </a:r>
            <a:r>
              <a:rPr lang="en-GB" sz="2800" dirty="0"/>
              <a:t>, the software that supports the business must also evolve and change</a:t>
            </a:r>
          </a:p>
          <a:p>
            <a:pPr algn="just"/>
            <a:r>
              <a:rPr lang="en-GB" sz="2800" dirty="0"/>
              <a:t>Although there has been a demarcation (separation) between development and evolution (maintenance) this is increasingly irrelevant as fewer and fewer systems are completely new</a:t>
            </a:r>
          </a:p>
          <a:p>
            <a:pPr marL="0" indent="0" algn="just">
              <a:buNone/>
            </a:pPr>
            <a:endParaRPr lang="en-MY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6329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 Evolution </a:t>
            </a: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9050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76196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Coping With Change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Change is inevitable in all large software projects.</a:t>
            </a:r>
          </a:p>
          <a:p>
            <a:pPr lvl="1" algn="just"/>
            <a:r>
              <a:rPr lang="en-US" b="1" dirty="0">
                <a:solidFill>
                  <a:srgbClr val="C00000"/>
                </a:solidFill>
              </a:rPr>
              <a:t>Business changes</a:t>
            </a:r>
            <a:r>
              <a:rPr lang="en-US" dirty="0"/>
              <a:t> lead to new and changed system requirements</a:t>
            </a:r>
          </a:p>
          <a:p>
            <a:pPr lvl="1" algn="just"/>
            <a:r>
              <a:rPr lang="en-US" b="1" dirty="0">
                <a:solidFill>
                  <a:srgbClr val="C00000"/>
                </a:solidFill>
              </a:rPr>
              <a:t>New technologies</a:t>
            </a:r>
            <a:r>
              <a:rPr lang="en-US" dirty="0"/>
              <a:t> open up new possibilities for improving implementations</a:t>
            </a:r>
          </a:p>
          <a:p>
            <a:pPr lvl="1" algn="just"/>
            <a:r>
              <a:rPr lang="en-US" b="1" dirty="0">
                <a:solidFill>
                  <a:srgbClr val="C00000"/>
                </a:solidFill>
              </a:rPr>
              <a:t>Changing platforms</a:t>
            </a:r>
            <a:r>
              <a:rPr lang="en-US" dirty="0"/>
              <a:t> require application changes</a:t>
            </a:r>
          </a:p>
          <a:p>
            <a:pPr algn="just"/>
            <a:r>
              <a:rPr lang="en-US" dirty="0"/>
              <a:t>Change leads to rework so the costs of change include both rework (e.g. re-analyzing requirements) as well as the costs of implementing new functionality</a:t>
            </a:r>
          </a:p>
          <a:p>
            <a:pPr marL="0" indent="0" algn="just">
              <a:buNone/>
            </a:pP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7914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Reducing the Costs of Rework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610600" cy="4800600"/>
          </a:xfrm>
        </p:spPr>
        <p:txBody>
          <a:bodyPr>
            <a:noAutofit/>
          </a:bodyPr>
          <a:lstStyle/>
          <a:p>
            <a:pPr algn="just"/>
            <a:r>
              <a:rPr lang="en-GB" sz="2400" dirty="0"/>
              <a:t>Change </a:t>
            </a:r>
            <a:r>
              <a:rPr lang="en-GB" sz="2400" b="1" dirty="0">
                <a:solidFill>
                  <a:srgbClr val="C00000"/>
                </a:solidFill>
              </a:rPr>
              <a:t>avoidance</a:t>
            </a:r>
            <a:r>
              <a:rPr lang="en-GB" sz="2400" dirty="0"/>
              <a:t>, where the software process includes activities that can anticipate possible changes before significant rework is required </a:t>
            </a:r>
          </a:p>
          <a:p>
            <a:pPr lvl="1" algn="just"/>
            <a:r>
              <a:rPr lang="en-GB" sz="2400" dirty="0"/>
              <a:t>E.g. a </a:t>
            </a:r>
            <a:r>
              <a:rPr lang="en-GB" sz="2400" b="1" dirty="0">
                <a:solidFill>
                  <a:srgbClr val="C00000"/>
                </a:solidFill>
              </a:rPr>
              <a:t>prototype</a:t>
            </a:r>
            <a:r>
              <a:rPr lang="en-GB" sz="2400" dirty="0"/>
              <a:t> system may be developed to show some key features of the system to customers</a:t>
            </a:r>
          </a:p>
          <a:p>
            <a:pPr algn="just"/>
            <a:r>
              <a:rPr lang="en-GB" sz="2400" dirty="0"/>
              <a:t>Change </a:t>
            </a:r>
            <a:r>
              <a:rPr lang="en-GB" sz="2400" b="1" dirty="0">
                <a:solidFill>
                  <a:srgbClr val="C00000"/>
                </a:solidFill>
              </a:rPr>
              <a:t>tolerance</a:t>
            </a:r>
            <a:r>
              <a:rPr lang="en-GB" sz="2400" dirty="0"/>
              <a:t>, where the process is designed so that changes can be accommodated at relatively low cost</a:t>
            </a:r>
          </a:p>
          <a:p>
            <a:pPr lvl="1" algn="just"/>
            <a:r>
              <a:rPr lang="en-GB" sz="2400" dirty="0"/>
              <a:t>This normally involves some form of </a:t>
            </a:r>
            <a:r>
              <a:rPr lang="en-GB" sz="2400" b="1" dirty="0">
                <a:solidFill>
                  <a:srgbClr val="C00000"/>
                </a:solidFill>
              </a:rPr>
              <a:t>incremental development, </a:t>
            </a:r>
            <a:r>
              <a:rPr lang="en-GB" sz="2400" dirty="0"/>
              <a:t>which proposed changes may be implemented in increments that have not yet been developed</a:t>
            </a:r>
          </a:p>
          <a:p>
            <a:pPr lvl="1" algn="just"/>
            <a:r>
              <a:rPr lang="en-GB" sz="2400" dirty="0"/>
              <a:t>If this is impossible, then only a single increment (a small part of the system) may have be altered to incorporate the change</a:t>
            </a:r>
          </a:p>
          <a:p>
            <a:pPr algn="just"/>
            <a:endParaRPr lang="en-US" sz="2400" dirty="0"/>
          </a:p>
          <a:p>
            <a:pPr marL="0" indent="0" algn="just">
              <a:buNone/>
            </a:pPr>
            <a:endParaRPr lang="en-MY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3146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Prototyping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A prototype is an initial version of a system used to demonstrate concepts and try out design options.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A prototype can be used in:</a:t>
            </a:r>
          </a:p>
          <a:p>
            <a:pPr lvl="1" algn="just"/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requirements engineering process </a:t>
            </a:r>
            <a:r>
              <a:rPr lang="en-US" dirty="0"/>
              <a:t>to help with requirements elicitation and validation;</a:t>
            </a:r>
          </a:p>
          <a:p>
            <a:pPr lvl="1" algn="just"/>
            <a:r>
              <a:rPr lang="en-US" dirty="0"/>
              <a:t>In </a:t>
            </a:r>
            <a:r>
              <a:rPr lang="en-US" b="1" dirty="0">
                <a:solidFill>
                  <a:srgbClr val="C00000"/>
                </a:solidFill>
              </a:rPr>
              <a:t>design processes</a:t>
            </a:r>
            <a:r>
              <a:rPr lang="en-US" b="1" dirty="0"/>
              <a:t> </a:t>
            </a:r>
            <a:r>
              <a:rPr lang="en-US" dirty="0"/>
              <a:t>to explore options and develop a UI design;</a:t>
            </a:r>
          </a:p>
          <a:p>
            <a:pPr lvl="1" algn="just"/>
            <a:r>
              <a:rPr lang="en-US" dirty="0"/>
              <a:t>In the </a:t>
            </a:r>
            <a:r>
              <a:rPr lang="en-US" b="1" dirty="0">
                <a:solidFill>
                  <a:srgbClr val="C00000"/>
                </a:solidFill>
              </a:rPr>
              <a:t>testing process </a:t>
            </a:r>
            <a:r>
              <a:rPr lang="en-US" dirty="0"/>
              <a:t>to run back-to-back tests.</a:t>
            </a:r>
          </a:p>
          <a:p>
            <a:pPr marL="0" indent="0" algn="just">
              <a:buNone/>
            </a:pP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134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Prototyping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Improved system usability</a:t>
            </a:r>
          </a:p>
          <a:p>
            <a:pPr algn="just"/>
            <a:r>
              <a:rPr lang="en-US" dirty="0"/>
              <a:t>A closer match </a:t>
            </a:r>
            <a:r>
              <a:rPr lang="en-US"/>
              <a:t>to users’</a:t>
            </a:r>
            <a:r>
              <a:rPr lang="en-US" altLang="ja-JP"/>
              <a:t> </a:t>
            </a:r>
            <a:r>
              <a:rPr lang="en-US" altLang="ja-JP" dirty="0"/>
              <a:t>real needs</a:t>
            </a:r>
          </a:p>
          <a:p>
            <a:pPr algn="just"/>
            <a:r>
              <a:rPr lang="en-US" dirty="0"/>
              <a:t>Improved design quality</a:t>
            </a:r>
          </a:p>
          <a:p>
            <a:pPr algn="just"/>
            <a:r>
              <a:rPr lang="en-US" dirty="0"/>
              <a:t>Improved maintainability</a:t>
            </a:r>
          </a:p>
          <a:p>
            <a:pPr algn="just"/>
            <a:r>
              <a:rPr lang="en-US" dirty="0"/>
              <a:t>Reduced development effort</a:t>
            </a:r>
          </a:p>
          <a:p>
            <a:pPr marL="0" indent="0" algn="just">
              <a:buNone/>
            </a:pP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7540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/>
              <a:t>The Process of Prototype Development</a:t>
            </a: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36</a:t>
            </a:fld>
            <a:endParaRPr lang="en-US"/>
          </a:p>
        </p:txBody>
      </p:sp>
      <p:pic>
        <p:nvPicPr>
          <p:cNvPr id="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438400"/>
            <a:ext cx="82296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060457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Prototype Development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May be based on rapid prototyping languages or tools</a:t>
            </a:r>
          </a:p>
          <a:p>
            <a:pPr algn="just"/>
            <a:r>
              <a:rPr lang="en-US" dirty="0"/>
              <a:t>May involve leaving out functionality:</a:t>
            </a:r>
          </a:p>
          <a:p>
            <a:pPr lvl="1" algn="just"/>
            <a:r>
              <a:rPr lang="en-US" dirty="0"/>
              <a:t>Prototype should focus on areas of the product that are </a:t>
            </a:r>
            <a:r>
              <a:rPr lang="en-US" b="1" dirty="0">
                <a:solidFill>
                  <a:srgbClr val="C00000"/>
                </a:solidFill>
              </a:rPr>
              <a:t>not well-understood</a:t>
            </a:r>
            <a:endParaRPr lang="en-US" dirty="0"/>
          </a:p>
          <a:p>
            <a:pPr lvl="1" algn="just"/>
            <a:r>
              <a:rPr lang="en-US" dirty="0"/>
              <a:t>Error </a:t>
            </a:r>
            <a:r>
              <a:rPr lang="en-US" b="1" dirty="0">
                <a:solidFill>
                  <a:srgbClr val="C00000"/>
                </a:solidFill>
              </a:rPr>
              <a:t>checking and recovery </a:t>
            </a:r>
            <a:r>
              <a:rPr lang="en-US" dirty="0"/>
              <a:t>may </a:t>
            </a:r>
            <a:r>
              <a:rPr lang="en-US" b="1" dirty="0">
                <a:solidFill>
                  <a:srgbClr val="C00000"/>
                </a:solidFill>
              </a:rPr>
              <a:t>not be included </a:t>
            </a:r>
            <a:r>
              <a:rPr lang="en-US" dirty="0"/>
              <a:t>in the prototype</a:t>
            </a:r>
          </a:p>
          <a:p>
            <a:pPr lvl="1" algn="just"/>
            <a:r>
              <a:rPr lang="en-US" dirty="0"/>
              <a:t>Focus on </a:t>
            </a:r>
            <a:r>
              <a:rPr lang="en-US" b="1" dirty="0">
                <a:solidFill>
                  <a:srgbClr val="C00000"/>
                </a:solidFill>
              </a:rPr>
              <a:t>functional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rather than non-functional requirements such as reliability and security</a:t>
            </a:r>
          </a:p>
          <a:p>
            <a:pPr marL="0" indent="0" algn="just">
              <a:buNone/>
            </a:pP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0129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Throw-Away Prototypes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Prototypes should be </a:t>
            </a:r>
            <a:r>
              <a:rPr lang="en-US" b="1" dirty="0">
                <a:solidFill>
                  <a:srgbClr val="C00000"/>
                </a:solidFill>
              </a:rPr>
              <a:t>discarded after development </a:t>
            </a:r>
            <a:r>
              <a:rPr lang="en-US" dirty="0"/>
              <a:t>as they are not a good basis for a production system:</a:t>
            </a:r>
          </a:p>
          <a:p>
            <a:pPr lvl="1" algn="just"/>
            <a:r>
              <a:rPr lang="en-US" dirty="0"/>
              <a:t>It may be impossible to tune the system to meet non-functional requirements</a:t>
            </a:r>
          </a:p>
          <a:p>
            <a:pPr lvl="1" algn="just"/>
            <a:r>
              <a:rPr lang="en-US" dirty="0"/>
              <a:t>Prototypes are normally undocumented</a:t>
            </a:r>
          </a:p>
          <a:p>
            <a:pPr lvl="1" algn="just"/>
            <a:r>
              <a:rPr lang="en-US" dirty="0"/>
              <a:t>The prototype structure is usually degraded through rapid change</a:t>
            </a:r>
          </a:p>
          <a:p>
            <a:pPr lvl="1" algn="just"/>
            <a:r>
              <a:rPr lang="en-US" dirty="0"/>
              <a:t>The prototype probably will not meet normal organizational quality standards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2803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Incremental Delivery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GB" dirty="0"/>
              <a:t>Rather than deliver the system as a single delivery, the development and delivery is </a:t>
            </a:r>
            <a:r>
              <a:rPr lang="en-GB" b="1" dirty="0">
                <a:solidFill>
                  <a:srgbClr val="C00000"/>
                </a:solidFill>
              </a:rPr>
              <a:t>broken down into increments</a:t>
            </a:r>
            <a:r>
              <a:rPr lang="en-GB" dirty="0"/>
              <a:t> with each increment delivering part of the required functionality</a:t>
            </a:r>
          </a:p>
          <a:p>
            <a:pPr algn="just"/>
            <a:r>
              <a:rPr lang="en-GB" dirty="0"/>
              <a:t>User requirements are </a:t>
            </a:r>
            <a:r>
              <a:rPr lang="en-GB" b="1" dirty="0">
                <a:solidFill>
                  <a:srgbClr val="C00000"/>
                </a:solidFill>
              </a:rPr>
              <a:t>prioritised</a:t>
            </a:r>
            <a:r>
              <a:rPr lang="en-GB" dirty="0"/>
              <a:t> and the highest priority requirements are included in early increments</a:t>
            </a:r>
          </a:p>
          <a:p>
            <a:pPr algn="just"/>
            <a:r>
              <a:rPr lang="en-GB" dirty="0"/>
              <a:t>Once the </a:t>
            </a:r>
            <a:r>
              <a:rPr lang="en-GB" b="1" dirty="0">
                <a:solidFill>
                  <a:srgbClr val="C00000"/>
                </a:solidFill>
              </a:rPr>
              <a:t>development of an increment is started</a:t>
            </a:r>
            <a:r>
              <a:rPr lang="en-GB" dirty="0"/>
              <a:t>, the </a:t>
            </a:r>
            <a:r>
              <a:rPr lang="en-GB" b="1" dirty="0">
                <a:solidFill>
                  <a:srgbClr val="C00000"/>
                </a:solidFill>
              </a:rPr>
              <a:t>requirements are frozen </a:t>
            </a:r>
            <a:r>
              <a:rPr lang="en-GB" dirty="0"/>
              <a:t>though requirements for later increments can continue to evolve</a:t>
            </a:r>
          </a:p>
          <a:p>
            <a:pPr marL="0" indent="0" algn="just">
              <a:buNone/>
            </a:pP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475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Incremental Development and Delivery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39678"/>
            <a:ext cx="8382000" cy="4961122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Incremental development:</a:t>
            </a:r>
          </a:p>
          <a:p>
            <a:pPr lvl="1" algn="just"/>
            <a:r>
              <a:rPr lang="en-US" sz="2400" dirty="0"/>
              <a:t>Develop the system in increments and evaluate each increment before proceeding to the development of the next increment</a:t>
            </a:r>
          </a:p>
          <a:p>
            <a:pPr lvl="1" algn="just"/>
            <a:r>
              <a:rPr lang="en-US" sz="2400" dirty="0"/>
              <a:t>Normal approach used in </a:t>
            </a:r>
            <a:r>
              <a:rPr lang="en-US" sz="2400" b="1" dirty="0">
                <a:solidFill>
                  <a:srgbClr val="C00000"/>
                </a:solidFill>
              </a:rPr>
              <a:t>agile methods</a:t>
            </a:r>
            <a:endParaRPr lang="en-US" sz="2400" dirty="0"/>
          </a:p>
          <a:p>
            <a:pPr lvl="1" algn="just"/>
            <a:r>
              <a:rPr lang="en-US" sz="2400" dirty="0"/>
              <a:t>Evaluation done by user/customer proxy</a:t>
            </a:r>
          </a:p>
          <a:p>
            <a:pPr algn="just"/>
            <a:r>
              <a:rPr lang="en-US" sz="2400" dirty="0"/>
              <a:t>Incremental delivery:</a:t>
            </a:r>
          </a:p>
          <a:p>
            <a:pPr lvl="1" algn="just"/>
            <a:r>
              <a:rPr lang="en-US" sz="2400" dirty="0"/>
              <a:t>Deploy an increment for use by end-users</a:t>
            </a:r>
          </a:p>
          <a:p>
            <a:pPr lvl="1" algn="just"/>
            <a:r>
              <a:rPr lang="en-US" sz="2400" dirty="0"/>
              <a:t>More realistic evaluation about practical use of software</a:t>
            </a:r>
          </a:p>
          <a:p>
            <a:pPr lvl="1" algn="just"/>
            <a:r>
              <a:rPr lang="en-US" sz="2400" dirty="0"/>
              <a:t>Difficult to implement for replacement systems as increments have less functionality than the system being replaced</a:t>
            </a:r>
          </a:p>
          <a:p>
            <a:pPr lvl="1" algn="just"/>
            <a:endParaRPr lang="en-US" sz="2400" dirty="0"/>
          </a:p>
          <a:p>
            <a:pPr marL="0" indent="0" algn="just">
              <a:buNone/>
            </a:pPr>
            <a:endParaRPr lang="en-MY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095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Incremental Delivery </a:t>
            </a: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41</a:t>
            </a:fld>
            <a:endParaRPr lang="en-US"/>
          </a:p>
        </p:txBody>
      </p:sp>
      <p:pic>
        <p:nvPicPr>
          <p:cNvPr id="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905000"/>
            <a:ext cx="8229600" cy="3733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12712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Incremental Delivery Advantages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191000"/>
          </a:xfrm>
        </p:spPr>
        <p:txBody>
          <a:bodyPr>
            <a:normAutofit lnSpcReduction="10000"/>
          </a:bodyPr>
          <a:lstStyle/>
          <a:p>
            <a:pPr algn="just"/>
            <a:r>
              <a:rPr lang="en-GB" dirty="0"/>
              <a:t>Customer value can be delivered with each increment so system functionality is available earlier</a:t>
            </a:r>
          </a:p>
          <a:p>
            <a:pPr algn="just"/>
            <a:r>
              <a:rPr lang="en-GB" dirty="0"/>
              <a:t>Early increments </a:t>
            </a:r>
            <a:r>
              <a:rPr lang="en-GB" b="1" dirty="0">
                <a:solidFill>
                  <a:srgbClr val="C00000"/>
                </a:solidFill>
              </a:rPr>
              <a:t>act as a prototype </a:t>
            </a:r>
            <a:r>
              <a:rPr lang="en-GB" dirty="0"/>
              <a:t>to help elicit requirements for later increments</a:t>
            </a:r>
          </a:p>
          <a:p>
            <a:pPr algn="just"/>
            <a:r>
              <a:rPr lang="en-GB" dirty="0"/>
              <a:t>Lower risk of overall project failure</a:t>
            </a:r>
          </a:p>
          <a:p>
            <a:pPr algn="just"/>
            <a:r>
              <a:rPr lang="en-GB" dirty="0"/>
              <a:t>The </a:t>
            </a:r>
            <a:r>
              <a:rPr lang="en-GB" b="1" dirty="0">
                <a:solidFill>
                  <a:srgbClr val="C00000"/>
                </a:solidFill>
              </a:rPr>
              <a:t>highest priority </a:t>
            </a:r>
            <a:r>
              <a:rPr lang="en-GB" dirty="0"/>
              <a:t>system services tend to receive the </a:t>
            </a:r>
            <a:r>
              <a:rPr lang="en-GB" b="1" dirty="0">
                <a:solidFill>
                  <a:srgbClr val="C00000"/>
                </a:solidFill>
              </a:rPr>
              <a:t>most testing</a:t>
            </a:r>
            <a:endParaRPr lang="en-GB" dirty="0"/>
          </a:p>
          <a:p>
            <a:pPr marL="0" indent="0" algn="just">
              <a:buNone/>
            </a:pP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4807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Incremental Delivery Problems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GB" dirty="0"/>
              <a:t>Most systems require a set of basic facilities that are used by different parts of the system</a:t>
            </a:r>
          </a:p>
          <a:p>
            <a:pPr lvl="1" algn="just"/>
            <a:r>
              <a:rPr lang="en-GB" dirty="0"/>
              <a:t>As requirements are not defined in detail until an increment is to be implemented, it can be </a:t>
            </a:r>
            <a:r>
              <a:rPr lang="en-GB" b="1" dirty="0">
                <a:solidFill>
                  <a:srgbClr val="C00000"/>
                </a:solidFill>
              </a:rPr>
              <a:t>hard to identify common facilitie</a:t>
            </a:r>
            <a:r>
              <a:rPr lang="en-GB" dirty="0">
                <a:solidFill>
                  <a:srgbClr val="C00000"/>
                </a:solidFill>
              </a:rPr>
              <a:t>s </a:t>
            </a:r>
            <a:r>
              <a:rPr lang="en-GB" dirty="0"/>
              <a:t>that are needed by all increments </a:t>
            </a:r>
          </a:p>
          <a:p>
            <a:pPr algn="just"/>
            <a:r>
              <a:rPr lang="en-GB" dirty="0"/>
              <a:t>The essence of iterative processes is that the specification is developed in conjunction with the software</a:t>
            </a:r>
          </a:p>
          <a:p>
            <a:pPr lvl="1" algn="just"/>
            <a:r>
              <a:rPr lang="en-GB" dirty="0"/>
              <a:t>However, this </a:t>
            </a:r>
            <a:r>
              <a:rPr lang="en-GB" b="1" dirty="0">
                <a:solidFill>
                  <a:srgbClr val="C00000"/>
                </a:solidFill>
              </a:rPr>
              <a:t>conflicts with the procurement model </a:t>
            </a:r>
            <a:r>
              <a:rPr lang="en-GB" dirty="0"/>
              <a:t>of many organizations, where the complete system specification is part of the system development contract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8795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Boehm</a:t>
            </a:r>
            <a:r>
              <a:rPr lang="en-GB" altLang="en-US" dirty="0"/>
              <a:t>’</a:t>
            </a:r>
            <a:r>
              <a:rPr lang="en-GB" dirty="0"/>
              <a:t>s Spiral Model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1910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GB" dirty="0"/>
              <a:t>Process is represented as a spiral rather than as a sequence of activities with backtracking</a:t>
            </a:r>
          </a:p>
          <a:p>
            <a:pPr algn="just"/>
            <a:r>
              <a:rPr lang="en-GB" dirty="0"/>
              <a:t>Each loop in the </a:t>
            </a:r>
            <a:r>
              <a:rPr lang="en-GB" b="1" dirty="0">
                <a:solidFill>
                  <a:srgbClr val="C00000"/>
                </a:solidFill>
              </a:rPr>
              <a:t>spiral represents a phase </a:t>
            </a:r>
            <a:r>
              <a:rPr lang="en-GB" dirty="0"/>
              <a:t>in the process </a:t>
            </a:r>
          </a:p>
          <a:p>
            <a:pPr algn="just"/>
            <a:r>
              <a:rPr lang="en-GB" dirty="0"/>
              <a:t>No fixed phases such as specification or design</a:t>
            </a:r>
          </a:p>
          <a:p>
            <a:pPr lvl="1" algn="just"/>
            <a:r>
              <a:rPr lang="en-GB" dirty="0"/>
              <a:t>loops in the spiral are chosen depending on what is required</a:t>
            </a:r>
          </a:p>
          <a:p>
            <a:pPr algn="just"/>
            <a:r>
              <a:rPr lang="en-GB" b="1" dirty="0">
                <a:solidFill>
                  <a:srgbClr val="C00000"/>
                </a:solidFill>
              </a:rPr>
              <a:t>Risks</a:t>
            </a:r>
            <a:r>
              <a:rPr lang="en-GB" dirty="0"/>
              <a:t> are explicitly assessed and resolved throughout the process</a:t>
            </a:r>
          </a:p>
          <a:p>
            <a:pPr marL="0" indent="0" algn="just">
              <a:buNone/>
            </a:pP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8306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/>
              <a:t>Boehm</a:t>
            </a:r>
            <a:r>
              <a:rPr lang="en-GB" altLang="en-US" dirty="0"/>
              <a:t>’</a:t>
            </a:r>
            <a:r>
              <a:rPr lang="en-GB" dirty="0"/>
              <a:t>s Spiral Model of the Software Process </a:t>
            </a: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45</a:t>
            </a:fld>
            <a:endParaRPr lang="en-US"/>
          </a:p>
        </p:txBody>
      </p:sp>
      <p:pic>
        <p:nvPicPr>
          <p:cNvPr id="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65581"/>
            <a:ext cx="8229600" cy="4582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05561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Spiral Model Sectors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GB" dirty="0"/>
              <a:t>Objective setting</a:t>
            </a:r>
          </a:p>
          <a:p>
            <a:pPr lvl="1" algn="just"/>
            <a:r>
              <a:rPr lang="en-GB" dirty="0"/>
              <a:t>Specific objectives for the phase are identified</a:t>
            </a:r>
          </a:p>
          <a:p>
            <a:pPr algn="just"/>
            <a:r>
              <a:rPr lang="en-GB" dirty="0"/>
              <a:t>Risk assessment and reduction</a:t>
            </a:r>
          </a:p>
          <a:p>
            <a:pPr lvl="1" algn="just"/>
            <a:r>
              <a:rPr lang="en-GB" dirty="0"/>
              <a:t>Risks are assessed and activities put in place to reduce the key risks</a:t>
            </a:r>
          </a:p>
          <a:p>
            <a:pPr algn="just"/>
            <a:r>
              <a:rPr lang="en-GB" dirty="0"/>
              <a:t>Development and validation</a:t>
            </a:r>
          </a:p>
          <a:p>
            <a:pPr lvl="1" algn="just"/>
            <a:r>
              <a:rPr lang="en-GB" dirty="0"/>
              <a:t>A development model for the system is chosen  which can be any of the generic models</a:t>
            </a:r>
          </a:p>
          <a:p>
            <a:pPr algn="just"/>
            <a:r>
              <a:rPr lang="en-GB" dirty="0"/>
              <a:t>Planning</a:t>
            </a:r>
          </a:p>
          <a:p>
            <a:pPr lvl="1" algn="just"/>
            <a:r>
              <a:rPr lang="en-GB" dirty="0"/>
              <a:t>The project is reviewed and the next phase of the spiral is planned</a:t>
            </a:r>
          </a:p>
          <a:p>
            <a:pPr marL="0" indent="0" algn="just">
              <a:buNone/>
            </a:pP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0157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Spiral Model Usage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4290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Spiral model has been very influential in helping people think about iteration in software processes and introducing the </a:t>
            </a:r>
            <a:r>
              <a:rPr lang="en-US" b="1" dirty="0">
                <a:solidFill>
                  <a:srgbClr val="C00000"/>
                </a:solidFill>
              </a:rPr>
              <a:t>risk-driven approach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to development</a:t>
            </a:r>
          </a:p>
          <a:p>
            <a:pPr algn="just"/>
            <a:r>
              <a:rPr lang="en-US" dirty="0"/>
              <a:t>In practice, however, the model is rarely used as published for practical software development</a:t>
            </a:r>
          </a:p>
          <a:p>
            <a:pPr marL="0" indent="0" algn="just">
              <a:buNone/>
            </a:pP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1839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Rational </a:t>
            </a:r>
            <a:r>
              <a:rPr lang="en-US"/>
              <a:t>Unified Process (RUP)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A modern generic process derived from the work on the UML and associated process</a:t>
            </a:r>
          </a:p>
          <a:p>
            <a:pPr algn="just"/>
            <a:r>
              <a:rPr lang="en-US" dirty="0"/>
              <a:t>Brings together aspects of the 3 generic process models discussed previously</a:t>
            </a:r>
          </a:p>
          <a:p>
            <a:pPr algn="just"/>
            <a:r>
              <a:rPr lang="en-US" dirty="0"/>
              <a:t>Normally described from 3 perspectives:</a:t>
            </a:r>
          </a:p>
          <a:p>
            <a:pPr lvl="1" algn="just"/>
            <a:r>
              <a:rPr lang="en-US" dirty="0"/>
              <a:t>A </a:t>
            </a:r>
            <a:r>
              <a:rPr lang="en-US" b="1" dirty="0">
                <a:solidFill>
                  <a:srgbClr val="C00000"/>
                </a:solidFill>
              </a:rPr>
              <a:t>dynamic</a:t>
            </a:r>
            <a:r>
              <a:rPr lang="en-US" dirty="0"/>
              <a:t> perspective that shows phases over time</a:t>
            </a:r>
          </a:p>
          <a:p>
            <a:pPr lvl="1" algn="just"/>
            <a:r>
              <a:rPr lang="en-US" dirty="0"/>
              <a:t>A </a:t>
            </a:r>
            <a:r>
              <a:rPr lang="en-US" b="1" dirty="0">
                <a:solidFill>
                  <a:srgbClr val="C00000"/>
                </a:solidFill>
              </a:rPr>
              <a:t>static</a:t>
            </a:r>
            <a:r>
              <a:rPr lang="en-US" dirty="0"/>
              <a:t> perspective that shows process activities</a:t>
            </a:r>
          </a:p>
          <a:p>
            <a:pPr lvl="1" algn="just"/>
            <a:r>
              <a:rPr lang="en-US" dirty="0"/>
              <a:t>A </a:t>
            </a:r>
            <a:r>
              <a:rPr lang="en-US" b="1" dirty="0">
                <a:solidFill>
                  <a:srgbClr val="C00000"/>
                </a:solidFill>
              </a:rPr>
              <a:t>practice</a:t>
            </a:r>
            <a:r>
              <a:rPr lang="en-US" dirty="0"/>
              <a:t> perspective that suggests good practice</a:t>
            </a:r>
          </a:p>
          <a:p>
            <a:pPr marL="0" indent="0" algn="just">
              <a:buNone/>
            </a:pP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6328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/>
              <a:t>Phases in </a:t>
            </a:r>
            <a:r>
              <a:rPr lang="en-GB"/>
              <a:t>the RUP</a:t>
            </a: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49</a:t>
            </a:fld>
            <a:endParaRPr lang="en-US"/>
          </a:p>
        </p:txBody>
      </p:sp>
      <p:pic>
        <p:nvPicPr>
          <p:cNvPr id="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981200"/>
            <a:ext cx="7870371" cy="3352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142410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>
                <a:latin typeface="Calibri" panose="020F0502020204030204" pitchFamily="34" charset="0"/>
              </a:rPr>
              <a:t>Iterative and Incremental Process in RUP</a:t>
            </a: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50</a:t>
            </a:fld>
            <a:endParaRPr lang="en-US"/>
          </a:p>
        </p:txBody>
      </p:sp>
      <p:pic>
        <p:nvPicPr>
          <p:cNvPr id="7" name="Picture 4" descr="http://blog.sylvainliege.com/wp-content/uploads/2013/01/UP-iterations.gif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439678"/>
            <a:ext cx="8229599" cy="4961122"/>
          </a:xfrm>
          <a:noFill/>
        </p:spPr>
      </p:pic>
    </p:spTree>
    <p:extLst>
      <p:ext uri="{BB962C8B-B14F-4D97-AF65-F5344CB8AC3E}">
        <p14:creationId xmlns:p14="http://schemas.microsoft.com/office/powerpoint/2010/main" val="428350548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RUP Phases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Inception</a:t>
            </a:r>
          </a:p>
          <a:p>
            <a:pPr lvl="1" algn="just"/>
            <a:r>
              <a:rPr lang="en-US" dirty="0"/>
              <a:t>Establish the business case for the system</a:t>
            </a:r>
          </a:p>
          <a:p>
            <a:pPr algn="just"/>
            <a:r>
              <a:rPr lang="en-US" dirty="0"/>
              <a:t>Elaboration</a:t>
            </a:r>
          </a:p>
          <a:p>
            <a:pPr lvl="1" algn="just"/>
            <a:r>
              <a:rPr lang="en-US" dirty="0"/>
              <a:t>Develop an understanding of the problem domain and the system architecture</a:t>
            </a:r>
          </a:p>
          <a:p>
            <a:pPr algn="just"/>
            <a:r>
              <a:rPr lang="en-US" dirty="0"/>
              <a:t>Construction</a:t>
            </a:r>
          </a:p>
          <a:p>
            <a:pPr lvl="1" algn="just"/>
            <a:r>
              <a:rPr lang="en-US" dirty="0"/>
              <a:t>System design, programming and testing</a:t>
            </a:r>
          </a:p>
          <a:p>
            <a:pPr algn="just"/>
            <a:r>
              <a:rPr lang="en-US" dirty="0"/>
              <a:t>Transition</a:t>
            </a:r>
          </a:p>
          <a:p>
            <a:pPr lvl="1" algn="just"/>
            <a:r>
              <a:rPr lang="en-US" dirty="0"/>
              <a:t>Deploy the system in its operating environment</a:t>
            </a:r>
          </a:p>
          <a:p>
            <a:pPr marL="0" indent="0" algn="just">
              <a:buNone/>
            </a:pP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72198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RUP Iteration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In-phase iteration</a:t>
            </a:r>
          </a:p>
          <a:p>
            <a:pPr lvl="1" algn="just"/>
            <a:r>
              <a:rPr lang="en-US" dirty="0"/>
              <a:t>Each phase is iterative with results developed incrementally</a:t>
            </a:r>
          </a:p>
          <a:p>
            <a:pPr marL="457200" lvl="1" indent="0" algn="just">
              <a:buNone/>
            </a:pPr>
            <a:endParaRPr lang="en-US" dirty="0"/>
          </a:p>
          <a:p>
            <a:pPr algn="just"/>
            <a:r>
              <a:rPr lang="en-US" dirty="0"/>
              <a:t>Cross-phase iteration</a:t>
            </a:r>
          </a:p>
          <a:p>
            <a:pPr lvl="1" algn="just"/>
            <a:r>
              <a:rPr lang="en-US" dirty="0"/>
              <a:t>As shown by the loop in the RUP model, the whole set of phases may be enacted incrementally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12590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/>
              <a:t>Static Workflows in </a:t>
            </a:r>
            <a:r>
              <a:rPr lang="en-GB"/>
              <a:t>the RUP…</a:t>
            </a:r>
            <a:endParaRPr lang="en-MY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3475026"/>
              </p:ext>
            </p:extLst>
          </p:nvPr>
        </p:nvGraphicFramePr>
        <p:xfrm>
          <a:off x="450477" y="1600200"/>
          <a:ext cx="8229600" cy="45957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7912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12030">
                <a:tc>
                  <a:txBody>
                    <a:bodyPr/>
                    <a:lstStyle/>
                    <a:p>
                      <a:pPr algn="ctr"/>
                      <a:r>
                        <a:rPr lang="en-MY" sz="2000" dirty="0"/>
                        <a:t>Workflow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000" dirty="0"/>
                        <a:t>Description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28975">
                <a:tc>
                  <a:txBody>
                    <a:bodyPr/>
                    <a:lstStyle/>
                    <a:p>
                      <a:pPr algn="just"/>
                      <a:r>
                        <a:rPr lang="en-MY" sz="2000" dirty="0"/>
                        <a:t>Business</a:t>
                      </a:r>
                      <a:r>
                        <a:rPr lang="en-MY" sz="2000" baseline="0" dirty="0"/>
                        <a:t> modelling</a:t>
                      </a: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2000" dirty="0"/>
                        <a:t>The business processes are modelled using business use cases.</a:t>
                      </a:r>
                      <a:endParaRPr lang="en-GB" sz="20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045920">
                <a:tc>
                  <a:txBody>
                    <a:bodyPr/>
                    <a:lstStyle/>
                    <a:p>
                      <a:pPr algn="just"/>
                      <a:r>
                        <a:rPr lang="en-MY" sz="2000" dirty="0"/>
                        <a:t>Requirements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/>
                        <a:t>Actors who interact with the system are identified and use cases are developed to model the system requirements.</a:t>
                      </a:r>
                      <a:endParaRPr lang="en-MY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045920">
                <a:tc>
                  <a:txBody>
                    <a:bodyPr/>
                    <a:lstStyle/>
                    <a:p>
                      <a:pPr algn="just"/>
                      <a:r>
                        <a:rPr lang="en-MY" sz="2000" dirty="0"/>
                        <a:t>Analysis</a:t>
                      </a:r>
                      <a:r>
                        <a:rPr lang="en-MY" sz="2000" baseline="0" dirty="0"/>
                        <a:t> and Design</a:t>
                      </a: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/>
                        <a:t>A design model is created and documented using architectural models, component models, object models and sequence models.</a:t>
                      </a:r>
                      <a:endParaRPr lang="en-MY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362866">
                <a:tc>
                  <a:txBody>
                    <a:bodyPr/>
                    <a:lstStyle/>
                    <a:p>
                      <a:pPr algn="just"/>
                      <a:r>
                        <a:rPr lang="en-MY" sz="2000" dirty="0"/>
                        <a:t>Implementation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2000" dirty="0"/>
                        <a:t>The components in the system are implemented and structured into implementation sub-systems. Automatic code generation from design models helps accelerate this process.</a:t>
                      </a:r>
                      <a:endParaRPr lang="en-GB" sz="20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72811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/>
              <a:t>Static Workflows in </a:t>
            </a:r>
            <a:r>
              <a:rPr lang="en-GB"/>
              <a:t>the RUP</a:t>
            </a:r>
            <a:endParaRPr lang="en-MY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9637406"/>
              </p:ext>
            </p:extLst>
          </p:nvPr>
        </p:nvGraphicFramePr>
        <p:xfrm>
          <a:off x="457200" y="1600200"/>
          <a:ext cx="8229600" cy="451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7912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sz="2000" dirty="0"/>
                        <a:t>Workflow</a:t>
                      </a:r>
                      <a:r>
                        <a:rPr lang="en-MY" sz="2000" baseline="0" dirty="0"/>
                        <a:t> </a:t>
                      </a: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000" dirty="0"/>
                        <a:t>Description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MY" sz="2000" dirty="0"/>
                        <a:t>Testing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/>
                        <a:t>Testing is an iterative process that is carried out in conjunction with implementation. System testing follows the completion of the implementation.</a:t>
                      </a:r>
                      <a:endParaRPr lang="en-MY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MY" sz="2000" dirty="0"/>
                        <a:t>Deployment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2000" dirty="0"/>
                        <a:t>A product release is created, distributed to users and installed in their workplace.</a:t>
                      </a:r>
                      <a:endParaRPr lang="en-GB" sz="20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MY" sz="2000" dirty="0"/>
                        <a:t>Configuration and Change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2000" dirty="0"/>
                        <a:t>This supporting </a:t>
                      </a:r>
                      <a:r>
                        <a:rPr lang="en-GB" sz="2000"/>
                        <a:t>workflow manages </a:t>
                      </a:r>
                      <a:r>
                        <a:rPr lang="en-GB" sz="2000" dirty="0"/>
                        <a:t>changes to </a:t>
                      </a:r>
                      <a:r>
                        <a:rPr lang="en-GB" sz="2000"/>
                        <a:t>the system.</a:t>
                      </a:r>
                      <a:endParaRPr lang="en-GB" sz="20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MY" sz="2000" dirty="0"/>
                        <a:t>Project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/>
                        <a:t>This supporting workflow manages the </a:t>
                      </a:r>
                      <a:r>
                        <a:rPr lang="en-GB" sz="2000"/>
                        <a:t>system development.</a:t>
                      </a:r>
                      <a:endParaRPr lang="en-MY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MY" sz="2000" dirty="0"/>
                        <a:t>Environment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2000" dirty="0"/>
                        <a:t>This workflow is concerned with making appropriate software tools available to the software development team.</a:t>
                      </a:r>
                      <a:endParaRPr lang="en-GB" sz="20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10170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RUP </a:t>
            </a:r>
            <a:r>
              <a:rPr lang="en-US"/>
              <a:t>Good Practice…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Develop software iteratively</a:t>
            </a:r>
          </a:p>
          <a:p>
            <a:pPr lvl="1" algn="just"/>
            <a:r>
              <a:rPr lang="en-US" dirty="0"/>
              <a:t>Plan increments based on customer priorities and deliver highest priority increments first</a:t>
            </a:r>
          </a:p>
          <a:p>
            <a:pPr algn="just"/>
            <a:r>
              <a:rPr lang="en-US" dirty="0"/>
              <a:t>Manage requirements</a:t>
            </a:r>
          </a:p>
          <a:p>
            <a:pPr lvl="1" algn="just"/>
            <a:r>
              <a:rPr lang="en-US" dirty="0"/>
              <a:t>Explicitly document customer requirements and keep track of changes to these requirements</a:t>
            </a:r>
          </a:p>
          <a:p>
            <a:pPr algn="just"/>
            <a:r>
              <a:rPr lang="en-US" dirty="0"/>
              <a:t>Use component-based architectures</a:t>
            </a:r>
          </a:p>
          <a:p>
            <a:pPr lvl="1" algn="just"/>
            <a:r>
              <a:rPr lang="en-US" dirty="0"/>
              <a:t>Organize the system architecture as a set of reusable components</a:t>
            </a:r>
          </a:p>
          <a:p>
            <a:pPr marL="0" indent="0" algn="just">
              <a:buNone/>
            </a:pP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83318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RUP Good Practice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Visually model software</a:t>
            </a:r>
          </a:p>
          <a:p>
            <a:pPr lvl="1" algn="just"/>
            <a:r>
              <a:rPr lang="en-US" dirty="0"/>
              <a:t>Use graphical UML models to present static and dynamic views of the software</a:t>
            </a:r>
          </a:p>
          <a:p>
            <a:pPr algn="just"/>
            <a:r>
              <a:rPr lang="en-US" dirty="0"/>
              <a:t>Verify software quality</a:t>
            </a:r>
          </a:p>
          <a:p>
            <a:pPr lvl="1" algn="just"/>
            <a:r>
              <a:rPr lang="en-US" dirty="0"/>
              <a:t>Ensure that the software meet</a:t>
            </a:r>
            <a:r>
              <a:rPr lang="en-MY" dirty="0"/>
              <a:t>’</a:t>
            </a:r>
            <a:r>
              <a:rPr lang="en-US" altLang="ja-JP" dirty="0"/>
              <a:t>s organizational quality standards</a:t>
            </a:r>
          </a:p>
          <a:p>
            <a:pPr algn="just"/>
            <a:r>
              <a:rPr lang="en-US" dirty="0"/>
              <a:t>Control changes to software</a:t>
            </a:r>
          </a:p>
          <a:p>
            <a:pPr lvl="1" algn="just"/>
            <a:r>
              <a:rPr lang="en-US" dirty="0"/>
              <a:t>Manage software changes using a change management system and configuration management tools</a:t>
            </a:r>
          </a:p>
          <a:p>
            <a:pPr marL="0" indent="0" algn="just">
              <a:buNone/>
            </a:pP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36988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Points…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GB" dirty="0"/>
              <a:t>Software processes are the activities involved in producing a software system. Software process models are abstract representations of these processes.</a:t>
            </a:r>
          </a:p>
          <a:p>
            <a:pPr algn="just"/>
            <a:r>
              <a:rPr lang="en-GB" dirty="0"/>
              <a:t>General process models describe the organization of software processes. Examples of these general models include the </a:t>
            </a:r>
            <a:r>
              <a:rPr lang="en-GB" altLang="en-US" dirty="0"/>
              <a:t>‘</a:t>
            </a:r>
            <a:r>
              <a:rPr lang="en-GB" dirty="0"/>
              <a:t>waterfall</a:t>
            </a:r>
            <a:r>
              <a:rPr lang="en-GB" altLang="en-US" dirty="0"/>
              <a:t>’</a:t>
            </a:r>
            <a:r>
              <a:rPr lang="en-GB" dirty="0"/>
              <a:t> model,  incremental development, and </a:t>
            </a:r>
            <a:r>
              <a:rPr lang="en-GB"/>
              <a:t>reuse-oriented development.</a:t>
            </a:r>
          </a:p>
          <a:p>
            <a:pPr algn="just"/>
            <a:r>
              <a:rPr lang="en-GB"/>
              <a:t>Requirements engineering is the process of developing a software specification.</a:t>
            </a:r>
          </a:p>
          <a:p>
            <a:pPr marL="0" indent="0" algn="just">
              <a:buNone/>
            </a:pP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16530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Points…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GB"/>
              <a:t>Design </a:t>
            </a:r>
            <a:r>
              <a:rPr lang="en-GB" dirty="0"/>
              <a:t>and implementation processes are concerned with transforming a requirements specification into an executable software system. </a:t>
            </a:r>
          </a:p>
          <a:p>
            <a:pPr algn="just"/>
            <a:r>
              <a:rPr lang="en-GB" dirty="0"/>
              <a:t>Software validation is the process of checking that the system conforms to its specification and that it meets the real needs of the users of the system.</a:t>
            </a:r>
          </a:p>
          <a:p>
            <a:pPr algn="just"/>
            <a:r>
              <a:rPr lang="en-GB" dirty="0"/>
              <a:t>Software evolution takes place when you change existing software systems to meet new requirements. The software must evolve to remain useful.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33296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Points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GB" dirty="0"/>
              <a:t>Processes should include activities to cope with change. This may involve a prototyping phase that helps avoid poor decisions on requirements and design. </a:t>
            </a:r>
          </a:p>
          <a:p>
            <a:pPr algn="just"/>
            <a:r>
              <a:rPr lang="en-GB" dirty="0"/>
              <a:t>Processes may be structured for iterative development and delivery so that changes may be made without disrupting the system as a whole.</a:t>
            </a:r>
          </a:p>
          <a:p>
            <a:pPr algn="just"/>
            <a:r>
              <a:rPr lang="en-GB" dirty="0"/>
              <a:t>The Rational Unified Process is a modern generic process model that is organized into phases (inception, elaboration, construction and transition) but separates activities (requirements, analysis and design, etc.) from these phases.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339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947</TotalTime>
  <Words>3083</Words>
  <Application>Microsoft Office PowerPoint</Application>
  <PresentationFormat>On-screen Show (4:3)</PresentationFormat>
  <Paragraphs>494</Paragraphs>
  <Slides>59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59</vt:i4>
      </vt:variant>
    </vt:vector>
  </HeadingPairs>
  <TitlesOfParts>
    <vt:vector size="68" baseType="lpstr">
      <vt:lpstr>MS PGothic</vt:lpstr>
      <vt:lpstr>MS PGothic</vt:lpstr>
      <vt:lpstr>Arial</vt:lpstr>
      <vt:lpstr>Baskerville Old Face</vt:lpstr>
      <vt:lpstr>Calibri</vt:lpstr>
      <vt:lpstr>Helvetica</vt:lpstr>
      <vt:lpstr>Times New Roman</vt:lpstr>
      <vt:lpstr>Office Theme</vt:lpstr>
      <vt:lpstr>Custom Design</vt:lpstr>
      <vt:lpstr>Module 2: Software Process Model</vt:lpstr>
      <vt:lpstr>Outline</vt:lpstr>
      <vt:lpstr>Objectives</vt:lpstr>
      <vt:lpstr>Recap: What is Software Engineering?</vt:lpstr>
      <vt:lpstr>The Role of Process</vt:lpstr>
      <vt:lpstr>The Software Process</vt:lpstr>
      <vt:lpstr>Software Process Descriptions</vt:lpstr>
      <vt:lpstr>Process Descriptions</vt:lpstr>
      <vt:lpstr>Plan-Driven and Agile Processes</vt:lpstr>
      <vt:lpstr>Software Process Models</vt:lpstr>
      <vt:lpstr> The Waterfall Model </vt:lpstr>
      <vt:lpstr>Waterfall Model Phases</vt:lpstr>
      <vt:lpstr>Waterfall Model Problems</vt:lpstr>
      <vt:lpstr>Incremental Development </vt:lpstr>
      <vt:lpstr>Incremental Development Benefits</vt:lpstr>
      <vt:lpstr>Incremental Development Problems</vt:lpstr>
      <vt:lpstr>Reuse-Oriented Software Engineering…</vt:lpstr>
      <vt:lpstr>Reuse-Oriented Software Engineering</vt:lpstr>
      <vt:lpstr>Types of Software Component</vt:lpstr>
      <vt:lpstr>Process Activities</vt:lpstr>
      <vt:lpstr>Software Specification</vt:lpstr>
      <vt:lpstr>The Requirements Engineering Process</vt:lpstr>
      <vt:lpstr>Software Design and Implementation</vt:lpstr>
      <vt:lpstr>A General Model of the Design Process</vt:lpstr>
      <vt:lpstr>Design Activities</vt:lpstr>
      <vt:lpstr>Software Validation</vt:lpstr>
      <vt:lpstr> Stages of Testing </vt:lpstr>
      <vt:lpstr>Testing Stages</vt:lpstr>
      <vt:lpstr>Testing Phases in a Plan-Driven Software Process</vt:lpstr>
      <vt:lpstr>Software Evolution</vt:lpstr>
      <vt:lpstr>System Evolution </vt:lpstr>
      <vt:lpstr>Coping With Change</vt:lpstr>
      <vt:lpstr>Reducing the Costs of Rework</vt:lpstr>
      <vt:lpstr>Software Prototyping</vt:lpstr>
      <vt:lpstr>Benefits of Prototyping</vt:lpstr>
      <vt:lpstr>The Process of Prototype Development</vt:lpstr>
      <vt:lpstr>Prototype Development</vt:lpstr>
      <vt:lpstr>Throw-Away Prototypes</vt:lpstr>
      <vt:lpstr>Incremental Delivery</vt:lpstr>
      <vt:lpstr>Incremental Development and Delivery</vt:lpstr>
      <vt:lpstr>Incremental Delivery </vt:lpstr>
      <vt:lpstr>Incremental Delivery Advantages</vt:lpstr>
      <vt:lpstr>Incremental Delivery Problems</vt:lpstr>
      <vt:lpstr>Boehm’s Spiral Model</vt:lpstr>
      <vt:lpstr>Boehm’s Spiral Model of the Software Process </vt:lpstr>
      <vt:lpstr>Spiral Model Sectors</vt:lpstr>
      <vt:lpstr>Spiral Model Usage</vt:lpstr>
      <vt:lpstr>The Rational Unified Process (RUP)</vt:lpstr>
      <vt:lpstr>Phases in the RUP</vt:lpstr>
      <vt:lpstr>Iterative and Incremental Process in RUP</vt:lpstr>
      <vt:lpstr>RUP Phases</vt:lpstr>
      <vt:lpstr>RUP Iteration</vt:lpstr>
      <vt:lpstr>Static Workflows in the RUP…</vt:lpstr>
      <vt:lpstr>Static Workflows in the RUP</vt:lpstr>
      <vt:lpstr>RUP Good Practice…</vt:lpstr>
      <vt:lpstr>RUP Good Practice</vt:lpstr>
      <vt:lpstr>Key Points…</vt:lpstr>
      <vt:lpstr>Key Points…</vt:lpstr>
      <vt:lpstr>Key Points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Referee</dc:creator>
  <cp:lastModifiedBy>HP</cp:lastModifiedBy>
  <cp:revision>253</cp:revision>
  <dcterms:created xsi:type="dcterms:W3CDTF">2012-07-30T02:22:03Z</dcterms:created>
  <dcterms:modified xsi:type="dcterms:W3CDTF">2020-02-17T01:47:01Z</dcterms:modified>
</cp:coreProperties>
</file>