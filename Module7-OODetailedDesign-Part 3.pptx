
<file path=[Content_Types].xml><?xml version="1.0" encoding="utf-8"?>
<Types xmlns="http://schemas.openxmlformats.org/package/2006/content-types">
  <Default Extension="jpeg" ContentType="image/jpeg"/>
  <Default Extension="m4a" ContentType="audio/mp4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notesMasterIdLst>
    <p:notesMasterId r:id="rId13"/>
  </p:notesMasterIdLst>
  <p:sldIdLst>
    <p:sldId id="708" r:id="rId2"/>
    <p:sldId id="659" r:id="rId3"/>
    <p:sldId id="660" r:id="rId4"/>
    <p:sldId id="662" r:id="rId5"/>
    <p:sldId id="617" r:id="rId6"/>
    <p:sldId id="446" r:id="rId7"/>
    <p:sldId id="463" r:id="rId8"/>
    <p:sldId id="465" r:id="rId9"/>
    <p:sldId id="667" r:id="rId10"/>
    <p:sldId id="466" r:id="rId11"/>
    <p:sldId id="719" r:id="rId1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995" autoAdjust="0"/>
    <p:restoredTop sz="94660"/>
  </p:normalViewPr>
  <p:slideViewPr>
    <p:cSldViewPr snapToGrid="0">
      <p:cViewPr varScale="1">
        <p:scale>
          <a:sx n="67" d="100"/>
          <a:sy n="67" d="100"/>
        </p:scale>
        <p:origin x="644" y="3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MY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45A5506-7249-486F-BB41-80DDA025F929}" type="datetimeFigureOut">
              <a:rPr lang="en-MY" smtClean="0"/>
              <a:t>22/4/2020</a:t>
            </a:fld>
            <a:endParaRPr lang="en-MY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MY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MY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MY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1C40F5B5-3FBD-4A4E-8805-F5B5402E3316}" type="slidenum">
              <a:rPr lang="en-MY" smtClean="0"/>
              <a:t>‹#›</a:t>
            </a:fld>
            <a:endParaRPr lang="en-MY"/>
          </a:p>
        </p:txBody>
      </p:sp>
    </p:spTree>
    <p:extLst>
      <p:ext uri="{BB962C8B-B14F-4D97-AF65-F5344CB8AC3E}">
        <p14:creationId xmlns:p14="http://schemas.microsoft.com/office/powerpoint/2010/main" val="174232437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MY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2818F6A6-5BDF-41D7-9B84-3DCB4D0C04F4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9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562723242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914400" y="2130426"/>
            <a:ext cx="103632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828800" y="3886200"/>
            <a:ext cx="85344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2020</a:t>
            </a: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Software Engineering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362C787-829C-4B6B-B21B-90D8981190F3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7837804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2020</a:t>
            </a: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Software Engineering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362C787-829C-4B6B-B21B-90D8981190F3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9119918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63084" y="4406901"/>
            <a:ext cx="103632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63084" y="2906713"/>
            <a:ext cx="103632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2020</a:t>
            </a: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Software Engineering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362C787-829C-4B6B-B21B-90D8981190F3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1414420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09600" y="1600201"/>
            <a:ext cx="53848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97600" y="1600201"/>
            <a:ext cx="53848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2020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Software Engineering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362C787-829C-4B6B-B21B-90D8981190F3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0265868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600" y="1535113"/>
            <a:ext cx="5386917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09600" y="2174875"/>
            <a:ext cx="5386917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93368" y="1535113"/>
            <a:ext cx="5389033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93368" y="2174875"/>
            <a:ext cx="5389033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2020</a:t>
            </a:r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Software Engineering</a:t>
            </a:r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362C787-829C-4B6B-B21B-90D8981190F3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7140451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2020</a:t>
            </a: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Software Engineering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362C787-829C-4B6B-B21B-90D8981190F3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5296153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2020</a:t>
            </a:r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Software Engineering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362C787-829C-4B6B-B21B-90D8981190F3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2225569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1" y="273050"/>
            <a:ext cx="4011084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66733" y="273051"/>
            <a:ext cx="6815667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09601" y="1435101"/>
            <a:ext cx="4011084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2020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Software Engineering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362C787-829C-4B6B-B21B-90D8981190F3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1966363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389717" y="4800600"/>
            <a:ext cx="73152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2389717" y="612775"/>
            <a:ext cx="73152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389717" y="5367338"/>
            <a:ext cx="73152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2020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Software Engineering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362C787-829C-4B6B-B21B-90D8981190F3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1037515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2020</a:t>
            </a: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Software Engineering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362C787-829C-4B6B-B21B-90D8981190F3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9188260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839200" y="274639"/>
            <a:ext cx="27432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09600" y="274639"/>
            <a:ext cx="80264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2020</a:t>
            </a: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Software Engineering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362C787-829C-4B6B-B21B-90D8981190F3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064997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pn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image" Target="../media/image3.png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image" Target="../media/image2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10"/>
          <p:cNvPicPr>
            <a:picLocks noChangeAspect="1" noChangeArrowheads="1"/>
          </p:cNvPicPr>
          <p:nvPr userDrawn="1"/>
        </p:nvPicPr>
        <p:blipFill>
          <a:blip r:embed="rId13" cstate="print"/>
          <a:srcRect/>
          <a:stretch>
            <a:fillRect/>
          </a:stretch>
        </p:blipFill>
        <p:spPr bwMode="auto">
          <a:xfrm>
            <a:off x="-996" y="6487367"/>
            <a:ext cx="12175067" cy="35718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9" name="Rectangle 19"/>
          <p:cNvSpPr>
            <a:spLocks noChangeArrowheads="1"/>
          </p:cNvSpPr>
          <p:nvPr userDrawn="1"/>
        </p:nvSpPr>
        <p:spPr bwMode="auto">
          <a:xfrm>
            <a:off x="0" y="0"/>
            <a:ext cx="12192000" cy="1417638"/>
          </a:xfrm>
          <a:prstGeom prst="rect">
            <a:avLst/>
          </a:prstGeom>
          <a:solidFill>
            <a:srgbClr val="FFE1AD"/>
          </a:solidFill>
          <a:ln w="9525">
            <a:noFill/>
            <a:miter lim="800000"/>
            <a:headEnd/>
            <a:tailEnd/>
          </a:ln>
          <a:effectLst/>
        </p:spPr>
        <p:txBody>
          <a:bodyPr wrap="none" anchor="ctr"/>
          <a:lstStyle/>
          <a:p>
            <a:pPr>
              <a:defRPr/>
            </a:pPr>
            <a:endParaRPr lang="en-US" sz="1800" dirty="0">
              <a:ea typeface="ＭＳ Ｐゴシック" pitchFamily="-112" charset="-128"/>
            </a:endParaRPr>
          </a:p>
        </p:txBody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9728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dirty="0"/>
              <a:t>Click to edit Master title style</a:t>
            </a:r>
          </a:p>
        </p:txBody>
      </p:sp>
      <p:pic>
        <p:nvPicPr>
          <p:cNvPr id="10" name="Picture 20" descr="header_UTM"/>
          <p:cNvPicPr>
            <a:picLocks noChangeAspect="1" noChangeArrowheads="1"/>
          </p:cNvPicPr>
          <p:nvPr userDrawn="1"/>
        </p:nvPicPr>
        <p:blipFill>
          <a:blip r:embed="rId14" cstate="print"/>
          <a:srcRect/>
          <a:stretch>
            <a:fillRect/>
          </a:stretch>
        </p:blipFill>
        <p:spPr bwMode="auto">
          <a:xfrm>
            <a:off x="84667" y="106364"/>
            <a:ext cx="1593851" cy="39528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11" name="Picture 22" descr="header_url"/>
          <p:cNvPicPr>
            <a:picLocks noChangeAspect="1" noChangeArrowheads="1"/>
          </p:cNvPicPr>
          <p:nvPr userDrawn="1"/>
        </p:nvPicPr>
        <p:blipFill>
          <a:blip r:embed="rId15" cstate="print"/>
          <a:srcRect/>
          <a:stretch>
            <a:fillRect/>
          </a:stretch>
        </p:blipFill>
        <p:spPr bwMode="auto">
          <a:xfrm>
            <a:off x="0" y="1169894"/>
            <a:ext cx="3168651" cy="2555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600" y="1600201"/>
            <a:ext cx="109728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09600" y="6598397"/>
            <a:ext cx="284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ysClr val="windowText" lastClr="000000"/>
                </a:solidFill>
              </a:defRPr>
            </a:lvl1pPr>
          </a:lstStyle>
          <a:p>
            <a:r>
              <a:rPr lang="en-US"/>
              <a:t>2020</a:t>
            </a:r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293036" y="6620436"/>
            <a:ext cx="5588000" cy="30480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ysClr val="windowText" lastClr="000000"/>
                </a:solidFill>
              </a:defRPr>
            </a:lvl1pPr>
          </a:lstStyle>
          <a:p>
            <a:r>
              <a:rPr lang="en-US"/>
              <a:t>Software Engineering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737600" y="6598397"/>
            <a:ext cx="284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ysClr val="windowText" lastClr="000000"/>
                </a:solidFill>
              </a:defRPr>
            </a:lvl1pPr>
          </a:lstStyle>
          <a:p>
            <a:fld id="{0362C787-829C-4B6B-B21B-90D8981190F3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92834329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hf hdr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audio" Target="../media/media1.m4a"/><Relationship Id="rId1" Type="http://schemas.microsoft.com/office/2007/relationships/media" Target="../media/media1.m4a"/><Relationship Id="rId4" Type="http://schemas.openxmlformats.org/officeDocument/2006/relationships/image" Target="../media/image4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audio" Target="../media/media2.m4a"/><Relationship Id="rId1" Type="http://schemas.microsoft.com/office/2007/relationships/media" Target="../media/media2.m4a"/><Relationship Id="rId4" Type="http://schemas.openxmlformats.org/officeDocument/2006/relationships/image" Target="../media/image4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audio" Target="../media/media3.m4a"/><Relationship Id="rId1" Type="http://schemas.microsoft.com/office/2007/relationships/media" Target="../media/media3.m4a"/><Relationship Id="rId5" Type="http://schemas.openxmlformats.org/officeDocument/2006/relationships/image" Target="../media/image4.png"/><Relationship Id="rId4" Type="http://schemas.openxmlformats.org/officeDocument/2006/relationships/image" Target="../media/image5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audio" Target="../media/media4.m4a"/><Relationship Id="rId1" Type="http://schemas.microsoft.com/office/2007/relationships/media" Target="../media/media4.m4a"/><Relationship Id="rId6" Type="http://schemas.openxmlformats.org/officeDocument/2006/relationships/image" Target="../media/image4.png"/><Relationship Id="rId5" Type="http://schemas.openxmlformats.org/officeDocument/2006/relationships/image" Target="../media/image7.png"/><Relationship Id="rId4" Type="http://schemas.openxmlformats.org/officeDocument/2006/relationships/image" Target="../media/image6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audio" Target="../media/media5.m4a"/><Relationship Id="rId1" Type="http://schemas.microsoft.com/office/2007/relationships/media" Target="../media/media5.m4a"/><Relationship Id="rId4" Type="http://schemas.openxmlformats.org/officeDocument/2006/relationships/image" Target="../media/image4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audio" Target="../media/media6.m4a"/><Relationship Id="rId1" Type="http://schemas.microsoft.com/office/2007/relationships/media" Target="../media/media6.m4a"/><Relationship Id="rId5" Type="http://schemas.openxmlformats.org/officeDocument/2006/relationships/image" Target="../media/image4.png"/><Relationship Id="rId4" Type="http://schemas.openxmlformats.org/officeDocument/2006/relationships/image" Target="../media/image8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audio" Target="../media/media7.m4a"/><Relationship Id="rId1" Type="http://schemas.microsoft.com/office/2007/relationships/media" Target="../media/media7.m4a"/><Relationship Id="rId4" Type="http://schemas.openxmlformats.org/officeDocument/2006/relationships/image" Target="../media/image4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audio" Target="../media/media8.m4a"/><Relationship Id="rId1" Type="http://schemas.microsoft.com/office/2007/relationships/media" Target="../media/media8.m4a"/><Relationship Id="rId6" Type="http://schemas.openxmlformats.org/officeDocument/2006/relationships/image" Target="../media/image4.png"/><Relationship Id="rId5" Type="http://schemas.openxmlformats.org/officeDocument/2006/relationships/image" Target="../media/image7.png"/><Relationship Id="rId4" Type="http://schemas.openxmlformats.org/officeDocument/2006/relationships/image" Target="../media/image9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audio" Target="../media/media9.m4a"/><Relationship Id="rId1" Type="http://schemas.microsoft.com/office/2007/relationships/media" Target="../media/media9.m4a"/><Relationship Id="rId6" Type="http://schemas.openxmlformats.org/officeDocument/2006/relationships/image" Target="../media/image4.png"/><Relationship Id="rId5" Type="http://schemas.openxmlformats.org/officeDocument/2006/relationships/image" Target="../media/image10.png"/><Relationship Id="rId4" Type="http://schemas.openxmlformats.org/officeDocument/2006/relationships/notesSlide" Target="../notesSlides/notesSlide1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audio" Target="../media/media10.m4a"/><Relationship Id="rId1" Type="http://schemas.microsoft.com/office/2007/relationships/media" Target="../media/media10.m4a"/><Relationship Id="rId5" Type="http://schemas.openxmlformats.org/officeDocument/2006/relationships/image" Target="../media/image4.png"/><Relationship Id="rId4" Type="http://schemas.openxmlformats.org/officeDocument/2006/relationships/image" Target="../media/image11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audio" Target="../media/media11.m4a"/><Relationship Id="rId1" Type="http://schemas.microsoft.com/office/2007/relationships/media" Target="../media/media11.m4a"/><Relationship Id="rId5" Type="http://schemas.openxmlformats.org/officeDocument/2006/relationships/image" Target="../media/image4.png"/><Relationship Id="rId4" Type="http://schemas.openxmlformats.org/officeDocument/2006/relationships/image" Target="../media/image12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MY"/>
              <a:t>Design Classes: CLASS DIAGRAM</a:t>
            </a:r>
            <a:endParaRPr lang="en-MY" dirty="0"/>
          </a:p>
        </p:txBody>
      </p:sp>
      <p:sp>
        <p:nvSpPr>
          <p:cNvPr id="3" name="Content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r>
              <a:rPr lang="en-MY"/>
              <a:t>Design subsystems </a:t>
            </a:r>
            <a:r>
              <a:rPr lang="en-MY">
                <a:sym typeface="Wingdings" panose="05000000000000000000" pitchFamily="2" charset="2"/>
              </a:rPr>
              <a:t> Package Diagram</a:t>
            </a:r>
            <a:endParaRPr lang="en-MY"/>
          </a:p>
          <a:p>
            <a:r>
              <a:rPr lang="en-MY" b="1">
                <a:solidFill>
                  <a:srgbClr val="C00000"/>
                </a:solidFill>
              </a:rPr>
              <a:t>Design classes </a:t>
            </a:r>
            <a:r>
              <a:rPr lang="en-MY" b="1">
                <a:solidFill>
                  <a:srgbClr val="C00000"/>
                </a:solidFill>
                <a:sym typeface="Wingdings" panose="05000000000000000000" pitchFamily="2" charset="2"/>
              </a:rPr>
              <a:t> Class Diagram</a:t>
            </a:r>
            <a:endParaRPr lang="en-MY" b="1">
              <a:solidFill>
                <a:srgbClr val="C00000"/>
              </a:solidFill>
            </a:endParaRPr>
          </a:p>
          <a:p>
            <a:r>
              <a:rPr lang="en-MY"/>
              <a:t>Use case realizations </a:t>
            </a:r>
            <a:r>
              <a:rPr lang="en-MY">
                <a:sym typeface="Wingdings" panose="05000000000000000000" pitchFamily="2" charset="2"/>
              </a:rPr>
              <a:t> Sequence Diagram</a:t>
            </a:r>
            <a:endParaRPr lang="en-MY"/>
          </a:p>
          <a:p>
            <a:r>
              <a:rPr lang="en-MY"/>
              <a:t>Deployment diagram (implementation)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>
                <a:latin typeface="Calibri"/>
              </a:rPr>
              <a:t>2020</a:t>
            </a: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>
                <a:latin typeface="Calibri"/>
              </a:rPr>
              <a:t>Software Engineering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362C787-829C-4B6B-B21B-90D8981190F3}" type="slidenum">
              <a:rPr lang="en-US">
                <a:latin typeface="Calibri"/>
              </a:rPr>
              <a:pPr/>
              <a:t>1</a:t>
            </a:fld>
            <a:endParaRPr lang="en-US">
              <a:latin typeface="Calibri"/>
            </a:endParaRPr>
          </a:p>
        </p:txBody>
      </p:sp>
      <p:pic>
        <p:nvPicPr>
          <p:cNvPr id="7" name="Audio 6">
            <a:hlinkClick r:id="" action="ppaction://media"/>
            <a:extLst>
              <a:ext uri="{FF2B5EF4-FFF2-40B4-BE49-F238E27FC236}">
                <a16:creationId xmlns:a16="http://schemas.microsoft.com/office/drawing/2014/main" id="{35CFF874-7863-458D-BB2E-2272D801ACB5}"/>
              </a:ext>
            </a:extLst>
          </p:cNvPr>
          <p:cNvPicPr>
            <a:picLocks noChangeAspect="1"/>
          </p:cNvPicPr>
          <p:nvPr>
            <a:audi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4"/>
          <a:stretch>
            <a:fillRect/>
          </a:stretch>
        </p:blipFill>
        <p:spPr>
          <a:xfrm>
            <a:off x="11569700" y="6235700"/>
            <a:ext cx="406400" cy="4064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64640466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 advTm="15259"/>
    </mc:Choice>
    <mc:Fallback>
      <p:transition spd="slow" advTm="15259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1" fill="hold"/>
                                        <p:tgtEl>
                                          <p:spTgt spid="7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audio isNarration="1">
              <p:cMediaNode vol="80000" showWhenStopped="0">
                <p:cTn id="7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7"/>
                </p:tgtEl>
              </p:cMediaNode>
            </p:audio>
          </p:childTnLst>
        </p:cTn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MY"/>
              <a:t>Anatomy of a Design Class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MY" dirty="0"/>
              <a:t>In </a:t>
            </a:r>
            <a:r>
              <a:rPr lang="en-MY" b="1" dirty="0">
                <a:solidFill>
                  <a:srgbClr val="C00000"/>
                </a:solidFill>
              </a:rPr>
              <a:t>analysis</a:t>
            </a:r>
            <a:r>
              <a:rPr lang="en-MY" dirty="0"/>
              <a:t>, we just capture the required </a:t>
            </a:r>
            <a:r>
              <a:rPr lang="en-MY" dirty="0" err="1"/>
              <a:t>behavior</a:t>
            </a:r>
            <a:r>
              <a:rPr lang="en-MY" dirty="0"/>
              <a:t> of the system without worrying at all about how this </a:t>
            </a:r>
            <a:r>
              <a:rPr lang="en-MY" dirty="0" err="1"/>
              <a:t>behavior</a:t>
            </a:r>
            <a:r>
              <a:rPr lang="en-MY" dirty="0"/>
              <a:t> is going to be implemented </a:t>
            </a:r>
          </a:p>
          <a:p>
            <a:r>
              <a:rPr lang="en-MY" dirty="0"/>
              <a:t>In </a:t>
            </a:r>
            <a:r>
              <a:rPr lang="en-MY" b="1" dirty="0">
                <a:solidFill>
                  <a:srgbClr val="C00000"/>
                </a:solidFill>
              </a:rPr>
              <a:t>design</a:t>
            </a:r>
            <a:r>
              <a:rPr lang="en-MY" dirty="0"/>
              <a:t>, we have to specify exactly how the class will </a:t>
            </a:r>
            <a:r>
              <a:rPr lang="en-MY" dirty="0" err="1"/>
              <a:t>fulfill</a:t>
            </a:r>
            <a:r>
              <a:rPr lang="en-MY" dirty="0"/>
              <a:t> its responsibilities by doing the following: </a:t>
            </a:r>
          </a:p>
          <a:p>
            <a:pPr lvl="1"/>
            <a:r>
              <a:rPr lang="en-MY" dirty="0"/>
              <a:t>Complete the set of attributes and fully specify them including name, type, visibility and (optionally) a default value</a:t>
            </a:r>
          </a:p>
          <a:p>
            <a:pPr lvl="1"/>
            <a:r>
              <a:rPr lang="en-MY" dirty="0"/>
              <a:t>Turn the operations specified in the analysis class into a complete set of one or more methods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>
                <a:latin typeface="Calibri"/>
              </a:rPr>
              <a:t>2020</a:t>
            </a: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>
                <a:latin typeface="Calibri"/>
              </a:rPr>
              <a:t>Software Engineering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362C787-829C-4B6B-B21B-90D8981190F3}" type="slidenum">
              <a:rPr lang="en-US">
                <a:latin typeface="Calibri"/>
              </a:rPr>
              <a:pPr/>
              <a:t>2</a:t>
            </a:fld>
            <a:endParaRPr lang="en-US">
              <a:latin typeface="Calibri"/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1981200" y="6003967"/>
            <a:ext cx="83312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MY">
                <a:solidFill>
                  <a:srgbClr val="C00000"/>
                </a:solidFill>
                <a:latin typeface="Calibri"/>
              </a:rPr>
              <a:t>Note: In our SE scope, we only produce domain model in analysis without operations</a:t>
            </a:r>
          </a:p>
        </p:txBody>
      </p:sp>
      <p:pic>
        <p:nvPicPr>
          <p:cNvPr id="7" name="Audio 6">
            <a:hlinkClick r:id="" action="ppaction://media"/>
            <a:extLst>
              <a:ext uri="{FF2B5EF4-FFF2-40B4-BE49-F238E27FC236}">
                <a16:creationId xmlns:a16="http://schemas.microsoft.com/office/drawing/2014/main" id="{3FF2ADDC-8846-49A6-BAFD-99D250BC03D6}"/>
              </a:ext>
            </a:extLst>
          </p:cNvPr>
          <p:cNvPicPr>
            <a:picLocks noChangeAspect="1"/>
          </p:cNvPicPr>
          <p:nvPr>
            <a:audi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4"/>
          <a:stretch>
            <a:fillRect/>
          </a:stretch>
        </p:blipFill>
        <p:spPr>
          <a:xfrm>
            <a:off x="11569700" y="6235700"/>
            <a:ext cx="406400" cy="4064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82695599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 advTm="60453"/>
    </mc:Choice>
    <mc:Fallback>
      <p:transition spd="slow" advTm="60453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1" fill="hold"/>
                                        <p:tgtEl>
                                          <p:spTgt spid="7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audio isNarration="1">
              <p:cMediaNode vol="80000" showWhenStopped="0">
                <p:cTn id="7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7"/>
                </p:tgtEl>
              </p:cMediaNode>
            </p:audio>
          </p:childTnLst>
        </p:cTn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MY"/>
              <a:t>Analysis vs. Design Class</a:t>
            </a:r>
          </a:p>
        </p:txBody>
      </p:sp>
      <p:pic>
        <p:nvPicPr>
          <p:cNvPr id="7" name="Content Placeholder 6"/>
          <p:cNvPicPr>
            <a:picLocks noGrp="1" noChangeAspect="1"/>
          </p:cNvPicPr>
          <p:nvPr>
            <p:ph idx="1"/>
          </p:nvPr>
        </p:nvPicPr>
        <p:blipFill>
          <a:blip r:embed="rId4"/>
          <a:stretch>
            <a:fillRect/>
          </a:stretch>
        </p:blipFill>
        <p:spPr>
          <a:xfrm>
            <a:off x="2433638" y="1588611"/>
            <a:ext cx="7324725" cy="4229100"/>
          </a:xfrm>
          <a:prstGeom prst="rect">
            <a:avLst/>
          </a:prstGeom>
        </p:spPr>
      </p:pic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>
                <a:latin typeface="Calibri"/>
              </a:rPr>
              <a:t>2020</a:t>
            </a: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>
                <a:latin typeface="Calibri"/>
              </a:rPr>
              <a:t>Software Engineering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362C787-829C-4B6B-B21B-90D8981190F3}" type="slidenum">
              <a:rPr lang="en-US">
                <a:latin typeface="Calibri"/>
              </a:rPr>
              <a:pPr/>
              <a:t>3</a:t>
            </a:fld>
            <a:endParaRPr lang="en-US">
              <a:latin typeface="Calibri"/>
            </a:endParaRPr>
          </a:p>
        </p:txBody>
      </p:sp>
      <p:grpSp>
        <p:nvGrpSpPr>
          <p:cNvPr id="11" name="Group 10">
            <a:extLst>
              <a:ext uri="{FF2B5EF4-FFF2-40B4-BE49-F238E27FC236}">
                <a16:creationId xmlns:a16="http://schemas.microsoft.com/office/drawing/2014/main" id="{738CBDC8-4F5D-4FE0-82A1-DE8364C84918}"/>
              </a:ext>
            </a:extLst>
          </p:cNvPr>
          <p:cNvGrpSpPr/>
          <p:nvPr/>
        </p:nvGrpSpPr>
        <p:grpSpPr>
          <a:xfrm>
            <a:off x="1981200" y="3268981"/>
            <a:ext cx="8331200" cy="2944299"/>
            <a:chOff x="457200" y="3268980"/>
            <a:chExt cx="8331200" cy="2944299"/>
          </a:xfrm>
        </p:grpSpPr>
        <p:sp>
          <p:nvSpPr>
            <p:cNvPr id="8" name="TextBox 7"/>
            <p:cNvSpPr txBox="1"/>
            <p:nvPr/>
          </p:nvSpPr>
          <p:spPr>
            <a:xfrm>
              <a:off x="457200" y="5843947"/>
              <a:ext cx="8331200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MY">
                  <a:solidFill>
                    <a:srgbClr val="C00000"/>
                  </a:solidFill>
                  <a:latin typeface="Calibri"/>
                </a:rPr>
                <a:t>Note: In our SE scope, we only produce domain model in analysis without operations</a:t>
              </a:r>
            </a:p>
          </p:txBody>
        </p:sp>
        <p:sp>
          <p:nvSpPr>
            <p:cNvPr id="3" name="Left Brace 2">
              <a:extLst>
                <a:ext uri="{FF2B5EF4-FFF2-40B4-BE49-F238E27FC236}">
                  <a16:creationId xmlns:a16="http://schemas.microsoft.com/office/drawing/2014/main" id="{3FA1A2C0-5C25-43A8-810C-969BAB8A4F19}"/>
                </a:ext>
              </a:extLst>
            </p:cNvPr>
            <p:cNvSpPr/>
            <p:nvPr/>
          </p:nvSpPr>
          <p:spPr>
            <a:xfrm>
              <a:off x="609600" y="3268980"/>
              <a:ext cx="300037" cy="838200"/>
            </a:xfrm>
            <a:prstGeom prst="leftBrace">
              <a:avLst/>
            </a:prstGeom>
            <a:ln w="28575">
              <a:solidFill>
                <a:srgbClr val="C0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GB">
                <a:solidFill>
                  <a:prstClr val="black"/>
                </a:solidFill>
                <a:latin typeface="Calibri"/>
              </a:endParaRPr>
            </a:p>
          </p:txBody>
        </p:sp>
        <p:cxnSp>
          <p:nvCxnSpPr>
            <p:cNvPr id="10" name="Straight Connector 9">
              <a:extLst>
                <a:ext uri="{FF2B5EF4-FFF2-40B4-BE49-F238E27FC236}">
                  <a16:creationId xmlns:a16="http://schemas.microsoft.com/office/drawing/2014/main" id="{FEE08FD9-9BC6-4F56-8DC9-F04AA4DE50E8}"/>
                </a:ext>
              </a:extLst>
            </p:cNvPr>
            <p:cNvCxnSpPr>
              <a:cxnSpLocks/>
            </p:cNvCxnSpPr>
            <p:nvPr/>
          </p:nvCxnSpPr>
          <p:spPr>
            <a:xfrm>
              <a:off x="598170" y="3665220"/>
              <a:ext cx="0" cy="2155867"/>
            </a:xfrm>
            <a:prstGeom prst="line">
              <a:avLst/>
            </a:prstGeom>
            <a:ln w="28575">
              <a:solidFill>
                <a:srgbClr val="C0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pic>
        <p:nvPicPr>
          <p:cNvPr id="9" name="Audio 8">
            <a:hlinkClick r:id="" action="ppaction://media"/>
            <a:extLst>
              <a:ext uri="{FF2B5EF4-FFF2-40B4-BE49-F238E27FC236}">
                <a16:creationId xmlns:a16="http://schemas.microsoft.com/office/drawing/2014/main" id="{F0048C5E-2F9D-4F46-9F4C-A61B89E48EC5}"/>
              </a:ext>
            </a:extLst>
          </p:cNvPr>
          <p:cNvPicPr>
            <a:picLocks noChangeAspect="1"/>
          </p:cNvPicPr>
          <p:nvPr>
            <a:audi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5"/>
          <a:stretch>
            <a:fillRect/>
          </a:stretch>
        </p:blipFill>
        <p:spPr>
          <a:xfrm>
            <a:off x="11569700" y="6235700"/>
            <a:ext cx="406400" cy="4064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52518776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 advTm="84193"/>
    </mc:Choice>
    <mc:Fallback>
      <p:transition spd="slow" advTm="84193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1" fill="hold"/>
                                        <p:tgtEl>
                                          <p:spTgt spid="9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audio isNarration="1">
              <p:cMediaNode vol="80000" showWhenStopped="0">
                <p:cTn id="7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9"/>
                </p:tgtEl>
              </p:cMediaNode>
            </p:audio>
          </p:childTnLst>
        </p:cTn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MY"/>
              <a:t>Design vs. Implementation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>
                <a:latin typeface="Calibri"/>
              </a:rPr>
              <a:t>2020</a:t>
            </a: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>
                <a:latin typeface="Calibri"/>
              </a:rPr>
              <a:t>Software Engineering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362C787-829C-4B6B-B21B-90D8981190F3}" type="slidenum">
              <a:rPr lang="en-US">
                <a:latin typeface="Calibri"/>
              </a:rPr>
              <a:pPr/>
              <a:t>4</a:t>
            </a:fld>
            <a:endParaRPr lang="en-US">
              <a:latin typeface="Calibri"/>
            </a:endParaRPr>
          </a:p>
        </p:txBody>
      </p:sp>
      <p:pic>
        <p:nvPicPr>
          <p:cNvPr id="7" name="Picture 3" descr="Fig"/>
          <p:cNvPicPr>
            <a:picLocks noChangeAspect="1" noChangeArrowheads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813058" y="1439679"/>
            <a:ext cx="3841485" cy="493259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8" name="Picture 4" descr="Fig"/>
          <p:cNvPicPr>
            <a:picLocks noChangeAspect="1" noChangeArrowheads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477000" y="1889871"/>
            <a:ext cx="3591322" cy="420612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9" name="Line 5"/>
          <p:cNvSpPr>
            <a:spLocks noChangeShapeType="1"/>
          </p:cNvSpPr>
          <p:nvPr/>
        </p:nvSpPr>
        <p:spPr bwMode="auto">
          <a:xfrm>
            <a:off x="3722553" y="2256971"/>
            <a:ext cx="3443124" cy="949771"/>
          </a:xfrm>
          <a:prstGeom prst="line">
            <a:avLst/>
          </a:prstGeom>
          <a:noFill/>
          <a:ln w="25400">
            <a:solidFill>
              <a:srgbClr val="FF0000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/>
          <a:lstStyle/>
          <a:p>
            <a:endParaRPr lang="en-US">
              <a:solidFill>
                <a:prstClr val="black"/>
              </a:solidFill>
              <a:latin typeface="Calibri"/>
            </a:endParaRPr>
          </a:p>
        </p:txBody>
      </p:sp>
      <p:sp>
        <p:nvSpPr>
          <p:cNvPr id="10" name="Line 6"/>
          <p:cNvSpPr>
            <a:spLocks noChangeShapeType="1"/>
          </p:cNvSpPr>
          <p:nvPr/>
        </p:nvSpPr>
        <p:spPr bwMode="auto">
          <a:xfrm>
            <a:off x="3005447" y="1699076"/>
            <a:ext cx="4634975" cy="949771"/>
          </a:xfrm>
          <a:prstGeom prst="line">
            <a:avLst/>
          </a:prstGeom>
          <a:noFill/>
          <a:ln w="25400">
            <a:solidFill>
              <a:srgbClr val="FF0000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/>
          <a:lstStyle/>
          <a:p>
            <a:endParaRPr lang="en-US">
              <a:solidFill>
                <a:prstClr val="black"/>
              </a:solidFill>
              <a:latin typeface="Calibri"/>
            </a:endParaRPr>
          </a:p>
        </p:txBody>
      </p:sp>
      <p:sp>
        <p:nvSpPr>
          <p:cNvPr id="11" name="Line 7"/>
          <p:cNvSpPr>
            <a:spLocks noChangeShapeType="1"/>
          </p:cNvSpPr>
          <p:nvPr/>
        </p:nvSpPr>
        <p:spPr bwMode="auto">
          <a:xfrm>
            <a:off x="3733800" y="4405412"/>
            <a:ext cx="3431877" cy="471389"/>
          </a:xfrm>
          <a:prstGeom prst="line">
            <a:avLst/>
          </a:prstGeom>
          <a:noFill/>
          <a:ln w="25400">
            <a:solidFill>
              <a:srgbClr val="FF0000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/>
          <a:lstStyle/>
          <a:p>
            <a:endParaRPr lang="en-US">
              <a:solidFill>
                <a:prstClr val="black"/>
              </a:solidFill>
              <a:latin typeface="Calibri"/>
            </a:endParaRPr>
          </a:p>
        </p:txBody>
      </p:sp>
      <p:pic>
        <p:nvPicPr>
          <p:cNvPr id="3" name="Audio 2">
            <a:hlinkClick r:id="" action="ppaction://media"/>
            <a:extLst>
              <a:ext uri="{FF2B5EF4-FFF2-40B4-BE49-F238E27FC236}">
                <a16:creationId xmlns:a16="http://schemas.microsoft.com/office/drawing/2014/main" id="{1E1B9C73-5F08-41F5-BAF0-093450288158}"/>
              </a:ext>
            </a:extLst>
          </p:cNvPr>
          <p:cNvPicPr>
            <a:picLocks noChangeAspect="1"/>
          </p:cNvPicPr>
          <p:nvPr>
            <a:audi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6"/>
          <a:stretch>
            <a:fillRect/>
          </a:stretch>
        </p:blipFill>
        <p:spPr>
          <a:xfrm>
            <a:off x="11569700" y="6235700"/>
            <a:ext cx="406400" cy="4064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94895308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 advTm="34027"/>
    </mc:Choice>
    <mc:Fallback>
      <p:transition spd="slow" advTm="34027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1" fill="hold"/>
                                        <p:tgtEl>
                                          <p:spTgt spid="3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audio isNarration="1">
              <p:cMediaNode vol="80000" showWhenStopped="0">
                <p:cTn id="7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3"/>
                </p:tgtEl>
              </p:cMediaNode>
            </p:audio>
          </p:childTnLst>
        </p:cTn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altLang="en-US" dirty="0"/>
              <a:t>Design </a:t>
            </a:r>
            <a:r>
              <a:rPr lang="en-US" altLang="en-US"/>
              <a:t>Class Symbols Using Stereotypes</a:t>
            </a:r>
            <a:endParaRPr lang="en-MY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en-US" dirty="0"/>
              <a:t>Stereotypes</a:t>
            </a:r>
          </a:p>
          <a:p>
            <a:pPr lvl="1"/>
            <a:r>
              <a:rPr lang="en-US" altLang="en-US" dirty="0"/>
              <a:t>UML notation to categorize a model element as a certain type</a:t>
            </a:r>
          </a:p>
          <a:p>
            <a:r>
              <a:rPr lang="en-US" altLang="en-US" dirty="0"/>
              <a:t>Two types of notation</a:t>
            </a:r>
          </a:p>
          <a:p>
            <a:pPr lvl="1"/>
            <a:r>
              <a:rPr lang="en-US" altLang="en-US" dirty="0"/>
              <a:t>Full notation with guillemets (</a:t>
            </a:r>
            <a:r>
              <a:rPr lang="en-US" altLang="en-US" dirty="0">
                <a:cs typeface="Times New Roman" pitchFamily="18" charset="0"/>
              </a:rPr>
              <a:t>«»)</a:t>
            </a:r>
          </a:p>
          <a:p>
            <a:pPr lvl="1"/>
            <a:r>
              <a:rPr lang="en-US" altLang="en-US" dirty="0"/>
              <a:t>Shorthand notation with circular icons</a:t>
            </a:r>
          </a:p>
          <a:p>
            <a:r>
              <a:rPr lang="en-US" altLang="en-US" dirty="0"/>
              <a:t>Standard stereotypes</a:t>
            </a:r>
          </a:p>
          <a:p>
            <a:pPr lvl="1"/>
            <a:r>
              <a:rPr lang="en-US" altLang="en-US" dirty="0"/>
              <a:t>Entity, control, boundary, data access</a:t>
            </a:r>
          </a:p>
          <a:p>
            <a:endParaRPr lang="en-MY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>
                <a:latin typeface="Calibri"/>
              </a:rPr>
              <a:t>2020</a:t>
            </a: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>
                <a:latin typeface="Calibri"/>
              </a:rPr>
              <a:t>Software Engineering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362C787-829C-4B6B-B21B-90D8981190F3}" type="slidenum">
              <a:rPr lang="en-US">
                <a:latin typeface="Calibri"/>
              </a:rPr>
              <a:pPr/>
              <a:t>5</a:t>
            </a:fld>
            <a:endParaRPr lang="en-US">
              <a:latin typeface="Calibri"/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1981200" y="6003967"/>
            <a:ext cx="83312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MY">
                <a:solidFill>
                  <a:srgbClr val="C00000"/>
                </a:solidFill>
                <a:latin typeface="Calibri"/>
              </a:rPr>
              <a:t>Note: This concept has been introduced in the analysis stage</a:t>
            </a:r>
          </a:p>
        </p:txBody>
      </p:sp>
      <p:pic>
        <p:nvPicPr>
          <p:cNvPr id="8" name="Audio 7">
            <a:hlinkClick r:id="" action="ppaction://media"/>
            <a:extLst>
              <a:ext uri="{FF2B5EF4-FFF2-40B4-BE49-F238E27FC236}">
                <a16:creationId xmlns:a16="http://schemas.microsoft.com/office/drawing/2014/main" id="{95FD6BE6-7DC3-48E3-B84E-83539798AA64}"/>
              </a:ext>
            </a:extLst>
          </p:cNvPr>
          <p:cNvPicPr>
            <a:picLocks noChangeAspect="1"/>
          </p:cNvPicPr>
          <p:nvPr>
            <a:audi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4"/>
          <a:stretch>
            <a:fillRect/>
          </a:stretch>
        </p:blipFill>
        <p:spPr>
          <a:xfrm>
            <a:off x="11569700" y="6235700"/>
            <a:ext cx="406400" cy="4064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48502895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 advTm="136913"/>
    </mc:Choice>
    <mc:Fallback>
      <p:transition spd="slow" advTm="136913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1" fill="hold"/>
                                        <p:tgtEl>
                                          <p:spTgt spid="8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audio isNarration="1">
              <p:cMediaNode vol="80000" showWhenStopped="0">
                <p:cTn id="7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8"/>
                </p:tgtEl>
              </p:cMediaNode>
            </p:audio>
          </p:childTnLst>
        </p:cTn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981200" y="274638"/>
            <a:ext cx="8382000" cy="1143000"/>
          </a:xfrm>
        </p:spPr>
        <p:txBody>
          <a:bodyPr>
            <a:normAutofit fontScale="90000"/>
          </a:bodyPr>
          <a:lstStyle/>
          <a:p>
            <a:r>
              <a:rPr lang="en-US" altLang="en-US" dirty="0"/>
              <a:t>Standard Stereotypes in Design Models</a:t>
            </a:r>
            <a:endParaRPr lang="en-MY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362C787-829C-4B6B-B21B-90D8981190F3}" type="slidenum">
              <a:rPr lang="en-US">
                <a:latin typeface="Calibri"/>
              </a:rPr>
              <a:pPr/>
              <a:t>6</a:t>
            </a:fld>
            <a:endParaRPr lang="en-US">
              <a:latin typeface="Calibri"/>
            </a:endParaRPr>
          </a:p>
        </p:txBody>
      </p:sp>
      <p:pic>
        <p:nvPicPr>
          <p:cNvPr id="5" name="Picture 4" descr="Fig"/>
          <p:cNvPicPr>
            <a:picLocks noChangeAspect="1" noChangeArrowheads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657601" y="1417639"/>
            <a:ext cx="4987530" cy="504983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6" name="AutoShape 6"/>
          <p:cNvSpPr>
            <a:spLocks noChangeArrowheads="1"/>
          </p:cNvSpPr>
          <p:nvPr/>
        </p:nvSpPr>
        <p:spPr bwMode="auto">
          <a:xfrm>
            <a:off x="1828800" y="2286000"/>
            <a:ext cx="1600200" cy="990600"/>
          </a:xfrm>
          <a:prstGeom prst="wedgeRoundRectCallout">
            <a:avLst>
              <a:gd name="adj1" fmla="val 108091"/>
              <a:gd name="adj2" fmla="val 41749"/>
              <a:gd name="adj3" fmla="val 16667"/>
            </a:avLst>
          </a:prstGeom>
          <a:solidFill>
            <a:schemeClr val="accent4">
              <a:lumMod val="20000"/>
              <a:lumOff val="80000"/>
            </a:schemeClr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/>
          <a:lstStyle/>
          <a:p>
            <a:pPr algn="ctr"/>
            <a:r>
              <a:rPr lang="en-US" altLang="en-US" sz="2400" dirty="0">
                <a:solidFill>
                  <a:prstClr val="black"/>
                </a:solidFill>
                <a:latin typeface="Calibri"/>
              </a:rPr>
              <a:t>Full notation</a:t>
            </a:r>
          </a:p>
        </p:txBody>
      </p:sp>
      <p:sp>
        <p:nvSpPr>
          <p:cNvPr id="7" name="AutoShape 7"/>
          <p:cNvSpPr>
            <a:spLocks noChangeArrowheads="1"/>
          </p:cNvSpPr>
          <p:nvPr/>
        </p:nvSpPr>
        <p:spPr bwMode="auto">
          <a:xfrm>
            <a:off x="8659645" y="2065338"/>
            <a:ext cx="1905000" cy="990600"/>
          </a:xfrm>
          <a:prstGeom prst="wedgeRoundRectCallout">
            <a:avLst>
              <a:gd name="adj1" fmla="val -84833"/>
              <a:gd name="adj2" fmla="val 56440"/>
              <a:gd name="adj3" fmla="val 16667"/>
            </a:avLst>
          </a:prstGeom>
          <a:solidFill>
            <a:schemeClr val="accent4">
              <a:lumMod val="20000"/>
              <a:lumOff val="80000"/>
            </a:schemeClr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/>
          <a:lstStyle/>
          <a:p>
            <a:pPr algn="ctr"/>
            <a:r>
              <a:rPr lang="en-US" altLang="en-US" sz="2400" dirty="0">
                <a:solidFill>
                  <a:prstClr val="black"/>
                </a:solidFill>
                <a:latin typeface="Calibri"/>
              </a:rPr>
              <a:t>Shorthand notation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>
                <a:latin typeface="Calibri"/>
              </a:rPr>
              <a:t>2020</a:t>
            </a:r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>
                <a:latin typeface="Calibri"/>
              </a:rPr>
              <a:t>Software Engineering</a:t>
            </a:r>
          </a:p>
        </p:txBody>
      </p:sp>
      <p:pic>
        <p:nvPicPr>
          <p:cNvPr id="9" name="Audio 8">
            <a:hlinkClick r:id="" action="ppaction://media"/>
            <a:extLst>
              <a:ext uri="{FF2B5EF4-FFF2-40B4-BE49-F238E27FC236}">
                <a16:creationId xmlns:a16="http://schemas.microsoft.com/office/drawing/2014/main" id="{D8508303-2207-48C9-919A-23DB8EF531C6}"/>
              </a:ext>
            </a:extLst>
          </p:cNvPr>
          <p:cNvPicPr>
            <a:picLocks noChangeAspect="1"/>
          </p:cNvPicPr>
          <p:nvPr>
            <a:audi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5"/>
          <a:stretch>
            <a:fillRect/>
          </a:stretch>
        </p:blipFill>
        <p:spPr>
          <a:xfrm>
            <a:off x="11569700" y="6235700"/>
            <a:ext cx="406400" cy="4064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76096673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 advTm="32168"/>
    </mc:Choice>
    <mc:Fallback>
      <p:transition spd="slow" advTm="32168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1" fill="hold"/>
                                        <p:tgtEl>
                                          <p:spTgt spid="9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audio isNarration="1">
              <p:cMediaNode vol="80000" showWhenStopped="0">
                <p:cTn id="7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9"/>
                </p:tgtEl>
              </p:cMediaNode>
            </p:audio>
          </p:childTnLst>
        </p:cTn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dirty="0"/>
              <a:t>Design Class Notation</a:t>
            </a:r>
            <a:endParaRPr lang="en-MY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altLang="en-US" dirty="0"/>
              <a:t>Class name and stereotype information</a:t>
            </a:r>
          </a:p>
          <a:p>
            <a:r>
              <a:rPr lang="en-US" altLang="en-US" dirty="0"/>
              <a:t>Attribute information</a:t>
            </a:r>
          </a:p>
          <a:p>
            <a:pPr lvl="1"/>
            <a:r>
              <a:rPr lang="en-US" altLang="en-US" dirty="0"/>
              <a:t>Visibility, type-expression, name, initial value, and properties</a:t>
            </a:r>
          </a:p>
          <a:p>
            <a:r>
              <a:rPr lang="en-US" altLang="en-US" dirty="0"/>
              <a:t>Method signature</a:t>
            </a:r>
          </a:p>
          <a:p>
            <a:pPr lvl="1"/>
            <a:r>
              <a:rPr lang="en-US" altLang="en-US" dirty="0"/>
              <a:t>Visibility, name, type-expression, and parameter list </a:t>
            </a:r>
          </a:p>
          <a:p>
            <a:pPr lvl="1"/>
            <a:r>
              <a:rPr lang="en-US" altLang="en-US" dirty="0"/>
              <a:t>Use the entire signature to identify a method to distinguish between overloaded methods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362C787-829C-4B6B-B21B-90D8981190F3}" type="slidenum">
              <a:rPr lang="en-US">
                <a:latin typeface="Calibri"/>
              </a:rPr>
              <a:pPr/>
              <a:t>7</a:t>
            </a:fld>
            <a:endParaRPr lang="en-US">
              <a:latin typeface="Calibri"/>
            </a:endParaRP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>
                <a:latin typeface="Calibri"/>
              </a:rPr>
              <a:t>2020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>
                <a:latin typeface="Calibri"/>
              </a:rPr>
              <a:t>Software Engineering</a:t>
            </a:r>
          </a:p>
        </p:txBody>
      </p:sp>
      <p:pic>
        <p:nvPicPr>
          <p:cNvPr id="7" name="Audio 6">
            <a:hlinkClick r:id="" action="ppaction://media"/>
            <a:extLst>
              <a:ext uri="{FF2B5EF4-FFF2-40B4-BE49-F238E27FC236}">
                <a16:creationId xmlns:a16="http://schemas.microsoft.com/office/drawing/2014/main" id="{AF1F8C01-E6F6-4708-9E37-12B430027210}"/>
              </a:ext>
            </a:extLst>
          </p:cNvPr>
          <p:cNvPicPr>
            <a:picLocks noChangeAspect="1"/>
          </p:cNvPicPr>
          <p:nvPr>
            <a:audi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4"/>
          <a:stretch>
            <a:fillRect/>
          </a:stretch>
        </p:blipFill>
        <p:spPr>
          <a:xfrm>
            <a:off x="11569700" y="6235700"/>
            <a:ext cx="406400" cy="4064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55216575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 advTm="16500"/>
    </mc:Choice>
    <mc:Fallback>
      <p:transition spd="slow" advTm="16500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1" fill="hold"/>
                                        <p:tgtEl>
                                          <p:spTgt spid="7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audio isNarration="1">
              <p:cMediaNode vol="80000" showWhenStopped="0">
                <p:cTn id="7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7"/>
                </p:tgtEl>
              </p:cMediaNode>
            </p:audio>
          </p:childTnLst>
        </p:cTn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dirty="0"/>
              <a:t>Internal Symbols and Example</a:t>
            </a:r>
            <a:endParaRPr lang="en-MY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362C787-829C-4B6B-B21B-90D8981190F3}" type="slidenum">
              <a:rPr lang="en-US">
                <a:latin typeface="Calibri"/>
              </a:rPr>
              <a:pPr/>
              <a:t>8</a:t>
            </a:fld>
            <a:endParaRPr lang="en-US">
              <a:latin typeface="Calibri"/>
            </a:endParaRPr>
          </a:p>
        </p:txBody>
      </p:sp>
      <p:pic>
        <p:nvPicPr>
          <p:cNvPr id="5" name="Picture 3" descr="Fig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010228" y="1944912"/>
            <a:ext cx="4114800" cy="384968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6" name="Picture 4" descr="Fig"/>
          <p:cNvPicPr>
            <a:picLocks noChangeAspect="1" noChangeArrowheads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353628" y="1487712"/>
            <a:ext cx="3881438" cy="47244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7" name="Line 5"/>
          <p:cNvSpPr>
            <a:spLocks noChangeShapeType="1"/>
          </p:cNvSpPr>
          <p:nvPr/>
        </p:nvSpPr>
        <p:spPr bwMode="auto">
          <a:xfrm flipV="1">
            <a:off x="5210628" y="2783112"/>
            <a:ext cx="1905000" cy="1066800"/>
          </a:xfrm>
          <a:prstGeom prst="line">
            <a:avLst/>
          </a:prstGeom>
          <a:noFill/>
          <a:ln w="25400">
            <a:solidFill>
              <a:srgbClr val="FF0000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/>
          <a:lstStyle/>
          <a:p>
            <a:endParaRPr lang="en-US">
              <a:solidFill>
                <a:prstClr val="black"/>
              </a:solidFill>
              <a:latin typeface="Calibri"/>
            </a:endParaRPr>
          </a:p>
        </p:txBody>
      </p:sp>
      <p:sp>
        <p:nvSpPr>
          <p:cNvPr id="8" name="Line 6"/>
          <p:cNvSpPr>
            <a:spLocks noChangeShapeType="1"/>
          </p:cNvSpPr>
          <p:nvPr/>
        </p:nvSpPr>
        <p:spPr bwMode="auto">
          <a:xfrm flipV="1">
            <a:off x="5210628" y="4230912"/>
            <a:ext cx="1905000" cy="381000"/>
          </a:xfrm>
          <a:prstGeom prst="line">
            <a:avLst/>
          </a:prstGeom>
          <a:noFill/>
          <a:ln w="25400">
            <a:solidFill>
              <a:srgbClr val="FF0000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/>
          <a:lstStyle/>
          <a:p>
            <a:endParaRPr lang="en-US">
              <a:solidFill>
                <a:prstClr val="black"/>
              </a:solidFill>
              <a:latin typeface="Calibri"/>
            </a:endParaRPr>
          </a:p>
        </p:txBody>
      </p:sp>
      <p:sp>
        <p:nvSpPr>
          <p:cNvPr id="9" name="Line 7"/>
          <p:cNvSpPr>
            <a:spLocks noChangeShapeType="1"/>
          </p:cNvSpPr>
          <p:nvPr/>
        </p:nvSpPr>
        <p:spPr bwMode="auto">
          <a:xfrm flipV="1">
            <a:off x="5286828" y="2173512"/>
            <a:ext cx="1905000" cy="1066800"/>
          </a:xfrm>
          <a:prstGeom prst="line">
            <a:avLst/>
          </a:prstGeom>
          <a:noFill/>
          <a:ln w="25400">
            <a:solidFill>
              <a:srgbClr val="FF0000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/>
          <a:lstStyle/>
          <a:p>
            <a:endParaRPr lang="en-US">
              <a:solidFill>
                <a:prstClr val="black"/>
              </a:solidFill>
              <a:latin typeface="Calibri"/>
            </a:endParaRPr>
          </a:p>
        </p:txBody>
      </p:sp>
      <p:sp>
        <p:nvSpPr>
          <p:cNvPr id="10" name="Date Placeholder 9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>
                <a:latin typeface="Calibri"/>
              </a:rPr>
              <a:t>2020</a:t>
            </a:r>
          </a:p>
        </p:txBody>
      </p:sp>
      <p:sp>
        <p:nvSpPr>
          <p:cNvPr id="11" name="Footer Placeholder 10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>
                <a:latin typeface="Calibri"/>
              </a:rPr>
              <a:t>Software Engineering</a:t>
            </a:r>
          </a:p>
        </p:txBody>
      </p:sp>
      <p:pic>
        <p:nvPicPr>
          <p:cNvPr id="3" name="Audio 2">
            <a:hlinkClick r:id="" action="ppaction://media"/>
            <a:extLst>
              <a:ext uri="{FF2B5EF4-FFF2-40B4-BE49-F238E27FC236}">
                <a16:creationId xmlns:a16="http://schemas.microsoft.com/office/drawing/2014/main" id="{EE8A8F6C-EC7B-4779-9A0E-16C2A0027528}"/>
              </a:ext>
            </a:extLst>
          </p:cNvPr>
          <p:cNvPicPr>
            <a:picLocks noChangeAspect="1"/>
          </p:cNvPicPr>
          <p:nvPr>
            <a:audi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6"/>
          <a:stretch>
            <a:fillRect/>
          </a:stretch>
        </p:blipFill>
        <p:spPr>
          <a:xfrm>
            <a:off x="11569700" y="6235700"/>
            <a:ext cx="406400" cy="4064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92738801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 advTm="60257"/>
    </mc:Choice>
    <mc:Fallback>
      <p:transition spd="slow" advTm="60257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1" fill="hold"/>
                                        <p:tgtEl>
                                          <p:spTgt spid="3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audio isNarration="1">
              <p:cMediaNode vol="80000" showWhenStopped="0">
                <p:cTn id="7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3"/>
                </p:tgtEl>
              </p:cMediaNode>
            </p:audio>
          </p:childTnLst>
        </p:cTn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MY" dirty="0"/>
              <a:t>Domain Model vs. Design Class Diagram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>
                <a:latin typeface="Calibri"/>
              </a:rPr>
              <a:t>2020</a:t>
            </a: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>
                <a:latin typeface="Calibri"/>
              </a:rPr>
              <a:t>Software Engineering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362C787-829C-4B6B-B21B-90D8981190F3}" type="slidenum">
              <a:rPr lang="en-US">
                <a:latin typeface="Calibri"/>
              </a:rPr>
              <a:pPr/>
              <a:t>9</a:t>
            </a:fld>
            <a:endParaRPr lang="en-US">
              <a:latin typeface="Calibri"/>
            </a:endParaRPr>
          </a:p>
        </p:txBody>
      </p:sp>
      <p:pic>
        <p:nvPicPr>
          <p:cNvPr id="7" name="Picture 4" descr="Fig"/>
          <p:cNvPicPr>
            <a:picLocks noChangeAspect="1" noChangeArrowheads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885395" y="1450201"/>
            <a:ext cx="6435725" cy="46783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8" name="Text Box 5"/>
          <p:cNvSpPr txBox="1">
            <a:spLocks noChangeArrowheads="1"/>
          </p:cNvSpPr>
          <p:nvPr/>
        </p:nvSpPr>
        <p:spPr bwMode="auto">
          <a:xfrm>
            <a:off x="1545771" y="6077765"/>
            <a:ext cx="9144000" cy="36997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eaLnBrk="0" hangingPunct="0"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1pPr>
            <a:lvl2pPr marL="742950" indent="-285750" eaLnBrk="0" hangingPunct="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2pPr>
            <a:lvl3pPr marL="1143000" indent="-228600" eaLnBrk="0" hangingPunct="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3pPr>
            <a:lvl4pPr marL="1600200" indent="-228600" eaLnBrk="0" hangingPunct="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4pPr>
            <a:lvl5pPr marL="2057400" indent="-228600" eaLnBrk="0" hangingPunct="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9pPr>
          </a:lstStyle>
          <a:p>
            <a:pPr algn="ctr" eaLnBrk="1" hangingPunct="1">
              <a:lnSpc>
                <a:spcPct val="80000"/>
              </a:lnSpc>
              <a:buNone/>
            </a:pPr>
            <a:r>
              <a:rPr lang="en-US" altLang="en-US" sz="2200" dirty="0">
                <a:solidFill>
                  <a:prstClr val="black"/>
                </a:solidFill>
              </a:rPr>
              <a:t>Student class examples for the domain diagram and the design class diagram</a:t>
            </a:r>
          </a:p>
        </p:txBody>
      </p:sp>
      <p:pic>
        <p:nvPicPr>
          <p:cNvPr id="3" name="Audio 2">
            <a:hlinkClick r:id="" action="ppaction://media"/>
            <a:extLst>
              <a:ext uri="{FF2B5EF4-FFF2-40B4-BE49-F238E27FC236}">
                <a16:creationId xmlns:a16="http://schemas.microsoft.com/office/drawing/2014/main" id="{069129F3-40CD-4ABF-B53C-139B61EBAAF5}"/>
              </a:ext>
            </a:extLst>
          </p:cNvPr>
          <p:cNvPicPr>
            <a:picLocks noChangeAspect="1"/>
          </p:cNvPicPr>
          <p:nvPr>
            <a:audi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6"/>
          <a:stretch>
            <a:fillRect/>
          </a:stretch>
        </p:blipFill>
        <p:spPr>
          <a:xfrm>
            <a:off x="11569700" y="6235700"/>
            <a:ext cx="406400" cy="4064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99770262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 advTm="26436"/>
    </mc:Choice>
    <mc:Fallback>
      <p:transition spd="slow" advTm="26436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1" fill="hold"/>
                                        <p:tgtEl>
                                          <p:spTgt spid="3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audio isNarration="1">
              <p:cMediaNode vol="80000" showWhenStopped="0">
                <p:cTn id="7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3"/>
                </p:tgtEl>
              </p:cMediaNode>
            </p:audio>
          </p:childTnLst>
        </p:cTn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MY" dirty="0"/>
              <a:t>Navigation Visibility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981200" y="1600201"/>
            <a:ext cx="8229600" cy="1523999"/>
          </a:xfrm>
        </p:spPr>
        <p:txBody>
          <a:bodyPr>
            <a:noAutofit/>
          </a:bodyPr>
          <a:lstStyle/>
          <a:p>
            <a:r>
              <a:rPr lang="en-US" altLang="en-US" sz="2200" dirty="0"/>
              <a:t>The ability of one object to view and interact with another object accomplished by adding an object </a:t>
            </a:r>
            <a:r>
              <a:rPr lang="en-US" altLang="en-US" sz="2200" b="1" dirty="0">
                <a:solidFill>
                  <a:srgbClr val="C00000"/>
                </a:solidFill>
              </a:rPr>
              <a:t>reference variable </a:t>
            </a:r>
            <a:r>
              <a:rPr lang="en-US" altLang="en-US" sz="2200" dirty="0"/>
              <a:t>to a class </a:t>
            </a:r>
          </a:p>
          <a:p>
            <a:r>
              <a:rPr lang="en-US" altLang="en-US" sz="2200" dirty="0"/>
              <a:t>Shown as an arrowhead on the association line—customer can find and interact with sale because it has </a:t>
            </a:r>
            <a:r>
              <a:rPr lang="en-US" altLang="en-US" sz="2200" dirty="0" err="1"/>
              <a:t>mySale</a:t>
            </a:r>
            <a:r>
              <a:rPr lang="en-US" altLang="en-US" sz="2200" dirty="0"/>
              <a:t> reference variable</a:t>
            </a:r>
          </a:p>
          <a:p>
            <a:endParaRPr lang="en-MY" sz="2200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362C787-829C-4B6B-B21B-90D8981190F3}" type="slidenum">
              <a:rPr lang="en-US">
                <a:latin typeface="Calibri"/>
              </a:rPr>
              <a:pPr/>
              <a:t>10</a:t>
            </a:fld>
            <a:endParaRPr lang="en-US">
              <a:latin typeface="Calibri"/>
            </a:endParaRPr>
          </a:p>
        </p:txBody>
      </p:sp>
      <p:pic>
        <p:nvPicPr>
          <p:cNvPr id="5" name="Picture 4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881085" y="3277734"/>
            <a:ext cx="6555316" cy="294467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00B8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6" name="Date Placeholder 5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>
                <a:latin typeface="Calibri"/>
              </a:rPr>
              <a:t>2020</a:t>
            </a:r>
          </a:p>
        </p:txBody>
      </p:sp>
      <p:sp>
        <p:nvSpPr>
          <p:cNvPr id="7" name="Footer Placeholder 6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>
                <a:latin typeface="Calibri"/>
              </a:rPr>
              <a:t>Software Engineering</a:t>
            </a:r>
          </a:p>
        </p:txBody>
      </p:sp>
      <p:pic>
        <p:nvPicPr>
          <p:cNvPr id="8" name="Audio 7">
            <a:hlinkClick r:id="" action="ppaction://media"/>
            <a:extLst>
              <a:ext uri="{FF2B5EF4-FFF2-40B4-BE49-F238E27FC236}">
                <a16:creationId xmlns:a16="http://schemas.microsoft.com/office/drawing/2014/main" id="{46BFB4CB-16E7-4C0E-80DB-93B654E9E536}"/>
              </a:ext>
            </a:extLst>
          </p:cNvPr>
          <p:cNvPicPr>
            <a:picLocks noChangeAspect="1"/>
          </p:cNvPicPr>
          <p:nvPr>
            <a:audi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5"/>
          <a:stretch>
            <a:fillRect/>
          </a:stretch>
        </p:blipFill>
        <p:spPr>
          <a:xfrm>
            <a:off x="11569700" y="6235700"/>
            <a:ext cx="406400" cy="4064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54524213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 advTm="32522"/>
    </mc:Choice>
    <mc:Fallback>
      <p:transition spd="slow" advTm="32522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1" fill="hold"/>
                                        <p:tgtEl>
                                          <p:spTgt spid="8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audio isNarration="1">
              <p:cMediaNode vol="80000" showWhenStopped="0">
                <p:cTn id="7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8"/>
                </p:tgtEl>
              </p:cMediaNode>
            </p:audio>
          </p:childTnLst>
        </p:cTn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 rtlCol="0">
            <a:normAutofit/>
          </a:bodyPr>
          <a:lstStyle/>
          <a:p>
            <a:pPr>
              <a:defRPr/>
            </a:pPr>
            <a:r>
              <a:rPr lang="en-MY"/>
              <a:t>Example of Class Diagram with Navigability</a:t>
            </a:r>
          </a:p>
        </p:txBody>
      </p:sp>
      <p:sp>
        <p:nvSpPr>
          <p:cNvPr id="35843" name="Date Placeholder 3"/>
          <p:cNvSpPr>
            <a:spLocks noGrp="1"/>
          </p:cNvSpPr>
          <p:nvPr>
            <p:ph type="dt" sz="quarter" idx="10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Ctr="0" compatLnSpc="1">
            <a:prstTxWarp prst="textNoShape">
              <a:avLst/>
            </a:prstTxWarp>
          </a:bodyPr>
          <a:lstStyle>
            <a:lvl1pPr>
              <a:defRPr>
                <a:solidFill>
                  <a:schemeClr val="tx1"/>
                </a:solidFill>
                <a:latin typeface="Calibri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itchFamily="34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</a:defRPr>
            </a:lvl9pPr>
          </a:lstStyle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lang="en-US">
                <a:solidFill>
                  <a:srgbClr val="000000"/>
                </a:solidFill>
              </a:rPr>
              <a:t>2020</a:t>
            </a:r>
          </a:p>
        </p:txBody>
      </p:sp>
      <p:sp>
        <p:nvSpPr>
          <p:cNvPr id="35844" name="Footer Placeholder 4"/>
          <p:cNvSpPr>
            <a:spLocks noGrp="1"/>
          </p:cNvSpPr>
          <p:nvPr>
            <p:ph type="ftr" sz="quarter" idx="1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Ctr="0" compatLnSpc="1">
            <a:prstTxWarp prst="textNoShape">
              <a:avLst/>
            </a:prstTxWarp>
          </a:bodyPr>
          <a:lstStyle>
            <a:lvl1pPr>
              <a:defRPr>
                <a:solidFill>
                  <a:schemeClr val="tx1"/>
                </a:solidFill>
                <a:latin typeface="Calibri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itchFamily="34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</a:defRPr>
            </a:lvl9pPr>
          </a:lstStyle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lang="en-US">
                <a:solidFill>
                  <a:srgbClr val="000000"/>
                </a:solidFill>
              </a:rPr>
              <a:t>Software Engineering</a:t>
            </a:r>
          </a:p>
        </p:txBody>
      </p:sp>
      <p:sp>
        <p:nvSpPr>
          <p:cNvPr id="35845" name="Slide Number Placeholder 5"/>
          <p:cNvSpPr>
            <a:spLocks noGrp="1"/>
          </p:cNvSpPr>
          <p:nvPr>
            <p:ph type="sldNum" sz="quarter" idx="12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Calibri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itchFamily="34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</a:defRPr>
            </a:lvl9pPr>
          </a:lstStyle>
          <a:p>
            <a:fld id="{11038AF3-112D-4849-BC8D-92B6C1F884FC}" type="slidenum">
              <a:rPr lang="en-US">
                <a:solidFill>
                  <a:srgbClr val="000000"/>
                </a:solidFill>
              </a:rPr>
              <a:pPr/>
              <a:t>11</a:t>
            </a:fld>
            <a:endParaRPr lang="en-US">
              <a:solidFill>
                <a:srgbClr val="000000"/>
              </a:solidFill>
            </a:endParaRPr>
          </a:p>
        </p:txBody>
      </p:sp>
      <p:pic>
        <p:nvPicPr>
          <p:cNvPr id="35846" name="Picture 2" descr="Sample ordering class diagram"/>
          <p:cNvPicPr>
            <a:picLocks noGrp="1" noChangeAspect="1" noChangeArrowheads="1"/>
          </p:cNvPicPr>
          <p:nvPr>
            <p:ph idx="1"/>
          </p:nvPr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2263775" y="1600201"/>
            <a:ext cx="7664450" cy="4525963"/>
          </a:xfrm>
          <a:noFill/>
        </p:spPr>
      </p:pic>
      <p:sp>
        <p:nvSpPr>
          <p:cNvPr id="35847" name="TextBox 6"/>
          <p:cNvSpPr txBox="1">
            <a:spLocks noChangeArrowheads="1"/>
          </p:cNvSpPr>
          <p:nvPr/>
        </p:nvSpPr>
        <p:spPr bwMode="auto">
          <a:xfrm>
            <a:off x="1828800" y="6126164"/>
            <a:ext cx="8534400" cy="2762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Calibri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itchFamily="34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</a:defRPr>
            </a:lvl9pPr>
          </a:lstStyle>
          <a:p>
            <a:r>
              <a:rPr lang="en-MY" sz="1200" dirty="0">
                <a:solidFill>
                  <a:prstClr val="black"/>
                </a:solidFill>
              </a:rPr>
              <a:t>Source: https://softwareengineering.stackexchange.com/questions/195614/uml-class-diagram-confusion?noredirect=1&amp;lq=1</a:t>
            </a:r>
          </a:p>
        </p:txBody>
      </p:sp>
      <p:pic>
        <p:nvPicPr>
          <p:cNvPr id="3" name="Audio 2">
            <a:hlinkClick r:id="" action="ppaction://media"/>
            <a:extLst>
              <a:ext uri="{FF2B5EF4-FFF2-40B4-BE49-F238E27FC236}">
                <a16:creationId xmlns:a16="http://schemas.microsoft.com/office/drawing/2014/main" id="{C69FA4DE-980E-4DCA-82F9-4B327A26D6F0}"/>
              </a:ext>
            </a:extLst>
          </p:cNvPr>
          <p:cNvPicPr>
            <a:picLocks noChangeAspect="1"/>
          </p:cNvPicPr>
          <p:nvPr>
            <a:audi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5"/>
          <a:stretch>
            <a:fillRect/>
          </a:stretch>
        </p:blipFill>
        <p:spPr>
          <a:xfrm>
            <a:off x="11569700" y="6235700"/>
            <a:ext cx="406400" cy="4064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79064677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 advTm="131142"/>
    </mc:Choice>
    <mc:Fallback>
      <p:transition spd="slow" advTm="131142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1" fill="hold"/>
                                        <p:tgtEl>
                                          <p:spTgt spid="3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audio isNarration="1">
              <p:cMediaNode vol="80000" showWhenStopped="0">
                <p:cTn id="7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3"/>
                </p:tgtEl>
              </p:cMediaNode>
            </p:audio>
          </p:childTnLst>
        </p:cTn>
      </p:par>
    </p:tnLst>
  </p:timing>
</p:sld>
</file>

<file path=ppt/theme/theme1.xml><?xml version="1.0" encoding="utf-8"?>
<a:theme xmlns:a="http://schemas.openxmlformats.org/drawingml/2006/main" name="1_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33</TotalTime>
  <Words>405</Words>
  <Application>Microsoft Office PowerPoint</Application>
  <PresentationFormat>Widescreen</PresentationFormat>
  <Paragraphs>75</Paragraphs>
  <Slides>11</Slides>
  <Notes>1</Notes>
  <HiddenSlides>0</HiddenSlides>
  <MMClips>11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4" baseType="lpstr">
      <vt:lpstr>Arial</vt:lpstr>
      <vt:lpstr>Calibri</vt:lpstr>
      <vt:lpstr>1_Office Theme</vt:lpstr>
      <vt:lpstr>Design Classes: CLASS DIAGRAM</vt:lpstr>
      <vt:lpstr>Anatomy of a Design Class</vt:lpstr>
      <vt:lpstr>Analysis vs. Design Class</vt:lpstr>
      <vt:lpstr>Design vs. Implementation</vt:lpstr>
      <vt:lpstr>Design Class Symbols Using Stereotypes</vt:lpstr>
      <vt:lpstr>Standard Stereotypes in Design Models</vt:lpstr>
      <vt:lpstr>Design Class Notation</vt:lpstr>
      <vt:lpstr>Internal Symbols and Example</vt:lpstr>
      <vt:lpstr>Domain Model vs. Design Class Diagram</vt:lpstr>
      <vt:lpstr>Navigation Visibility</vt:lpstr>
      <vt:lpstr>Example of Class Diagram with Navigability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Norsham Idris</dc:creator>
  <cp:lastModifiedBy>Norsham Idris</cp:lastModifiedBy>
  <cp:revision>4</cp:revision>
  <dcterms:created xsi:type="dcterms:W3CDTF">2020-04-20T01:58:17Z</dcterms:created>
  <dcterms:modified xsi:type="dcterms:W3CDTF">2020-04-22T07:58:42Z</dcterms:modified>
</cp:coreProperties>
</file>