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Action1.xml" ContentType="application/vnd.ms-office.inkAction+xml"/>
  <Override PartName="/ppt/ink/inkAction2.xml" ContentType="application/vnd.ms-office.inkAction+xml"/>
  <Override PartName="/ppt/ink/inkAction3.xml" ContentType="application/vnd.ms-office.inkAction+xml"/>
  <Override PartName="/ppt/ink/inkAction4.xml" ContentType="application/vnd.ms-office.inkAction+xml"/>
  <Override PartName="/ppt/ink/inkAction5.xml" ContentType="application/vnd.ms-office.inkAction+xml"/>
  <Override PartName="/ppt/ink/inkAction6.xml" ContentType="application/vnd.ms-office.inkAction+xml"/>
  <Override PartName="/ppt/ink/inkAction7.xml" ContentType="application/vnd.ms-office.inkActio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709" r:id="rId2"/>
    <p:sldId id="674" r:id="rId3"/>
    <p:sldId id="675" r:id="rId4"/>
    <p:sldId id="745" r:id="rId5"/>
    <p:sldId id="747" r:id="rId6"/>
    <p:sldId id="769" r:id="rId7"/>
    <p:sldId id="752" r:id="rId8"/>
    <p:sldId id="755" r:id="rId9"/>
    <p:sldId id="756" r:id="rId10"/>
    <p:sldId id="751" r:id="rId11"/>
    <p:sldId id="749" r:id="rId12"/>
    <p:sldId id="763" r:id="rId13"/>
    <p:sldId id="766" r:id="rId14"/>
    <p:sldId id="759" r:id="rId15"/>
    <p:sldId id="681" r:id="rId16"/>
    <p:sldId id="760" r:id="rId17"/>
    <p:sldId id="761" r:id="rId18"/>
    <p:sldId id="762" r:id="rId19"/>
    <p:sldId id="76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Action1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04-26T02:59:45.7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3126">
    <iact:property name="dataType"/>
    <iact:actionData xml:id="d0">
      <inkml:trace xmlns:inkml="http://www.w3.org/2003/InkML" xml:id="stk0" contextRef="#ctx0" brushRef="#br0">19178 6900 0</inkml:trace>
    </iact:actionData>
  </iact:action>
  <iact:action type="add" startTime="16147">
    <iact:property name="dataType"/>
    <iact:actionData xml:id="d1">
      <inkml:trace xmlns:inkml="http://www.w3.org/2003/InkML" xml:id="stk1" contextRef="#ctx0" brushRef="#br0">21562 6951 0,'0'-25'66,"51"-1"-60,51 26 9,-77 0-6,76-25-2,26 25 4,-51 0-5,26 0 0,-1-51 4,-25 51 0,1-25-3,49 25 1,-49 0-2,24-26 4,26-24-2,-51 50-2,51 0 4,-51 0-4,127-102 4,-127 102-4,76 0 2,-76-25 1,76 25-2,-25-25 1,-51-26 1,26 51-2,50 0 4,-76 0-5,76 0 4,-76-26-5,1 26 6,75 0-4,-25 0 2,-26 0-2,102 0 2,-76-25-4,25 25 5,-76 0-4,0 0 2,127 0 0,-152 0 9,0 0-10,50 0 3,51 0-3,-101 0 2,25 0-1,0 0-2,26 0 4,-77 0-4,178 0 2,-127 0 3,51 0-6,25 0 6,-76 0-6,1 0 7,49 0-8,-75 0 7,25 0-6,-25 0 5,50 0-4,-75 25 5,50-25-6,-25 26 5,-1-1-4,77 1 4,0 24-2,-25-24 0,-1 24 1,-50-24-4,-1 24 3,1-50 2,-25 26 1,50-1 9,-51 1-10,0-1-4,-25 0 4,51 26-4,-25 25 4,24 51-6,-24-102 7,75 102-4,-50 0 2,0-51-3,-26 0 3,51 76-3,26-25 4,-52-25-2,52 50 0,-77-76-2,0 51 4,77 50-2,-26-101 0,26 102 0,-52-51 0,1 0-2,25 0 4,26-1-3,-52-50 0,-50 51 3,102 0-2,-51-51 1,-26 0-2,76 51 3,1 101-4,-1-101 4,-75-25-6,50 25 7,-25 25-4,-26-51 0,26-25 2,-1 51-3,-24-25 4,-1 24-2,-25-75-1,76 76 1,-76-26 1,26-50-3,-26 25 4,0 26-3,25-26 1,-25 25-1,0-50 2,0 25-1,0 26 2,0-1-5,0-25 7,0 26-7,0-1 2,-51 26 1,26-26 3,-1 77-6,1-102 7,-26 26-8,-25 100 8,51-125-6,-51 49 2,25 1 0,26 25 1,-26-101-2,0 51 1,0-26 0,26 76-1,-26-101 2,-25 75-1,0 1 1,76-76-4,-76 76 6,0-51-6,0 25 8,0-24-10,50-27 10,-24 77-10,-26-76 9,25 50-6,0-50 1,0 25 1,-50 0 0,101-50 0,-51 24 0,-25 77 1,25-76 1,1 50-3,-1-50-1,-51 76 2,26-51 0,-76 76 1,76-76-3,-26 51 5,-227 0-4,202-26 0,-51 1 0,1-77 4,101 51-6,-127-50 7,25 50-7,77-25 6,-1-51-7,-50 25 8,25 51-7,51-51 7,25-25-7,-25 0 1,-25 26 4,75-26-2,-101 50 0,1-50-2,75 0 2,-101 51 0,75-51 2,-24 0-2,50 0 0,-50 0-1,25 0 1,-26 0 1,77 0-2,-102 0 2,26-25 0,-52-26-3,103 26 5,-153-51-5,76 25 4,51 0-4,-26-50 5,1 75-5,-1-75 4,-25 50-4,51-25 3,-51 0-2,-50 0 0,152 76 1,-26-51 0,0-25 0,0 25 0,1 1-1,24-1 0,-50-76 1,76 76 1,-25-50 0,-1 25-2,1-102 2,0 102-1,-1 0 2,-24 25-4,50-50 3,-51-1-4,51 77 7,0 0-6,0-52 3,-26 27-2,1-52-1,25-25 2,-51 51 0,26-76 0,25 51 1,-25-1-2,-1-25 9,-50 51-6,51-51-2,-1 51-1,26 26 2,-25-153-1,-26 152 0,1-76 0,50 51 1,-51-76-2,51 101 2,-102-101-4,102 25 7,0 26-7,-25-26 6,25-25-5,-25 25 5,25 51-8,0-77 7,-102 27-2,102-1 0,-25 51-2,25-26 4,0-25-2,-26 77 0,26 24 0,0-75 0,-76 25-2,76 25 4,0-76-2,0 51-2,-25 0 3,25-51 0,0 51 0,0 0-2,0 0 2,-25-51-3,25 76 5,0-25-5,0 25 0,0-25 2,-26 0 2,26 26-2,0 24 0,-51 1 31,51-1-28,0-75-3,0 76-1,0-77-1,0 26 5,0 25-3,0-101-3,0 76 12,51 0-9,-51 25 2,0 0-5,0 26 6,0-51-2,0 25-2,0 1-2,0 24 3,0-25 0,0 1 0,0-1 9,76-76-9,-50 76 8,-26 26-8,0 0 0,0-1-1,0-50 10,0 51-9,25-1 1,-25-50-4,25 51 5,52-76 7,-77 75 0,50-75-3,-50 50 1,26 26-7,-1-1 0,0-25-1,-25 1 35,0 24-35,0 1 9,26 0 9,24-26 214,-50 0-228,0-50 2,26 75 3,-26 1-1,0-51-10,25 51 7,1 25-4,-1-77 9,0 52-11,-25 0 11,26-26-7,-26 26-3,0-26 0,0 0 1,25 51-1,0-51 4,1 26-6,-26-26 6,0 26-6,0 0 7,25-26-6,1 0 20,-26-25-6,0 25-2,25 26-12,-25 0 50,25-1-45,1 1-5,-26-1 41,0-24 86,0 24-101</inkml:trace>
    </iact:actionData>
  </iact:action>
</iact:actions>
</file>

<file path=ppt/ink/inkAction2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04-26T03:19:10.7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23093">
    <iact:property name="dataType"/>
    <iact:actionData xml:id="d0">
      <inkml:trace xmlns:inkml="http://www.w3.org/2003/InkML" xml:id="stk0" contextRef="#ctx0" brushRef="#br0">18721 8625 0,'51'0'33,"0"0"-27,75 0 3,-75-25-2,0 25 2,50 0 7,77-76-10,-102 76 2,0-26 2,-25 26-2,25 0-1,102-50 2,-128 50 7,26-51-7,-25 51-3,25 0 3,-50 0 8,-1 0 20,51 0-27,0 0-4,-25 0 3,-26 25 62,1 1-62,-1-26 0,26 0-3,-26 0 4,26 0-3,-26 0 2,51 25-2,-50-25 8,-1 0-7,51 0 8,-25 51 1,0-51-9,-1 0 0,-24 0 8,25 0-9,-26 0 2,0 0 7,77 0 24,-51 0 0,25 0-29,-26 0-6,77 0 2,-25 0 2,50 0-1,51 0 0,-26 50-1,-75-50 2,-1 26 0,-25-26-2,26 0 1,-51 0 1,50 0-2,-25 0 9,-50 0-1,-1 0 2,0 0-9,1 0 16,-1 0 33,0 0-40,1 0-3,50 0-6,-25 0 0,25 0 2,51 0-4,-77 0 3,52 0-1,-51 0-1,152 0 2,50 0-1,-177 0 0,76 0-1,-101 0 2,101 0-1,-101 0-2,51 0 3,-1 0-2,-76 0 1,77 0 1,-77 0 7,51 0-8,-50 0-1,-1 0 42,26 0-32,50 0-10,-75 0 3,24 0-2,1 0 2,0 0-6,-26 0 21</inkml:trace>
    </iact:actionData>
  </iact:action>
  <iact:action type="add" startTime="44669">
    <iact:property name="dataType"/>
    <iact:actionData xml:id="d1">
      <inkml:trace xmlns:inkml="http://www.w3.org/2003/InkML" xml:id="stk1" contextRef="#ctx0" brushRef="#br0">22425 10452 0,'25'25'56,"1"-25"-38,50 0-9,-25 0-3,-1 0 3,-24 0-5,24 0 8,26 0-6,-25 0 4,25 0-4,-25 0 3,0 0-2,0 0 1,25 0-1,-51 0 1,0 0 2,77 0-4,-51 0 3,-1 0 0,-24 0-1,101 0-3,-77 0 7,26 0-7,-25 0 5,25 0-4,-25 0 4,0 0-5,-1 0 7,26 0-7,-25 0 6,76 0-6,-102 0 4,77 0-2,-51 0 1,-1 0 0,-24 0 0,75 0 0,-50 0 0,25 0 7,-51 0-7,1 0 1,50 0-1,-51 0-1,1 0 1,-1 0 0,0 0 18</inkml:trace>
    </iact:actionData>
  </iact:action>
</iact:actions>
</file>

<file path=ppt/ink/inkAction3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04-26T03:19:10.7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17583">
    <iact:property name="dataType"/>
    <iact:actionData xml:id="d0">
      <inkml:trace xmlns:inkml="http://www.w3.org/2003/InkML" xml:id="stk0" contextRef="#ctx0" brushRef="#br0">11669 3882 0,'51'0'47,"-26"0"-6,0 0 8,26 0-33,-26 0-2,1-26-4,-1 26-4,0 0 18,1 0-15,-1 0 0,1 0-3,24 0 4,26 0-4,-25 0 2,0 0 1,25 26 0,-25-26-1,-26 0 0,26 0-1,0 0 2,-26 0 0,51 0-3,-51 0 9,1 25-3,-1-25-6,1 0 0,24 0 4,1 51-2,0-51-2,-1 0 12,1 0-12,51 25 3,-77-25 8,0 0-9,1 0 40,25 0-40,-26 0-2,26 0 21,-1 0-14,-24 0 4,24 0-2,-24 0 33</inkml:trace>
    </iact:actionData>
  </iact:action>
  <iact:action type="add" startTime="20071">
    <iact:property name="dataType"/>
    <iact:actionData xml:id="d1">
      <inkml:trace xmlns:inkml="http://www.w3.org/2003/InkML" xml:id="stk1" contextRef="#ctx0" brushRef="#br0">18645 3856 0,'102'0'163,"24"-76"-156,27 76 2,-103 0-2,103 0-2,-27 0 7,-24 0-2,-51 0-5,75 0 0,27 0 3,-52 0 0,-50 0 3,25 0-6,-25 0 4,-26 0 0,51 0-3,-25 0 4,25 0-4,-51 0 2,1 0 3,-1 0-4,0 0 0,1 0 1,-1 0 1,51 0-2,-50 0 3,-1 0-4,26 0 4,0 0-5,50 0 4,-25 0 8,-25 0-10,-26 0 0,51 0 2,-50 0 0,-1 0-3,0 0 3,1 0-2,-1 0 9</inkml:trace>
    </iact:actionData>
  </iact:action>
  <iact:action type="add" startTime="21623">
    <iact:property name="dataType"/>
    <iact:actionData xml:id="d2">
      <inkml:trace xmlns:inkml="http://www.w3.org/2003/InkML" xml:id="stk2" contextRef="#ctx0" brushRef="#br0">22958 4059 0,'25'0'144,"26"0"-127,0 0-9,-26 0-1,26 0 1,-26 0 9,0 0-1,26 0 0,-26 0-10,1 0 20,-1 0-18,1 0 8,-1 0-10,26 0 3,-1 0 7,-24 0-1,-1 0-6,1 0 0,-1 0 7,0 0 0,1 0-9,-1 0 8,26 0 1,-26 0 8,0 0 8,26 0-16,-25 0 1,-1 0-1,26-25-9,-1 25 19,-24 0-9,24-51-1,-24 51 23,-1 0-25,1 0 10,24 0-8,-24 0-6,-1 0 22,26 0-10,-26 0-13,1 0 8,-1 0 0,26 0-12,-26 0 68,0 0-42,1 0 204</inkml:trace>
    </iact:actionData>
  </iact:action>
  <iact:action type="add" startTime="53663">
    <iact:property name="dataType"/>
    <iact:actionData xml:id="d3">
      <inkml:trace xmlns:inkml="http://www.w3.org/2003/InkML" xml:id="stk3" contextRef="#ctx0" brushRef="#br0">6062 4998 0,'26'-26'114,"-1"26"-108,0 0 1,52 0 2,-27 0 0,-24 0-1,50 0-1,-51 0 4,26 0-6,-26 0 3,1 0-1,50 0 5,-51 0-7,0 0 5,1 0-4,-1 0 1,1 0 2,24 0-1,26 0 8,-50 0 7,-1 0-6,26 0 7,-26 0 0,1 0 7,24 0-13,-24 0 12,-1 0-12,0 0 12,26 0 34</inkml:trace>
    </iact:actionData>
  </iact:action>
</iact:actions>
</file>

<file path=ppt/ink/inkAction4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04-26T03:19:10.7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8188">
    <iact:property name="dataType"/>
    <iact:actionData xml:id="d0">
      <inkml:trace xmlns:inkml="http://www.w3.org/2003/InkML" xml:id="stk0" contextRef="#ctx0" brushRef="#br0">3627 4211 0,'0'0'2,"51"0"11,76 0 13,25 0-24,-101 0 2,25 0 4,-26 0 0,26 0-1,-25 0 3,25 0-3,26 0 2,-51 0-2,50 0 1,-25 0 0,0 0 0,26 0 1,-1 0 0,-25 0-3,-25 0 3,50 0-3,-24 0 6,24 0-8,1 0 8,24 0-6,-50 0 2,26 0-2,-1 0 4,1 0-2,-26 0-2,0 0 4,51 0-3,-76 0 0,25 0 2,0 0 0,0 0-3,51 0 2,-51 0 2,51 0-2,-26 0 0,51 0 1,-25 0-2,-51 0 2,1 0-2,49 0 1,-50 0-2,1 0 6,24 0-8,-50 0 8,76 0-6,-77 0 3,26 0-3,-25 0 3,51 0-3,25 0 4,-26 0-2,0 0 0,1 0-1,50 0 1,-50 0-1,24 0 3,-49 0-2,49 0 0,-24 0-1,25 0 2,-51 0 0,25 0-2,1 0 3,-77 0-4,1 0 2,50 0 0,-51 0 2,0 0-6,26 0 8,-26 0-8,52 0 14,-27 0-10,77 0 0,-76 0-2,25 0 4,-25 0-2,25 0 0,-51 0 0,1 0 0,50 0 0,-51 0 18,26 0-20</inkml:trace>
    </iact:actionData>
  </iact:action>
  <iact:action type="add" startTime="25804">
    <iact:property name="dataType"/>
    <iact:actionData xml:id="d1">
      <inkml:trace xmlns:inkml="http://www.w3.org/2003/InkML" xml:id="stk1" contextRef="#ctx0" brushRef="#br0">12430 10629 0,'-26'0'233,"1"0"-224,-26 0-3,26 0 11,0 0-9,-51 0 1,25 0-4,-25 0 5,25 0-4,-25 0 5,50 0-5,-50 0 1,51 0 1,-26 0-1,1 0 3,24 0 5,1 0 2,-26 0-2,26 0 17,-1 0 16,-24 25-24,50 52-16,0-27-1,0 26 4,0-25-6,0 76 7,0-26-8,0-24 6,0 75-3,0 25 2,0-25-2,0 51 0,0-50 2,0 50-2,0-77 1,0-24 1,0 50-1,0 0 0,0-25 0,0 25-1,0-50 4,0 50-5,0 0 3,0-25-2,0 25 2,0-76-2,0 51 4,0-25-6,0 24 6,0 27-4,0-52-1,0 26 4,0 25-1,0-50-4,0 24 3,0-50 0,0 1 2,0-1-2,0 0 0,0 25-2,0 1 4,0-26-4,0 0 4,0 76-4,0-101 2,0 50 2,0 1-2,0-52 0,0 52 0,0 25-1,0-77 2,0 27-2,0-1 0,76 51 4,-51-102-6,-25 51 3,25-25 3,-25 25-4,26-51-1,-26 1 18,0-1 40,76 26-55,-51-51 8,1 0-10,24 0 4,-24 0-5,50 25 0,-51-25 12,26 0 3,-26 0 29,1 0-36,-1 0-4,26 0-2,0 0-2,-1 0 11,-24 0-7,-1 0-5,0 0 29</inkml:trace>
    </iact:actionData>
  </iact:action>
  <iact:action type="add" startTime="60387">
    <iact:property name="dataType"/>
    <iact:actionData xml:id="d2">
      <inkml:trace xmlns:inkml="http://www.w3.org/2003/InkML" xml:id="stk2" contextRef="#ctx0" brushRef="#br0">19584 7991 0,'50'0'107,"-24"0"-101,25 0 3,-1 0 1,-24 0-6,50 0 14,-26 0-12,-24 0 2,50 0 0,-25 0 0,25 0 3,-51 0-6,26 0 5,0 0-4,-26 0 2,51 0 0,-51 0 0,1 0 2,75 51-3,1-51 2,-51 0-1,50 25-1,-50-25-1,76 25 4,-51-25-1,-26 0-2,27 0 1,-27 0 2,-24 0-5,50 0 6,-51 0-5,51 26 9,-25-26-7,0 0 0,25 0 0,25 25 0,-50 1 0,0-26 0,-1 0 0,52 50 1,-77-50-2,26 26 2,51-26-2,-1 0 1,-25 25-1,-25-25 2,50 0-2,-50 0 3,0 0-4,25 0 4,25 0-3,-25 0 4,1 0-7,-1 0 7,-26 51-4,77-51 2,-101 0-4,-1 0 3,26 0 0,-1 0 2,27 0-3,-27 0 0,-24 0 2,24 0-2,-24 0 3,-1 0-3,1 0 0,-1 0 2,0 0 19,1 0-15,-1 0 1250,51 0-1253,-25 0-2,0 0 0,-1 0-1,1 0 1,0 0 0,-1-26 8,-24 26-9,25 0 2,-26-25 0,26 25-3,-26 0 11,0 0-1,26-51-6,-25 51-4,-1 0 4,51 0-4,-51 0 1,1 0 2,24 0-2,-24 0 1,-1 0 1,1 0-1,24 0 0,-24-25-1,-1 25 9,26 0-7,-26 0-2,1 0 1,-1-25 2,0 25-3,1 0 2,24-26-2,1 26 9,-26 0 0,1 0 0,-1 0-6,1 0 11,50-25-11,-26 25 47,-24 0-44,25 0 13,-26-26-9,0 26-3,26 0 65</inkml:trace>
    </iact:actionData>
  </iact:action>
  <iact:action type="add" startTime="67668">
    <iact:property name="dataType"/>
    <iact:actionData xml:id="d3">
      <inkml:trace xmlns:inkml="http://www.w3.org/2003/InkML" xml:id="stk3" contextRef="#ctx0" brushRef="#br0">24150 13394 0,'-76'-101'136,"50"101"-127,1-26 3,0 1-9,-1-1 10,1 1-6,0 0-3,-1-1 4,1 26 7,0-25-7,25 0 8,-26-1 0,1 1-5,-26 0-4,51-1 9,-25 26-6,-1 0-6,1-25 7,0 25 37,-1 0-33,1 0 17,0 0-9,-1 0-12,1 0 20,-26 0-18,26 0-5,-26 0 13,26 0 15,-1 25-26,1-25 19,-1 26 4,-50-1-9,51 0-16,0 1 23,25-1-5,0 0-4,-26 1-15,1-1 10,0 0-2,-1 52 10,26-52 8,0 0-26,0 26 9,0-26 0,0 1 3,0 24 2,0-24 3,0-1-5,0 1-5,26-26-6,-26 25 8,25 26-9,26-51 17,-1 50-15,26-24 16,-25-1-14,-51 1-8,51-1 11,0-25-12,-26 0 10,0 25-6,26-25 4,-25 26-3,-26-1 1,25-25 5,51 25 5,-51-25-3,1 0-7,50 26-1,-51-26 12,1 0-13,-1 0 3,26 0 5,50 25-3,-76-25 4,1 0-9,25 0 20,-26 0-19,0 0 33,1 0-8,-1 0-2,0 0-3,1-25-4,-26-1-7,0 1-6,0 0-4,0-1 8,0 1-4,0 0-2,0-1 7,0-25-6,0 26-2,0-51 11,0 51-11,0-52 16,0 52-14,-26 0-1,26-1 9,-25 1-11,25 0 35,-25-1-11</inkml:trace>
    </iact:actionData>
  </iact:action>
</iact:actions>
</file>

<file path=ppt/ink/inkAction5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04-26T03:31:53.3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20070">
    <iact:property name="dataType"/>
    <iact:actionData xml:id="d0">
      <inkml:trace xmlns:inkml="http://www.w3.org/2003/InkML" xml:id="stk0" contextRef="#ctx0" brushRef="#br0">9132 2309 0,'0'-25'62,"76"-1"-45,-51 26-10,26 0 3,-25 0-4,75 0 4,-50 0-4,-51-25 5,50 25-5,52-25 4,-26-26-5,-51 51 6,26 0-6,0 0 2,-26 0 2,1-26 1,50 26-3,-26 0 9,27 0-8,-52-25 0,26 25 0,-1-25-2,27-1 4,-27 1-1,-24 25-2,24-25 2,26 25 5,-50 0-5,-1-26-2,26 26 13,-26 0-15,1-25 11</inkml:trace>
    </iact:actionData>
  </iact:action>
  <iact:action type="add" startTime="179172">
    <iact:property name="dataType"/>
    <iact:actionData xml:id="d1">
      <inkml:trace xmlns:inkml="http://www.w3.org/2003/InkML" xml:id="stk1" contextRef="#ctx0" brushRef="#br0">12303 1675 0,'25'0'163,"26"0"-157,-26 0 3,1 0-3,-1 0 4,1 0-3,-1 0 2,76 0-2,-50-51 1,51 51 7,-77 0 3,0 0-11,51-25-1,-50 25 69,-1-26-58</inkml:trace>
    </iact:actionData>
  </iact:action>
</iact:actions>
</file>

<file path=ppt/ink/inkAction6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04-26T03:31:53.3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50303">
    <iact:property name="dataType"/>
    <iact:actionData xml:id="d0">
      <inkml:trace xmlns:inkml="http://www.w3.org/2003/InkML" xml:id="stk0" contextRef="#ctx0" brushRef="#br0">25317 3324 0,'25'0'15,"1"0"-5,-1 0 12,0 0 10,1-26-7,-26 1-16,25 25 30,0 0-29,26 0 12,-25 0 18,24 0-21</inkml:trace>
    </iact:actionData>
  </iact:action>
  <iact:action type="add" startTime="53704">
    <iact:property name="dataType"/>
    <iact:actionData xml:id="d1">
      <inkml:trace xmlns:inkml="http://www.w3.org/2003/InkML" xml:id="stk1" contextRef="#ctx0" brushRef="#br0">27042 12532 0,'0'25'106,"25"-25"-97,1 0 5,-1 0-8,26 0 4,0 0-1,-26 0 4,26 0-4,-26 0-1,0 0 0,26 0 0,-26 0 9,1 0-3,25 0 4,-26 0 5,0 0-16</inkml:trace>
    </iact:actionData>
  </iact:action>
</iact:actions>
</file>

<file path=ppt/ink/inkAction7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04-26T03:31:53.3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21556">
    <iact:property name="dataType"/>
    <iact:actionData xml:id="d0">
      <inkml:trace xmlns:inkml="http://www.w3.org/2003/InkML" xml:id="stk0" contextRef="#ctx0" brushRef="#br0">8574 14485 0,'25'0'168,"1"0"-161,24 0 1,1 0 0,51 0 0,-52 50 1,52-50-2,-52 0 2,1 26-2,25-26 2,26 0-2,-51 25 1,-1-25 1,26 0-2,-25 0 3,0 26-4,-26-26 2,26 0 2,50 25-4,-50 0 3,-25-25-1,50 0 0,0 26 0,-26-26 2,1 0-4,51 0 4,-52 25-4,1-25 11,-25 0-11,-1 25 3,0-25 6,26 0 9</inkml:trace>
    </iact:actionData>
  </iact:action>
  <iact:action type="add" startTime="23820">
    <iact:property name="dataType"/>
    <iact:actionData xml:id="d1">
      <inkml:trace xmlns:inkml="http://www.w3.org/2003/InkML" xml:id="stk1" contextRef="#ctx0" brushRef="#br0">5580 15474 0,'51'0'187,"0"0"-182,-26 0 4,1 0-2,50 0 0,-26 0 6,27 0-7,-27 0-1,1 0 4,25 0-2,0 0 3,-25 0-1,25 0-4,-51 0 6,26 0-5,51 0 1,-1 25 1,-50-25 0,50 26 0,26-26 10,-76 25-10,25-25 0,-25 0-2,-1 26 3,1-26-2,0 0 1,25 0 0,-25 0 2,25 25-3,-51 0 1,51-25-1,-25 0 5,0 26-6,0-26 0,-1 0 2,1 0 0,0 0 2,0 25 5,-1-25-8,-24 0 3,24 25-4,1-25 4,-26 0-2,52 0-1,-1 51 1,-51-51 0,26 0 0,25 0 0,0 25 0,-25-25 1,25 26-4,0-26 6,-51 25-5,128 26 4,-128-51-4,51 25 5,-25 1-7,25-26 8,0 25-8,-51-25 7,26 0-4,-26 0 1,52 0-1,-27 25 9,-24 1-9,-1-26 3,0 0-3,1 0 1</inkml:trace>
    </iact:actionData>
  </iact:action>
  <iact:action type="add" startTime="35404">
    <iact:property name="dataType"/>
    <iact:actionData xml:id="d2">
      <inkml:trace xmlns:inkml="http://www.w3.org/2003/InkML" xml:id="stk2" contextRef="#ctx0" brushRef="#br0">5479 11745 0,'51'0'31,"-1"0"-23,-24 0 10,24-25-12,-24 25 3,-1 0 0,51 0 23,-25 0-16,0 0-10,-26 0 2,26 0 0,0 0 0,-26 0 3,0 0-6,26 0 7,-26 0-6,26 25 0,0-25 10,-26 0-8,1 0 0,50 0 0,-25 26 0,-26-26 0,26 0 3,50 25-4,-50-25-1,0 0 2,25 0 2,-51 0-4,0 0 4,1 0-4,-1 0 18</inkml:trace>
    </iact:actionData>
  </iact:action>
  <iact:action type="add" startTime="38500">
    <iact:property name="dataType"/>
    <iact:actionData xml:id="d3">
      <inkml:trace xmlns:inkml="http://www.w3.org/2003/InkML" xml:id="stk3" contextRef="#ctx0" brushRef="#br0">15601 1979 0,'51'0'50,"-26"0"-45,26 0 22</inkml:trace>
    </iact:actionData>
  </iact:action>
  <iact:action type="add" startTime="40604">
    <iact:property name="dataType"/>
    <iact:actionData xml:id="d4">
      <inkml:trace xmlns:inkml="http://www.w3.org/2003/InkML" xml:id="stk4" contextRef="#ctx0" brushRef="#br0">16387 3324 0,'0'25'98,"26"-25"-36,-1 0-45,26 0-8,-1 0 6,1 0-9,0 0 3,-26 0 0,26 0-2,-26 0 1,1 0 10,25 0-12,-26 0 9,0 0 129</inkml:trace>
    </iact:actionData>
  </iact:action>
  <iact:action type="add" startTime="44197">
    <iact:property name="dataType"/>
    <iact:actionData xml:id="d5">
      <inkml:trace xmlns:inkml="http://www.w3.org/2003/InkML" xml:id="stk5" contextRef="#ctx0" brushRef="#br0">19939 1827 0</inkml:trace>
    </iact:actionData>
  </iact:action>
  <iact:action type="add" startTime="46228">
    <iact:property name="dataType"/>
    <iact:actionData xml:id="d6">
      <inkml:trace xmlns:inkml="http://www.w3.org/2003/InkML" xml:id="stk6" contextRef="#ctx0" brushRef="#br0">18747 3324 0,'25'25'90,"51"-25"-81,51 25 1,0 1-8,25-26 11,-101 25-5,50-25 0,1 0-5,-77 0 13,0 0-8,26 0 11,-26 0-4</inkml:trace>
    </iact:actionData>
  </iact:action>
  <iact:action type="add" startTime="48147">
    <iact:property name="dataType"/>
    <iact:actionData xml:id="d7">
      <inkml:trace xmlns:inkml="http://www.w3.org/2003/InkML" xml:id="stk7" contextRef="#ctx0" brushRef="#br0">21131 3374 0,'26'0'136,"50"0"-127,-26 0 2,26 0 5,-25 0-10,0 0 0,-26 0 2,26 51 3,0-51 4,-26 0-9,1 0 42,-26 25-29</inkml:trace>
    </iact:actionData>
  </iact:action>
  <iact:action type="add" startTime="49373">
    <iact:property name="dataType"/>
    <iact:actionData xml:id="d8">
      <inkml:trace xmlns:inkml="http://www.w3.org/2003/InkML" xml:id="stk8" contextRef="#ctx0" brushRef="#br0">22932 3222 0,'26'0'126,"24"0"-115,-24 0-6,-1 0 6,26 0 3,-26 0-7,26 0 1,25 0 1,-25 0-2,76 76 3,-102-76-2,26 0-2,-26 0 11,1 0-9,24 0 0,-24 0 7,-1 0 2,26 0 23,-26 0-24,0 0 8</inkml:trace>
    </iact:actionData>
  </iact:action>
  <iact:action type="add" startTime="52292">
    <iact:property name="dataType"/>
    <iact:actionData xml:id="d9">
      <inkml:trace xmlns:inkml="http://www.w3.org/2003/InkML" xml:id="stk9" contextRef="#ctx0" brushRef="#br0">26179 3197 0,'0'25'9,"26"-25"76,-1 0-68,51 0-8,-50 0 1,24 0-4,26 0 0,26 0 3,-77 0-1,51-25 0,-25 25 0,-25-26 1,-1 26 6,26 0 1,-26 0 0</inkml:trace>
    </iact:actionData>
  </iact:action>
</iact:action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155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015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78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678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653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84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904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263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303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393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474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996" y="6487367"/>
            <a:ext cx="12175067" cy="357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19"/>
          <p:cNvSpPr>
            <a:spLocks noChangeArrowheads="1"/>
          </p:cNvSpPr>
          <p:nvPr userDrawn="1"/>
        </p:nvSpPr>
        <p:spPr bwMode="auto">
          <a:xfrm>
            <a:off x="0" y="0"/>
            <a:ext cx="12192000" cy="1417638"/>
          </a:xfrm>
          <a:prstGeom prst="rect">
            <a:avLst/>
          </a:prstGeom>
          <a:solidFill>
            <a:srgbClr val="FFE1AD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800" dirty="0">
              <a:ea typeface="ＭＳ Ｐゴシック" pitchFamily="-112" charset="-128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10" name="Picture 20" descr="header_UTM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4667" y="106364"/>
            <a:ext cx="1593851" cy="395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22" descr="header_url"/>
          <p:cNvPicPr>
            <a:picLocks noChangeAspect="1" noChangeArrowheads="1"/>
          </p:cNvPicPr>
          <p:nvPr userDrawn="1"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1169894"/>
            <a:ext cx="3168651" cy="255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598397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2020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93036" y="6620436"/>
            <a:ext cx="55880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Software Engineering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598397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ysClr val="windowText" lastClr="000000"/>
                </a:solidFill>
              </a:defRPr>
            </a:lvl1pPr>
          </a:lstStyle>
          <a:p>
            <a:fld id="{0362C787-829C-4B6B-B21B-90D8981190F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468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7.png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microsoft.com/office/2011/relationships/inkAction" Target="../ink/inkAction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4" Type="http://schemas.microsoft.com/office/2011/relationships/inkAction" Target="../ink/inkAction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.png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11.png"/><Relationship Id="rId5" Type="http://schemas.microsoft.com/office/2011/relationships/inkAction" Target="../ink/inkAction3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4.png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6" Type="http://schemas.microsoft.com/office/2011/relationships/inkAction" Target="../ink/inkAction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6" Type="http://schemas.openxmlformats.org/officeDocument/2006/relationships/image" Target="../media/image4.png"/><Relationship Id="rId5" Type="http://schemas.openxmlformats.org/officeDocument/2006/relationships/image" Target="../media/image16.png"/><Relationship Id="rId4" Type="http://schemas.openxmlformats.org/officeDocument/2006/relationships/image" Target="../media/image1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4.m4a"/><Relationship Id="rId1" Type="http://schemas.microsoft.com/office/2007/relationships/media" Target="../media/media14.m4a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.png"/><Relationship Id="rId2" Type="http://schemas.openxmlformats.org/officeDocument/2006/relationships/audio" Target="../media/media15.m4a"/><Relationship Id="rId1" Type="http://schemas.microsoft.com/office/2007/relationships/media" Target="../media/media15.m4a"/><Relationship Id="rId6" Type="http://schemas.openxmlformats.org/officeDocument/2006/relationships/image" Target="../media/image17.png"/><Relationship Id="rId5" Type="http://schemas.microsoft.com/office/2011/relationships/inkAction" Target="../ink/inkAction5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.png"/><Relationship Id="rId2" Type="http://schemas.openxmlformats.org/officeDocument/2006/relationships/audio" Target="../media/media16.m4a"/><Relationship Id="rId1" Type="http://schemas.microsoft.com/office/2007/relationships/media" Target="../media/media16.m4a"/><Relationship Id="rId6" Type="http://schemas.openxmlformats.org/officeDocument/2006/relationships/image" Target="../media/image19.png"/><Relationship Id="rId5" Type="http://schemas.microsoft.com/office/2011/relationships/inkAction" Target="../ink/inkAction6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7.m4a"/><Relationship Id="rId1" Type="http://schemas.microsoft.com/office/2007/relationships/media" Target="../media/media17.m4a"/><Relationship Id="rId5" Type="http://schemas.openxmlformats.org/officeDocument/2006/relationships/image" Target="../media/image4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8.m4a"/><Relationship Id="rId1" Type="http://schemas.microsoft.com/office/2007/relationships/media" Target="../media/media18.m4a"/><Relationship Id="rId5" Type="http://schemas.openxmlformats.org/officeDocument/2006/relationships/image" Target="../media/image4.png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.png"/><Relationship Id="rId2" Type="http://schemas.openxmlformats.org/officeDocument/2006/relationships/audio" Target="../media/media19.m4a"/><Relationship Id="rId1" Type="http://schemas.microsoft.com/office/2007/relationships/media" Target="../media/media19.m4a"/><Relationship Id="rId6" Type="http://schemas.openxmlformats.org/officeDocument/2006/relationships/image" Target="../media/image23.png"/><Relationship Id="rId5" Type="http://schemas.microsoft.com/office/2011/relationships/inkAction" Target="../ink/inkAction7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Use </a:t>
            </a:r>
            <a:r>
              <a:rPr lang="en-MY"/>
              <a:t>Case Realizations: </a:t>
            </a:r>
            <a:r>
              <a:rPr lang="en-MY" dirty="0"/>
              <a:t>sequence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MY"/>
              <a:t>Design subsystems </a:t>
            </a:r>
            <a:r>
              <a:rPr lang="en-MY">
                <a:sym typeface="Wingdings" panose="05000000000000000000" pitchFamily="2" charset="2"/>
              </a:rPr>
              <a:t> Package Diagram</a:t>
            </a:r>
            <a:endParaRPr lang="en-MY"/>
          </a:p>
          <a:p>
            <a:r>
              <a:rPr lang="en-MY"/>
              <a:t>Design classes </a:t>
            </a:r>
            <a:r>
              <a:rPr lang="en-MY">
                <a:sym typeface="Wingdings" panose="05000000000000000000" pitchFamily="2" charset="2"/>
              </a:rPr>
              <a:t> Class Diagram</a:t>
            </a:r>
            <a:endParaRPr lang="en-MY"/>
          </a:p>
          <a:p>
            <a:r>
              <a:rPr lang="en-MY" b="1">
                <a:solidFill>
                  <a:srgbClr val="C00000"/>
                </a:solidFill>
              </a:rPr>
              <a:t>Use case realizations </a:t>
            </a:r>
            <a:r>
              <a:rPr lang="en-MY" b="1">
                <a:solidFill>
                  <a:srgbClr val="C00000"/>
                </a:solidFill>
                <a:sym typeface="Wingdings" panose="05000000000000000000" pitchFamily="2" charset="2"/>
              </a:rPr>
              <a:t> Sequence Diagram</a:t>
            </a:r>
            <a:endParaRPr lang="en-MY" b="1">
              <a:solidFill>
                <a:srgbClr val="C00000"/>
              </a:solidFill>
            </a:endParaRPr>
          </a:p>
          <a:p>
            <a:r>
              <a:rPr lang="en-MY"/>
              <a:t>Deployment diagram (implementation)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1</a:t>
            </a:fld>
            <a:endParaRPr lang="en-US">
              <a:latin typeface="Calibri"/>
            </a:endParaRPr>
          </a:p>
        </p:txBody>
      </p:sp>
      <p:pic>
        <p:nvPicPr>
          <p:cNvPr id="9" name="Audio 8">
            <a:hlinkClick r:id="" action="ppaction://media"/>
            <a:extLst>
              <a:ext uri="{FF2B5EF4-FFF2-40B4-BE49-F238E27FC236}">
                <a16:creationId xmlns:a16="http://schemas.microsoft.com/office/drawing/2014/main" id="{76816276-8520-4BB9-B6C8-84CDF5D3F9B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2932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4402"/>
    </mc:Choice>
    <mc:Fallback>
      <p:transition spd="slow" advTm="2440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Interaction Diagrams: Realizing Use Cases and Defining Methods 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800" dirty="0"/>
              <a:t>Interaction diagrams are at the heart of object-oriented design</a:t>
            </a:r>
          </a:p>
          <a:p>
            <a:r>
              <a:rPr lang="en-US" altLang="en-US" sz="2800" dirty="0"/>
              <a:t>Realization of a use case:</a:t>
            </a:r>
          </a:p>
          <a:p>
            <a:pPr lvl="1"/>
            <a:r>
              <a:rPr lang="en-US" altLang="en-US" dirty="0"/>
              <a:t>Determine </a:t>
            </a:r>
            <a:r>
              <a:rPr lang="en-US" altLang="en-US" b="1" dirty="0">
                <a:solidFill>
                  <a:srgbClr val="C00000"/>
                </a:solidFill>
              </a:rPr>
              <a:t>what objects collaborate </a:t>
            </a:r>
            <a:r>
              <a:rPr lang="en-US" altLang="en-US" dirty="0"/>
              <a:t>by sending messages to each other</a:t>
            </a:r>
          </a:p>
          <a:p>
            <a:r>
              <a:rPr lang="en-US" altLang="en-US" sz="2800" dirty="0"/>
              <a:t>Two types:</a:t>
            </a:r>
          </a:p>
          <a:p>
            <a:pPr lvl="1"/>
            <a:r>
              <a:rPr lang="en-US" altLang="en-US" dirty="0"/>
              <a:t>Sequence (Our focus)</a:t>
            </a:r>
          </a:p>
          <a:p>
            <a:pPr lvl="1"/>
            <a:r>
              <a:rPr lang="en-US" altLang="en-US" dirty="0"/>
              <a:t>Communication</a:t>
            </a:r>
          </a:p>
          <a:p>
            <a:endParaRPr lang="en-MY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2</a:t>
            </a:fld>
            <a:endParaRPr lang="en-US">
              <a:latin typeface="Calibri"/>
            </a:endParaRPr>
          </a:p>
        </p:txBody>
      </p:sp>
      <p:pic>
        <p:nvPicPr>
          <p:cNvPr id="9" name="Audio 8">
            <a:hlinkClick r:id="" action="ppaction://media"/>
            <a:extLst>
              <a:ext uri="{FF2B5EF4-FFF2-40B4-BE49-F238E27FC236}">
                <a16:creationId xmlns:a16="http://schemas.microsoft.com/office/drawing/2014/main" id="{CF7C76FF-C0AE-47CE-8DF2-A6BD26850CC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2777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4238"/>
    </mc:Choice>
    <mc:Fallback>
      <p:transition spd="slow" advTm="4423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MY" dirty="0"/>
              <a:t>Interaction Diagrams: Sequence and Collaboration </a:t>
            </a:r>
            <a:r>
              <a:rPr lang="en-MY" sz="2200" dirty="0">
                <a:solidFill>
                  <a:srgbClr val="FF0000"/>
                </a:solidFill>
              </a:rPr>
              <a:t>(will be elaborated in use case realization)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3</a:t>
            </a:fld>
            <a:endParaRPr lang="en-US">
              <a:latin typeface="Calibri"/>
            </a:endParaRPr>
          </a:p>
        </p:txBody>
      </p:sp>
      <p:pic>
        <p:nvPicPr>
          <p:cNvPr id="7" name="Picture 4" descr="Fi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5857" y="1448182"/>
            <a:ext cx="5993604" cy="4969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 descr="Fi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0804" y="2511250"/>
            <a:ext cx="3417196" cy="3505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Left Arrow 9"/>
          <p:cNvSpPr/>
          <p:nvPr/>
        </p:nvSpPr>
        <p:spPr>
          <a:xfrm>
            <a:off x="7315200" y="1448182"/>
            <a:ext cx="1828800" cy="86836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>
                <a:solidFill>
                  <a:prstClr val="white"/>
                </a:solidFill>
                <a:latin typeface="Calibri"/>
              </a:rPr>
              <a:t>Our focus</a:t>
            </a:r>
          </a:p>
        </p:txBody>
      </p:sp>
      <mc:AlternateContent xmlns:mc="http://schemas.openxmlformats.org/markup-compatibility/2006">
        <mc:Choice xmlns:p14="http://schemas.microsoft.com/office/powerpoint/2010/main" xmlns:iact="http://schemas.microsoft.com/office/powerpoint/2014/inkAction" Requires="p14 iact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6609534-F335-4E38-ADC8-0C84DBF7679B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6904080" y="2328840"/>
              <a:ext cx="4219560" cy="38448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6609534-F335-4E38-ADC8-0C84DBF7679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894720" y="2319480"/>
                <a:ext cx="4238280" cy="3863520"/>
              </a:xfrm>
              <a:prstGeom prst="rect">
                <a:avLst/>
              </a:prstGeom>
            </p:spPr>
          </p:pic>
        </mc:Fallback>
      </mc:AlternateContent>
      <p:pic>
        <p:nvPicPr>
          <p:cNvPr id="11" name="Audio 10">
            <a:hlinkClick r:id="" action="ppaction://media"/>
            <a:extLst>
              <a:ext uri="{FF2B5EF4-FFF2-40B4-BE49-F238E27FC236}">
                <a16:creationId xmlns:a16="http://schemas.microsoft.com/office/drawing/2014/main" id="{E256A6C6-3DB5-464D-A4C0-B70CBAF58AB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7979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9325"/>
    </mc:Choice>
    <mc:Fallback>
      <p:transition spd="slow" advTm="4932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"/>
                            </p:stCondLst>
                            <p:childTnLst>
                              <p:par>
                                <p:cTn id="1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1"/>
                            </p:stCondLst>
                            <p:childTnLst>
                              <p:par>
                                <p:cTn id="1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Deployment diagram (implementation)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MY"/>
              <a:t>Design subsystems </a:t>
            </a:r>
            <a:r>
              <a:rPr lang="en-MY">
                <a:sym typeface="Wingdings" panose="05000000000000000000" pitchFamily="2" charset="2"/>
              </a:rPr>
              <a:t> Package Diagram</a:t>
            </a:r>
            <a:endParaRPr lang="en-MY"/>
          </a:p>
          <a:p>
            <a:r>
              <a:rPr lang="en-MY"/>
              <a:t>Design classes </a:t>
            </a:r>
            <a:r>
              <a:rPr lang="en-MY">
                <a:sym typeface="Wingdings" panose="05000000000000000000" pitchFamily="2" charset="2"/>
              </a:rPr>
              <a:t> Class Diagram</a:t>
            </a:r>
            <a:endParaRPr lang="en-MY"/>
          </a:p>
          <a:p>
            <a:r>
              <a:rPr lang="en-MY"/>
              <a:t>Use case realizations </a:t>
            </a:r>
            <a:r>
              <a:rPr lang="en-MY">
                <a:sym typeface="Wingdings" panose="05000000000000000000" pitchFamily="2" charset="2"/>
              </a:rPr>
              <a:t> Sequence Diagram</a:t>
            </a:r>
            <a:endParaRPr lang="en-MY"/>
          </a:p>
          <a:p>
            <a:r>
              <a:rPr lang="en-MY" b="1">
                <a:solidFill>
                  <a:srgbClr val="C00000"/>
                </a:solidFill>
              </a:rPr>
              <a:t>Deployment diagram (implementation)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4</a:t>
            </a:fld>
            <a:endParaRPr lang="en-US">
              <a:latin typeface="Calibri"/>
            </a:endParaRPr>
          </a:p>
        </p:txBody>
      </p:sp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68A16392-85A1-4CE7-9AA0-A5F419960D9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2698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642"/>
    </mc:Choice>
    <mc:Fallback>
      <p:transition spd="slow" advTm="1064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MY" dirty="0"/>
              <a:t>Example: Deployment Diagram for an Internet Based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MY" sz="2600" dirty="0"/>
              <a:t>A deployment diagram shows the placement of various </a:t>
            </a:r>
            <a:r>
              <a:rPr lang="en-MY" sz="2600" b="1" dirty="0">
                <a:solidFill>
                  <a:srgbClr val="C00000"/>
                </a:solidFill>
              </a:rPr>
              <a:t>physical nodes</a:t>
            </a:r>
            <a:r>
              <a:rPr lang="en-MY" sz="2600" dirty="0"/>
              <a:t> (components) across </a:t>
            </a:r>
            <a:r>
              <a:rPr lang="en-MY" sz="2600" b="1" dirty="0">
                <a:solidFill>
                  <a:srgbClr val="C00000"/>
                </a:solidFill>
              </a:rPr>
              <a:t>different locations</a:t>
            </a:r>
            <a:r>
              <a:rPr lang="en-MY" sz="2600" dirty="0"/>
              <a:t> </a:t>
            </a:r>
          </a:p>
          <a:p>
            <a:r>
              <a:rPr lang="en-MY" sz="2600" dirty="0"/>
              <a:t>A node can be thought of as a computer, or a bank of computers, representing a single computing resource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5</a:t>
            </a:fld>
            <a:endParaRPr lang="en-US"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610600" y="6103254"/>
            <a:ext cx="1706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MY" dirty="0" err="1">
                <a:solidFill>
                  <a:srgbClr val="C00000"/>
                </a:solidFill>
                <a:latin typeface="Calibri"/>
                <a:ea typeface="ＭＳ Ｐゴシック" panose="020B0600070205080204" pitchFamily="34" charset="-128"/>
              </a:rPr>
              <a:t>Satzinger</a:t>
            </a:r>
            <a:r>
              <a:rPr lang="en-MY" dirty="0">
                <a:solidFill>
                  <a:srgbClr val="C00000"/>
                </a:solidFill>
                <a:latin typeface="Calibri"/>
                <a:ea typeface="ＭＳ Ｐゴシック" panose="020B0600070205080204" pitchFamily="34" charset="-128"/>
              </a:rPr>
              <a:t> (2011)</a:t>
            </a:r>
            <a:endParaRPr lang="en-MY" dirty="0">
              <a:solidFill>
                <a:srgbClr val="C00000"/>
              </a:solidFill>
              <a:latin typeface="Calibri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5088" y="3522068"/>
            <a:ext cx="8534400" cy="266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Audio 10">
            <a:hlinkClick r:id="" action="ppaction://media"/>
            <a:extLst>
              <a:ext uri="{FF2B5EF4-FFF2-40B4-BE49-F238E27FC236}">
                <a16:creationId xmlns:a16="http://schemas.microsoft.com/office/drawing/2014/main" id="{978D25B8-1445-4234-9FC2-F377545DCAC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7387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6231"/>
    </mc:Choice>
    <mc:Fallback>
      <p:transition spd="slow" advTm="5623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MY"/>
              <a:t>Component Diagrams vs. </a:t>
            </a:r>
            <a:br>
              <a:rPr lang="en-MY"/>
            </a:br>
            <a:r>
              <a:rPr lang="en-MY"/>
              <a:t>Deployment Diagrams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/>
              <a:t>Component Diagrams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MY"/>
              <a:t>Component diagrams focus on </a:t>
            </a:r>
            <a:r>
              <a:rPr lang="en-MY" b="1">
                <a:solidFill>
                  <a:srgbClr val="C00000"/>
                </a:solidFill>
              </a:rPr>
              <a:t>logical</a:t>
            </a:r>
            <a:r>
              <a:rPr lang="en-MY"/>
              <a:t> components</a:t>
            </a:r>
          </a:p>
          <a:p>
            <a:r>
              <a:rPr lang="en-MY"/>
              <a:t>Component diagrams show the various </a:t>
            </a:r>
            <a:r>
              <a:rPr lang="en-MY" b="1">
                <a:solidFill>
                  <a:srgbClr val="C00000"/>
                </a:solidFill>
              </a:rPr>
              <a:t>executable components </a:t>
            </a:r>
            <a:r>
              <a:rPr lang="en-MY"/>
              <a:t>of the new system and </a:t>
            </a:r>
            <a:r>
              <a:rPr lang="en-MY" b="1">
                <a:solidFill>
                  <a:srgbClr val="C00000"/>
                </a:solidFill>
              </a:rPr>
              <a:t>how they relate</a:t>
            </a:r>
            <a:r>
              <a:rPr lang="en-MY"/>
              <a:t> to each other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MY"/>
              <a:t>Deployment Diagrams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MY"/>
              <a:t>deployment diagrams focus on </a:t>
            </a:r>
            <a:r>
              <a:rPr lang="en-MY" b="1">
                <a:solidFill>
                  <a:srgbClr val="C00000"/>
                </a:solidFill>
              </a:rPr>
              <a:t>physical </a:t>
            </a:r>
            <a:r>
              <a:rPr lang="en-MY"/>
              <a:t>components</a:t>
            </a:r>
          </a:p>
          <a:p>
            <a:r>
              <a:rPr lang="en-MY"/>
              <a:t>Deployment diagrams show </a:t>
            </a:r>
            <a:r>
              <a:rPr lang="en-MY" b="1">
                <a:solidFill>
                  <a:srgbClr val="C00000"/>
                </a:solidFill>
              </a:rPr>
              <a:t>how and where </a:t>
            </a:r>
            <a:r>
              <a:rPr lang="en-MY"/>
              <a:t>the components are executed on various computing platforms. Together they define the system’s configuration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6</a:t>
            </a:fld>
            <a:endParaRPr lang="en-US">
              <a:latin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xmlns:iact="http://schemas.microsoft.com/office/powerpoint/2014/inkAction" Requires="p14 iact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9DC4CF4-94B3-4E3B-B409-FA5D84D10328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6739560" y="3022920"/>
              <a:ext cx="2310840" cy="7491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9DC4CF4-94B3-4E3B-B409-FA5D84D1032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30200" y="3013560"/>
                <a:ext cx="2329560" cy="767880"/>
              </a:xfrm>
              <a:prstGeom prst="rect">
                <a:avLst/>
              </a:prstGeom>
            </p:spPr>
          </p:pic>
        </mc:Fallback>
      </mc:AlternateContent>
      <p:pic>
        <p:nvPicPr>
          <p:cNvPr id="12" name="Audio 11">
            <a:hlinkClick r:id="" action="ppaction://media"/>
            <a:extLst>
              <a:ext uri="{FF2B5EF4-FFF2-40B4-BE49-F238E27FC236}">
                <a16:creationId xmlns:a16="http://schemas.microsoft.com/office/drawing/2014/main" id="{1AD42BAF-DC54-4F2F-8899-DC22B9BE301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2588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2973"/>
    </mc:Choice>
    <mc:Fallback>
      <p:transition spd="slow" advTm="6297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altLang="en-US" dirty="0">
                <a:solidFill>
                  <a:srgbClr val="000000"/>
                </a:solidFill>
                <a:cs typeface="Times New Roman" pitchFamily="18" charset="0"/>
              </a:rPr>
              <a:t>use case realization</a:t>
            </a:r>
            <a:endParaRPr lang="en-MY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MY" dirty="0"/>
              <a:t>Objective 4:</a:t>
            </a:r>
          </a:p>
        </p:txBody>
      </p:sp>
      <p:sp>
        <p:nvSpPr>
          <p:cNvPr id="5124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</a:rPr>
              <a:t>2020</a:t>
            </a:r>
          </a:p>
        </p:txBody>
      </p:sp>
      <p:sp>
        <p:nvSpPr>
          <p:cNvPr id="5125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</a:rPr>
              <a:t>Software Engineering</a:t>
            </a:r>
          </a:p>
        </p:txBody>
      </p:sp>
      <p:sp>
        <p:nvSpPr>
          <p:cNvPr id="5126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3789E4DB-563A-40E4-9A1B-66379F2CD0D2}" type="slidenum">
              <a:rPr lang="en-US">
                <a:solidFill>
                  <a:srgbClr val="000000"/>
                </a:solidFill>
              </a:rPr>
              <a:pPr/>
              <a:t>7</a:t>
            </a:fld>
            <a:endParaRPr lang="en-US">
              <a:solidFill>
                <a:srgbClr val="000000"/>
              </a:solidFill>
            </a:endParaRP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B66C02FE-4111-477E-A719-2C5098C09C6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2775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999"/>
    </mc:Choice>
    <mc:Fallback>
      <p:transition spd="slow" advTm="1399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-56907"/>
            <a:ext cx="7772400" cy="1143000"/>
          </a:xfrm>
        </p:spPr>
        <p:txBody>
          <a:bodyPr>
            <a:noAutofit/>
          </a:bodyPr>
          <a:lstStyle/>
          <a:p>
            <a:r>
              <a:rPr lang="en-MY" sz="3200" dirty="0"/>
              <a:t>Use Case Realization: Example of a </a:t>
            </a:r>
            <a:br>
              <a:rPr lang="en-MY" sz="3200" dirty="0"/>
            </a:br>
            <a:r>
              <a:rPr lang="en-MY" sz="3200" dirty="0"/>
              <a:t>Complete Design Sequence Diagram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  <a:endParaRPr lang="en-US" dirty="0"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8</a:t>
            </a:fld>
            <a:endParaRPr lang="en-US">
              <a:latin typeface="Calibri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066801"/>
            <a:ext cx="8763000" cy="536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/>
          <p:cNvSpPr/>
          <p:nvPr/>
        </p:nvSpPr>
        <p:spPr>
          <a:xfrm>
            <a:off x="8511371" y="5990051"/>
            <a:ext cx="1706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MY" dirty="0" err="1">
                <a:solidFill>
                  <a:srgbClr val="C00000"/>
                </a:solidFill>
                <a:latin typeface="Calibri"/>
                <a:ea typeface="ＭＳ Ｐゴシック" panose="020B0600070205080204" pitchFamily="34" charset="-128"/>
              </a:rPr>
              <a:t>Satzinger</a:t>
            </a:r>
            <a:r>
              <a:rPr lang="en-MY" dirty="0">
                <a:solidFill>
                  <a:srgbClr val="C00000"/>
                </a:solidFill>
                <a:latin typeface="Calibri"/>
                <a:ea typeface="ＭＳ Ｐゴシック" panose="020B0600070205080204" pitchFamily="34" charset="-128"/>
              </a:rPr>
              <a:t> (2011)</a:t>
            </a:r>
            <a:endParaRPr lang="en-MY" dirty="0">
              <a:solidFill>
                <a:srgbClr val="C00000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11487" y="3748087"/>
            <a:ext cx="291906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u="sng" dirty="0">
                <a:solidFill>
                  <a:srgbClr val="002060"/>
                </a:solidFill>
                <a:latin typeface="Calibri"/>
              </a:rPr>
              <a:t>View Layer  Classes</a:t>
            </a:r>
          </a:p>
          <a:p>
            <a:r>
              <a:rPr lang="en-MY" dirty="0" err="1">
                <a:solidFill>
                  <a:prstClr val="black"/>
                </a:solidFill>
                <a:latin typeface="Calibri"/>
              </a:rPr>
              <a:t>MainMenu</a:t>
            </a:r>
            <a:r>
              <a:rPr lang="en-MY" dirty="0">
                <a:solidFill>
                  <a:prstClr val="black"/>
                </a:solidFill>
                <a:latin typeface="Calibri"/>
              </a:rPr>
              <a:t> &lt;&lt;boundary&gt;&gt;</a:t>
            </a:r>
          </a:p>
          <a:p>
            <a:r>
              <a:rPr lang="en-MY" dirty="0" err="1">
                <a:solidFill>
                  <a:prstClr val="black"/>
                </a:solidFill>
                <a:latin typeface="Calibri"/>
              </a:rPr>
              <a:t>CusftForm</a:t>
            </a:r>
            <a:r>
              <a:rPr lang="en-MY" dirty="0">
                <a:solidFill>
                  <a:prstClr val="black"/>
                </a:solidFill>
                <a:latin typeface="Calibri"/>
              </a:rPr>
              <a:t> &lt;&lt;boundary&gt;&gt;</a:t>
            </a:r>
          </a:p>
          <a:p>
            <a:r>
              <a:rPr lang="en-MY" b="1" u="sng" dirty="0">
                <a:solidFill>
                  <a:srgbClr val="002060"/>
                </a:solidFill>
                <a:latin typeface="Calibri"/>
              </a:rPr>
              <a:t>Business Layer Classes</a:t>
            </a:r>
          </a:p>
          <a:p>
            <a:r>
              <a:rPr lang="en-MY" dirty="0" err="1">
                <a:solidFill>
                  <a:prstClr val="black"/>
                </a:solidFill>
                <a:latin typeface="Calibri"/>
              </a:rPr>
              <a:t>CustController</a:t>
            </a:r>
            <a:r>
              <a:rPr lang="en-MY" dirty="0">
                <a:solidFill>
                  <a:prstClr val="black"/>
                </a:solidFill>
                <a:latin typeface="Calibri"/>
              </a:rPr>
              <a:t> &lt;&lt;control&gt;&gt;</a:t>
            </a:r>
          </a:p>
          <a:p>
            <a:r>
              <a:rPr lang="en-MY" dirty="0">
                <a:solidFill>
                  <a:prstClr val="black"/>
                </a:solidFill>
                <a:latin typeface="Calibri"/>
              </a:rPr>
              <a:t>Customer &lt;&lt;entity&gt;&gt;</a:t>
            </a:r>
          </a:p>
          <a:p>
            <a:r>
              <a:rPr lang="en-MY" b="1" u="sng" dirty="0">
                <a:solidFill>
                  <a:srgbClr val="002060"/>
                </a:solidFill>
                <a:latin typeface="Calibri"/>
              </a:rPr>
              <a:t>Data Access Layer Classes</a:t>
            </a:r>
          </a:p>
          <a:p>
            <a:r>
              <a:rPr lang="en-MY" dirty="0" err="1">
                <a:solidFill>
                  <a:prstClr val="black"/>
                </a:solidFill>
                <a:latin typeface="Calibri"/>
              </a:rPr>
              <a:t>CustomerDA</a:t>
            </a:r>
            <a:r>
              <a:rPr lang="en-MY" dirty="0">
                <a:solidFill>
                  <a:prstClr val="black"/>
                </a:solidFill>
                <a:latin typeface="Calibri"/>
              </a:rPr>
              <a:t> &lt;&lt;</a:t>
            </a:r>
            <a:r>
              <a:rPr lang="en-MY" dirty="0" err="1">
                <a:solidFill>
                  <a:prstClr val="black"/>
                </a:solidFill>
                <a:latin typeface="Calibri"/>
              </a:rPr>
              <a:t>dataAccess</a:t>
            </a:r>
            <a:r>
              <a:rPr lang="en-MY" dirty="0">
                <a:solidFill>
                  <a:prstClr val="black"/>
                </a:solidFill>
                <a:latin typeface="Calibri"/>
              </a:rPr>
              <a:t>&gt;&gt;</a:t>
            </a:r>
          </a:p>
        </p:txBody>
      </p:sp>
      <mc:AlternateContent xmlns:mc="http://schemas.openxmlformats.org/markup-compatibility/2006">
        <mc:Choice xmlns:p14="http://schemas.microsoft.com/office/powerpoint/2010/main" xmlns:iact="http://schemas.microsoft.com/office/powerpoint/2014/inkAction" Requires="p14 iact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CCE97E4-6414-484E-8ACF-EAF51B95E86C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2182320" y="1360800"/>
              <a:ext cx="6630840" cy="4388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CCE97E4-6414-484E-8ACF-EAF51B95E86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172960" y="1351440"/>
                <a:ext cx="6649560" cy="457560"/>
              </a:xfrm>
              <a:prstGeom prst="rect">
                <a:avLst/>
              </a:prstGeom>
            </p:spPr>
          </p:pic>
        </mc:Fallback>
      </mc:AlternateContent>
      <p:pic>
        <p:nvPicPr>
          <p:cNvPr id="12" name="Audio 11">
            <a:hlinkClick r:id="" action="ppaction://media"/>
            <a:extLst>
              <a:ext uri="{FF2B5EF4-FFF2-40B4-BE49-F238E27FC236}">
                <a16:creationId xmlns:a16="http://schemas.microsoft.com/office/drawing/2014/main" id="{AF1DC1E1-B2AF-4B4F-B8A0-84C36B3F685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8029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87075"/>
    </mc:Choice>
    <mc:Fallback>
      <p:transition spd="slow" advTm="18707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MY" dirty="0"/>
              <a:t>Steps for Use Case Realization: </a:t>
            </a:r>
            <a:br>
              <a:rPr lang="en-MY" dirty="0"/>
            </a:br>
            <a:r>
              <a:rPr lang="en-MY" dirty="0"/>
              <a:t>Three Refinement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MY" b="1" dirty="0">
                <a:solidFill>
                  <a:srgbClr val="C00000"/>
                </a:solidFill>
              </a:rPr>
              <a:t>Step 1:</a:t>
            </a:r>
            <a:r>
              <a:rPr lang="en-MY" dirty="0"/>
              <a:t> Add &lt;&lt;boundary&gt;&gt; classes in sequence diagram for </a:t>
            </a:r>
            <a:r>
              <a:rPr lang="en-MY" b="1" dirty="0">
                <a:solidFill>
                  <a:srgbClr val="002060"/>
                </a:solidFill>
              </a:rPr>
              <a:t>View Layer </a:t>
            </a:r>
            <a:r>
              <a:rPr lang="en-MY" sz="2000" b="1" dirty="0">
                <a:solidFill>
                  <a:srgbClr val="002060"/>
                </a:solidFill>
              </a:rPr>
              <a:t>(already done in analysis but can be added in design)</a:t>
            </a:r>
          </a:p>
          <a:p>
            <a:r>
              <a:rPr lang="en-MY" b="1" dirty="0">
                <a:solidFill>
                  <a:srgbClr val="C00000"/>
                </a:solidFill>
              </a:rPr>
              <a:t>Step 2: </a:t>
            </a:r>
            <a:r>
              <a:rPr lang="en-MY" dirty="0"/>
              <a:t>Add &lt;&lt;control&gt;&gt; class in sequence diagram  for </a:t>
            </a:r>
            <a:r>
              <a:rPr lang="en-MY" b="1" dirty="0">
                <a:solidFill>
                  <a:srgbClr val="002060"/>
                </a:solidFill>
              </a:rPr>
              <a:t>Business Layer </a:t>
            </a:r>
            <a:r>
              <a:rPr lang="en-MY" sz="2000" b="1" dirty="0">
                <a:solidFill>
                  <a:srgbClr val="002060"/>
                </a:solidFill>
              </a:rPr>
              <a:t>(already done in analysis but can be added in design)</a:t>
            </a:r>
          </a:p>
          <a:p>
            <a:r>
              <a:rPr lang="en-MY" b="1" dirty="0">
                <a:solidFill>
                  <a:srgbClr val="C00000"/>
                </a:solidFill>
              </a:rPr>
              <a:t>Step 3:</a:t>
            </a:r>
            <a:r>
              <a:rPr lang="en-MY" dirty="0">
                <a:solidFill>
                  <a:srgbClr val="C00000"/>
                </a:solidFill>
              </a:rPr>
              <a:t> </a:t>
            </a:r>
            <a:r>
              <a:rPr lang="en-MY" dirty="0"/>
              <a:t> Add &lt;&lt;</a:t>
            </a:r>
            <a:r>
              <a:rPr lang="en-MY" dirty="0" err="1"/>
              <a:t>dataAccess</a:t>
            </a:r>
            <a:r>
              <a:rPr lang="en-MY" dirty="0"/>
              <a:t>&gt;&gt; class in sequence  diagram for </a:t>
            </a:r>
            <a:r>
              <a:rPr lang="en-MY" b="1" dirty="0">
                <a:solidFill>
                  <a:schemeClr val="tx2"/>
                </a:solidFill>
              </a:rPr>
              <a:t>Data </a:t>
            </a:r>
            <a:r>
              <a:rPr lang="en-MY" b="1">
                <a:solidFill>
                  <a:schemeClr val="tx2"/>
                </a:solidFill>
              </a:rPr>
              <a:t>Access Layer</a:t>
            </a:r>
            <a:br>
              <a:rPr lang="en-MY" dirty="0"/>
            </a:b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9</a:t>
            </a:fld>
            <a:endParaRPr lang="en-US">
              <a:latin typeface="Calibri"/>
            </a:endParaRPr>
          </a:p>
        </p:txBody>
      </p:sp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B0C6DD4D-6B04-4DDD-8DA8-F3DC8E12775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6925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9091"/>
    </mc:Choice>
    <mc:Fallback>
      <p:transition spd="slow" advTm="390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8457" y="304801"/>
            <a:ext cx="8229600" cy="1142923"/>
          </a:xfrm>
        </p:spPr>
        <p:txBody>
          <a:bodyPr>
            <a:noAutofit/>
          </a:bodyPr>
          <a:lstStyle/>
          <a:p>
            <a:r>
              <a:rPr lang="en-MY" sz="3600" b="1" dirty="0">
                <a:solidFill>
                  <a:srgbClr val="C00000"/>
                </a:solidFill>
              </a:rPr>
              <a:t>Step 1:</a:t>
            </a:r>
            <a:r>
              <a:rPr lang="en-MY" sz="3600" dirty="0">
                <a:solidFill>
                  <a:srgbClr val="FF0000"/>
                </a:solidFill>
              </a:rPr>
              <a:t> </a:t>
            </a:r>
            <a:r>
              <a:rPr lang="en-MY" sz="3600" dirty="0"/>
              <a:t>Add &lt;&lt;boundary&gt;&gt; classes in </a:t>
            </a:r>
            <a:r>
              <a:rPr lang="en-MY" sz="3600"/>
              <a:t>sequence diagram</a:t>
            </a:r>
            <a:endParaRPr lang="en-MY" sz="3600" dirty="0">
              <a:solidFill>
                <a:srgbClr val="FF0000"/>
              </a:solidFill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677732" y="1447724"/>
            <a:ext cx="3046669" cy="2409973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10</a:t>
            </a:fld>
            <a:endParaRPr lang="en-US">
              <a:latin typeface="Calibri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9600" y="3733800"/>
            <a:ext cx="5999372" cy="2611126"/>
          </a:xfrm>
          <a:prstGeom prst="rect">
            <a:avLst/>
          </a:prstGeom>
        </p:spPr>
      </p:pic>
      <p:sp>
        <p:nvSpPr>
          <p:cNvPr id="10" name="Left-Up Arrow 9"/>
          <p:cNvSpPr/>
          <p:nvPr/>
        </p:nvSpPr>
        <p:spPr>
          <a:xfrm flipV="1">
            <a:off x="3656261" y="2029434"/>
            <a:ext cx="2316371" cy="1538645"/>
          </a:xfrm>
          <a:prstGeom prst="lef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24173" y="1951911"/>
            <a:ext cx="410754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000">
                <a:solidFill>
                  <a:prstClr val="black"/>
                </a:solidFill>
                <a:latin typeface="Calibri"/>
              </a:rPr>
              <a:t>- GUI </a:t>
            </a:r>
            <a:r>
              <a:rPr lang="en-MY" sz="2000" dirty="0">
                <a:solidFill>
                  <a:prstClr val="black"/>
                </a:solidFill>
                <a:latin typeface="Calibri"/>
              </a:rPr>
              <a:t>layer has been added</a:t>
            </a:r>
          </a:p>
          <a:p>
            <a:r>
              <a:rPr lang="en-MY" sz="2000">
                <a:solidFill>
                  <a:prstClr val="black"/>
                </a:solidFill>
                <a:latin typeface="Calibri"/>
              </a:rPr>
              <a:t>- Object </a:t>
            </a:r>
            <a:r>
              <a:rPr lang="en-MY" sz="2000" dirty="0">
                <a:solidFill>
                  <a:prstClr val="black"/>
                </a:solidFill>
                <a:latin typeface="Calibri"/>
              </a:rPr>
              <a:t>construction is also shown by an explicit constructor method invocation.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3034" y="6048828"/>
            <a:ext cx="373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>
                <a:solidFill>
                  <a:srgbClr val="C00000"/>
                </a:solidFill>
                <a:latin typeface="Calibri"/>
              </a:rPr>
              <a:t>Source: Arlow and Neustadt</a:t>
            </a:r>
            <a:r>
              <a:rPr lang="en-MY">
                <a:solidFill>
                  <a:srgbClr val="C00000"/>
                </a:solidFill>
                <a:latin typeface="Calibri"/>
                <a:ea typeface="ＭＳ Ｐゴシック" panose="020B0600070205080204" pitchFamily="34" charset="-128"/>
              </a:rPr>
              <a:t> (2002)</a:t>
            </a:r>
            <a:endParaRPr lang="en-MY">
              <a:solidFill>
                <a:srgbClr val="C00000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xmlns:iact="http://schemas.microsoft.com/office/powerpoint/2014/inkAction" Requires="p14 iact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47A24ED-9FCE-4D01-B66B-20C53D66214D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1305720" y="1515960"/>
              <a:ext cx="7836120" cy="46029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47A24ED-9FCE-4D01-B66B-20C53D66214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96360" y="1506600"/>
                <a:ext cx="7854840" cy="4621680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Audio 8">
            <a:hlinkClick r:id="" action="ppaction://media"/>
            <a:extLst>
              <a:ext uri="{FF2B5EF4-FFF2-40B4-BE49-F238E27FC236}">
                <a16:creationId xmlns:a16="http://schemas.microsoft.com/office/drawing/2014/main" id="{9CB99735-30EA-428A-A8D3-85A53A3C30B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7067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1639"/>
    </mc:Choice>
    <mc:Fallback>
      <p:transition spd="slow" advTm="8163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381000"/>
            <a:ext cx="8229600" cy="972064"/>
          </a:xfrm>
        </p:spPr>
        <p:txBody>
          <a:bodyPr>
            <a:noAutofit/>
          </a:bodyPr>
          <a:lstStyle/>
          <a:p>
            <a:r>
              <a:rPr lang="en-MY" sz="3600" b="1" dirty="0">
                <a:solidFill>
                  <a:srgbClr val="C00000"/>
                </a:solidFill>
              </a:rPr>
              <a:t>Step 2:</a:t>
            </a:r>
            <a:r>
              <a:rPr lang="en-MY" sz="3600" b="1" dirty="0">
                <a:solidFill>
                  <a:srgbClr val="FF0000"/>
                </a:solidFill>
              </a:rPr>
              <a:t> </a:t>
            </a:r>
            <a:r>
              <a:rPr lang="en-MY" sz="3600" dirty="0"/>
              <a:t>Add &lt;&lt;control&gt;&gt; class </a:t>
            </a:r>
            <a:r>
              <a:rPr lang="en-MY" sz="3600"/>
              <a:t>in </a:t>
            </a:r>
            <a:br>
              <a:rPr lang="en-MY" sz="3600"/>
            </a:br>
            <a:r>
              <a:rPr lang="en-MY" sz="3600"/>
              <a:t>sequence </a:t>
            </a:r>
            <a:r>
              <a:rPr lang="en-MY" sz="3600" dirty="0"/>
              <a:t>diagram 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An artifact invented by the designer to </a:t>
            </a:r>
            <a:r>
              <a:rPr lang="en-US" altLang="en-US" b="1" dirty="0">
                <a:solidFill>
                  <a:srgbClr val="C00000"/>
                </a:solidFill>
              </a:rPr>
              <a:t>handle a system function</a:t>
            </a:r>
            <a:r>
              <a:rPr lang="en-US" altLang="en-US" dirty="0"/>
              <a:t> </a:t>
            </a:r>
          </a:p>
          <a:p>
            <a:pPr lvl="1"/>
            <a:r>
              <a:rPr lang="en-US" altLang="en-US" dirty="0"/>
              <a:t>Serves as a collection point for incoming messages</a:t>
            </a:r>
          </a:p>
          <a:p>
            <a:pPr lvl="1"/>
            <a:r>
              <a:rPr lang="en-US" altLang="en-US" dirty="0"/>
              <a:t>Intermediary between the outside world and the internal system</a:t>
            </a:r>
          </a:p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11</a:t>
            </a:fld>
            <a:endParaRPr lang="en-US">
              <a:latin typeface="Calibri"/>
            </a:endParaRPr>
          </a:p>
        </p:txBody>
      </p:sp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023B821D-9D60-4DEB-B555-BCFC1B5434F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2455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4263"/>
    </mc:Choice>
    <mc:Fallback>
      <p:transition spd="slow" advTm="5426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MY" sz="3600" b="1" dirty="0">
                <a:solidFill>
                  <a:srgbClr val="C00000"/>
                </a:solidFill>
              </a:rPr>
              <a:t>Step 3:</a:t>
            </a:r>
            <a:r>
              <a:rPr lang="en-MY" sz="3600" dirty="0"/>
              <a:t>  Add &lt;&lt;</a:t>
            </a:r>
            <a:r>
              <a:rPr lang="en-MY" sz="3600" dirty="0" err="1"/>
              <a:t>dataAccess</a:t>
            </a:r>
            <a:r>
              <a:rPr lang="en-MY" sz="3600" dirty="0"/>
              <a:t>&gt;&gt; class in sequence  diagram </a:t>
            </a:r>
          </a:p>
        </p:txBody>
      </p:sp>
      <p:sp>
        <p:nvSpPr>
          <p:cNvPr id="67587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</a:rPr>
              <a:t>2020</a:t>
            </a:r>
          </a:p>
        </p:txBody>
      </p:sp>
      <p:sp>
        <p:nvSpPr>
          <p:cNvPr id="67588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</a:rPr>
              <a:t>Software Engineering</a:t>
            </a:r>
          </a:p>
        </p:txBody>
      </p:sp>
      <p:sp>
        <p:nvSpPr>
          <p:cNvPr id="67589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C070EC1E-1737-433B-B1E0-0DEBC487C849}" type="slidenum">
              <a:rPr lang="en-US">
                <a:solidFill>
                  <a:srgbClr val="000000"/>
                </a:solidFill>
              </a:rPr>
              <a:pPr/>
              <a:t>12</a:t>
            </a:fld>
            <a:endParaRPr lang="en-US">
              <a:solidFill>
                <a:srgbClr val="000000"/>
              </a:solidFill>
            </a:endParaRPr>
          </a:p>
        </p:txBody>
      </p:sp>
      <p:pic>
        <p:nvPicPr>
          <p:cNvPr id="67590" name="Picture 2" descr="https://1.bp.blogspot.com/-4c2D0TOeewk/UhUXaNUBSlI/AAAAAAAAABM/M4WvmXrtIJ8/s1600/DAO.JPG"/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71689" y="1600201"/>
            <a:ext cx="8048625" cy="4525963"/>
          </a:xfrm>
          <a:noFill/>
        </p:spPr>
      </p:pic>
      <p:sp>
        <p:nvSpPr>
          <p:cNvPr id="67591" name="TextBox 6"/>
          <p:cNvSpPr txBox="1">
            <a:spLocks noChangeArrowheads="1"/>
          </p:cNvSpPr>
          <p:nvPr/>
        </p:nvSpPr>
        <p:spPr bwMode="auto">
          <a:xfrm>
            <a:off x="1981200" y="6162676"/>
            <a:ext cx="68580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MY" sz="1200">
                <a:solidFill>
                  <a:prstClr val="black"/>
                </a:solidFill>
              </a:rPr>
              <a:t>Source: https://ramj2ee.blogspot.my/2013/08/data-access-object-design-pattern-or.html#.WtrBjIhuaDJ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676400"/>
            <a:ext cx="8382000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905000" y="3251311"/>
            <a:ext cx="41842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600">
                <a:solidFill>
                  <a:srgbClr val="C00000"/>
                </a:solidFill>
                <a:latin typeface="Calibri"/>
              </a:rPr>
              <a:t>*Note: Example of implementation:</a:t>
            </a:r>
            <a:endParaRPr lang="en-MY" sz="1600" dirty="0">
              <a:solidFill>
                <a:srgbClr val="C00000"/>
              </a:solidFill>
              <a:latin typeface="Calibri"/>
            </a:endParaRPr>
          </a:p>
          <a:p>
            <a:r>
              <a:rPr lang="en-MY" sz="1600">
                <a:solidFill>
                  <a:srgbClr val="C00000"/>
                </a:solidFill>
                <a:latin typeface="Calibri"/>
              </a:rPr>
              <a:t>- Cloud </a:t>
            </a:r>
            <a:r>
              <a:rPr lang="en-MY" sz="1600" dirty="0">
                <a:solidFill>
                  <a:srgbClr val="C00000"/>
                </a:solidFill>
                <a:latin typeface="Calibri"/>
              </a:rPr>
              <a:t>database </a:t>
            </a:r>
            <a:r>
              <a:rPr lang="en-MY" sz="1600">
                <a:solidFill>
                  <a:srgbClr val="C00000"/>
                </a:solidFill>
                <a:latin typeface="Calibri"/>
              </a:rPr>
              <a:t>without sql such </a:t>
            </a:r>
            <a:r>
              <a:rPr lang="en-MY" sz="1600" dirty="0">
                <a:solidFill>
                  <a:srgbClr val="C00000"/>
                </a:solidFill>
                <a:latin typeface="Calibri"/>
              </a:rPr>
              <a:t>as Firebase </a:t>
            </a:r>
          </a:p>
          <a:p>
            <a:r>
              <a:rPr lang="en-MY" sz="1600">
                <a:solidFill>
                  <a:srgbClr val="C00000"/>
                </a:solidFill>
                <a:latin typeface="Calibri"/>
              </a:rPr>
              <a:t>- JDBC</a:t>
            </a:r>
            <a:endParaRPr lang="en-MY" sz="1600" dirty="0">
              <a:solidFill>
                <a:srgbClr val="C00000"/>
              </a:solidFill>
              <a:latin typeface="Calibri"/>
            </a:endParaRP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ACA784A8-67DB-4F8D-9A35-03EFB304364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114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2640"/>
    </mc:Choice>
    <mc:Fallback>
      <p:transition spd="slow" advTm="826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Example: Sequence </a:t>
            </a:r>
            <a:r>
              <a:rPr lang="en-US" altLang="en-US" dirty="0"/>
              <a:t>Diagram </a:t>
            </a:r>
            <a:r>
              <a:rPr lang="en-US" altLang="en-US"/>
              <a:t>for Telephone </a:t>
            </a:r>
            <a:r>
              <a:rPr lang="en-US" altLang="en-US" dirty="0"/>
              <a:t>Order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Define a user controller object</a:t>
            </a:r>
          </a:p>
          <a:p>
            <a:r>
              <a:rPr lang="en-US" altLang="en-US" dirty="0"/>
              <a:t>Define a “create” message for new </a:t>
            </a:r>
            <a:r>
              <a:rPr lang="en-US" altLang="en-US" b="1" dirty="0"/>
              <a:t>Order </a:t>
            </a:r>
            <a:r>
              <a:rPr lang="en-US" altLang="en-US" dirty="0"/>
              <a:t>objects</a:t>
            </a:r>
          </a:p>
          <a:p>
            <a:pPr lvl="1"/>
            <a:r>
              <a:rPr lang="en-US" altLang="en-US" dirty="0"/>
              <a:t>Customer object creates the </a:t>
            </a:r>
            <a:r>
              <a:rPr lang="en-US" altLang="en-US" b="1" dirty="0"/>
              <a:t>Order</a:t>
            </a:r>
            <a:r>
              <a:rPr lang="en-US" altLang="en-US" dirty="0"/>
              <a:t> object</a:t>
            </a:r>
          </a:p>
          <a:p>
            <a:r>
              <a:rPr lang="en-US" altLang="en-US" dirty="0"/>
              <a:t>Define other messages</a:t>
            </a:r>
          </a:p>
          <a:p>
            <a:pPr lvl="1"/>
            <a:r>
              <a:rPr lang="en-US" altLang="en-US" b="1" dirty="0" err="1"/>
              <a:t>addItem</a:t>
            </a:r>
            <a:r>
              <a:rPr lang="en-US" altLang="en-US" b="1" dirty="0"/>
              <a:t>, </a:t>
            </a:r>
            <a:r>
              <a:rPr lang="en-US" altLang="en-US" b="1" dirty="0" err="1"/>
              <a:t>createOrdItem</a:t>
            </a:r>
            <a:r>
              <a:rPr lang="en-US" altLang="en-US" b="1" dirty="0"/>
              <a:t>, </a:t>
            </a:r>
            <a:r>
              <a:rPr lang="en-US" altLang="en-US" b="1" dirty="0" err="1"/>
              <a:t>getDescription</a:t>
            </a:r>
            <a:r>
              <a:rPr lang="en-US" altLang="en-US" b="1" dirty="0"/>
              <a:t>, </a:t>
            </a:r>
            <a:r>
              <a:rPr lang="en-US" altLang="en-US" b="1" dirty="0" err="1"/>
              <a:t>getPrice</a:t>
            </a:r>
            <a:r>
              <a:rPr lang="en-US" altLang="en-US" b="1" dirty="0"/>
              <a:t>, </a:t>
            </a:r>
            <a:r>
              <a:rPr lang="en-US" altLang="en-US" b="1" dirty="0" err="1"/>
              <a:t>updateQty</a:t>
            </a:r>
            <a:r>
              <a:rPr lang="en-US" altLang="en-US" b="1" dirty="0"/>
              <a:t> </a:t>
            </a:r>
          </a:p>
          <a:p>
            <a:r>
              <a:rPr lang="en-US" altLang="en-US" dirty="0"/>
              <a:t>Identify source, destination, and navigation visibility for each message</a:t>
            </a:r>
          </a:p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13</a:t>
            </a:fld>
            <a:endParaRPr lang="en-US">
              <a:latin typeface="Calibri"/>
            </a:endParaRPr>
          </a:p>
        </p:txBody>
      </p:sp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91800CB1-BBCB-467D-9773-0A15EE8C59E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8675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4065"/>
    </mc:Choice>
    <mc:Fallback>
      <p:transition spd="slow" advTm="4406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MY" dirty="0"/>
              <a:t>Developing a Multilayer Design for the Telephone Order Scenario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dirty="0"/>
              <a:t>Extend one message at a time </a:t>
            </a:r>
          </a:p>
          <a:p>
            <a:pPr>
              <a:lnSpc>
                <a:spcPct val="90000"/>
              </a:lnSpc>
            </a:pPr>
            <a:r>
              <a:rPr lang="en-US" altLang="en-US" sz="2800" b="1" dirty="0">
                <a:solidFill>
                  <a:srgbClr val="C00000"/>
                </a:solidFill>
              </a:rPr>
              <a:t>View layer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Open Order window and return a Customer object</a:t>
            </a:r>
          </a:p>
          <a:p>
            <a:pPr>
              <a:lnSpc>
                <a:spcPct val="90000"/>
              </a:lnSpc>
            </a:pPr>
            <a:r>
              <a:rPr lang="en-US" altLang="en-US" sz="2800" b="1" dirty="0">
                <a:solidFill>
                  <a:srgbClr val="C00000"/>
                </a:solidFill>
              </a:rPr>
              <a:t>Data layer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Customer object initializes itself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Add items to an order with a repeating message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Save Order and </a:t>
            </a:r>
            <a:r>
              <a:rPr lang="en-US" altLang="en-US" dirty="0" err="1"/>
              <a:t>OrderItem</a:t>
            </a:r>
            <a:r>
              <a:rPr lang="en-US" altLang="en-US" dirty="0"/>
              <a:t> to the database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Update database inventory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Complete transaction </a:t>
            </a:r>
          </a:p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14</a:t>
            </a:fld>
            <a:endParaRPr lang="en-US">
              <a:latin typeface="Calibri"/>
            </a:endParaRPr>
          </a:p>
        </p:txBody>
      </p:sp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8373EB3A-0811-49C4-BB65-BDA321FB61D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981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971"/>
    </mc:Choice>
    <mc:Fallback>
      <p:transition spd="slow" advTm="509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15</a:t>
            </a:fld>
            <a:endParaRPr lang="en-US">
              <a:latin typeface="Calibri"/>
            </a:endParaRPr>
          </a:p>
        </p:txBody>
      </p:sp>
      <p:pic>
        <p:nvPicPr>
          <p:cNvPr id="5" name="Picture 3" descr="Fi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1" y="-29990"/>
            <a:ext cx="7892143" cy="6535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1578432" y="3048000"/>
            <a:ext cx="1850568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80000"/>
              </a:lnSpc>
              <a:buNone/>
            </a:pPr>
            <a:r>
              <a:rPr lang="en-US" altLang="en-US" sz="2000">
                <a:solidFill>
                  <a:prstClr val="black"/>
                </a:solidFill>
              </a:rPr>
              <a:t>Sequence diagram with </a:t>
            </a:r>
            <a:r>
              <a:rPr lang="en-US" altLang="en-US" sz="2000">
                <a:solidFill>
                  <a:srgbClr val="C00000"/>
                </a:solidFill>
              </a:rPr>
              <a:t>&lt;&lt;control&gt;&gt;</a:t>
            </a:r>
            <a:r>
              <a:rPr lang="en-US" altLang="en-US" sz="2000">
                <a:solidFill>
                  <a:prstClr val="black"/>
                </a:solidFill>
              </a:rPr>
              <a:t> and </a:t>
            </a:r>
            <a:r>
              <a:rPr lang="en-US" altLang="en-US" sz="2000">
                <a:solidFill>
                  <a:srgbClr val="C00000"/>
                </a:solidFill>
              </a:rPr>
              <a:t>&lt;&lt;entity&gt;&gt;</a:t>
            </a:r>
            <a:r>
              <a:rPr lang="en-US" altLang="en-US" sz="2000">
                <a:solidFill>
                  <a:prstClr val="black"/>
                </a:solidFill>
              </a:rPr>
              <a:t> classes only for </a:t>
            </a:r>
            <a:r>
              <a:rPr lang="en-US" altLang="en-US" sz="2000" b="1">
                <a:solidFill>
                  <a:prstClr val="black"/>
                </a:solidFill>
              </a:rPr>
              <a:t>Telephone Order </a:t>
            </a:r>
            <a:r>
              <a:rPr lang="en-US" altLang="en-US" sz="2000">
                <a:solidFill>
                  <a:prstClr val="black"/>
                </a:solidFill>
              </a:rPr>
              <a:t>scenario</a:t>
            </a:r>
            <a:endParaRPr lang="en-US" altLang="en-US" sz="2000" b="1">
              <a:solidFill>
                <a:prstClr val="black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xmlns:iact="http://schemas.microsoft.com/office/powerpoint/2014/inkAction" Requires="p14 iact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F40C9A0-D1A3-45D2-B3B6-968640BD0BE3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3287520" y="566280"/>
              <a:ext cx="1370160" cy="2653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F40C9A0-D1A3-45D2-B3B6-968640BD0BE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278160" y="556920"/>
                <a:ext cx="1388880" cy="284040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Audio 9">
            <a:hlinkClick r:id="" action="ppaction://media"/>
            <a:extLst>
              <a:ext uri="{FF2B5EF4-FFF2-40B4-BE49-F238E27FC236}">
                <a16:creationId xmlns:a16="http://schemas.microsoft.com/office/drawing/2014/main" id="{210D587C-2DD9-469A-A2F2-CF4998BA942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6649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6593"/>
    </mc:Choice>
    <mc:Fallback>
      <p:transition spd="slow" advTm="1965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16</a:t>
            </a:fld>
            <a:endParaRPr lang="en-US">
              <a:latin typeface="Calibri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752601" y="1989139"/>
            <a:ext cx="2241177" cy="2807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80000"/>
              </a:lnSpc>
              <a:buNone/>
            </a:pPr>
            <a:r>
              <a:rPr lang="en-US" altLang="en-US" sz="2200" dirty="0">
                <a:solidFill>
                  <a:prstClr val="black"/>
                </a:solidFill>
              </a:rPr>
              <a:t>Telephone order sequence diagram </a:t>
            </a:r>
            <a:r>
              <a:rPr lang="en-US" altLang="en-US" sz="2200">
                <a:solidFill>
                  <a:prstClr val="black"/>
                </a:solidFill>
              </a:rPr>
              <a:t>for  </a:t>
            </a:r>
            <a:r>
              <a:rPr lang="en-US" altLang="en-US" sz="2200" b="1">
                <a:solidFill>
                  <a:srgbClr val="C00000"/>
                </a:solidFill>
              </a:rPr>
              <a:t>newOrder</a:t>
            </a:r>
            <a:r>
              <a:rPr lang="en-US" altLang="en-US" sz="2200">
                <a:solidFill>
                  <a:prstClr val="black"/>
                </a:solidFill>
              </a:rPr>
              <a:t> and </a:t>
            </a:r>
            <a:r>
              <a:rPr lang="en-US" altLang="en-US" sz="2200" b="1" err="1">
                <a:solidFill>
                  <a:srgbClr val="C00000"/>
                </a:solidFill>
              </a:rPr>
              <a:t>startOrde</a:t>
            </a:r>
            <a:r>
              <a:rPr lang="en-US" altLang="en-US" sz="2200" err="1">
                <a:solidFill>
                  <a:srgbClr val="C00000"/>
                </a:solidFill>
              </a:rPr>
              <a:t>r</a:t>
            </a:r>
            <a:r>
              <a:rPr lang="en-US" altLang="en-US" sz="2200">
                <a:solidFill>
                  <a:prstClr val="black"/>
                </a:solidFill>
              </a:rPr>
              <a:t> messages - </a:t>
            </a:r>
            <a:r>
              <a:rPr lang="en-US" altLang="en-US" sz="2200">
                <a:solidFill>
                  <a:srgbClr val="C00000"/>
                </a:solidFill>
              </a:rPr>
              <a:t>&lt;&lt;boundary&gt;&gt;</a:t>
            </a:r>
            <a:r>
              <a:rPr lang="en-US" altLang="en-US" sz="2200">
                <a:solidFill>
                  <a:prstClr val="black"/>
                </a:solidFill>
              </a:rPr>
              <a:t> and </a:t>
            </a:r>
            <a:r>
              <a:rPr lang="en-US" altLang="en-US" sz="2200">
                <a:solidFill>
                  <a:srgbClr val="C00000"/>
                </a:solidFill>
              </a:rPr>
              <a:t>&lt;&lt;dataAccess&gt;&gt; </a:t>
            </a:r>
            <a:r>
              <a:rPr lang="en-US" altLang="en-US" sz="2200">
                <a:solidFill>
                  <a:prstClr val="black"/>
                </a:solidFill>
              </a:rPr>
              <a:t>classes are added</a:t>
            </a:r>
            <a:endParaRPr lang="en-US" altLang="en-US" sz="2200" dirty="0">
              <a:solidFill>
                <a:prstClr val="black"/>
              </a:solidFill>
            </a:endParaRPr>
          </a:p>
        </p:txBody>
      </p:sp>
      <p:pic>
        <p:nvPicPr>
          <p:cNvPr id="6" name="Picture 6" descr="Fi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5546" y="0"/>
            <a:ext cx="6363854" cy="642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xmlns:iact="http://schemas.microsoft.com/office/powerpoint/2014/inkAction" Requires="p14 iact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5437CD0-15AB-4049-B74E-5A6420FBEA58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9114120" y="1178280"/>
              <a:ext cx="803880" cy="33426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5437CD0-15AB-4049-B74E-5A6420FBEA5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104760" y="1168920"/>
                <a:ext cx="822600" cy="3361320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Audio 8">
            <a:hlinkClick r:id="" action="ppaction://media"/>
            <a:extLst>
              <a:ext uri="{FF2B5EF4-FFF2-40B4-BE49-F238E27FC236}">
                <a16:creationId xmlns:a16="http://schemas.microsoft.com/office/drawing/2014/main" id="{1270BCC0-03FE-44B9-9B0A-241A547925C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8301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3324"/>
    </mc:Choice>
    <mc:Fallback>
      <p:transition spd="slow" advTm="8332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17</a:t>
            </a:fld>
            <a:endParaRPr lang="en-US">
              <a:latin typeface="Calibri"/>
            </a:endParaRPr>
          </a:p>
        </p:txBody>
      </p:sp>
      <p:pic>
        <p:nvPicPr>
          <p:cNvPr id="5" name="Picture 6" descr="Fi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5772" y="-18143"/>
            <a:ext cx="6448295" cy="640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1752600" y="2133601"/>
            <a:ext cx="2190750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80000"/>
              </a:lnSpc>
              <a:buNone/>
            </a:pPr>
            <a:r>
              <a:rPr lang="en-US" altLang="en-US" sz="2200">
                <a:solidFill>
                  <a:prstClr val="black"/>
                </a:solidFill>
              </a:rPr>
              <a:t>Telephone order sequence diagram for </a:t>
            </a:r>
            <a:r>
              <a:rPr lang="en-US" altLang="en-US" sz="2200" b="1">
                <a:solidFill>
                  <a:srgbClr val="C00000"/>
                </a:solidFill>
              </a:rPr>
              <a:t>newItem</a:t>
            </a:r>
            <a:r>
              <a:rPr lang="en-US" altLang="en-US" sz="2200">
                <a:solidFill>
                  <a:prstClr val="black"/>
                </a:solidFill>
              </a:rPr>
              <a:t> and </a:t>
            </a:r>
            <a:r>
              <a:rPr lang="en-US" altLang="en-US" sz="2200" b="1">
                <a:solidFill>
                  <a:srgbClr val="C00000"/>
                </a:solidFill>
              </a:rPr>
              <a:t>addItem</a:t>
            </a:r>
            <a:r>
              <a:rPr lang="en-US" altLang="en-US" sz="2200">
                <a:solidFill>
                  <a:prstClr val="black"/>
                </a:solidFill>
              </a:rPr>
              <a:t> messages - </a:t>
            </a:r>
            <a:r>
              <a:rPr lang="en-US" altLang="en-US" sz="2200">
                <a:solidFill>
                  <a:srgbClr val="C00000"/>
                </a:solidFill>
              </a:rPr>
              <a:t>&lt;&lt;boundary&gt;&gt;</a:t>
            </a:r>
            <a:r>
              <a:rPr lang="en-US" altLang="en-US" sz="2200">
                <a:solidFill>
                  <a:prstClr val="black"/>
                </a:solidFill>
              </a:rPr>
              <a:t> and </a:t>
            </a:r>
            <a:r>
              <a:rPr lang="en-US" altLang="en-US" sz="2200">
                <a:solidFill>
                  <a:srgbClr val="C00000"/>
                </a:solidFill>
              </a:rPr>
              <a:t>&lt;&lt;dataAccess&gt;&gt; </a:t>
            </a:r>
            <a:r>
              <a:rPr lang="en-US" altLang="en-US" sz="2200">
                <a:solidFill>
                  <a:prstClr val="black"/>
                </a:solidFill>
              </a:rPr>
              <a:t>classes are added</a:t>
            </a:r>
          </a:p>
        </p:txBody>
      </p:sp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A83B6A4C-1006-4D57-8EB5-307488A3FB0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2566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7073"/>
    </mc:Choice>
    <mc:Fallback>
      <p:transition spd="slow" advTm="6707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18</a:t>
            </a:fld>
            <a:endParaRPr lang="en-US">
              <a:latin typeface="Calibri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1560288" y="2267837"/>
            <a:ext cx="2119086" cy="334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80000"/>
              </a:lnSpc>
              <a:buNone/>
            </a:pPr>
            <a:r>
              <a:rPr lang="en-US" altLang="en-US" sz="2200">
                <a:solidFill>
                  <a:prstClr val="black"/>
                </a:solidFill>
              </a:rPr>
              <a:t>Telephone order sequence diagram for the final messages (</a:t>
            </a:r>
            <a:r>
              <a:rPr lang="en-US" altLang="en-US" sz="2200" b="1">
                <a:solidFill>
                  <a:srgbClr val="C00000"/>
                </a:solidFill>
              </a:rPr>
              <a:t>complete Order </a:t>
            </a:r>
            <a:r>
              <a:rPr lang="en-US" altLang="en-US" sz="2200">
                <a:solidFill>
                  <a:prstClr val="black"/>
                </a:solidFill>
              </a:rPr>
              <a:t>and </a:t>
            </a:r>
            <a:r>
              <a:rPr lang="en-US" altLang="en-US" sz="2200" b="1">
                <a:solidFill>
                  <a:srgbClr val="C00000"/>
                </a:solidFill>
              </a:rPr>
              <a:t>makePayment</a:t>
            </a:r>
            <a:r>
              <a:rPr lang="en-US" altLang="en-US" sz="2200">
                <a:solidFill>
                  <a:prstClr val="black"/>
                </a:solidFill>
              </a:rPr>
              <a:t>) - </a:t>
            </a:r>
            <a:r>
              <a:rPr lang="en-US" altLang="en-US" sz="2200">
                <a:solidFill>
                  <a:srgbClr val="C00000"/>
                </a:solidFill>
              </a:rPr>
              <a:t>&lt;&lt;boundary&gt;&gt;</a:t>
            </a:r>
            <a:r>
              <a:rPr lang="en-US" altLang="en-US" sz="2200">
                <a:solidFill>
                  <a:prstClr val="black"/>
                </a:solidFill>
              </a:rPr>
              <a:t> and </a:t>
            </a:r>
            <a:r>
              <a:rPr lang="en-US" altLang="en-US" sz="2200">
                <a:solidFill>
                  <a:srgbClr val="C00000"/>
                </a:solidFill>
              </a:rPr>
              <a:t>&lt;&lt;dataAccess&gt;&gt; </a:t>
            </a:r>
            <a:r>
              <a:rPr lang="en-US" altLang="en-US" sz="2200">
                <a:solidFill>
                  <a:prstClr val="black"/>
                </a:solidFill>
              </a:rPr>
              <a:t>classes are added</a:t>
            </a:r>
          </a:p>
        </p:txBody>
      </p:sp>
      <p:pic>
        <p:nvPicPr>
          <p:cNvPr id="6" name="Picture 4" descr="Fi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2816" y="0"/>
            <a:ext cx="6871034" cy="640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D9E136C6-D8F2-438A-ACDF-8220296AB62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1208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3692"/>
    </mc:Choice>
    <mc:Fallback>
      <p:transition spd="slow" advTm="4369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</a:rPr>
              <a:t>2020</a:t>
            </a:r>
          </a:p>
        </p:txBody>
      </p:sp>
      <p:sp>
        <p:nvSpPr>
          <p:cNvPr id="68611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</a:rPr>
              <a:t>Software Engineering</a:t>
            </a:r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D94B2D12-6CA6-4284-9960-BBE11F064AAE}" type="slidenum">
              <a:rPr lang="en-US">
                <a:solidFill>
                  <a:srgbClr val="000000"/>
                </a:solidFill>
              </a:rPr>
              <a:pPr/>
              <a:t>19</a:t>
            </a:fld>
            <a:endParaRPr lang="en-US">
              <a:solidFill>
                <a:srgbClr val="000000"/>
              </a:solidFill>
            </a:endParaRPr>
          </a:p>
        </p:txBody>
      </p:sp>
      <p:pic>
        <p:nvPicPr>
          <p:cNvPr id="68613" name="Picture 4" descr="Fi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1" y="1"/>
            <a:ext cx="6323013" cy="6386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1677988" y="3038235"/>
            <a:ext cx="2614613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altLang="en-US" sz="2200" dirty="0">
                <a:solidFill>
                  <a:prstClr val="black"/>
                </a:solidFill>
                <a:latin typeface="Calibri"/>
              </a:rPr>
              <a:t>Example: </a:t>
            </a:r>
            <a:r>
              <a:rPr lang="en-US" altLang="en-US" sz="2200" b="1" dirty="0">
                <a:solidFill>
                  <a:srgbClr val="C00000"/>
                </a:solidFill>
                <a:latin typeface="Calibri"/>
              </a:rPr>
              <a:t>Completed</a:t>
            </a:r>
            <a:r>
              <a:rPr lang="en-US" altLang="en-US" sz="2200" dirty="0">
                <a:solidFill>
                  <a:prstClr val="black"/>
                </a:solidFill>
                <a:latin typeface="Calibri"/>
              </a:rPr>
              <a:t> three-layer design that includes </a:t>
            </a:r>
            <a:r>
              <a:rPr lang="en-US" altLang="en-US" sz="2200" dirty="0">
                <a:solidFill>
                  <a:srgbClr val="C00000"/>
                </a:solidFill>
                <a:latin typeface="Calibri"/>
              </a:rPr>
              <a:t>&lt;&lt;boundary&gt;&gt;, &lt;&lt;control&gt;&gt;, &lt;&lt;entity&gt;&gt; and &lt;&lt;</a:t>
            </a:r>
            <a:r>
              <a:rPr lang="en-US" altLang="en-US" sz="2200" dirty="0" err="1">
                <a:solidFill>
                  <a:srgbClr val="C00000"/>
                </a:solidFill>
                <a:latin typeface="Calibri"/>
              </a:rPr>
              <a:t>dataAccess</a:t>
            </a:r>
            <a:r>
              <a:rPr lang="en-US" altLang="en-US" sz="2200" dirty="0">
                <a:solidFill>
                  <a:srgbClr val="C00000"/>
                </a:solidFill>
                <a:latin typeface="Calibri"/>
              </a:rPr>
              <a:t>&gt;&gt; </a:t>
            </a:r>
            <a:r>
              <a:rPr lang="en-US" altLang="en-US" sz="2200" dirty="0">
                <a:solidFill>
                  <a:prstClr val="black"/>
                </a:solidFill>
                <a:latin typeface="Calibri"/>
              </a:rPr>
              <a:t>classes</a:t>
            </a:r>
            <a:r>
              <a:rPr lang="en-US" altLang="en-US" sz="2200" dirty="0">
                <a:solidFill>
                  <a:srgbClr val="C00000"/>
                </a:solidFill>
                <a:latin typeface="Calibri"/>
              </a:rPr>
              <a:t> </a:t>
            </a:r>
            <a:r>
              <a:rPr lang="en-US" altLang="en-US" sz="2200" dirty="0">
                <a:solidFill>
                  <a:prstClr val="black"/>
                </a:solidFill>
                <a:latin typeface="Calibri"/>
              </a:rPr>
              <a:t>for </a:t>
            </a:r>
            <a:r>
              <a:rPr lang="en-US" altLang="en-US" sz="2200" b="1" dirty="0">
                <a:solidFill>
                  <a:prstClr val="black"/>
                </a:solidFill>
                <a:latin typeface="Calibri"/>
                <a:cs typeface="Courier New" panose="02070309020205020404" pitchFamily="49" charset="0"/>
              </a:rPr>
              <a:t>Look up item availability</a:t>
            </a:r>
            <a:r>
              <a:rPr lang="en-US" altLang="en-US" sz="2200" dirty="0">
                <a:solidFill>
                  <a:prstClr val="black"/>
                </a:solidFill>
                <a:latin typeface="Calibri"/>
                <a:cs typeface="Courier New" panose="02070309020205020404" pitchFamily="49" charset="0"/>
              </a:rPr>
              <a:t> scenario</a:t>
            </a:r>
            <a:endParaRPr lang="en-US" altLang="en-US" sz="2200" b="1" dirty="0">
              <a:solidFill>
                <a:prstClr val="black"/>
              </a:solidFill>
              <a:latin typeface="Calibri"/>
              <a:cs typeface="Courier New" panose="02070309020205020404" pitchFamily="49" charset="0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1677987" y="1688009"/>
            <a:ext cx="2415042" cy="911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altLang="en-US" sz="2200" dirty="0">
                <a:solidFill>
                  <a:srgbClr val="C00000"/>
                </a:solidFill>
                <a:latin typeface="Calibri"/>
              </a:rPr>
              <a:t>Design sequence diagram after the 3 refinement steps</a:t>
            </a:r>
            <a:endParaRPr lang="en-US" altLang="en-US" sz="2200" b="1" dirty="0">
              <a:solidFill>
                <a:srgbClr val="C00000"/>
              </a:solidFill>
              <a:latin typeface="Calibri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xmlns:iact="http://schemas.microsoft.com/office/powerpoint/2014/inkAction" Requires="p14 iact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B11E03A-8713-4AC5-B0ED-5227AD48041A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1972440" y="657720"/>
              <a:ext cx="7689960" cy="5105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B11E03A-8713-4AC5-B0ED-5227AD48041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63080" y="648360"/>
                <a:ext cx="7708680" cy="512388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Audio 2">
            <a:hlinkClick r:id="" action="ppaction://media"/>
            <a:extLst>
              <a:ext uri="{FF2B5EF4-FFF2-40B4-BE49-F238E27FC236}">
                <a16:creationId xmlns:a16="http://schemas.microsoft.com/office/drawing/2014/main" id="{D12E995C-8AD6-470A-B957-2A363725FBE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4798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6508"/>
    </mc:Choice>
    <mc:Fallback>
      <p:transition spd="slow" advTm="7650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719</Words>
  <Application>Microsoft Office PowerPoint</Application>
  <PresentationFormat>Widescreen</PresentationFormat>
  <Paragraphs>139</Paragraphs>
  <Slides>19</Slides>
  <Notes>0</Notes>
  <HiddenSlides>0</HiddenSlides>
  <MMClips>19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1_Office Theme</vt:lpstr>
      <vt:lpstr>Use Case Realizations: sequence diagram</vt:lpstr>
      <vt:lpstr>Interaction Diagrams: Realizing Use Cases and Defining Methods </vt:lpstr>
      <vt:lpstr>Interaction Diagrams: Sequence and Collaboration (will be elaborated in use case realization)</vt:lpstr>
      <vt:lpstr>Deployment diagram (implementation)</vt:lpstr>
      <vt:lpstr>Example: Deployment Diagram for an Internet Based System</vt:lpstr>
      <vt:lpstr>Component Diagrams vs.  Deployment Diagrams</vt:lpstr>
      <vt:lpstr>use case realization</vt:lpstr>
      <vt:lpstr>Use Case Realization: Example of a  Complete Design Sequence Diagram </vt:lpstr>
      <vt:lpstr>Steps for Use Case Realization:  Three Refinement Steps</vt:lpstr>
      <vt:lpstr>Step 1: Add &lt;&lt;boundary&gt;&gt; classes in sequence diagram</vt:lpstr>
      <vt:lpstr>Step 2: Add &lt;&lt;control&gt;&gt; class in  sequence diagram  </vt:lpstr>
      <vt:lpstr>Step 3:  Add &lt;&lt;dataAccess&gt;&gt; class in sequence  diagram </vt:lpstr>
      <vt:lpstr>Example: Sequence Diagram for Telephone Order</vt:lpstr>
      <vt:lpstr>Developing a Multilayer Design for the Telephone Order Scenario 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Norsham Idris</dc:creator>
  <cp:lastModifiedBy>Norsham Idris</cp:lastModifiedBy>
  <cp:revision>6</cp:revision>
  <dcterms:created xsi:type="dcterms:W3CDTF">2020-04-20T02:02:58Z</dcterms:created>
  <dcterms:modified xsi:type="dcterms:W3CDTF">2020-04-26T04:04:27Z</dcterms:modified>
</cp:coreProperties>
</file>