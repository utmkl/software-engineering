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6DBCF-2429-4B95-A5FC-58A8D83F1715}" type="datetimeFigureOut">
              <a:rPr lang="en-MY" smtClean="0"/>
              <a:t>1/4/2020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A9FBD-9ED0-4B37-A3DC-5179CD11D1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9429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058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7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9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3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6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7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14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57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3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3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237648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1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PART II: requirements document</a:t>
            </a:r>
            <a:endParaRPr lang="en-MY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Software </a:t>
            </a:r>
            <a:r>
              <a:rPr lang="en-MY" dirty="0"/>
              <a:t>Requirements Specification (SRS)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24592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Objective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To understand how requirements may be organized in a software requirements document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To adopt a standard in producing a requirements document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To focus on specific requirements that include the analysis models</a:t>
            </a:r>
            <a:endParaRPr lang="en-MY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17224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ea typeface="ＭＳ Ｐゴシック" panose="020B0600070205080204" pitchFamily="34" charset="-128"/>
              </a:rPr>
              <a:t>Software Requirements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500"/>
            <a:ext cx="8229600" cy="4076700"/>
          </a:xfrm>
        </p:spPr>
        <p:txBody>
          <a:bodyPr>
            <a:noAutofit/>
          </a:bodyPr>
          <a:lstStyle/>
          <a:p>
            <a:pPr algn="just">
              <a:buFont typeface="Arial" pitchFamily="-110" charset="0"/>
              <a:buChar char="•"/>
              <a:defRPr/>
            </a:pPr>
            <a:r>
              <a:rPr lang="en-GB" sz="2800" dirty="0"/>
              <a:t>Software requirements document is an </a:t>
            </a:r>
            <a:r>
              <a:rPr lang="en-GB" sz="2800" b="1" dirty="0">
                <a:solidFill>
                  <a:srgbClr val="C00000"/>
                </a:solidFill>
              </a:rPr>
              <a:t>official statement</a:t>
            </a:r>
            <a:r>
              <a:rPr lang="en-GB" sz="2800" dirty="0"/>
              <a:t> of what is required for the reference of software developers</a:t>
            </a:r>
          </a:p>
          <a:p>
            <a:pPr algn="just">
              <a:buFont typeface="Arial" pitchFamily="-110" charset="0"/>
              <a:buChar char="•"/>
              <a:defRPr/>
            </a:pPr>
            <a:r>
              <a:rPr lang="en-GB" sz="2800" dirty="0"/>
              <a:t>Should include both definitions of </a:t>
            </a:r>
            <a:r>
              <a:rPr lang="en-GB" sz="2800" b="1" dirty="0">
                <a:solidFill>
                  <a:srgbClr val="C00000"/>
                </a:solidFill>
              </a:rPr>
              <a:t>user requirements</a:t>
            </a:r>
            <a:r>
              <a:rPr lang="en-GB" sz="2800" dirty="0"/>
              <a:t> and specifications of the </a:t>
            </a:r>
            <a:r>
              <a:rPr lang="en-GB" sz="2800" b="1" dirty="0">
                <a:solidFill>
                  <a:srgbClr val="C00000"/>
                </a:solidFill>
              </a:rPr>
              <a:t>system requirements</a:t>
            </a:r>
            <a:endParaRPr lang="en-GB" sz="2800" dirty="0"/>
          </a:p>
          <a:p>
            <a:pPr algn="just">
              <a:buFont typeface="Arial" pitchFamily="-110" charset="0"/>
              <a:buChar char="•"/>
              <a:defRPr/>
            </a:pPr>
            <a:r>
              <a:rPr lang="en-GB" sz="2800" dirty="0"/>
              <a:t>It is NOT a design document</a:t>
            </a:r>
          </a:p>
          <a:p>
            <a:pPr algn="just">
              <a:buFont typeface="Arial" pitchFamily="-110" charset="0"/>
              <a:buChar char="•"/>
              <a:defRPr/>
            </a:pPr>
            <a:r>
              <a:rPr lang="en-GB" sz="2800" dirty="0"/>
              <a:t>As far as possible, it should set </a:t>
            </a:r>
            <a:r>
              <a:rPr lang="en-GB" sz="2800" b="1" dirty="0">
                <a:solidFill>
                  <a:srgbClr val="C00000"/>
                </a:solidFill>
              </a:rPr>
              <a:t>WHAT</a:t>
            </a:r>
            <a:r>
              <a:rPr lang="en-GB" sz="2800" dirty="0"/>
              <a:t> the system should do rather than HOW it should do it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69877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and System Requirements</a:t>
            </a:r>
            <a:r>
              <a:rPr lang="en-GB" dirty="0"/>
              <a:t> </a:t>
            </a:r>
            <a:endParaRPr lang="en-MY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229600" cy="4495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Callout 7"/>
          <p:cNvSpPr/>
          <p:nvPr/>
        </p:nvSpPr>
        <p:spPr>
          <a:xfrm>
            <a:off x="7620000" y="1265697"/>
            <a:ext cx="1219200" cy="612648"/>
          </a:xfrm>
          <a:prstGeom prst="wedgeEllipseCallout">
            <a:avLst>
              <a:gd name="adj1" fmla="val -61184"/>
              <a:gd name="adj2" fmla="val 7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prstClr val="white"/>
                </a:solidFill>
              </a:rPr>
              <a:t>Recall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34798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Users of a Requirements Document</a:t>
            </a:r>
            <a:r>
              <a:rPr lang="en-GB" dirty="0">
                <a:ea typeface="ＭＳ Ｐゴシック" panose="020B0600070205080204" pitchFamily="34" charset="-128"/>
              </a:rPr>
              <a:t> </a:t>
            </a:r>
            <a:endParaRPr lang="en-MY" dirty="0"/>
          </a:p>
        </p:txBody>
      </p:sp>
      <p:pic>
        <p:nvPicPr>
          <p:cNvPr id="7" name="Picture 3" descr="4.6 ReqDocUser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485900"/>
            <a:ext cx="3810000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65281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Requirements Document Variability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Arial" pitchFamily="-110" charset="0"/>
              <a:buChar char="•"/>
              <a:defRPr/>
            </a:pPr>
            <a:r>
              <a:rPr lang="en-US" dirty="0"/>
              <a:t>Information in requirements document depends on </a:t>
            </a:r>
            <a:r>
              <a:rPr lang="en-US" b="1" dirty="0">
                <a:solidFill>
                  <a:srgbClr val="C00000"/>
                </a:solidFill>
              </a:rPr>
              <a:t>type of system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approach used </a:t>
            </a:r>
            <a:r>
              <a:rPr lang="en-US" dirty="0"/>
              <a:t>in its development</a:t>
            </a:r>
          </a:p>
          <a:p>
            <a:pPr algn="just">
              <a:buFont typeface="Arial" pitchFamily="-110" charset="0"/>
              <a:buChar char="•"/>
              <a:defRPr/>
            </a:pPr>
            <a:r>
              <a:rPr lang="en-US" dirty="0"/>
              <a:t>Systems developed incrementally will, typically, have less detail in the requirements document</a:t>
            </a:r>
          </a:p>
          <a:p>
            <a:pPr algn="just">
              <a:buFont typeface="Arial" pitchFamily="-110" charset="0"/>
              <a:buChar char="•"/>
              <a:defRPr/>
            </a:pPr>
            <a:r>
              <a:rPr lang="en-US" dirty="0"/>
              <a:t>Requirements </a:t>
            </a:r>
            <a:r>
              <a:rPr lang="en-US" b="1" dirty="0">
                <a:solidFill>
                  <a:srgbClr val="C00000"/>
                </a:solidFill>
              </a:rPr>
              <a:t>documents standards </a:t>
            </a:r>
            <a:r>
              <a:rPr lang="en-US" dirty="0"/>
              <a:t>have been designed e.g. IEEE standard</a:t>
            </a:r>
          </a:p>
          <a:p>
            <a:pPr algn="just">
              <a:buFont typeface="Arial" pitchFamily="-110" charset="0"/>
              <a:buChar char="•"/>
              <a:defRPr/>
            </a:pPr>
            <a:r>
              <a:rPr lang="en-US" dirty="0"/>
              <a:t>These are mostly applicable to the requirements for large software projects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09780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IEEE </a:t>
            </a:r>
            <a:r>
              <a:rPr lang="en-MY" dirty="0" err="1"/>
              <a:t>Std</a:t>
            </a:r>
            <a:r>
              <a:rPr lang="en-MY" dirty="0"/>
              <a:t> 830-1998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6" y="1487805"/>
            <a:ext cx="6694710" cy="4961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4545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SRS Outline </a:t>
            </a:r>
            <a:r>
              <a:rPr lang="en-GB" dirty="0"/>
              <a:t>of IEEE </a:t>
            </a:r>
            <a:r>
              <a:rPr lang="en-GB" dirty="0" err="1"/>
              <a:t>Std</a:t>
            </a:r>
            <a:r>
              <a:rPr lang="en-GB" dirty="0"/>
              <a:t> 830-1998</a:t>
            </a:r>
            <a:endParaRPr lang="en-MY" dirty="0"/>
          </a:p>
        </p:txBody>
      </p:sp>
      <p:sp>
        <p:nvSpPr>
          <p:cNvPr id="8" name="TextBox 7"/>
          <p:cNvSpPr txBox="1"/>
          <p:nvPr/>
        </p:nvSpPr>
        <p:spPr>
          <a:xfrm>
            <a:off x="4594705" y="6133195"/>
            <a:ext cx="3306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prstClr val="black"/>
                </a:solidFill>
              </a:rPr>
              <a:t>See page 11 of IEEE </a:t>
            </a:r>
            <a:r>
              <a:rPr lang="en-MY" dirty="0" err="1">
                <a:solidFill>
                  <a:prstClr val="black"/>
                </a:solidFill>
              </a:rPr>
              <a:t>Std</a:t>
            </a:r>
            <a:r>
              <a:rPr lang="en-MY" dirty="0">
                <a:solidFill>
                  <a:prstClr val="black"/>
                </a:solidFill>
              </a:rPr>
              <a:t> 830-1998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046" y="1519888"/>
            <a:ext cx="6470290" cy="46552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218867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Example of Template for the Front Part of SRS Document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3634" y="1556084"/>
            <a:ext cx="6803904" cy="4800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625914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Section 1: Introduction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539" y="1545620"/>
            <a:ext cx="6432264" cy="48230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867357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Section 2: Overall Description,</a:t>
            </a:r>
            <a:br>
              <a:rPr lang="en-MY" dirty="0"/>
            </a:br>
            <a:r>
              <a:rPr lang="en-MY" dirty="0"/>
              <a:t>Sub-Section 2.1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695" y="1600200"/>
            <a:ext cx="7210285" cy="4724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251996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Sub-sections 2.1.1 to 2.1.3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235" y="1552074"/>
            <a:ext cx="8354692" cy="4724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05533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Sub-sections 2.2 &amp; 2.3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52" y="1600200"/>
            <a:ext cx="8513402" cy="4038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2939169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Sub-sections 2.4 to 2.6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116" y="1495824"/>
            <a:ext cx="7826473" cy="4904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952630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Section 3: Specific Requirements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124" y="1600200"/>
            <a:ext cx="8229644" cy="34270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785" y="5247855"/>
            <a:ext cx="8319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C00000"/>
                </a:solidFill>
              </a:rPr>
              <a:t>Note</a:t>
            </a:r>
            <a:r>
              <a:rPr lang="en-MY" dirty="0">
                <a:solidFill>
                  <a:srgbClr val="C00000"/>
                </a:solidFill>
              </a:rPr>
              <a:t>: Focus on “Specific Requirements” for the scope of this course – see the given System Documentation template that combines the required details for analysis (Section 2), design (Section 3 to 6) and testing (Section 7 and 8) to meet the minimum requirements of this course</a:t>
            </a:r>
          </a:p>
        </p:txBody>
      </p:sp>
    </p:spTree>
    <p:extLst>
      <p:ext uri="{BB962C8B-B14F-4D97-AF65-F5344CB8AC3E}">
        <p14:creationId xmlns:p14="http://schemas.microsoft.com/office/powerpoint/2010/main" val="3436907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dirty="0"/>
              <a:t>Appendix A.5 Template of SRS Section 3: Organized by Feature (IEEE Std 830-1998)</a:t>
            </a: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6862" y="1600200"/>
            <a:ext cx="3859938" cy="480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1600199"/>
            <a:ext cx="4343400" cy="49819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prstClr val="black"/>
                </a:solidFill>
              </a:rPr>
              <a:t>Sections 3.1.1 to 3.1.4 provide the details of what described in Sections 2.1.2 to 2.1.5</a:t>
            </a:r>
          </a:p>
          <a:p>
            <a:r>
              <a:rPr lang="en-US" sz="2400" dirty="0">
                <a:solidFill>
                  <a:prstClr val="black"/>
                </a:solidFill>
              </a:rPr>
              <a:t>For each functional requirement, include the</a:t>
            </a:r>
            <a:r>
              <a:rPr lang="en-US" sz="2400" b="1" dirty="0">
                <a:solidFill>
                  <a:srgbClr val="C00000"/>
                </a:solidFill>
              </a:rPr>
              <a:t> use case diagram</a:t>
            </a:r>
            <a:r>
              <a:rPr lang="en-US" sz="2400" dirty="0">
                <a:solidFill>
                  <a:prstClr val="black"/>
                </a:solidFill>
              </a:rPr>
              <a:t> and its details using </a:t>
            </a:r>
            <a:r>
              <a:rPr lang="en-US" sz="2400" b="1" dirty="0">
                <a:solidFill>
                  <a:srgbClr val="C00000"/>
                </a:solidFill>
              </a:rPr>
              <a:t>use case description</a:t>
            </a:r>
          </a:p>
          <a:p>
            <a:r>
              <a:rPr lang="en-US" sz="2400" dirty="0">
                <a:solidFill>
                  <a:prstClr val="black"/>
                </a:solidFill>
              </a:rPr>
              <a:t>Include </a:t>
            </a:r>
            <a:r>
              <a:rPr lang="en-US" sz="2400" b="1" dirty="0">
                <a:solidFill>
                  <a:srgbClr val="C00000"/>
                </a:solidFill>
              </a:rPr>
              <a:t>sequence diagram </a:t>
            </a:r>
            <a:r>
              <a:rPr lang="en-US" sz="2400" dirty="0">
                <a:solidFill>
                  <a:prstClr val="black"/>
                </a:solidFill>
              </a:rPr>
              <a:t>and </a:t>
            </a:r>
            <a:r>
              <a:rPr lang="en-US" sz="2400" b="1" dirty="0">
                <a:solidFill>
                  <a:srgbClr val="C00000"/>
                </a:solidFill>
              </a:rPr>
              <a:t>activity diagram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for each use case i.e. functional requirement</a:t>
            </a:r>
          </a:p>
          <a:p>
            <a:r>
              <a:rPr lang="en-US" sz="2400" dirty="0">
                <a:solidFill>
                  <a:prstClr val="black"/>
                </a:solidFill>
              </a:rPr>
              <a:t>Include </a:t>
            </a:r>
            <a:r>
              <a:rPr lang="en-US" sz="2400" b="1" dirty="0">
                <a:solidFill>
                  <a:srgbClr val="C00000"/>
                </a:solidFill>
              </a:rPr>
              <a:t>state diagram</a:t>
            </a:r>
            <a:r>
              <a:rPr lang="en-US" sz="2400" dirty="0">
                <a:solidFill>
                  <a:prstClr val="black"/>
                </a:solidFill>
              </a:rPr>
              <a:t> for classes with states under respective use cases</a:t>
            </a:r>
            <a:endParaRPr lang="en-MY" sz="2400" dirty="0">
              <a:solidFill>
                <a:prstClr val="black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778602" y="4648200"/>
            <a:ext cx="22860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>
                <a:ln w="22225">
                  <a:solidFill>
                    <a:srgbClr val="C0504D"/>
                  </a:solidFill>
                  <a:prstDash val="solid"/>
                </a:ln>
                <a:solidFill>
                  <a:srgbClr val="C0504D">
                    <a:lumMod val="40000"/>
                    <a:lumOff val="60000"/>
                  </a:srgbClr>
                </a:solidFill>
              </a:rPr>
              <a:t>Our Focus</a:t>
            </a:r>
          </a:p>
        </p:txBody>
      </p:sp>
    </p:spTree>
    <p:extLst>
      <p:ext uri="{BB962C8B-B14F-4D97-AF65-F5344CB8AC3E}">
        <p14:creationId xmlns:p14="http://schemas.microsoft.com/office/powerpoint/2010/main" val="675330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en-US">
                <a:ea typeface="ＭＳ Ｐゴシック" pitchFamily="-110" charset="-128"/>
                <a:cs typeface="ＭＳ Ｐゴシック" pitchFamily="-110" charset="-128"/>
              </a:rPr>
              <a:t>Key Points</a:t>
            </a:r>
            <a:endParaRPr lang="en-US" dirty="0"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software requirements document is an </a:t>
            </a:r>
            <a:r>
              <a:rPr lang="en-US" sz="2800" b="1" dirty="0">
                <a:solidFill>
                  <a:srgbClr val="C00000"/>
                </a:solidFill>
              </a:rPr>
              <a:t>agreed statement </a:t>
            </a:r>
            <a:r>
              <a:rPr lang="en-US" sz="2800" dirty="0"/>
              <a:t>of the system requirements</a:t>
            </a:r>
          </a:p>
          <a:p>
            <a:r>
              <a:rPr lang="en-US" sz="2800" dirty="0"/>
              <a:t>It should be organized so that both system customers or </a:t>
            </a:r>
            <a:r>
              <a:rPr lang="en-US" sz="2800" b="1" dirty="0">
                <a:solidFill>
                  <a:srgbClr val="C00000"/>
                </a:solidFill>
              </a:rPr>
              <a:t>users</a:t>
            </a:r>
            <a:r>
              <a:rPr lang="en-US" sz="2800" dirty="0"/>
              <a:t> and software </a:t>
            </a:r>
            <a:r>
              <a:rPr lang="en-US" sz="2800" b="1" dirty="0">
                <a:solidFill>
                  <a:srgbClr val="C00000"/>
                </a:solidFill>
              </a:rPr>
              <a:t>developers</a:t>
            </a:r>
            <a:r>
              <a:rPr lang="en-US" sz="2800" dirty="0"/>
              <a:t> can use it</a:t>
            </a:r>
          </a:p>
          <a:p>
            <a:r>
              <a:rPr lang="en-US" sz="2800" dirty="0"/>
              <a:t>Documentation standard can be referred and customized based on stakeholders’ needs</a:t>
            </a:r>
            <a:endParaRPr lang="en-GB" sz="2800" dirty="0"/>
          </a:p>
          <a:p>
            <a:pPr marL="457200" lvl="1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7264717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On-screen Show (4:3)</PresentationFormat>
  <Paragraphs>92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1_Office Theme</vt:lpstr>
      <vt:lpstr>PART II: requirements document</vt:lpstr>
      <vt:lpstr>Objective </vt:lpstr>
      <vt:lpstr>Software Requirements Document</vt:lpstr>
      <vt:lpstr>User and System Requirements </vt:lpstr>
      <vt:lpstr>Users of a Requirements Document </vt:lpstr>
      <vt:lpstr>Requirements Document Variability</vt:lpstr>
      <vt:lpstr>IEEE Std 830-1998</vt:lpstr>
      <vt:lpstr>SRS Outline of IEEE Std 830-1998</vt:lpstr>
      <vt:lpstr>Example of Template for the Front Part of SRS Document</vt:lpstr>
      <vt:lpstr>Section 1: Introduction</vt:lpstr>
      <vt:lpstr>Section 2: Overall Description, Sub-Section 2.1</vt:lpstr>
      <vt:lpstr>Sub-sections 2.1.1 to 2.1.3</vt:lpstr>
      <vt:lpstr>Sub-sections 2.2 &amp; 2.3</vt:lpstr>
      <vt:lpstr>Sub-sections 2.4 to 2.6</vt:lpstr>
      <vt:lpstr>Section 3: Specific Requirements</vt:lpstr>
      <vt:lpstr>Appendix A.5 Template of SRS Section 3: Organized by Feature (IEEE Std 830-1998)</vt:lpstr>
      <vt:lpstr>Key Points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II: requirements document</dc:title>
  <dc:creator>Windows User</dc:creator>
  <cp:lastModifiedBy>Windows User</cp:lastModifiedBy>
  <cp:revision>1</cp:revision>
  <dcterms:created xsi:type="dcterms:W3CDTF">2020-04-01T07:18:21Z</dcterms:created>
  <dcterms:modified xsi:type="dcterms:W3CDTF">2020-04-01T07:19:07Z</dcterms:modified>
</cp:coreProperties>
</file>