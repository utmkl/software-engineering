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28"/>
  </p:notesMasterIdLst>
  <p:sldIdLst>
    <p:sldId id="256" r:id="rId3"/>
    <p:sldId id="270" r:id="rId4"/>
    <p:sldId id="287" r:id="rId5"/>
    <p:sldId id="568" r:id="rId6"/>
    <p:sldId id="542" r:id="rId7"/>
    <p:sldId id="543" r:id="rId8"/>
    <p:sldId id="544" r:id="rId9"/>
    <p:sldId id="615" r:id="rId10"/>
    <p:sldId id="545" r:id="rId11"/>
    <p:sldId id="546" r:id="rId12"/>
    <p:sldId id="292" r:id="rId13"/>
    <p:sldId id="575" r:id="rId14"/>
    <p:sldId id="569" r:id="rId15"/>
    <p:sldId id="570" r:id="rId16"/>
    <p:sldId id="606" r:id="rId17"/>
    <p:sldId id="547" r:id="rId18"/>
    <p:sldId id="571" r:id="rId19"/>
    <p:sldId id="548" r:id="rId20"/>
    <p:sldId id="551" r:id="rId21"/>
    <p:sldId id="552" r:id="rId22"/>
    <p:sldId id="549" r:id="rId23"/>
    <p:sldId id="550" r:id="rId24"/>
    <p:sldId id="634" r:id="rId25"/>
    <p:sldId id="635" r:id="rId26"/>
    <p:sldId id="636"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2" d="100"/>
          <a:sy n="72" d="100"/>
        </p:scale>
        <p:origin x="-1096" y="-1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24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4/1/2020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2</a:t>
            </a:fld>
            <a:endParaRPr lang="en-US"/>
          </a:p>
        </p:txBody>
      </p:sp>
    </p:spTree>
    <p:extLst>
      <p:ext uri="{BB962C8B-B14F-4D97-AF65-F5344CB8AC3E}">
        <p14:creationId xmlns:p14="http://schemas.microsoft.com/office/powerpoint/2010/main" val="3511185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5</a:t>
            </a:fld>
            <a:endParaRPr lang="en-US"/>
          </a:p>
        </p:txBody>
      </p:sp>
    </p:spTree>
    <p:extLst>
      <p:ext uri="{BB962C8B-B14F-4D97-AF65-F5344CB8AC3E}">
        <p14:creationId xmlns:p14="http://schemas.microsoft.com/office/powerpoint/2010/main" val="1039833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MY"/>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2020</a:t>
            </a:r>
          </a:p>
        </p:txBody>
      </p:sp>
      <p:sp>
        <p:nvSpPr>
          <p:cNvPr id="8" name="Footer Placeholder 7"/>
          <p:cNvSpPr>
            <a:spLocks noGrp="1"/>
          </p:cNvSpPr>
          <p:nvPr>
            <p:ph type="ftr" sz="quarter" idx="11"/>
          </p:nvPr>
        </p:nvSpPr>
        <p:spPr/>
        <p:txBody>
          <a:bodyPr/>
          <a:lstStyle/>
          <a:p>
            <a:r>
              <a:rPr lang="en-MY"/>
              <a:t>Software Engineering</a:t>
            </a:r>
            <a:endParaRPr lang="en-US"/>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2020</a:t>
            </a:r>
          </a:p>
        </p:txBody>
      </p:sp>
      <p:sp>
        <p:nvSpPr>
          <p:cNvPr id="4" name="Footer Placeholder 3"/>
          <p:cNvSpPr>
            <a:spLocks noGrp="1"/>
          </p:cNvSpPr>
          <p:nvPr>
            <p:ph type="ftr" sz="quarter" idx="11"/>
          </p:nvPr>
        </p:nvSpPr>
        <p:spPr/>
        <p:txBody>
          <a:bodyPr/>
          <a:lstStyle/>
          <a:p>
            <a:r>
              <a:rPr lang="en-MY"/>
              <a:t>Software Engineering</a:t>
            </a:r>
            <a:endParaRPr lang="en-US"/>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2020</a:t>
            </a:r>
          </a:p>
        </p:txBody>
      </p:sp>
      <p:sp>
        <p:nvSpPr>
          <p:cNvPr id="3" name="Footer Placeholder 2"/>
          <p:cNvSpPr>
            <a:spLocks noGrp="1"/>
          </p:cNvSpPr>
          <p:nvPr>
            <p:ph type="ftr" sz="quarter" idx="11"/>
          </p:nvPr>
        </p:nvSpPr>
        <p:spPr/>
        <p:txBody>
          <a:bodyPr/>
          <a:lstStyle/>
          <a:p>
            <a:r>
              <a:rPr lang="en-MY"/>
              <a:t>Software Engineering</a:t>
            </a:r>
            <a:endParaRPr lang="en-US"/>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MY"/>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MY"/>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200">
                <a:solidFill>
                  <a:sysClr val="windowText" lastClr="000000"/>
                </a:solidFill>
              </a:defRPr>
            </a:lvl1pPr>
          </a:lstStyle>
          <a:p>
            <a:r>
              <a:rPr lang="en-US"/>
              <a:t>2020</a:t>
            </a:r>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200">
                <a:solidFill>
                  <a:sysClr val="windowText" lastClr="000000"/>
                </a:solidFill>
              </a:defRPr>
            </a:lvl1pPr>
          </a:lstStyle>
          <a:p>
            <a:r>
              <a:rPr lang="en-MY"/>
              <a:t>Software Engineering</a:t>
            </a:r>
            <a:endParaRPr lang="en-US"/>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200">
                <a:solidFill>
                  <a:sysClr val="windowText" lastClr="000000"/>
                </a:solidFill>
              </a:defRPr>
            </a:lvl1pPr>
          </a:lstStyle>
          <a:p>
            <a:fld id="{0362C787-829C-4B6B-B21B-90D8981190F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a:ln>
                  <a:noFill/>
                </a:ln>
                <a:solidFill>
                  <a:schemeClr val="tx1"/>
                </a:solidFill>
                <a:effectLst/>
                <a:uLnTx/>
                <a:uFillTx/>
                <a:latin typeface="+mn-lt"/>
                <a:ea typeface="+mn-ea"/>
                <a:cs typeface="+mn-cs"/>
              </a:rPr>
              <a:t>Terima Kasih</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a:ln>
                  <a:noFill/>
                </a:ln>
                <a:solidFill>
                  <a:srgbClr val="C00000"/>
                </a:solidFill>
                <a:effectLst/>
                <a:uLnTx/>
                <a:uFillTx/>
                <a:latin typeface="+mn-lt"/>
                <a:ea typeface="+mn-ea"/>
                <a:cs typeface="+mn-cs"/>
              </a:rPr>
              <a:t>atas keprihatinan anda</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a:ln>
                  <a:noFill/>
                </a:ln>
                <a:solidFill>
                  <a:srgbClr val="002060"/>
                </a:solidFill>
                <a:effectLst/>
                <a:uLnTx/>
                <a:uFillTx/>
                <a:latin typeface="Baskerville Old Face" pitchFamily="18" charset="0"/>
                <a:ea typeface="+mn-ea"/>
                <a:cs typeface="+mn-cs"/>
              </a:rPr>
              <a:t>“I Care, You Care, We Care”</a:t>
            </a:r>
            <a:endParaRPr kumimoji="0" lang="en-US" sz="3600" b="1" i="0" u="none" strike="noStrike" kern="1200" cap="none" spc="0" normalizeH="0" baseline="0" noProof="0" dirty="0">
              <a:ln>
                <a:noFill/>
              </a:ln>
              <a:solidFill>
                <a:srgbClr val="002060"/>
              </a:solidFill>
              <a:effectLst/>
              <a:uLnTx/>
              <a:uFillTx/>
              <a:latin typeface="Baskerville Old Face" pitchFamily="18" charset="0"/>
              <a:ea typeface="+mn-ea"/>
              <a:cs typeface="+mn-cs"/>
            </a:endParaRP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a:t>2020</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MY"/>
              <a:t>Software Engineering</a:t>
            </a:r>
            <a:endParaRPr lang="en-US" dirty="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Module 5: </a:t>
            </a:r>
            <a:r>
              <a:rPr lang="en-US" dirty="0">
                <a:ea typeface="ＭＳ Ｐゴシック" pitchFamily="-110" charset="-128"/>
                <a:cs typeface="ＭＳ Ｐゴシック" pitchFamily="-110" charset="-128"/>
              </a:rPr>
              <a:t>Requirements Analysis and Modeling</a:t>
            </a:r>
            <a:endParaRPr lang="en-US" dirty="0"/>
          </a:p>
        </p:txBody>
      </p:sp>
      <p:sp>
        <p:nvSpPr>
          <p:cNvPr id="3" name="Subtitle 2"/>
          <p:cNvSpPr>
            <a:spLocks noGrp="1"/>
          </p:cNvSpPr>
          <p:nvPr>
            <p:ph type="subTitle" idx="1"/>
          </p:nvPr>
        </p:nvSpPr>
        <p:spPr/>
        <p:txBody>
          <a:bodyPr>
            <a:normAutofit fontScale="92500"/>
          </a:bodyPr>
          <a:lstStyle/>
          <a:p>
            <a:r>
              <a:rPr lang="en-US" sz="4000" dirty="0">
                <a:solidFill>
                  <a:schemeClr val="tx2"/>
                </a:solidFill>
              </a:rPr>
              <a:t>Software Engineering</a:t>
            </a:r>
          </a:p>
          <a:p>
            <a:r>
              <a:rPr lang="en-US" sz="2800" dirty="0"/>
              <a:t>School of Computing, Faculty of Engineering</a:t>
            </a:r>
          </a:p>
          <a:p>
            <a:r>
              <a:rPr lang="en-US" sz="2800" dirty="0" err="1"/>
              <a:t>Universiti</a:t>
            </a:r>
            <a:r>
              <a:rPr lang="en-US" sz="2800" dirty="0"/>
              <a:t> </a:t>
            </a:r>
            <a:r>
              <a:rPr lang="en-US" sz="2800" dirty="0" err="1"/>
              <a:t>Teknologi</a:t>
            </a:r>
            <a:r>
              <a:rPr lang="en-US" sz="2800" dirty="0"/>
              <a:t> Malaysia</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Outline</a:t>
            </a:r>
            <a:endParaRPr lang="en-MY" dirty="0"/>
          </a:p>
        </p:txBody>
      </p:sp>
      <p:sp>
        <p:nvSpPr>
          <p:cNvPr id="3" name="Content Placeholder 2"/>
          <p:cNvSpPr>
            <a:spLocks noGrp="1"/>
          </p:cNvSpPr>
          <p:nvPr>
            <p:ph idx="1"/>
          </p:nvPr>
        </p:nvSpPr>
        <p:spPr/>
        <p:txBody>
          <a:bodyPr>
            <a:normAutofit/>
          </a:bodyPr>
          <a:lstStyle/>
          <a:p>
            <a:r>
              <a:rPr lang="en-US" dirty="0">
                <a:ea typeface="ＭＳ Ｐゴシック" panose="020B0600070205080204" pitchFamily="34" charset="-128"/>
              </a:rPr>
              <a:t>Part I: Requirements Modeling Concept</a:t>
            </a:r>
          </a:p>
          <a:p>
            <a:pPr lvl="1"/>
            <a:r>
              <a:rPr lang="en-US" dirty="0">
                <a:ea typeface="ＭＳ Ｐゴシック" panose="020B0600070205080204" pitchFamily="34" charset="-128"/>
              </a:rPr>
              <a:t>Use Case Modeling and Specification</a:t>
            </a:r>
          </a:p>
          <a:p>
            <a:pPr lvl="1"/>
            <a:r>
              <a:rPr lang="en-US" dirty="0">
                <a:ea typeface="ＭＳ Ｐゴシック" panose="020B0600070205080204" pitchFamily="34" charset="-128"/>
              </a:rPr>
              <a:t>Domain Modeling</a:t>
            </a:r>
          </a:p>
          <a:p>
            <a:pPr lvl="1"/>
            <a:r>
              <a:rPr lang="en-US" dirty="0">
                <a:ea typeface="ＭＳ Ｐゴシック" panose="020B0600070205080204" pitchFamily="34" charset="-128"/>
              </a:rPr>
              <a:t>Activity Diagram</a:t>
            </a:r>
          </a:p>
          <a:p>
            <a:pPr lvl="1"/>
            <a:r>
              <a:rPr lang="en-US" dirty="0">
                <a:ea typeface="ＭＳ Ｐゴシック" panose="020B0600070205080204" pitchFamily="34" charset="-128"/>
              </a:rPr>
              <a:t>Sequence Diagram</a:t>
            </a:r>
          </a:p>
          <a:p>
            <a:pPr lvl="1"/>
            <a:r>
              <a:rPr lang="en-US" dirty="0">
                <a:ea typeface="ＭＳ Ｐゴシック" panose="020B0600070205080204" pitchFamily="34" charset="-128"/>
              </a:rPr>
              <a:t>State Chart/State Machine Diagram</a:t>
            </a:r>
          </a:p>
          <a:p>
            <a:r>
              <a:rPr lang="en-US" dirty="0">
                <a:ea typeface="ＭＳ Ｐゴシック" panose="020B0600070205080204" pitchFamily="34" charset="-128"/>
              </a:rPr>
              <a:t>Part II: Requirements Document </a:t>
            </a:r>
          </a:p>
          <a:p>
            <a:pPr lvl="1"/>
            <a:r>
              <a:rPr lang="en-US" dirty="0">
                <a:ea typeface="ＭＳ Ｐゴシック" panose="020B0600070205080204" pitchFamily="34" charset="-128"/>
              </a:rPr>
              <a:t>Software Requirements Specification (SRS)</a:t>
            </a:r>
            <a:endParaRPr lang="en-MY" dirty="0"/>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2</a:t>
            </a:fld>
            <a:endParaRPr lang="en-US"/>
          </a:p>
        </p:txBody>
      </p:sp>
      <p:sp>
        <p:nvSpPr>
          <p:cNvPr id="4" name="Date Placeholder 3"/>
          <p:cNvSpPr>
            <a:spLocks noGrp="1"/>
          </p:cNvSpPr>
          <p:nvPr>
            <p:ph type="dt" sz="half" idx="10"/>
          </p:nvPr>
        </p:nvSpPr>
        <p:spPr/>
        <p:txBody>
          <a:bodyPr/>
          <a:lstStyle/>
          <a:p>
            <a:r>
              <a:rPr lang="en-US"/>
              <a:t>2020</a:t>
            </a:r>
          </a:p>
        </p:txBody>
      </p:sp>
      <p:sp>
        <p:nvSpPr>
          <p:cNvPr id="7" name="TextBox 6"/>
          <p:cNvSpPr txBox="1"/>
          <p:nvPr/>
        </p:nvSpPr>
        <p:spPr>
          <a:xfrm>
            <a:off x="478974" y="5803032"/>
            <a:ext cx="8392886" cy="646331"/>
          </a:xfrm>
          <a:prstGeom prst="rect">
            <a:avLst/>
          </a:prstGeom>
          <a:noFill/>
        </p:spPr>
        <p:txBody>
          <a:bodyPr wrap="square" rtlCol="0">
            <a:spAutoFit/>
          </a:bodyPr>
          <a:lstStyle/>
          <a:p>
            <a:r>
              <a:rPr lang="en-MY" dirty="0">
                <a:solidFill>
                  <a:srgbClr val="C00000"/>
                </a:solidFill>
              </a:rPr>
              <a:t>Note: The overall contents of the slide are based on the main reference that is Sommerville (2016) with other references specified directly in respective slides (if any)</a:t>
            </a:r>
          </a:p>
        </p:txBody>
      </p:sp>
    </p:spTree>
    <p:extLst>
      <p:ext uri="{BB962C8B-B14F-4D97-AF65-F5344CB8AC3E}">
        <p14:creationId xmlns:p14="http://schemas.microsoft.com/office/powerpoint/2010/main" val="1798927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Part I: Requirements </a:t>
            </a:r>
            <a:r>
              <a:rPr lang="en-MY" dirty="0" err="1"/>
              <a:t>modeling</a:t>
            </a:r>
            <a:r>
              <a:rPr lang="en-MY" dirty="0"/>
              <a:t> concept</a:t>
            </a:r>
          </a:p>
        </p:txBody>
      </p:sp>
      <p:sp>
        <p:nvSpPr>
          <p:cNvPr id="3" name="Text Placeholder 2"/>
          <p:cNvSpPr>
            <a:spLocks noGrp="1"/>
          </p:cNvSpPr>
          <p:nvPr>
            <p:ph type="body" idx="1"/>
          </p:nvPr>
        </p:nvSpPr>
        <p:spPr/>
        <p:txBody>
          <a:bodyPr/>
          <a:lstStyle/>
          <a:p>
            <a:r>
              <a:rPr lang="en-MY" dirty="0">
                <a:ea typeface="ＭＳ Ｐゴシック" panose="020B0600070205080204" pitchFamily="34" charset="-128"/>
              </a:rPr>
              <a:t>Use Case </a:t>
            </a:r>
            <a:r>
              <a:rPr lang="en-MY" dirty="0" err="1">
                <a:ea typeface="ＭＳ Ｐゴシック" panose="020B0600070205080204" pitchFamily="34" charset="-128"/>
              </a:rPr>
              <a:t>Modeling</a:t>
            </a:r>
            <a:r>
              <a:rPr lang="en-MY" dirty="0">
                <a:ea typeface="ＭＳ Ｐゴシック" panose="020B0600070205080204" pitchFamily="34" charset="-128"/>
              </a:rPr>
              <a:t> and Specification, Sequence Diagram, Activity Diagram, Domain </a:t>
            </a:r>
            <a:r>
              <a:rPr lang="en-MY" dirty="0" err="1">
                <a:ea typeface="ＭＳ Ｐゴシック" panose="020B0600070205080204" pitchFamily="34" charset="-128"/>
              </a:rPr>
              <a:t>Modeling</a:t>
            </a:r>
            <a:r>
              <a:rPr lang="en-MY" dirty="0">
                <a:ea typeface="ＭＳ Ｐゴシック" panose="020B0600070205080204" pitchFamily="34" charset="-128"/>
              </a:rPr>
              <a:t>, State Chart/Machine Diagram</a:t>
            </a:r>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3</a:t>
            </a:fld>
            <a:endParaRPr lang="en-US"/>
          </a:p>
        </p:txBody>
      </p:sp>
      <p:sp>
        <p:nvSpPr>
          <p:cNvPr id="4" name="Date Placeholder 3"/>
          <p:cNvSpPr>
            <a:spLocks noGrp="1"/>
          </p:cNvSpPr>
          <p:nvPr>
            <p:ph type="dt" sz="half" idx="10"/>
          </p:nvPr>
        </p:nvSpPr>
        <p:spPr/>
        <p:txBody>
          <a:bodyPr/>
          <a:lstStyle/>
          <a:p>
            <a:r>
              <a:rPr lang="en-US"/>
              <a:t>2020</a:t>
            </a:r>
          </a:p>
        </p:txBody>
      </p:sp>
      <p:sp>
        <p:nvSpPr>
          <p:cNvPr id="7" name="TextBox 6"/>
          <p:cNvSpPr txBox="1"/>
          <p:nvPr/>
        </p:nvSpPr>
        <p:spPr>
          <a:xfrm>
            <a:off x="762000" y="6070900"/>
            <a:ext cx="7924800" cy="369332"/>
          </a:xfrm>
          <a:prstGeom prst="rect">
            <a:avLst/>
          </a:prstGeom>
          <a:noFill/>
        </p:spPr>
        <p:txBody>
          <a:bodyPr wrap="square" rtlCol="0">
            <a:spAutoFit/>
          </a:bodyPr>
          <a:lstStyle/>
          <a:p>
            <a:r>
              <a:rPr lang="en-MY" dirty="0">
                <a:solidFill>
                  <a:srgbClr val="C00000"/>
                </a:solidFill>
                <a:ea typeface="ＭＳ Ｐゴシック" panose="020B0600070205080204" pitchFamily="34" charset="-128"/>
              </a:rPr>
              <a:t>Note: Main reference for Part I: Sommerville (2016), </a:t>
            </a:r>
            <a:r>
              <a:rPr lang="en-MY" dirty="0" err="1">
                <a:solidFill>
                  <a:srgbClr val="C00000"/>
                </a:solidFill>
              </a:rPr>
              <a:t>Arlow</a:t>
            </a:r>
            <a:r>
              <a:rPr lang="en-MY" dirty="0">
                <a:solidFill>
                  <a:srgbClr val="C00000"/>
                </a:solidFill>
              </a:rPr>
              <a:t> and Neustadt</a:t>
            </a:r>
            <a:r>
              <a:rPr lang="en-MY" dirty="0">
                <a:solidFill>
                  <a:srgbClr val="C00000"/>
                </a:solidFill>
                <a:ea typeface="ＭＳ Ｐゴシック" panose="020B0600070205080204" pitchFamily="34" charset="-128"/>
              </a:rPr>
              <a:t> (2002)</a:t>
            </a:r>
            <a:endParaRPr lang="en-MY" dirty="0">
              <a:solidFill>
                <a:srgbClr val="C00000"/>
              </a:solidFill>
            </a:endParaRPr>
          </a:p>
        </p:txBody>
      </p:sp>
    </p:spTree>
    <p:extLst>
      <p:ext uri="{BB962C8B-B14F-4D97-AF65-F5344CB8AC3E}">
        <p14:creationId xmlns:p14="http://schemas.microsoft.com/office/powerpoint/2010/main" val="55580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Objectives</a:t>
            </a:r>
          </a:p>
        </p:txBody>
      </p:sp>
      <p:sp>
        <p:nvSpPr>
          <p:cNvPr id="3" name="Content Placeholder 2"/>
          <p:cNvSpPr>
            <a:spLocks noGrp="1"/>
          </p:cNvSpPr>
          <p:nvPr>
            <p:ph idx="1"/>
          </p:nvPr>
        </p:nvSpPr>
        <p:spPr/>
        <p:txBody>
          <a:bodyPr>
            <a:normAutofit/>
          </a:bodyPr>
          <a:lstStyle/>
          <a:p>
            <a:pPr>
              <a:spcBef>
                <a:spcPts val="0"/>
              </a:spcBef>
            </a:pPr>
            <a:r>
              <a:rPr lang="en-US" altLang="en-US" dirty="0">
                <a:solidFill>
                  <a:srgbClr val="292526"/>
                </a:solidFill>
                <a:cs typeface="Times New Roman" panose="02020603050405020304" pitchFamily="18" charset="0"/>
              </a:rPr>
              <a:t>To define requirements using </a:t>
            </a:r>
            <a:r>
              <a:rPr lang="en-US" altLang="en-US" b="1" dirty="0">
                <a:solidFill>
                  <a:srgbClr val="C00000"/>
                </a:solidFill>
                <a:cs typeface="Times New Roman" panose="02020603050405020304" pitchFamily="18" charset="0"/>
              </a:rPr>
              <a:t>use cases </a:t>
            </a:r>
            <a:r>
              <a:rPr lang="en-US" altLang="en-US" dirty="0">
                <a:solidFill>
                  <a:srgbClr val="292526"/>
                </a:solidFill>
                <a:cs typeface="Times New Roman" panose="02020603050405020304" pitchFamily="18" charset="0"/>
              </a:rPr>
              <a:t>and problem </a:t>
            </a:r>
            <a:r>
              <a:rPr lang="en-US" altLang="en-US" b="1" dirty="0">
                <a:solidFill>
                  <a:srgbClr val="C00000"/>
                </a:solidFill>
                <a:cs typeface="Times New Roman" panose="02020603050405020304" pitchFamily="18" charset="0"/>
              </a:rPr>
              <a:t>domain classes</a:t>
            </a:r>
          </a:p>
          <a:p>
            <a:pPr>
              <a:spcBef>
                <a:spcPts val="0"/>
              </a:spcBef>
            </a:pPr>
            <a:r>
              <a:rPr lang="en-US" altLang="en-US" dirty="0">
                <a:solidFill>
                  <a:srgbClr val="292526"/>
                </a:solidFill>
                <a:cs typeface="Times New Roman" panose="02020603050405020304" pitchFamily="18" charset="0"/>
              </a:rPr>
              <a:t>To identify and analyze events and resulting </a:t>
            </a:r>
            <a:r>
              <a:rPr lang="en-US" altLang="en-US">
                <a:solidFill>
                  <a:srgbClr val="292526"/>
                </a:solidFill>
                <a:cs typeface="Times New Roman" panose="02020603050405020304" pitchFamily="18" charset="0"/>
              </a:rPr>
              <a:t>use cases </a:t>
            </a:r>
            <a:r>
              <a:rPr lang="en-US" altLang="en-US" dirty="0">
                <a:solidFill>
                  <a:srgbClr val="292526"/>
                </a:solidFill>
                <a:cs typeface="Times New Roman" panose="02020603050405020304" pitchFamily="18" charset="0"/>
              </a:rPr>
              <a:t>for </a:t>
            </a:r>
            <a:r>
              <a:rPr lang="en-US" altLang="en-US" b="1" dirty="0">
                <a:solidFill>
                  <a:srgbClr val="C00000"/>
                </a:solidFill>
                <a:cs typeface="Times New Roman" panose="02020603050405020304" pitchFamily="18" charset="0"/>
              </a:rPr>
              <a:t>use case diagram</a:t>
            </a:r>
          </a:p>
          <a:p>
            <a:pPr>
              <a:spcBef>
                <a:spcPts val="0"/>
              </a:spcBef>
            </a:pPr>
            <a:r>
              <a:rPr lang="en-US" altLang="en-US" dirty="0">
                <a:solidFill>
                  <a:srgbClr val="292526"/>
                </a:solidFill>
                <a:cs typeface="Times New Roman" panose="02020603050405020304" pitchFamily="18" charset="0"/>
              </a:rPr>
              <a:t>To identify and analyze domain classes for </a:t>
            </a:r>
            <a:r>
              <a:rPr lang="en-US" altLang="en-US" b="1" dirty="0">
                <a:solidFill>
                  <a:srgbClr val="C00000"/>
                </a:solidFill>
                <a:cs typeface="Times New Roman" panose="02020603050405020304" pitchFamily="18" charset="0"/>
              </a:rPr>
              <a:t>domain model class diagram</a:t>
            </a:r>
          </a:p>
          <a:p>
            <a:pPr>
              <a:spcBef>
                <a:spcPts val="0"/>
              </a:spcBef>
            </a:pPr>
            <a:r>
              <a:rPr lang="en-US" altLang="en-US" dirty="0">
                <a:solidFill>
                  <a:srgbClr val="292526"/>
                </a:solidFill>
                <a:cs typeface="Times New Roman" panose="02020603050405020304" pitchFamily="18" charset="0"/>
              </a:rPr>
              <a:t>To produce </a:t>
            </a:r>
            <a:r>
              <a:rPr lang="en-US" altLang="en-US" b="1" dirty="0">
                <a:solidFill>
                  <a:srgbClr val="C00000"/>
                </a:solidFill>
                <a:cs typeface="Times New Roman" panose="02020603050405020304" pitchFamily="18" charset="0"/>
              </a:rPr>
              <a:t>detail requirements </a:t>
            </a:r>
            <a:r>
              <a:rPr lang="en-US" altLang="en-US">
                <a:solidFill>
                  <a:srgbClr val="292526"/>
                </a:solidFill>
                <a:cs typeface="Times New Roman" panose="02020603050405020304" pitchFamily="18" charset="0"/>
              </a:rPr>
              <a:t>using sequence </a:t>
            </a:r>
            <a:r>
              <a:rPr lang="en-US" altLang="en-US" dirty="0">
                <a:solidFill>
                  <a:srgbClr val="292526"/>
                </a:solidFill>
                <a:cs typeface="Times New Roman" panose="02020603050405020304" pitchFamily="18" charset="0"/>
              </a:rPr>
              <a:t>diagram, activity diagram and </a:t>
            </a:r>
            <a:r>
              <a:rPr lang="en-US" altLang="en-US">
                <a:solidFill>
                  <a:srgbClr val="292526"/>
                </a:solidFill>
                <a:cs typeface="Times New Roman" panose="02020603050405020304" pitchFamily="18" charset="0"/>
              </a:rPr>
              <a:t>state chart/state </a:t>
            </a:r>
            <a:r>
              <a:rPr lang="en-US" altLang="en-US" dirty="0">
                <a:solidFill>
                  <a:srgbClr val="292526"/>
                </a:solidFill>
                <a:cs typeface="Times New Roman" panose="02020603050405020304" pitchFamily="18" charset="0"/>
              </a:rPr>
              <a:t>machine diagram</a:t>
            </a:r>
            <a:endParaRPr lang="en-US" altLang="en-US" dirty="0">
              <a:solidFill>
                <a:srgbClr val="000000"/>
              </a:solidFill>
              <a:cs typeface="Times New Roman" panose="02020603050405020304" pitchFamily="18" charset="0"/>
            </a:endParaRPr>
          </a:p>
          <a:p>
            <a:endParaRPr lang="en-MY" dirty="0"/>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4</a:t>
            </a:fld>
            <a:endParaRPr lang="en-US"/>
          </a:p>
        </p:txBody>
      </p:sp>
      <p:sp>
        <p:nvSpPr>
          <p:cNvPr id="4" name="Date Placeholder 3"/>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4254666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a:xfrm>
            <a:off x="457200" y="1600200"/>
            <a:ext cx="8458200" cy="4525963"/>
          </a:xfrm>
        </p:spPr>
        <p:txBody>
          <a:bodyPr>
            <a:noAutofit/>
          </a:bodyPr>
          <a:lstStyle/>
          <a:p>
            <a:r>
              <a:rPr lang="en-US" sz="2800" dirty="0"/>
              <a:t>System modeling is the process of developing </a:t>
            </a:r>
            <a:r>
              <a:rPr lang="en-US" sz="2800" dirty="0">
                <a:solidFill>
                  <a:srgbClr val="C00000"/>
                </a:solidFill>
              </a:rPr>
              <a:t>abstract models of a system</a:t>
            </a:r>
            <a:r>
              <a:rPr lang="en-US" sz="2800" dirty="0"/>
              <a:t>, with each model presenting a different view or perspective of that system</a:t>
            </a:r>
          </a:p>
          <a:p>
            <a:r>
              <a:rPr lang="en-US" sz="2800" dirty="0"/>
              <a:t>System modeling represents a system using </a:t>
            </a:r>
            <a:r>
              <a:rPr lang="en-US" sz="2800" dirty="0">
                <a:solidFill>
                  <a:srgbClr val="C00000"/>
                </a:solidFill>
              </a:rPr>
              <a:t>graphical notation</a:t>
            </a:r>
            <a:r>
              <a:rPr lang="en-US" sz="2800" dirty="0"/>
              <a:t>, which is now almost always based on notations in the </a:t>
            </a:r>
            <a:r>
              <a:rPr lang="en-US" sz="2800" dirty="0">
                <a:solidFill>
                  <a:srgbClr val="C00000"/>
                </a:solidFill>
              </a:rPr>
              <a:t>Unified Modeling Language (UML)</a:t>
            </a:r>
            <a:endParaRPr lang="en-US" sz="2800" dirty="0"/>
          </a:p>
          <a:p>
            <a:r>
              <a:rPr lang="en-GB" sz="2800" dirty="0"/>
              <a:t>System </a:t>
            </a:r>
            <a:r>
              <a:rPr lang="en-GB" sz="2800" dirty="0" err="1"/>
              <a:t>modeling</a:t>
            </a:r>
            <a:r>
              <a:rPr lang="en-GB" sz="2800" dirty="0"/>
              <a:t> helps the analyst to understand the </a:t>
            </a:r>
            <a:r>
              <a:rPr lang="en-GB" sz="2800" dirty="0">
                <a:solidFill>
                  <a:srgbClr val="C00000"/>
                </a:solidFill>
              </a:rPr>
              <a:t>functionality of the system </a:t>
            </a:r>
            <a:r>
              <a:rPr lang="en-GB" sz="2800" dirty="0"/>
              <a:t>and models are used to communicate with customers</a:t>
            </a:r>
          </a:p>
          <a:p>
            <a:endParaRPr lang="en-US" sz="2800" dirty="0"/>
          </a:p>
        </p:txBody>
      </p:sp>
      <p:sp>
        <p:nvSpPr>
          <p:cNvPr id="5" name="Footer Placeholder 4"/>
          <p:cNvSpPr>
            <a:spLocks noGrp="1"/>
          </p:cNvSpPr>
          <p:nvPr>
            <p:ph type="ftr" sz="quarter" idx="11"/>
          </p:nvPr>
        </p:nvSpPr>
        <p:spPr/>
        <p:txBody>
          <a:bodyPr/>
          <a:lstStyle/>
          <a:p>
            <a:pPr>
              <a:defRPr/>
            </a:pPr>
            <a:r>
              <a:rPr lang="en-US"/>
              <a:t>Software Engineering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
        <p:nvSpPr>
          <p:cNvPr id="6" name="Date Placeholder 5"/>
          <p:cNvSpPr>
            <a:spLocks noGrp="1"/>
          </p:cNvSpPr>
          <p:nvPr>
            <p:ph type="dt" sz="half" idx="10"/>
          </p:nvPr>
        </p:nvSpPr>
        <p:spPr/>
        <p:txBody>
          <a:bodyPr/>
          <a:lstStyle/>
          <a:p>
            <a:pPr>
              <a:defRPr/>
            </a:pPr>
            <a:r>
              <a:rPr lang="en-US"/>
              <a:t>2020</a:t>
            </a:r>
          </a:p>
        </p:txBody>
      </p:sp>
    </p:spTree>
    <p:extLst>
      <p:ext uri="{BB962C8B-B14F-4D97-AF65-F5344CB8AC3E}">
        <p14:creationId xmlns:p14="http://schemas.microsoft.com/office/powerpoint/2010/main" val="1890003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normAutofit fontScale="90000"/>
          </a:bodyPr>
          <a:lstStyle/>
          <a:p>
            <a:r>
              <a:rPr lang="en-GB" dirty="0"/>
              <a:t>Existing </a:t>
            </a:r>
            <a:r>
              <a:rPr lang="en-GB"/>
              <a:t>and Planned System Models</a:t>
            </a:r>
            <a:endParaRPr lang="en-GB" dirty="0"/>
          </a:p>
        </p:txBody>
      </p:sp>
      <p:sp>
        <p:nvSpPr>
          <p:cNvPr id="7171" name="Rectangle 3"/>
          <p:cNvSpPr>
            <a:spLocks noGrp="1" noChangeArrowheads="1"/>
          </p:cNvSpPr>
          <p:nvPr>
            <p:ph idx="1"/>
          </p:nvPr>
        </p:nvSpPr>
        <p:spPr>
          <a:xfrm>
            <a:off x="457200" y="1600200"/>
            <a:ext cx="8534400" cy="4525963"/>
          </a:xfrm>
          <a:noFill/>
          <a:ln/>
        </p:spPr>
        <p:txBody>
          <a:bodyPr lIns="90487" tIns="44450" rIns="90487" bIns="44450">
            <a:noAutofit/>
          </a:bodyPr>
          <a:lstStyle/>
          <a:p>
            <a:r>
              <a:rPr lang="en-US" sz="2800" dirty="0"/>
              <a:t>Models of the </a:t>
            </a:r>
            <a:r>
              <a:rPr lang="en-US" sz="2800" dirty="0">
                <a:solidFill>
                  <a:srgbClr val="C00000"/>
                </a:solidFill>
              </a:rPr>
              <a:t>existing system </a:t>
            </a:r>
            <a:r>
              <a:rPr lang="en-US" sz="2800" dirty="0"/>
              <a:t>are used during requirements engineering</a:t>
            </a:r>
          </a:p>
          <a:p>
            <a:pPr lvl="1"/>
            <a:r>
              <a:rPr lang="en-US" sz="2400" dirty="0"/>
              <a:t>They help clarify what the existing system does and can be used as a </a:t>
            </a:r>
            <a:r>
              <a:rPr lang="en-US" sz="2400" dirty="0">
                <a:solidFill>
                  <a:srgbClr val="C00000"/>
                </a:solidFill>
              </a:rPr>
              <a:t>basis for discussing its strengths and weaknesses</a:t>
            </a:r>
            <a:endParaRPr lang="en-US" sz="2400" dirty="0"/>
          </a:p>
          <a:p>
            <a:pPr lvl="1"/>
            <a:r>
              <a:rPr lang="en-US" sz="2400" dirty="0"/>
              <a:t>These then lead to requirements for the new system</a:t>
            </a:r>
            <a:endParaRPr lang="en-GB" sz="2400" dirty="0"/>
          </a:p>
          <a:p>
            <a:r>
              <a:rPr lang="en-US" sz="2800" dirty="0"/>
              <a:t>Models of the </a:t>
            </a:r>
            <a:r>
              <a:rPr lang="en-US" sz="2800" dirty="0">
                <a:solidFill>
                  <a:srgbClr val="C00000"/>
                </a:solidFill>
              </a:rPr>
              <a:t>new system </a:t>
            </a:r>
            <a:r>
              <a:rPr lang="en-US" sz="2800" dirty="0"/>
              <a:t>are used during requirements engineering to help </a:t>
            </a:r>
            <a:r>
              <a:rPr lang="en-US" sz="2800" dirty="0">
                <a:solidFill>
                  <a:srgbClr val="C00000"/>
                </a:solidFill>
              </a:rPr>
              <a:t>explain the proposed requirements to other system stakeholders</a:t>
            </a:r>
          </a:p>
          <a:p>
            <a:pPr lvl="1"/>
            <a:r>
              <a:rPr lang="en-US" sz="2400" dirty="0"/>
              <a:t>Engineers use these models to discuss design proposals and to document the system for implementation</a:t>
            </a:r>
          </a:p>
        </p:txBody>
      </p:sp>
      <p:sp>
        <p:nvSpPr>
          <p:cNvPr id="5" name="Footer Placeholder 4"/>
          <p:cNvSpPr>
            <a:spLocks noGrp="1"/>
          </p:cNvSpPr>
          <p:nvPr>
            <p:ph type="ftr" sz="quarter" idx="11"/>
          </p:nvPr>
        </p:nvSpPr>
        <p:spPr/>
        <p:txBody>
          <a:bodyPr/>
          <a:lstStyle/>
          <a:p>
            <a:pPr>
              <a:defRPr/>
            </a:pPr>
            <a:r>
              <a:rPr lang="en-US"/>
              <a:t>Software Engineering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
        <p:nvSpPr>
          <p:cNvPr id="2" name="Date Placeholder 1"/>
          <p:cNvSpPr>
            <a:spLocks noGrp="1"/>
          </p:cNvSpPr>
          <p:nvPr>
            <p:ph type="dt" sz="half" idx="10"/>
          </p:nvPr>
        </p:nvSpPr>
        <p:spPr/>
        <p:txBody>
          <a:bodyPr/>
          <a:lstStyle/>
          <a:p>
            <a:pPr>
              <a:defRPr/>
            </a:pPr>
            <a:r>
              <a:rPr lang="en-US"/>
              <a:t>2020</a:t>
            </a:r>
          </a:p>
        </p:txBody>
      </p:sp>
    </p:spTree>
    <p:extLst>
      <p:ext uri="{BB962C8B-B14F-4D97-AF65-F5344CB8AC3E}">
        <p14:creationId xmlns:p14="http://schemas.microsoft.com/office/powerpoint/2010/main" val="124199104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System Perspectives</a:t>
            </a:r>
            <a:endParaRPr lang="en-US" dirty="0"/>
          </a:p>
        </p:txBody>
      </p:sp>
      <p:sp>
        <p:nvSpPr>
          <p:cNvPr id="3" name="Content Placeholder 2"/>
          <p:cNvSpPr>
            <a:spLocks noGrp="1"/>
          </p:cNvSpPr>
          <p:nvPr>
            <p:ph idx="1"/>
          </p:nvPr>
        </p:nvSpPr>
        <p:spPr>
          <a:xfrm>
            <a:off x="457200" y="1600200"/>
            <a:ext cx="8229600" cy="4724400"/>
          </a:xfrm>
        </p:spPr>
        <p:txBody>
          <a:bodyPr>
            <a:normAutofit fontScale="85000" lnSpcReduction="10000"/>
          </a:bodyPr>
          <a:lstStyle/>
          <a:p>
            <a:r>
              <a:rPr lang="en-US" dirty="0"/>
              <a:t>An </a:t>
            </a:r>
            <a:r>
              <a:rPr lang="en-US" b="1" dirty="0">
                <a:solidFill>
                  <a:srgbClr val="C00000"/>
                </a:solidFill>
              </a:rPr>
              <a:t>external</a:t>
            </a:r>
            <a:r>
              <a:rPr lang="en-US" dirty="0"/>
              <a:t> perspective: model the context or environment of the system</a:t>
            </a:r>
            <a:endParaRPr lang="en-GB" dirty="0"/>
          </a:p>
          <a:p>
            <a:r>
              <a:rPr lang="en-US" dirty="0"/>
              <a:t>An </a:t>
            </a:r>
            <a:r>
              <a:rPr lang="en-US" b="1" dirty="0">
                <a:solidFill>
                  <a:srgbClr val="C00000"/>
                </a:solidFill>
              </a:rPr>
              <a:t>interaction</a:t>
            </a:r>
            <a:r>
              <a:rPr lang="en-US" dirty="0"/>
              <a:t> perspective: model the interactions between a system and its environment, or between the components of a system</a:t>
            </a:r>
            <a:endParaRPr lang="en-GB" dirty="0"/>
          </a:p>
          <a:p>
            <a:r>
              <a:rPr lang="en-US" dirty="0"/>
              <a:t>A </a:t>
            </a:r>
            <a:r>
              <a:rPr lang="en-US" b="1" dirty="0">
                <a:solidFill>
                  <a:srgbClr val="C00000"/>
                </a:solidFill>
              </a:rPr>
              <a:t>structural</a:t>
            </a:r>
            <a:r>
              <a:rPr lang="en-US" dirty="0"/>
              <a:t> perspective: model the organization of a system or the structure of the data that is processed by the system</a:t>
            </a:r>
            <a:endParaRPr lang="en-GB" dirty="0"/>
          </a:p>
          <a:p>
            <a:r>
              <a:rPr lang="en-US" dirty="0"/>
              <a:t>A </a:t>
            </a:r>
            <a:r>
              <a:rPr lang="en-US" b="1" dirty="0">
                <a:solidFill>
                  <a:srgbClr val="C00000"/>
                </a:solidFill>
              </a:rPr>
              <a:t>behavioral </a:t>
            </a:r>
            <a:r>
              <a:rPr lang="en-US" dirty="0"/>
              <a:t>perspective: model the dynamic behavior of the system and how it responds to events</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Software Engineering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US"/>
              <a:t>2020</a:t>
            </a:r>
          </a:p>
        </p:txBody>
      </p:sp>
    </p:spTree>
    <p:extLst>
      <p:ext uri="{BB962C8B-B14F-4D97-AF65-F5344CB8AC3E}">
        <p14:creationId xmlns:p14="http://schemas.microsoft.com/office/powerpoint/2010/main" val="3876525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Context Model</a:t>
            </a:r>
          </a:p>
        </p:txBody>
      </p:sp>
      <p:sp>
        <p:nvSpPr>
          <p:cNvPr id="3" name="Content Placeholder 2"/>
          <p:cNvSpPr>
            <a:spLocks noGrp="1"/>
          </p:cNvSpPr>
          <p:nvPr>
            <p:ph idx="1"/>
          </p:nvPr>
        </p:nvSpPr>
        <p:spPr>
          <a:xfrm>
            <a:off x="457200" y="1600201"/>
            <a:ext cx="8229600" cy="2590800"/>
          </a:xfrm>
        </p:spPr>
        <p:txBody>
          <a:bodyPr>
            <a:normAutofit fontScale="85000" lnSpcReduction="20000"/>
          </a:bodyPr>
          <a:lstStyle/>
          <a:p>
            <a:r>
              <a:rPr lang="en-GB" dirty="0"/>
              <a:t>Context models are used to illustrate the </a:t>
            </a:r>
            <a:r>
              <a:rPr lang="en-GB" b="1" dirty="0">
                <a:solidFill>
                  <a:srgbClr val="C00000"/>
                </a:solidFill>
              </a:rPr>
              <a:t>operational context of a system </a:t>
            </a:r>
            <a:r>
              <a:rPr lang="en-GB" dirty="0"/>
              <a:t>- they show what lies outside the system boundaries</a:t>
            </a:r>
          </a:p>
          <a:p>
            <a:r>
              <a:rPr lang="en-GB" dirty="0"/>
              <a:t>Social and organisational concerns may affect the decision on where to position system boundaries</a:t>
            </a:r>
          </a:p>
          <a:p>
            <a:r>
              <a:rPr lang="en-GB" dirty="0"/>
              <a:t>Architectural models show the system and its relationship with other systems</a:t>
            </a:r>
          </a:p>
          <a:p>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8</a:t>
            </a:fld>
            <a:endParaRPr lang="en-US"/>
          </a:p>
        </p:txBody>
      </p:sp>
      <p:pic>
        <p:nvPicPr>
          <p:cNvPr id="7" name="Picture 6" descr="5.1 Mentcare contex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3457" y="4191001"/>
            <a:ext cx="3429000" cy="2160000"/>
          </a:xfrm>
          <a:prstGeom prst="rect">
            <a:avLst/>
          </a:prstGeom>
        </p:spPr>
      </p:pic>
      <p:sp>
        <p:nvSpPr>
          <p:cNvPr id="8" name="TextBox 7"/>
          <p:cNvSpPr txBox="1"/>
          <p:nvPr/>
        </p:nvSpPr>
        <p:spPr>
          <a:xfrm>
            <a:off x="6248400" y="4572000"/>
            <a:ext cx="1905000" cy="646331"/>
          </a:xfrm>
          <a:prstGeom prst="rect">
            <a:avLst/>
          </a:prstGeom>
          <a:noFill/>
        </p:spPr>
        <p:txBody>
          <a:bodyPr wrap="square" rtlCol="0">
            <a:spAutoFit/>
          </a:bodyPr>
          <a:lstStyle/>
          <a:p>
            <a:r>
              <a:rPr lang="en-MY"/>
              <a:t>The context of Mentcare system</a:t>
            </a:r>
          </a:p>
        </p:txBody>
      </p:sp>
    </p:spTree>
    <p:extLst>
      <p:ext uri="{BB962C8B-B14F-4D97-AF65-F5344CB8AC3E}">
        <p14:creationId xmlns:p14="http://schemas.microsoft.com/office/powerpoint/2010/main" val="1102608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UML Diagram Types</a:t>
            </a:r>
            <a:endParaRPr lang="en-US" dirty="0"/>
          </a:p>
        </p:txBody>
      </p:sp>
      <p:sp>
        <p:nvSpPr>
          <p:cNvPr id="3" name="Content Placeholder 2"/>
          <p:cNvSpPr>
            <a:spLocks noGrp="1"/>
          </p:cNvSpPr>
          <p:nvPr>
            <p:ph idx="1"/>
          </p:nvPr>
        </p:nvSpPr>
        <p:spPr/>
        <p:txBody>
          <a:bodyPr>
            <a:normAutofit fontScale="85000" lnSpcReduction="10000"/>
          </a:bodyPr>
          <a:lstStyle/>
          <a:p>
            <a:r>
              <a:rPr lang="en-US" b="1" dirty="0">
                <a:solidFill>
                  <a:srgbClr val="C00000"/>
                </a:solidFill>
              </a:rPr>
              <a:t>Activity diagrams</a:t>
            </a:r>
            <a:r>
              <a:rPr lang="en-US" b="1" dirty="0"/>
              <a:t> </a:t>
            </a:r>
            <a:r>
              <a:rPr lang="en-US" dirty="0"/>
              <a:t>show the activities involved in a process or in data processing</a:t>
            </a:r>
            <a:endParaRPr lang="en-GB" dirty="0"/>
          </a:p>
          <a:p>
            <a:r>
              <a:rPr lang="en-US" b="1" dirty="0">
                <a:solidFill>
                  <a:srgbClr val="C00000"/>
                </a:solidFill>
              </a:rPr>
              <a:t>Use case diagrams</a:t>
            </a:r>
            <a:r>
              <a:rPr lang="en-US" b="1" dirty="0"/>
              <a:t> </a:t>
            </a:r>
            <a:r>
              <a:rPr lang="en-US" dirty="0"/>
              <a:t>show the interactions between a system and its environment</a:t>
            </a:r>
            <a:endParaRPr lang="en-GB" dirty="0"/>
          </a:p>
          <a:p>
            <a:r>
              <a:rPr lang="en-US" b="1" dirty="0">
                <a:solidFill>
                  <a:srgbClr val="C00000"/>
                </a:solidFill>
              </a:rPr>
              <a:t>Sequence diagrams</a:t>
            </a:r>
            <a:r>
              <a:rPr lang="en-US" b="1" dirty="0"/>
              <a:t> </a:t>
            </a:r>
            <a:r>
              <a:rPr lang="en-US" dirty="0"/>
              <a:t>show interactions between actors and the system and between system components</a:t>
            </a:r>
            <a:endParaRPr lang="en-GB" dirty="0"/>
          </a:p>
          <a:p>
            <a:r>
              <a:rPr lang="en-US" b="1" dirty="0">
                <a:solidFill>
                  <a:srgbClr val="C00000"/>
                </a:solidFill>
              </a:rPr>
              <a:t>Class diagrams</a:t>
            </a:r>
            <a:r>
              <a:rPr lang="en-US" b="1" dirty="0"/>
              <a:t> </a:t>
            </a:r>
            <a:r>
              <a:rPr lang="en-US" dirty="0"/>
              <a:t>show the object classes in the system and the associations between these classes</a:t>
            </a:r>
            <a:endParaRPr lang="en-GB" dirty="0"/>
          </a:p>
          <a:p>
            <a:r>
              <a:rPr lang="en-US" b="1" dirty="0">
                <a:solidFill>
                  <a:srgbClr val="C00000"/>
                </a:solidFill>
              </a:rPr>
              <a:t>State diagrams </a:t>
            </a:r>
            <a:r>
              <a:rPr lang="en-US" dirty="0"/>
              <a:t>show how the system reacts to internal and external events</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Software Engineering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US"/>
              <a:t>2020</a:t>
            </a:r>
          </a:p>
        </p:txBody>
      </p:sp>
    </p:spTree>
    <p:extLst>
      <p:ext uri="{BB962C8B-B14F-4D97-AF65-F5344CB8AC3E}">
        <p14:creationId xmlns:p14="http://schemas.microsoft.com/office/powerpoint/2010/main" val="2985442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a:t>
            </a:r>
            <a:r>
              <a:rPr lang="en-US"/>
              <a:t>of Graphical </a:t>
            </a:r>
            <a:r>
              <a:rPr lang="en-US" dirty="0"/>
              <a:t>M</a:t>
            </a:r>
            <a:r>
              <a:rPr lang="en-US"/>
              <a:t>odels</a:t>
            </a:r>
            <a:endParaRPr lang="en-US" dirty="0"/>
          </a:p>
        </p:txBody>
      </p:sp>
      <p:sp>
        <p:nvSpPr>
          <p:cNvPr id="3" name="Content Placeholder 2"/>
          <p:cNvSpPr>
            <a:spLocks noGrp="1"/>
          </p:cNvSpPr>
          <p:nvPr>
            <p:ph idx="1"/>
          </p:nvPr>
        </p:nvSpPr>
        <p:spPr/>
        <p:txBody>
          <a:bodyPr>
            <a:normAutofit fontScale="92500" lnSpcReduction="10000"/>
          </a:bodyPr>
          <a:lstStyle/>
          <a:p>
            <a:r>
              <a:rPr lang="en-US" dirty="0"/>
              <a:t>As a means of </a:t>
            </a:r>
            <a:r>
              <a:rPr lang="en-US" dirty="0">
                <a:solidFill>
                  <a:srgbClr val="C00000"/>
                </a:solidFill>
              </a:rPr>
              <a:t>facilitating discussion </a:t>
            </a:r>
            <a:r>
              <a:rPr lang="en-US" dirty="0"/>
              <a:t>about an existing or proposed system</a:t>
            </a:r>
          </a:p>
          <a:p>
            <a:pPr lvl="1"/>
            <a:r>
              <a:rPr lang="en-US" dirty="0"/>
              <a:t>Incomplete and incorrect models are fine at the early stage as their role is to support discussion</a:t>
            </a:r>
            <a:endParaRPr lang="en-GB" dirty="0"/>
          </a:p>
          <a:p>
            <a:r>
              <a:rPr lang="en-US" dirty="0"/>
              <a:t>As a way of </a:t>
            </a:r>
            <a:r>
              <a:rPr lang="en-US" dirty="0">
                <a:solidFill>
                  <a:srgbClr val="C00000"/>
                </a:solidFill>
              </a:rPr>
              <a:t>documenting</a:t>
            </a:r>
            <a:r>
              <a:rPr lang="en-US" dirty="0"/>
              <a:t> an existing system</a:t>
            </a:r>
          </a:p>
          <a:p>
            <a:pPr lvl="1"/>
            <a:r>
              <a:rPr lang="en-US" dirty="0"/>
              <a:t>Models should be an accurate representation of the system but need not be complete</a:t>
            </a:r>
            <a:endParaRPr lang="en-GB" dirty="0"/>
          </a:p>
          <a:p>
            <a:r>
              <a:rPr lang="en-US" dirty="0"/>
              <a:t>As a </a:t>
            </a:r>
            <a:r>
              <a:rPr lang="en-US" dirty="0">
                <a:solidFill>
                  <a:srgbClr val="C00000"/>
                </a:solidFill>
              </a:rPr>
              <a:t>detailed system description </a:t>
            </a:r>
            <a:r>
              <a:rPr lang="en-US" dirty="0"/>
              <a:t>that can be used to generate a system implementation</a:t>
            </a:r>
          </a:p>
          <a:p>
            <a:pPr lvl="1"/>
            <a:r>
              <a:rPr lang="en-US" dirty="0"/>
              <a:t>Models have to be both correct and complete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Software Engineering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US"/>
              <a:t>2020</a:t>
            </a:r>
          </a:p>
        </p:txBody>
      </p:sp>
    </p:spTree>
    <p:extLst>
      <p:ext uri="{BB962C8B-B14F-4D97-AF65-F5344CB8AC3E}">
        <p14:creationId xmlns:p14="http://schemas.microsoft.com/office/powerpoint/2010/main" val="4107246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143000"/>
          </a:xfrm>
        </p:spPr>
        <p:txBody>
          <a:bodyPr>
            <a:noAutofit/>
          </a:bodyPr>
          <a:lstStyle/>
          <a:p>
            <a:r>
              <a:rPr lang="en-US" dirty="0"/>
              <a:t>Ways of Writing a System Requirements Specification </a:t>
            </a:r>
            <a:endParaRPr lang="en-MY" dirty="0"/>
          </a:p>
        </p:txBody>
      </p:sp>
      <p:graphicFrame>
        <p:nvGraphicFramePr>
          <p:cNvPr id="9" name="Content Placeholder 8"/>
          <p:cNvGraphicFramePr>
            <a:graphicFrameLocks noGrp="1"/>
          </p:cNvGraphicFramePr>
          <p:nvPr>
            <p:ph idx="1"/>
          </p:nvPr>
        </p:nvGraphicFramePr>
        <p:xfrm>
          <a:off x="457200" y="1600200"/>
          <a:ext cx="8229600" cy="4724399"/>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xmlns="" val="20000"/>
                    </a:ext>
                  </a:extLst>
                </a:gridCol>
                <a:gridCol w="5867400">
                  <a:extLst>
                    <a:ext uri="{9D8B030D-6E8A-4147-A177-3AD203B41FA5}">
                      <a16:colId xmlns:a16="http://schemas.microsoft.com/office/drawing/2014/main" xmlns="" val="20001"/>
                    </a:ext>
                  </a:extLst>
                </a:gridCol>
              </a:tblGrid>
              <a:tr h="393251">
                <a:tc>
                  <a:txBody>
                    <a:bodyPr/>
                    <a:lstStyle/>
                    <a:p>
                      <a:pPr algn="ctr"/>
                      <a:r>
                        <a:rPr lang="en-MY" sz="1400" dirty="0">
                          <a:solidFill>
                            <a:schemeClr val="tx1"/>
                          </a:solidFill>
                          <a:latin typeface="Arial" panose="020B0604020202020204" pitchFamily="34" charset="0"/>
                          <a:cs typeface="Arial" panose="020B0604020202020204" pitchFamily="34" charset="0"/>
                        </a:rPr>
                        <a:t>Notation </a:t>
                      </a:r>
                    </a:p>
                  </a:txBody>
                  <a:tcPr/>
                </a:tc>
                <a:tc>
                  <a:txBody>
                    <a:bodyPr/>
                    <a:lstStyle/>
                    <a:p>
                      <a:pPr algn="ctr"/>
                      <a:r>
                        <a:rPr lang="en-MY" sz="1400" dirty="0">
                          <a:solidFill>
                            <a:schemeClr val="tx1"/>
                          </a:solidFill>
                          <a:latin typeface="Arial" panose="020B0604020202020204" pitchFamily="34" charset="0"/>
                          <a:cs typeface="Arial" panose="020B0604020202020204" pitchFamily="34" charset="0"/>
                        </a:rPr>
                        <a:t>Description </a:t>
                      </a:r>
                    </a:p>
                  </a:txBody>
                  <a:tcPr/>
                </a:tc>
                <a:extLst>
                  <a:ext uri="{0D108BD9-81ED-4DB2-BD59-A6C34878D82A}">
                    <a16:rowId xmlns:a16="http://schemas.microsoft.com/office/drawing/2014/main" xmlns="" val="10000"/>
                  </a:ext>
                </a:extLst>
              </a:tr>
              <a:tr h="549474">
                <a:tc>
                  <a:txBody>
                    <a:bodyPr/>
                    <a:lstStyle/>
                    <a:p>
                      <a:pPr algn="l"/>
                      <a:r>
                        <a:rPr lang="en-MY" sz="1400" dirty="0">
                          <a:latin typeface="Arial" panose="020B0604020202020204" pitchFamily="34" charset="0"/>
                          <a:cs typeface="Arial" panose="020B0604020202020204" pitchFamily="34" charset="0"/>
                        </a:rPr>
                        <a:t>Natural language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The requirements are written using numbered sentences in natural language. Each sentence should express one requirement.</a:t>
                      </a:r>
                      <a:endParaRPr lang="en-MY"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1"/>
                  </a:ext>
                </a:extLst>
              </a:tr>
              <a:tr h="775728">
                <a:tc>
                  <a:txBody>
                    <a:bodyPr/>
                    <a:lstStyle/>
                    <a:p>
                      <a:pPr algn="l"/>
                      <a:r>
                        <a:rPr lang="en-MY" sz="1400" dirty="0">
                          <a:latin typeface="Arial" panose="020B0604020202020204" pitchFamily="34" charset="0"/>
                          <a:cs typeface="Arial" panose="020B0604020202020204" pitchFamily="34" charset="0"/>
                        </a:rPr>
                        <a:t>Structured natural language</a:t>
                      </a:r>
                    </a:p>
                  </a:txBody>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The requirements are written in natural language on a standard form or template. Each field provides information about an aspect of the requirement.</a:t>
                      </a:r>
                    </a:p>
                  </a:txBody>
                  <a:tcPr/>
                </a:tc>
                <a:extLst>
                  <a:ext uri="{0D108BD9-81ED-4DB2-BD59-A6C34878D82A}">
                    <a16:rowId xmlns:a16="http://schemas.microsoft.com/office/drawing/2014/main" xmlns="" val="10002"/>
                  </a:ext>
                </a:extLst>
              </a:tr>
              <a:tr h="1001982">
                <a:tc>
                  <a:txBody>
                    <a:bodyPr/>
                    <a:lstStyle/>
                    <a:p>
                      <a:pPr algn="l"/>
                      <a:r>
                        <a:rPr lang="en-MY" sz="1400" dirty="0">
                          <a:latin typeface="Arial" panose="020B0604020202020204" pitchFamily="34" charset="0"/>
                          <a:cs typeface="Arial" panose="020B0604020202020204" pitchFamily="34" charset="0"/>
                        </a:rPr>
                        <a:t>Design description language</a:t>
                      </a:r>
                    </a:p>
                  </a:txBody>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a:tc>
                <a:extLst>
                  <a:ext uri="{0D108BD9-81ED-4DB2-BD59-A6C34878D82A}">
                    <a16:rowId xmlns:a16="http://schemas.microsoft.com/office/drawing/2014/main" xmlns="" val="10003"/>
                  </a:ext>
                </a:extLst>
              </a:tr>
              <a:tr h="775728">
                <a:tc>
                  <a:txBody>
                    <a:bodyPr/>
                    <a:lstStyle/>
                    <a:p>
                      <a:pPr algn="l"/>
                      <a:r>
                        <a:rPr lang="en-MY" sz="1400" dirty="0">
                          <a:latin typeface="Arial" panose="020B0604020202020204" pitchFamily="34" charset="0"/>
                          <a:cs typeface="Arial" panose="020B0604020202020204" pitchFamily="34" charset="0"/>
                        </a:rPr>
                        <a:t>Graphical notations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Graphical models, supplemented by text annotations, are used to define the functional requirements for the system; UML use case and sequence diagrams are commonly used.</a:t>
                      </a:r>
                      <a:endParaRPr lang="en-MY"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4"/>
                  </a:ext>
                </a:extLst>
              </a:tr>
              <a:tr h="1228236">
                <a:tc>
                  <a:txBody>
                    <a:bodyPr/>
                    <a:lstStyle/>
                    <a:p>
                      <a:pPr algn="l"/>
                      <a:r>
                        <a:rPr lang="en-MY" sz="1400" dirty="0">
                          <a:latin typeface="Arial" panose="020B0604020202020204" pitchFamily="34" charset="0"/>
                          <a:cs typeface="Arial" panose="020B0604020202020204" pitchFamily="34" charset="0"/>
                        </a:rPr>
                        <a:t>Mathematical</a:t>
                      </a:r>
                      <a:r>
                        <a:rPr lang="en-MY" sz="1400" baseline="0" dirty="0">
                          <a:latin typeface="Arial" panose="020B0604020202020204" pitchFamily="34" charset="0"/>
                          <a:cs typeface="Arial" panose="020B0604020202020204" pitchFamily="34" charset="0"/>
                        </a:rPr>
                        <a:t> specifications</a:t>
                      </a:r>
                      <a:endParaRPr lang="en-MY" sz="1400" dirty="0">
                        <a:latin typeface="Arial" panose="020B0604020202020204" pitchFamily="34" charset="0"/>
                        <a:cs typeface="Arial" panose="020B0604020202020204" pitchFamily="34" charset="0"/>
                      </a:endParaRPr>
                    </a:p>
                  </a:txBody>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These notations are based on mathematical concepts such as finite-state machines or sets. Although these unambiguous specifications can reduce the ambiguity in a requirements document, most customers don</a:t>
                      </a:r>
                      <a:r>
                        <a:rPr kumimoji="0" lang="en-GB" altLang="en-US"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a:t>
                      </a: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 understand a formal specification. They cannot check that it represents what they want and are reluctant to accept it as a system contract.</a:t>
                      </a:r>
                    </a:p>
                  </a:txBody>
                  <a:tcPr/>
                </a:tc>
                <a:extLst>
                  <a:ext uri="{0D108BD9-81ED-4DB2-BD59-A6C34878D82A}">
                    <a16:rowId xmlns:a16="http://schemas.microsoft.com/office/drawing/2014/main" xmlns="" val="10005"/>
                  </a:ext>
                </a:extLst>
              </a:tr>
            </a:tbl>
          </a:graphicData>
        </a:graphic>
      </p:graphicFrame>
      <p:sp>
        <p:nvSpPr>
          <p:cNvPr id="7" name="Oval Callout 6"/>
          <p:cNvSpPr/>
          <p:nvPr/>
        </p:nvSpPr>
        <p:spPr>
          <a:xfrm>
            <a:off x="7848600" y="723900"/>
            <a:ext cx="1219200" cy="612648"/>
          </a:xfrm>
          <a:prstGeom prst="wedgeEllipseCallout">
            <a:avLst>
              <a:gd name="adj1" fmla="val -61184"/>
              <a:gd name="adj2" fmla="val 7821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Recall</a:t>
            </a:r>
          </a:p>
        </p:txBody>
      </p:sp>
      <p:sp>
        <p:nvSpPr>
          <p:cNvPr id="3" name="Rectangle 2"/>
          <p:cNvSpPr/>
          <p:nvPr/>
        </p:nvSpPr>
        <p:spPr>
          <a:xfrm>
            <a:off x="320842" y="2514600"/>
            <a:ext cx="8458200" cy="838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9"/>
          <p:cNvSpPr/>
          <p:nvPr/>
        </p:nvSpPr>
        <p:spPr>
          <a:xfrm>
            <a:off x="328864" y="4287252"/>
            <a:ext cx="8458200" cy="838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Footer Placeholder 13"/>
          <p:cNvSpPr>
            <a:spLocks noGrp="1"/>
          </p:cNvSpPr>
          <p:nvPr>
            <p:ph type="ftr" sz="quarter" idx="11"/>
          </p:nvPr>
        </p:nvSpPr>
        <p:spPr/>
        <p:txBody>
          <a:bodyPr/>
          <a:lstStyle/>
          <a:p>
            <a:r>
              <a:rPr lang="en-MY"/>
              <a:t>Software Engineering</a:t>
            </a:r>
            <a:endParaRPr lang="en-US"/>
          </a:p>
        </p:txBody>
      </p:sp>
      <p:sp>
        <p:nvSpPr>
          <p:cNvPr id="15" name="Slide Number Placeholder 14"/>
          <p:cNvSpPr>
            <a:spLocks noGrp="1"/>
          </p:cNvSpPr>
          <p:nvPr>
            <p:ph type="sldNum" sz="quarter" idx="12"/>
          </p:nvPr>
        </p:nvSpPr>
        <p:spPr/>
        <p:txBody>
          <a:bodyPr/>
          <a:lstStyle/>
          <a:p>
            <a:fld id="{0362C787-829C-4B6B-B21B-90D8981190F3}" type="slidenum">
              <a:rPr lang="en-US" smtClean="0"/>
              <a:pPr/>
              <a:t>11</a:t>
            </a:fld>
            <a:endParaRPr lang="en-US"/>
          </a:p>
        </p:txBody>
      </p:sp>
      <p:sp>
        <p:nvSpPr>
          <p:cNvPr id="4" name="Date Placeholder 3"/>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76144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Interaction model</a:t>
            </a:r>
          </a:p>
        </p:txBody>
      </p:sp>
      <p:sp>
        <p:nvSpPr>
          <p:cNvPr id="3" name="Text Placeholder 2"/>
          <p:cNvSpPr>
            <a:spLocks noGrp="1"/>
          </p:cNvSpPr>
          <p:nvPr>
            <p:ph type="body" idx="1"/>
          </p:nvPr>
        </p:nvSpPr>
        <p:spPr/>
        <p:txBody>
          <a:bodyPr/>
          <a:lstStyle/>
          <a:p>
            <a:r>
              <a:rPr lang="en-MY"/>
              <a:t>Use Case Diagram</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12</a:t>
            </a:fld>
            <a:endParaRPr lang="en-US"/>
          </a:p>
        </p:txBody>
      </p:sp>
    </p:spTree>
    <p:extLst>
      <p:ext uri="{BB962C8B-B14F-4D97-AF65-F5344CB8AC3E}">
        <p14:creationId xmlns:p14="http://schemas.microsoft.com/office/powerpoint/2010/main" val="2125309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Interaction Model</a:t>
            </a:r>
          </a:p>
        </p:txBody>
      </p:sp>
      <p:sp>
        <p:nvSpPr>
          <p:cNvPr id="3" name="Content Placeholder 2"/>
          <p:cNvSpPr>
            <a:spLocks noGrp="1"/>
          </p:cNvSpPr>
          <p:nvPr>
            <p:ph idx="1"/>
          </p:nvPr>
        </p:nvSpPr>
        <p:spPr/>
        <p:txBody>
          <a:bodyPr>
            <a:normAutofit fontScale="85000" lnSpcReduction="10000"/>
          </a:bodyPr>
          <a:lstStyle/>
          <a:p>
            <a:r>
              <a:rPr lang="en-US" dirty="0"/>
              <a:t>Modeling </a:t>
            </a:r>
            <a:r>
              <a:rPr lang="en-US" dirty="0">
                <a:solidFill>
                  <a:srgbClr val="C00000"/>
                </a:solidFill>
              </a:rPr>
              <a:t>user interaction</a:t>
            </a:r>
            <a:r>
              <a:rPr lang="en-US" dirty="0"/>
              <a:t> is important as it helps to identify user requirements</a:t>
            </a:r>
          </a:p>
          <a:p>
            <a:r>
              <a:rPr lang="en-US" dirty="0"/>
              <a:t>Modeling </a:t>
            </a:r>
            <a:r>
              <a:rPr lang="en-US" dirty="0">
                <a:solidFill>
                  <a:srgbClr val="C00000"/>
                </a:solidFill>
              </a:rPr>
              <a:t>system-to-system interaction</a:t>
            </a:r>
            <a:r>
              <a:rPr lang="en-US" dirty="0"/>
              <a:t> highlights the communication problems that may arise</a:t>
            </a:r>
          </a:p>
          <a:p>
            <a:r>
              <a:rPr lang="en-US" dirty="0"/>
              <a:t>Modeling </a:t>
            </a:r>
            <a:r>
              <a:rPr lang="en-US" dirty="0">
                <a:solidFill>
                  <a:srgbClr val="C00000"/>
                </a:solidFill>
              </a:rPr>
              <a:t>component interaction</a:t>
            </a:r>
            <a:r>
              <a:rPr lang="en-US" dirty="0"/>
              <a:t> helps us understand if a proposed system structure is likely to deliver the required system performance and dependability</a:t>
            </a:r>
            <a:endParaRPr lang="en-GB" dirty="0"/>
          </a:p>
          <a:p>
            <a:r>
              <a:rPr lang="en-GB" dirty="0">
                <a:solidFill>
                  <a:srgbClr val="C00000"/>
                </a:solidFill>
              </a:rPr>
              <a:t>Use case diagrams </a:t>
            </a:r>
            <a:r>
              <a:rPr lang="en-GB" dirty="0"/>
              <a:t>and </a:t>
            </a:r>
            <a:r>
              <a:rPr lang="en-GB" dirty="0">
                <a:solidFill>
                  <a:srgbClr val="C00000"/>
                </a:solidFill>
              </a:rPr>
              <a:t>sequence diagrams </a:t>
            </a:r>
            <a:r>
              <a:rPr lang="en-GB" dirty="0"/>
              <a:t>may be used for interaction </a:t>
            </a:r>
            <a:r>
              <a:rPr lang="en-GB" dirty="0" err="1"/>
              <a:t>modeling</a:t>
            </a:r>
            <a:endParaRPr lang="en-GB" dirty="0"/>
          </a:p>
          <a:p>
            <a:r>
              <a:rPr lang="en-GB" dirty="0"/>
              <a:t>For the scope of this course, </a:t>
            </a:r>
            <a:r>
              <a:rPr lang="en-GB" dirty="0">
                <a:solidFill>
                  <a:srgbClr val="C00000"/>
                </a:solidFill>
              </a:rPr>
              <a:t>sequence diagrams </a:t>
            </a:r>
            <a:r>
              <a:rPr lang="en-GB" dirty="0"/>
              <a:t>will be discussed later under </a:t>
            </a:r>
            <a:r>
              <a:rPr lang="en-GB" dirty="0">
                <a:solidFill>
                  <a:srgbClr val="C00000"/>
                </a:solidFill>
              </a:rPr>
              <a:t>behavioural model</a:t>
            </a:r>
            <a:endParaRPr lang="en-GB" dirty="0"/>
          </a:p>
          <a:p>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13</a:t>
            </a:fld>
            <a:endParaRPr lang="en-US"/>
          </a:p>
        </p:txBody>
      </p:sp>
    </p:spTree>
    <p:extLst>
      <p:ext uri="{BB962C8B-B14F-4D97-AF65-F5344CB8AC3E}">
        <p14:creationId xmlns:p14="http://schemas.microsoft.com/office/powerpoint/2010/main" val="2850272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Use Case Modeling</a:t>
            </a:r>
          </a:p>
        </p:txBody>
      </p:sp>
      <p:sp>
        <p:nvSpPr>
          <p:cNvPr id="3" name="Content Placeholder 2"/>
          <p:cNvSpPr>
            <a:spLocks noGrp="1"/>
          </p:cNvSpPr>
          <p:nvPr>
            <p:ph idx="1"/>
          </p:nvPr>
        </p:nvSpPr>
        <p:spPr/>
        <p:txBody>
          <a:bodyPr>
            <a:normAutofit fontScale="92500" lnSpcReduction="10000"/>
          </a:bodyPr>
          <a:lstStyle/>
          <a:p>
            <a:r>
              <a:rPr lang="en-US" dirty="0"/>
              <a:t>Use cases were developed originally to support requirements elicitation and now incorporated into the UML</a:t>
            </a:r>
          </a:p>
          <a:p>
            <a:r>
              <a:rPr lang="en-US" dirty="0"/>
              <a:t>Each use case represents a </a:t>
            </a:r>
            <a:r>
              <a:rPr lang="en-US" b="1" dirty="0">
                <a:solidFill>
                  <a:srgbClr val="C00000"/>
                </a:solidFill>
              </a:rPr>
              <a:t>discrete task </a:t>
            </a:r>
            <a:r>
              <a:rPr lang="en-US" dirty="0"/>
              <a:t>that involves external interaction with a system</a:t>
            </a:r>
          </a:p>
          <a:p>
            <a:r>
              <a:rPr lang="en-US" dirty="0"/>
              <a:t>Actors in a use case may be people or other systems</a:t>
            </a:r>
          </a:p>
          <a:p>
            <a:r>
              <a:rPr lang="en-US" dirty="0"/>
              <a:t>Represented </a:t>
            </a:r>
            <a:r>
              <a:rPr lang="en-US" b="1" dirty="0">
                <a:solidFill>
                  <a:srgbClr val="C00000"/>
                </a:solidFill>
              </a:rPr>
              <a:t>diagrammatically</a:t>
            </a:r>
            <a:r>
              <a:rPr lang="en-US" dirty="0"/>
              <a:t> to provide an overview of the use case and in a more detailed </a:t>
            </a:r>
            <a:r>
              <a:rPr lang="en-US" b="1" dirty="0">
                <a:solidFill>
                  <a:srgbClr val="C00000"/>
                </a:solidFill>
              </a:rPr>
              <a:t>textual form</a:t>
            </a:r>
            <a:endParaRPr lang="en-US" dirty="0"/>
          </a:p>
          <a:p>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14</a:t>
            </a:fld>
            <a:endParaRPr lang="en-US"/>
          </a:p>
        </p:txBody>
      </p:sp>
    </p:spTree>
    <p:extLst>
      <p:ext uri="{BB962C8B-B14F-4D97-AF65-F5344CB8AC3E}">
        <p14:creationId xmlns:p14="http://schemas.microsoft.com/office/powerpoint/2010/main" val="519952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Stereotypes in UML</a:t>
            </a:r>
          </a:p>
        </p:txBody>
      </p:sp>
      <p:sp>
        <p:nvSpPr>
          <p:cNvPr id="3" name="Content Placeholder 2"/>
          <p:cNvSpPr>
            <a:spLocks noGrp="1"/>
          </p:cNvSpPr>
          <p:nvPr>
            <p:ph idx="1"/>
          </p:nvPr>
        </p:nvSpPr>
        <p:spPr/>
        <p:txBody>
          <a:bodyPr>
            <a:normAutofit fontScale="92500" lnSpcReduction="20000"/>
          </a:bodyPr>
          <a:lstStyle/>
          <a:p>
            <a:r>
              <a:rPr lang="en-MY" dirty="0"/>
              <a:t>Stereotypes allow us to </a:t>
            </a:r>
            <a:r>
              <a:rPr lang="en-MY" dirty="0">
                <a:solidFill>
                  <a:srgbClr val="C00000"/>
                </a:solidFill>
              </a:rPr>
              <a:t>introduce new </a:t>
            </a:r>
            <a:r>
              <a:rPr lang="en-MY" dirty="0" err="1">
                <a:solidFill>
                  <a:srgbClr val="C00000"/>
                </a:solidFill>
              </a:rPr>
              <a:t>modeling</a:t>
            </a:r>
            <a:r>
              <a:rPr lang="en-MY" dirty="0">
                <a:solidFill>
                  <a:srgbClr val="C00000"/>
                </a:solidFill>
              </a:rPr>
              <a:t> elements</a:t>
            </a:r>
            <a:r>
              <a:rPr lang="en-MY" dirty="0"/>
              <a:t> based on existing elements</a:t>
            </a:r>
          </a:p>
          <a:p>
            <a:r>
              <a:rPr lang="en-MY" dirty="0"/>
              <a:t>Can do this by appending the stereotype name in </a:t>
            </a:r>
            <a:r>
              <a:rPr lang="en-MY" dirty="0">
                <a:solidFill>
                  <a:srgbClr val="C00000"/>
                </a:solidFill>
              </a:rPr>
              <a:t>guillemots («…») </a:t>
            </a:r>
            <a:r>
              <a:rPr lang="en-MY" dirty="0"/>
              <a:t>to the new element</a:t>
            </a:r>
          </a:p>
          <a:p>
            <a:r>
              <a:rPr lang="en-MY" dirty="0"/>
              <a:t>Each model element can have at most one stereotype</a:t>
            </a:r>
          </a:p>
          <a:p>
            <a:r>
              <a:rPr lang="en-MY" dirty="0"/>
              <a:t>Examples: </a:t>
            </a:r>
          </a:p>
          <a:p>
            <a:pPr marL="971550" lvl="1" indent="-514350">
              <a:buFont typeface="+mj-lt"/>
              <a:buAutoNum type="arabicPeriod"/>
            </a:pPr>
            <a:r>
              <a:rPr lang="en-MY" dirty="0"/>
              <a:t>&lt;&lt;include&gt;&gt;, &lt;&lt;extend&gt;&gt; in use case relationship</a:t>
            </a:r>
          </a:p>
          <a:p>
            <a:pPr marL="971550" lvl="1" indent="-514350">
              <a:buFont typeface="+mj-lt"/>
              <a:buAutoNum type="arabicPeriod"/>
            </a:pPr>
            <a:r>
              <a:rPr lang="en-MY" dirty="0"/>
              <a:t>&lt;&lt;entity&gt;&gt;, &lt;&lt;controller&gt;&gt;, &lt;&lt;boundary&gt;&gt; in class diagram as class stereotypes</a:t>
            </a:r>
          </a:p>
          <a:p>
            <a:pPr marL="971550" lvl="1" indent="-514350">
              <a:buFont typeface="+mj-lt"/>
              <a:buAutoNum type="arabicPeriod"/>
            </a:pPr>
            <a:r>
              <a:rPr lang="en-MY" dirty="0"/>
              <a:t>&lt;&lt;package&gt;&gt;, &lt;&lt;subsystem&gt;&gt; in package diagram </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15</a:t>
            </a:fld>
            <a:endParaRPr lang="en-US"/>
          </a:p>
        </p:txBody>
      </p:sp>
    </p:spTree>
    <p:extLst>
      <p:ext uri="{BB962C8B-B14F-4D97-AF65-F5344CB8AC3E}">
        <p14:creationId xmlns:p14="http://schemas.microsoft.com/office/powerpoint/2010/main" val="3764306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Use Case Diagram: Notation</a:t>
            </a:r>
          </a:p>
        </p:txBody>
      </p:sp>
      <p:pic>
        <p:nvPicPr>
          <p:cNvPr id="7" name="Content Placeholder 6"/>
          <p:cNvPicPr>
            <a:picLocks noGrp="1" noChangeAspect="1"/>
          </p:cNvPicPr>
          <p:nvPr>
            <p:ph idx="1"/>
          </p:nvPr>
        </p:nvPicPr>
        <p:blipFill>
          <a:blip r:embed="rId2"/>
          <a:stretch>
            <a:fillRect/>
          </a:stretch>
        </p:blipFill>
        <p:spPr>
          <a:xfrm>
            <a:off x="2064654" y="1899910"/>
            <a:ext cx="6896100" cy="414337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16</a:t>
            </a:fld>
            <a:endParaRPr lang="en-US"/>
          </a:p>
        </p:txBody>
      </p:sp>
      <p:pic>
        <p:nvPicPr>
          <p:cNvPr id="8" name="Picture 7"/>
          <p:cNvPicPr>
            <a:picLocks noChangeAspect="1"/>
          </p:cNvPicPr>
          <p:nvPr/>
        </p:nvPicPr>
        <p:blipFill>
          <a:blip r:embed="rId3"/>
          <a:stretch>
            <a:fillRect/>
          </a:stretch>
        </p:blipFill>
        <p:spPr>
          <a:xfrm>
            <a:off x="235856" y="2496584"/>
            <a:ext cx="1905000" cy="1409700"/>
          </a:xfrm>
          <a:prstGeom prst="rect">
            <a:avLst/>
          </a:prstGeom>
        </p:spPr>
      </p:pic>
      <p:pic>
        <p:nvPicPr>
          <p:cNvPr id="9" name="Picture 8"/>
          <p:cNvPicPr>
            <a:picLocks noChangeAspect="1"/>
          </p:cNvPicPr>
          <p:nvPr/>
        </p:nvPicPr>
        <p:blipFill>
          <a:blip r:embed="rId4"/>
          <a:stretch>
            <a:fillRect/>
          </a:stretch>
        </p:blipFill>
        <p:spPr>
          <a:xfrm>
            <a:off x="257627" y="3961074"/>
            <a:ext cx="1838325" cy="1638300"/>
          </a:xfrm>
          <a:prstGeom prst="rect">
            <a:avLst/>
          </a:prstGeom>
        </p:spPr>
      </p:pic>
    </p:spTree>
    <p:extLst>
      <p:ext uri="{BB962C8B-B14F-4D97-AF65-F5344CB8AC3E}">
        <p14:creationId xmlns:p14="http://schemas.microsoft.com/office/powerpoint/2010/main" val="1345067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Use Case Diagram for </a:t>
            </a:r>
            <a:r>
              <a:rPr lang="en-US" dirty="0" err="1"/>
              <a:t>Mentcare</a:t>
            </a:r>
            <a:r>
              <a:rPr lang="en-US" dirty="0"/>
              <a:t> System</a:t>
            </a: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17</a:t>
            </a:fld>
            <a:endParaRPr lang="en-US"/>
          </a:p>
        </p:txBody>
      </p:sp>
      <p:pic>
        <p:nvPicPr>
          <p:cNvPr id="7" name="Content Placeholder 6" descr="5.5 RecepUseCases.eps"/>
          <p:cNvPicPr>
            <a:picLocks noGrp="1" noChangeAspect="1"/>
          </p:cNvPicPr>
          <p:nvPr>
            <p:ph idx="1"/>
          </p:nvPr>
        </p:nvPicPr>
        <p:blipFill>
          <a:blip r:embed="rId2"/>
          <a:stretch>
            <a:fillRect/>
          </a:stretch>
        </p:blipFill>
        <p:spPr>
          <a:xfrm>
            <a:off x="2546604" y="1927859"/>
            <a:ext cx="3854195" cy="4161301"/>
          </a:xfrm>
          <a:prstGeom prst="rect">
            <a:avLst/>
          </a:prstGeom>
        </p:spPr>
      </p:pic>
      <p:sp>
        <p:nvSpPr>
          <p:cNvPr id="8" name="TextBox 7"/>
          <p:cNvSpPr txBox="1"/>
          <p:nvPr/>
        </p:nvSpPr>
        <p:spPr>
          <a:xfrm>
            <a:off x="838200" y="6033543"/>
            <a:ext cx="8077200" cy="369332"/>
          </a:xfrm>
          <a:prstGeom prst="rect">
            <a:avLst/>
          </a:prstGeom>
          <a:noFill/>
        </p:spPr>
        <p:txBody>
          <a:bodyPr wrap="square" rtlCol="0">
            <a:spAutoFit/>
          </a:bodyPr>
          <a:lstStyle/>
          <a:p>
            <a:r>
              <a:rPr lang="en-US"/>
              <a:t>Note: Use cases in the Mentcare system involving the role ‘Medical Receptionist’</a:t>
            </a:r>
            <a:endParaRPr lang="en-MY"/>
          </a:p>
        </p:txBody>
      </p:sp>
      <p:grpSp>
        <p:nvGrpSpPr>
          <p:cNvPr id="10" name="Group 9">
            <a:extLst>
              <a:ext uri="{FF2B5EF4-FFF2-40B4-BE49-F238E27FC236}">
                <a16:creationId xmlns:a16="http://schemas.microsoft.com/office/drawing/2014/main" xmlns="" id="{266CBFFF-8743-4FE8-801F-3D89660BCE24}"/>
              </a:ext>
            </a:extLst>
          </p:cNvPr>
          <p:cNvGrpSpPr/>
          <p:nvPr/>
        </p:nvGrpSpPr>
        <p:grpSpPr>
          <a:xfrm>
            <a:off x="3657600" y="1499513"/>
            <a:ext cx="2895600" cy="4461454"/>
            <a:chOff x="3657600" y="1499513"/>
            <a:chExt cx="2895600" cy="4461454"/>
          </a:xfrm>
        </p:grpSpPr>
        <p:sp>
          <p:nvSpPr>
            <p:cNvPr id="3" name="Rectangle 2">
              <a:extLst>
                <a:ext uri="{FF2B5EF4-FFF2-40B4-BE49-F238E27FC236}">
                  <a16:creationId xmlns:a16="http://schemas.microsoft.com/office/drawing/2014/main" xmlns="" id="{7B5C3D3C-7621-4F96-B383-A8C9B5040CE9}"/>
                </a:ext>
              </a:extLst>
            </p:cNvPr>
            <p:cNvSpPr/>
            <p:nvPr/>
          </p:nvSpPr>
          <p:spPr>
            <a:xfrm>
              <a:off x="3657600" y="1509410"/>
              <a:ext cx="2895600" cy="44515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xmlns="" id="{A75AD4DB-042A-4FAE-B61B-3C15DADF41D2}"/>
                </a:ext>
              </a:extLst>
            </p:cNvPr>
            <p:cNvSpPr txBox="1"/>
            <p:nvPr/>
          </p:nvSpPr>
          <p:spPr>
            <a:xfrm>
              <a:off x="4200665" y="1499513"/>
              <a:ext cx="1809470" cy="369332"/>
            </a:xfrm>
            <a:prstGeom prst="rect">
              <a:avLst/>
            </a:prstGeom>
            <a:noFill/>
          </p:spPr>
          <p:txBody>
            <a:bodyPr wrap="none" rtlCol="0">
              <a:spAutoFit/>
            </a:bodyPr>
            <a:lstStyle/>
            <a:p>
              <a:r>
                <a:rPr lang="en-MY" dirty="0" err="1"/>
                <a:t>Mentcare</a:t>
              </a:r>
              <a:r>
                <a:rPr lang="en-MY" dirty="0"/>
                <a:t> System</a:t>
              </a:r>
              <a:endParaRPr lang="en-GB" dirty="0"/>
            </a:p>
          </p:txBody>
        </p:sp>
      </p:grpSp>
    </p:spTree>
    <p:extLst>
      <p:ext uri="{BB962C8B-B14F-4D97-AF65-F5344CB8AC3E}">
        <p14:creationId xmlns:p14="http://schemas.microsoft.com/office/powerpoint/2010/main" val="949802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Use Case Description</a:t>
            </a:r>
          </a:p>
        </p:txBody>
      </p:sp>
      <p:pic>
        <p:nvPicPr>
          <p:cNvPr id="7" name="Content Placeholder 6"/>
          <p:cNvPicPr>
            <a:picLocks noGrp="1" noChangeAspect="1"/>
          </p:cNvPicPr>
          <p:nvPr>
            <p:ph idx="1"/>
          </p:nvPr>
        </p:nvPicPr>
        <p:blipFill>
          <a:blip r:embed="rId2"/>
          <a:stretch>
            <a:fillRect/>
          </a:stretch>
        </p:blipFill>
        <p:spPr>
          <a:xfrm>
            <a:off x="2590800" y="1684711"/>
            <a:ext cx="6477000" cy="4419600"/>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18</a:t>
            </a:fld>
            <a:endParaRPr lang="en-US"/>
          </a:p>
        </p:txBody>
      </p:sp>
      <p:pic>
        <p:nvPicPr>
          <p:cNvPr id="8" name="Picture 7"/>
          <p:cNvPicPr>
            <a:picLocks noChangeAspect="1"/>
          </p:cNvPicPr>
          <p:nvPr/>
        </p:nvPicPr>
        <p:blipFill>
          <a:blip r:embed="rId3"/>
          <a:stretch>
            <a:fillRect/>
          </a:stretch>
        </p:blipFill>
        <p:spPr>
          <a:xfrm>
            <a:off x="271008" y="1790826"/>
            <a:ext cx="1943100" cy="2457450"/>
          </a:xfrm>
          <a:prstGeom prst="rect">
            <a:avLst/>
          </a:prstGeom>
        </p:spPr>
      </p:pic>
      <p:pic>
        <p:nvPicPr>
          <p:cNvPr id="9" name="Picture 8"/>
          <p:cNvPicPr>
            <a:picLocks noChangeAspect="1"/>
          </p:cNvPicPr>
          <p:nvPr/>
        </p:nvPicPr>
        <p:blipFill>
          <a:blip r:embed="rId4"/>
          <a:stretch>
            <a:fillRect/>
          </a:stretch>
        </p:blipFill>
        <p:spPr>
          <a:xfrm>
            <a:off x="342446" y="4572000"/>
            <a:ext cx="1800225" cy="1038225"/>
          </a:xfrm>
          <a:prstGeom prst="rect">
            <a:avLst/>
          </a:prstGeom>
        </p:spPr>
      </p:pic>
    </p:spTree>
    <p:extLst>
      <p:ext uri="{BB962C8B-B14F-4D97-AF65-F5344CB8AC3E}">
        <p14:creationId xmlns:p14="http://schemas.microsoft.com/office/powerpoint/2010/main" val="704943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Branching within a Flow and </a:t>
            </a:r>
            <a:br>
              <a:rPr lang="en-MY"/>
            </a:br>
            <a:r>
              <a:rPr lang="en-MY"/>
              <a:t>Alternative Flow</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19</a:t>
            </a:fld>
            <a:endParaRPr lang="en-US"/>
          </a:p>
        </p:txBody>
      </p:sp>
      <p:pic>
        <p:nvPicPr>
          <p:cNvPr id="8" name="Picture 7"/>
          <p:cNvPicPr>
            <a:picLocks noChangeAspect="1"/>
          </p:cNvPicPr>
          <p:nvPr/>
        </p:nvPicPr>
        <p:blipFill>
          <a:blip r:embed="rId2"/>
          <a:stretch>
            <a:fillRect/>
          </a:stretch>
        </p:blipFill>
        <p:spPr>
          <a:xfrm>
            <a:off x="551541" y="1660663"/>
            <a:ext cx="4538517" cy="4405031"/>
          </a:xfrm>
          <a:prstGeom prst="rect">
            <a:avLst/>
          </a:prstGeom>
        </p:spPr>
      </p:pic>
      <p:pic>
        <p:nvPicPr>
          <p:cNvPr id="10" name="Content Placeholder 9"/>
          <p:cNvPicPr>
            <a:picLocks noGrp="1" noChangeAspect="1"/>
          </p:cNvPicPr>
          <p:nvPr>
            <p:ph idx="1"/>
          </p:nvPr>
        </p:nvPicPr>
        <p:blipFill>
          <a:blip r:embed="rId3"/>
          <a:stretch>
            <a:fillRect/>
          </a:stretch>
        </p:blipFill>
        <p:spPr>
          <a:xfrm>
            <a:off x="5439228" y="1660663"/>
            <a:ext cx="2958500" cy="4525963"/>
          </a:xfrm>
          <a:prstGeom prst="rect">
            <a:avLst/>
          </a:prstGeom>
        </p:spPr>
      </p:pic>
    </p:spTree>
    <p:extLst>
      <p:ext uri="{BB962C8B-B14F-4D97-AF65-F5344CB8AC3E}">
        <p14:creationId xmlns:p14="http://schemas.microsoft.com/office/powerpoint/2010/main" val="3097011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Repitition within a Flow: For/While</a:t>
            </a:r>
          </a:p>
        </p:txBody>
      </p:sp>
      <p:pic>
        <p:nvPicPr>
          <p:cNvPr id="7" name="Content Placeholder 6"/>
          <p:cNvPicPr>
            <a:picLocks noGrp="1" noChangeAspect="1"/>
          </p:cNvPicPr>
          <p:nvPr>
            <p:ph idx="1"/>
          </p:nvPr>
        </p:nvPicPr>
        <p:blipFill>
          <a:blip r:embed="rId2"/>
          <a:stretch>
            <a:fillRect/>
          </a:stretch>
        </p:blipFill>
        <p:spPr>
          <a:xfrm>
            <a:off x="205164" y="1676400"/>
            <a:ext cx="4376366" cy="423960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20</a:t>
            </a:fld>
            <a:endParaRPr lang="en-US"/>
          </a:p>
        </p:txBody>
      </p:sp>
      <p:pic>
        <p:nvPicPr>
          <p:cNvPr id="8" name="Picture 7"/>
          <p:cNvPicPr>
            <a:picLocks noChangeAspect="1"/>
          </p:cNvPicPr>
          <p:nvPr/>
        </p:nvPicPr>
        <p:blipFill>
          <a:blip r:embed="rId3"/>
          <a:stretch>
            <a:fillRect/>
          </a:stretch>
        </p:blipFill>
        <p:spPr>
          <a:xfrm>
            <a:off x="4724400" y="1676400"/>
            <a:ext cx="4191376" cy="3672855"/>
          </a:xfrm>
          <a:prstGeom prst="rect">
            <a:avLst/>
          </a:prstGeom>
        </p:spPr>
      </p:pic>
    </p:spTree>
    <p:extLst>
      <p:ext uri="{BB962C8B-B14F-4D97-AF65-F5344CB8AC3E}">
        <p14:creationId xmlns:p14="http://schemas.microsoft.com/office/powerpoint/2010/main" val="3371854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&lt;&lt;include&gt;&gt; Relationship</a:t>
            </a:r>
          </a:p>
        </p:txBody>
      </p:sp>
      <p:pic>
        <p:nvPicPr>
          <p:cNvPr id="7" name="Content Placeholder 6"/>
          <p:cNvPicPr>
            <a:picLocks noGrp="1" noChangeAspect="1"/>
          </p:cNvPicPr>
          <p:nvPr>
            <p:ph idx="1"/>
          </p:nvPr>
        </p:nvPicPr>
        <p:blipFill>
          <a:blip r:embed="rId2"/>
          <a:stretch>
            <a:fillRect/>
          </a:stretch>
        </p:blipFill>
        <p:spPr>
          <a:xfrm>
            <a:off x="2971800" y="1539866"/>
            <a:ext cx="5140761" cy="2179634"/>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21</a:t>
            </a:fld>
            <a:endParaRPr lang="en-US"/>
          </a:p>
        </p:txBody>
      </p:sp>
      <p:pic>
        <p:nvPicPr>
          <p:cNvPr id="8" name="Picture 7"/>
          <p:cNvPicPr>
            <a:picLocks noChangeAspect="1"/>
          </p:cNvPicPr>
          <p:nvPr/>
        </p:nvPicPr>
        <p:blipFill>
          <a:blip r:embed="rId3"/>
          <a:stretch>
            <a:fillRect/>
          </a:stretch>
        </p:blipFill>
        <p:spPr>
          <a:xfrm>
            <a:off x="838200" y="1672288"/>
            <a:ext cx="1962150" cy="1857375"/>
          </a:xfrm>
          <a:prstGeom prst="rect">
            <a:avLst/>
          </a:prstGeom>
        </p:spPr>
      </p:pic>
      <p:pic>
        <p:nvPicPr>
          <p:cNvPr id="9" name="Picture 8"/>
          <p:cNvPicPr>
            <a:picLocks noChangeAspect="1"/>
          </p:cNvPicPr>
          <p:nvPr/>
        </p:nvPicPr>
        <p:blipFill>
          <a:blip r:embed="rId4"/>
          <a:stretch>
            <a:fillRect/>
          </a:stretch>
        </p:blipFill>
        <p:spPr>
          <a:xfrm>
            <a:off x="0" y="3779556"/>
            <a:ext cx="9144000" cy="2615259"/>
          </a:xfrm>
          <a:prstGeom prst="rect">
            <a:avLst/>
          </a:prstGeom>
        </p:spPr>
      </p:pic>
    </p:spTree>
    <p:extLst>
      <p:ext uri="{BB962C8B-B14F-4D97-AF65-F5344CB8AC3E}">
        <p14:creationId xmlns:p14="http://schemas.microsoft.com/office/powerpoint/2010/main" val="781476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&lt;&lt;extend&gt;&gt; Relationship</a:t>
            </a:r>
          </a:p>
        </p:txBody>
      </p:sp>
      <p:pic>
        <p:nvPicPr>
          <p:cNvPr id="7" name="Content Placeholder 6"/>
          <p:cNvPicPr>
            <a:picLocks noGrp="1" noChangeAspect="1"/>
          </p:cNvPicPr>
          <p:nvPr>
            <p:ph idx="1"/>
          </p:nvPr>
        </p:nvPicPr>
        <p:blipFill>
          <a:blip r:embed="rId2"/>
          <a:stretch>
            <a:fillRect/>
          </a:stretch>
        </p:blipFill>
        <p:spPr>
          <a:xfrm>
            <a:off x="4542972" y="1469572"/>
            <a:ext cx="4572000" cy="2180683"/>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22</a:t>
            </a:fld>
            <a:endParaRPr lang="en-US"/>
          </a:p>
        </p:txBody>
      </p:sp>
      <p:pic>
        <p:nvPicPr>
          <p:cNvPr id="8" name="Picture 7"/>
          <p:cNvPicPr>
            <a:picLocks noChangeAspect="1"/>
          </p:cNvPicPr>
          <p:nvPr/>
        </p:nvPicPr>
        <p:blipFill>
          <a:blip r:embed="rId3"/>
          <a:stretch>
            <a:fillRect/>
          </a:stretch>
        </p:blipFill>
        <p:spPr>
          <a:xfrm>
            <a:off x="1981200" y="1594075"/>
            <a:ext cx="1876425" cy="1314450"/>
          </a:xfrm>
          <a:prstGeom prst="rect">
            <a:avLst/>
          </a:prstGeom>
        </p:spPr>
      </p:pic>
      <p:pic>
        <p:nvPicPr>
          <p:cNvPr id="3" name="Picture 2">
            <a:extLst>
              <a:ext uri="{FF2B5EF4-FFF2-40B4-BE49-F238E27FC236}">
                <a16:creationId xmlns:a16="http://schemas.microsoft.com/office/drawing/2014/main" xmlns="" id="{6568E2AC-B1D7-45E2-B721-155E605DBB69}"/>
              </a:ext>
            </a:extLst>
          </p:cNvPr>
          <p:cNvPicPr>
            <a:picLocks noChangeAspect="1"/>
          </p:cNvPicPr>
          <p:nvPr/>
        </p:nvPicPr>
        <p:blipFill>
          <a:blip r:embed="rId4"/>
          <a:stretch>
            <a:fillRect/>
          </a:stretch>
        </p:blipFill>
        <p:spPr>
          <a:xfrm>
            <a:off x="445770" y="3092582"/>
            <a:ext cx="3576584" cy="3185699"/>
          </a:xfrm>
          <a:prstGeom prst="rect">
            <a:avLst/>
          </a:prstGeom>
        </p:spPr>
      </p:pic>
    </p:spTree>
    <p:extLst>
      <p:ext uri="{BB962C8B-B14F-4D97-AF65-F5344CB8AC3E}">
        <p14:creationId xmlns:p14="http://schemas.microsoft.com/office/powerpoint/2010/main" val="2593273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Use Case Diagram for </a:t>
            </a:r>
            <a:br>
              <a:rPr lang="en-MY"/>
            </a:br>
            <a:r>
              <a:rPr lang="en-MY"/>
              <a:t>e-Commerce System</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23</a:t>
            </a:fld>
            <a:endParaRPr lang="en-US"/>
          </a:p>
        </p:txBody>
      </p:sp>
      <p:pic>
        <p:nvPicPr>
          <p:cNvPr id="13" name="Content Placeholder 12">
            <a:extLst>
              <a:ext uri="{FF2B5EF4-FFF2-40B4-BE49-F238E27FC236}">
                <a16:creationId xmlns:a16="http://schemas.microsoft.com/office/drawing/2014/main" xmlns="" id="{E227AC87-EF93-43D8-8945-3E10B3875666}"/>
              </a:ext>
            </a:extLst>
          </p:cNvPr>
          <p:cNvPicPr>
            <a:picLocks noGrp="1" noChangeAspect="1"/>
          </p:cNvPicPr>
          <p:nvPr>
            <p:ph idx="1"/>
          </p:nvPr>
        </p:nvPicPr>
        <p:blipFill>
          <a:blip r:embed="rId2"/>
          <a:stretch>
            <a:fillRect/>
          </a:stretch>
        </p:blipFill>
        <p:spPr>
          <a:xfrm>
            <a:off x="1972744" y="1520190"/>
            <a:ext cx="5133473" cy="4876800"/>
          </a:xfrm>
          <a:prstGeom prst="rect">
            <a:avLst/>
          </a:prstGeom>
        </p:spPr>
      </p:pic>
    </p:spTree>
    <p:extLst>
      <p:ext uri="{BB962C8B-B14F-4D97-AF65-F5344CB8AC3E}">
        <p14:creationId xmlns:p14="http://schemas.microsoft.com/office/powerpoint/2010/main" val="1730400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Use Case Description for GoToCheckout</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24</a:t>
            </a:fld>
            <a:endParaRPr lang="en-US"/>
          </a:p>
        </p:txBody>
      </p:sp>
      <p:pic>
        <p:nvPicPr>
          <p:cNvPr id="8" name="Picture 7"/>
          <p:cNvPicPr>
            <a:picLocks noChangeAspect="1"/>
          </p:cNvPicPr>
          <p:nvPr/>
        </p:nvPicPr>
        <p:blipFill>
          <a:blip r:embed="rId2"/>
          <a:stretch>
            <a:fillRect/>
          </a:stretch>
        </p:blipFill>
        <p:spPr>
          <a:xfrm>
            <a:off x="4829718" y="1719943"/>
            <a:ext cx="4231770" cy="3918857"/>
          </a:xfrm>
          <a:prstGeom prst="rect">
            <a:avLst/>
          </a:prstGeom>
        </p:spPr>
      </p:pic>
      <p:pic>
        <p:nvPicPr>
          <p:cNvPr id="11" name="Content Placeholder 10">
            <a:extLst>
              <a:ext uri="{FF2B5EF4-FFF2-40B4-BE49-F238E27FC236}">
                <a16:creationId xmlns:a16="http://schemas.microsoft.com/office/drawing/2014/main" xmlns="" id="{A6507D30-AD75-40C0-82BA-200E04707B91}"/>
              </a:ext>
            </a:extLst>
          </p:cNvPr>
          <p:cNvPicPr>
            <a:picLocks noGrp="1" noChangeAspect="1"/>
          </p:cNvPicPr>
          <p:nvPr>
            <p:ph idx="1"/>
          </p:nvPr>
        </p:nvPicPr>
        <p:blipFill>
          <a:blip r:embed="rId3"/>
          <a:stretch>
            <a:fillRect/>
          </a:stretch>
        </p:blipFill>
        <p:spPr>
          <a:xfrm>
            <a:off x="0" y="2141083"/>
            <a:ext cx="4714875" cy="3076575"/>
          </a:xfrm>
          <a:prstGeom prst="rect">
            <a:avLst/>
          </a:prstGeom>
        </p:spPr>
      </p:pic>
      <p:sp>
        <p:nvSpPr>
          <p:cNvPr id="7" name="TextBox 6">
            <a:extLst>
              <a:ext uri="{FF2B5EF4-FFF2-40B4-BE49-F238E27FC236}">
                <a16:creationId xmlns:a16="http://schemas.microsoft.com/office/drawing/2014/main" xmlns="" id="{FFB4070B-AEB8-443D-B7AF-E385E9284CAB}"/>
              </a:ext>
            </a:extLst>
          </p:cNvPr>
          <p:cNvSpPr txBox="1"/>
          <p:nvPr/>
        </p:nvSpPr>
        <p:spPr>
          <a:xfrm>
            <a:off x="457200" y="5716336"/>
            <a:ext cx="8518236" cy="646331"/>
          </a:xfrm>
          <a:prstGeom prst="rect">
            <a:avLst/>
          </a:prstGeom>
          <a:noFill/>
        </p:spPr>
        <p:txBody>
          <a:bodyPr wrap="square" rtlCol="0">
            <a:spAutoFit/>
          </a:bodyPr>
          <a:lstStyle/>
          <a:p>
            <a:r>
              <a:rPr lang="en-MY" dirty="0">
                <a:solidFill>
                  <a:srgbClr val="FF0000"/>
                </a:solidFill>
              </a:rPr>
              <a:t>Note: Extension points for &lt;&lt;extend&gt;&gt; relationship can be stated before preconditions in the use case description and in the flow of events where the extension occurs</a:t>
            </a:r>
            <a:endParaRPr lang="en-GB" dirty="0">
              <a:solidFill>
                <a:srgbClr val="FF0000"/>
              </a:solidFill>
            </a:endParaRPr>
          </a:p>
        </p:txBody>
      </p:sp>
      <p:cxnSp>
        <p:nvCxnSpPr>
          <p:cNvPr id="10" name="Straight Arrow Connector 9">
            <a:extLst>
              <a:ext uri="{FF2B5EF4-FFF2-40B4-BE49-F238E27FC236}">
                <a16:creationId xmlns:a16="http://schemas.microsoft.com/office/drawing/2014/main" xmlns="" id="{22DFEC40-4DE9-4279-9247-C8F6C0A1D295}"/>
              </a:ext>
            </a:extLst>
          </p:cNvPr>
          <p:cNvCxnSpPr>
            <a:cxnSpLocks/>
          </p:cNvCxnSpPr>
          <p:nvPr/>
        </p:nvCxnSpPr>
        <p:spPr>
          <a:xfrm flipV="1">
            <a:off x="4495800" y="3200400"/>
            <a:ext cx="333918" cy="24384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xmlns="" id="{35F26CB8-E686-41D8-A4D7-23135FE3D434}"/>
              </a:ext>
            </a:extLst>
          </p:cNvPr>
          <p:cNvCxnSpPr/>
          <p:nvPr/>
        </p:nvCxnSpPr>
        <p:spPr>
          <a:xfrm flipV="1">
            <a:off x="4495800" y="5217658"/>
            <a:ext cx="762000" cy="42114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572512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MY" sz="3600"/>
              <a:t>Use Case Description for AcceptPaymentByCard and DisplayBasket</a:t>
            </a:r>
          </a:p>
        </p:txBody>
      </p:sp>
      <p:pic>
        <p:nvPicPr>
          <p:cNvPr id="7" name="Content Placeholder 6"/>
          <p:cNvPicPr>
            <a:picLocks noGrp="1" noChangeAspect="1"/>
          </p:cNvPicPr>
          <p:nvPr>
            <p:ph idx="1"/>
          </p:nvPr>
        </p:nvPicPr>
        <p:blipFill>
          <a:blip r:embed="rId2"/>
          <a:stretch>
            <a:fillRect/>
          </a:stretch>
        </p:blipFill>
        <p:spPr>
          <a:xfrm>
            <a:off x="148327" y="1553201"/>
            <a:ext cx="4422767" cy="3124200"/>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25</a:t>
            </a:fld>
            <a:endParaRPr lang="en-US"/>
          </a:p>
        </p:txBody>
      </p:sp>
      <p:pic>
        <p:nvPicPr>
          <p:cNvPr id="8" name="Picture 7">
            <a:extLst>
              <a:ext uri="{FF2B5EF4-FFF2-40B4-BE49-F238E27FC236}">
                <a16:creationId xmlns:a16="http://schemas.microsoft.com/office/drawing/2014/main" xmlns="" id="{E55F39CB-9DBF-4F60-A989-D82A89E8DF8E}"/>
              </a:ext>
            </a:extLst>
          </p:cNvPr>
          <p:cNvPicPr>
            <a:picLocks noChangeAspect="1"/>
          </p:cNvPicPr>
          <p:nvPr/>
        </p:nvPicPr>
        <p:blipFill>
          <a:blip r:embed="rId3"/>
          <a:stretch>
            <a:fillRect/>
          </a:stretch>
        </p:blipFill>
        <p:spPr>
          <a:xfrm>
            <a:off x="4658896" y="1534151"/>
            <a:ext cx="4314825" cy="3457575"/>
          </a:xfrm>
          <a:prstGeom prst="rect">
            <a:avLst/>
          </a:prstGeom>
        </p:spPr>
      </p:pic>
    </p:spTree>
    <p:extLst>
      <p:ext uri="{BB962C8B-B14F-4D97-AF65-F5344CB8AC3E}">
        <p14:creationId xmlns:p14="http://schemas.microsoft.com/office/powerpoint/2010/main" val="34365957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6966</TotalTime>
  <Words>1204</Words>
  <Application>Microsoft Office PowerPoint</Application>
  <PresentationFormat>On-screen Show (4:3)</PresentationFormat>
  <Paragraphs>177</Paragraphs>
  <Slides>25</Slides>
  <Notes>2</Notes>
  <HiddenSlides>0</HiddenSlides>
  <MMClips>0</MMClips>
  <ScaleCrop>false</ScaleCrop>
  <HeadingPairs>
    <vt:vector size="4" baseType="variant">
      <vt:variant>
        <vt:lpstr>Theme</vt:lpstr>
      </vt:variant>
      <vt:variant>
        <vt:i4>2</vt:i4>
      </vt:variant>
      <vt:variant>
        <vt:lpstr>Slide Titles</vt:lpstr>
      </vt:variant>
      <vt:variant>
        <vt:i4>25</vt:i4>
      </vt:variant>
    </vt:vector>
  </HeadingPairs>
  <TitlesOfParts>
    <vt:vector size="27" baseType="lpstr">
      <vt:lpstr>Office Theme</vt:lpstr>
      <vt:lpstr>Custom Design</vt:lpstr>
      <vt:lpstr>Module 5: Requirements Analysis and Modeling</vt:lpstr>
      <vt:lpstr>Outline</vt:lpstr>
      <vt:lpstr>Part I: Requirements modeling concept</vt:lpstr>
      <vt:lpstr>Objectives</vt:lpstr>
      <vt:lpstr>System Modeling</vt:lpstr>
      <vt:lpstr>Existing and Planned System Models</vt:lpstr>
      <vt:lpstr>System Perspectives</vt:lpstr>
      <vt:lpstr>Context Model</vt:lpstr>
      <vt:lpstr>UML Diagram Types</vt:lpstr>
      <vt:lpstr>Use of Graphical Models</vt:lpstr>
      <vt:lpstr>Ways of Writing a System Requirements Specification </vt:lpstr>
      <vt:lpstr>Interaction model</vt:lpstr>
      <vt:lpstr>Interaction Model</vt:lpstr>
      <vt:lpstr>Use Case Modeling</vt:lpstr>
      <vt:lpstr>Stereotypes in UML</vt:lpstr>
      <vt:lpstr>Use Case Diagram: Notation</vt:lpstr>
      <vt:lpstr>Example: Use Case Diagram for Mentcare System</vt:lpstr>
      <vt:lpstr>Use Case Description</vt:lpstr>
      <vt:lpstr>Branching within a Flow and  Alternative Flow</vt:lpstr>
      <vt:lpstr>Repitition within a Flow: For/While</vt:lpstr>
      <vt:lpstr>&lt;&lt;include&gt;&gt; Relationship</vt:lpstr>
      <vt:lpstr>&lt;&lt;extend&gt;&gt; Relationship</vt:lpstr>
      <vt:lpstr>Example: Use Case Diagram for  e-Commerce System</vt:lpstr>
      <vt:lpstr>Example: Use Case Description for GoToCheckout</vt:lpstr>
      <vt:lpstr>Use Case Description for AcceptPaymentByCard and DisplayBasket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Referee</dc:creator>
  <cp:lastModifiedBy>Windows User</cp:lastModifiedBy>
  <cp:revision>591</cp:revision>
  <dcterms:created xsi:type="dcterms:W3CDTF">2012-07-30T02:22:03Z</dcterms:created>
  <dcterms:modified xsi:type="dcterms:W3CDTF">2020-04-01T07:26:03Z</dcterms:modified>
</cp:coreProperties>
</file>