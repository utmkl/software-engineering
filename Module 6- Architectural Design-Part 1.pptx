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Action1.xml" ContentType="application/vnd.ms-office.inkAction+xml"/>
  <Override PartName="/ppt/notesSlides/notesSlide3.xml" ContentType="application/vnd.openxmlformats-officedocument.presentationml.notesSlide+xml"/>
  <Override PartName="/ppt/ink/inkAction2.xml" ContentType="application/vnd.ms-office.inkAction+xml"/>
  <Override PartName="/ppt/notesSlides/notesSlide4.xml" ContentType="application/vnd.openxmlformats-officedocument.presentationml.notesSlide+xml"/>
  <Override PartName="/ppt/ink/inkAction3.xml" ContentType="application/vnd.ms-office.inkAction+xml"/>
  <Override PartName="/ppt/ink/inkAction4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7" r:id="rId2"/>
    <p:sldId id="649" r:id="rId3"/>
    <p:sldId id="453" r:id="rId4"/>
    <p:sldId id="713" r:id="rId5"/>
    <p:sldId id="689" r:id="rId6"/>
    <p:sldId id="690" r:id="rId7"/>
    <p:sldId id="691" r:id="rId8"/>
    <p:sldId id="659" r:id="rId9"/>
    <p:sldId id="701" r:id="rId10"/>
    <p:sldId id="702" r:id="rId11"/>
    <p:sldId id="650" r:id="rId12"/>
    <p:sldId id="651" r:id="rId13"/>
    <p:sldId id="692" r:id="rId14"/>
    <p:sldId id="653" r:id="rId15"/>
    <p:sldId id="654" r:id="rId16"/>
    <p:sldId id="655" r:id="rId17"/>
    <p:sldId id="65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13T02:33:54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1732">
    <iact:property name="dataType"/>
    <iact:actionData xml:id="d0">
      <inkml:trace xmlns:inkml="http://www.w3.org/2003/InkML" xml:id="stk0" contextRef="#ctx0" brushRef="#br0">4616 8498 0,'279'102'61,"-228"-102"-53,-25 0 1,24 0-2,-24 0 3,-1 0-4,51 0 9,-51 0-4,26 0-4,0-26 1,0 26 1,-1 0 5,1 0-5,51 0 5,24 26-4,-49-26 0,-1 0-3,76 0-2,-101 0 7,75 25-6,-75-25 3,25 0-3,-50 0 5,75 26-5,-75-26 10,100 25-10,-50-25 2,51 0 4,-51 25-7,1 26 4,-27-51-3,1 0 3,-26 0 0,1 0-3,-1 25 19,0 1-8</inkml:trace>
    </iact:actionData>
  </iact:action>
  <iact:action type="add" startTime="13130">
    <iact:property name="dataType"/>
    <iact:actionData xml:id="d1">
      <inkml:trace xmlns:inkml="http://www.w3.org/2003/InkML" xml:id="stk1" contextRef="#ctx0" brushRef="#br0">8295 9741 0,'51'0'57,"-1"0"-47,26 0-4,77 0 4,-103 0-4,26 0 3,26 0-4,-26 0 4,-25 0-1,25 0 0,-25 0 0,-1 0-2,-24 0 3,75 0 0,-50 0-1,25 0-2,0 0 4,0 0-2,-25 0 1,76 0-2,-51 0 2,-25 0-2,25 0 2,-51 0-4,26 0 7,0 0-8,-26 0 8,0 0 10,26 0 16,-26 0-29,1 0 0,-1 0-1,1 0-2,-1 0 10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13T02:33:54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8800">
    <iact:property name="dataType"/>
    <iact:actionData xml:id="d0">
      <inkml:trace xmlns:inkml="http://www.w3.org/2003/InkML" xml:id="stk0" contextRef="#ctx0" brushRef="#br0">4845 7433 0,'0'0'1,"50"0"5,27 0 2,-27 0 1,26 0-2,-25 0 2,25 0 0,-50-25-2,24 25 2,1 0-1,-26 0 0,1 0-1,25 0 1,-1 0 8,-24 0-7,50 0-3,-51-26 6,0 26-6,26 0 4,-25 0 3,-1 0 2,26 0 1,-26 0 0,0 0-6,52 0-2,-27 0-2,26 0 11,-50 0 1,-1 0 3</inkml:trace>
    </iact:actionData>
  </iact:action>
  <iact:action type="add" startTime="10520">
    <iact:property name="dataType"/>
    <iact:actionData xml:id="d1">
      <inkml:trace xmlns:inkml="http://www.w3.org/2003/InkML" xml:id="stk1" contextRef="#ctx0" brushRef="#br0">12278 7534 0,'50'0'83,"103"0"-79,-52 0 5,51 0 1,-50-25-1,126 25-3,-152 0 3,76 0 1,-76 0-4,1 0 4,49 0-6,-100 51 25,25-26-23,-26-25 3,0 0-4,26 0 4</inkml:trace>
    </iact:actionData>
  </iact:action>
  <iact:action type="add" startTime="20247">
    <iact:property name="dataType"/>
    <iact:actionData xml:id="d2">
      <inkml:trace xmlns:inkml="http://www.w3.org/2003/InkML" xml:id="stk2" contextRef="#ctx0" brushRef="#br0">19203 9082 0,'0'-26'179,"76"1"-171,0 25 0,-50 0 2,-1 0-6,0 0 5,1 0 16,-1 0-3,26 0-14,-26 0 12,1 0 12,-1 0-12,0 0-4,1 0-6,-1 0 6,1 0 0,24 0-10,-24 0 12,-1 0-8,76 0 6,-75 0 5,25 0 10,-26 0-15,0 0 1,1 0-9,24 0 2,-24 0 4,-1 0-6,51 0 7,-50 0-4,-1 0-6,0 0 11,1 0-5,-1 0 2,0 0-4,52 0-2,-52 0 8,0 0-5,26 0 5,0 0 1,0 0 2,-26 0-12,0 0 3,1 0 8,24 0-8,-24 0 15,50-25-12,-51 25 23,1 0 21,-1 0-9,26 0-13,-26 0 27,0 0-45,1-26 25,-1 26-32,1 0 30,50 0 618,-51 0-640,0 0-11,1 0 17,-1 0 58</inkml:trace>
    </iact:actionData>
  </iact:action>
  <iact:action type="add" startTime="29216">
    <iact:property name="dataType"/>
    <iact:actionData xml:id="d3">
      <inkml:trace xmlns:inkml="http://www.w3.org/2003/InkML" xml:id="stk3" contextRef="#ctx0" brushRef="#br0">8041 10452 0,'51'0'10,"25"0"3,-51 0-2,26 0-5,0 0 4,0 0-4,50 0 10,-50 0-8,25 0 0,51 0 0,-77 0 0,27 0 0,-27 0 1,77 0-1,-76 0-2,25 0 4,-25 0-2,-1 0-2,1 0 20,0 0-1,0 0-2</inkml:trace>
    </iact:actionData>
  </iact:action>
  <iact:action type="add" startTime="30537">
    <iact:property name="dataType"/>
    <iact:actionData xml:id="d4">
      <inkml:trace xmlns:inkml="http://www.w3.org/2003/InkML" xml:id="stk4" contextRef="#ctx0" brushRef="#br0">15119 10528 0,'101'0'147,"1"0"-141,-77 0 3,26 0-4,50 0 4,52 50-1,-27-24 1,-49-26-4,-27 0 5,26 0-4,-50 0 3,24 50 0,1-50 16,-25 0-19,-1 0 3,51 0-1,-51 0 7,52 0-7,-27 26 1,-24-26 2,24 0-6,-24 0 1,24 0 2,-24 0 9,-1 0-9,1 0-1</inkml:trace>
    </iact:actionData>
  </iact:action>
  <iact:action type="add" startTime="32593">
    <iact:property name="dataType"/>
    <iact:actionData xml:id="d5">
      <inkml:trace xmlns:inkml="http://www.w3.org/2003/InkML" xml:id="stk5" contextRef="#ctx0" brushRef="#br0">20497 10452 0,'25'0'161,"1"0"-154,24 25 13,1-25-17,0 0 14,0 0 0</inkml:trace>
    </iact:actionData>
  </iact:action>
  <iact:action type="add" startTime="40488">
    <iact:property name="dataType"/>
    <iact:actionData xml:id="d6">
      <inkml:trace xmlns:inkml="http://www.w3.org/2003/InkML" xml:id="stk6" contextRef="#ctx0" brushRef="#br0">23541 14815 0,'178'0'96,"75"0"-86,1 0 0,50 0-5,-101 0 5,0 0-4,-50 0 2,50 0 0,-102 0 0,-76 0 0,26 0 15</inkml:trace>
    </iact:actionData>
  </iact:action>
</iact:actions>
</file>

<file path=ppt/ink/inkAction3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13T02:33:54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6705">
    <iact:property name="dataType"/>
    <iact:actionData xml:id="d0">
      <inkml:trace xmlns:inkml="http://www.w3.org/2003/InkML" xml:id="stk0" contextRef="#ctx0" brushRef="#br0">7737 11897 0,'25'0'166,"0"0"-158,1 0 5,-1 0 47,51 0-54,-25 0 4,-26 0-4,1 0 3,-1 0-2,51 0 1,-50 0 19,-1 0 19,51 0-28,-51 0 12,1 0-22</inkml:trace>
    </iact:actionData>
  </iact:action>
  <iact:action type="add" startTime="46119">
    <iact:property name="dataType"/>
    <iact:actionData xml:id="d1">
      <inkml:trace xmlns:inkml="http://www.w3.org/2003/InkML" xml:id="stk1" contextRef="#ctx0" brushRef="#br0">24759 13343 0,'76'0'136,"0"0"-126,-25 0-6,25-50 4,-25 50 3,25 0-4,-26 0 1,1 0 0,0 0-1,-26 0 2,26 0-1,-26 0 0,1 0 0,24 0-1,-24 0 9,-1 0 10</inkml:trace>
    </iact:actionData>
  </iact:action>
  <iact:action type="add" startTime="52127">
    <iact:property name="dataType"/>
    <iact:actionData xml:id="d2">
      <inkml:trace xmlns:inkml="http://www.w3.org/2003/InkML" xml:id="stk2" contextRef="#ctx0" brushRef="#br0">12963 14612 0,'25'0'151,"102"0"-139,-76 0-6,25 0 0,-26 0 2,1 0 4,25 0-7,-25 0 2,0 0 2,25 0-2,-25 0 2,25 0-2,-26 0 2,26 0-1,1 0 0,24 0 0,-25 0 8,-25 0-8,25 0-1,-51 0 2,26 0-2,25 0 3,-25 0-3,0 0 2,-26 0-2,0 0 3,26 0-4,-26 0 3,1 0-2,-1 0 4,51 0-6,-25 0 6,51 0-6,-1 25 5,-50-25-5,101 51 6,-127-51-5,51 0 3,-25 0-2,25 0 1,-25 0 0,25 0 1,-51 0-3,52 0 3,-52 0-2,51 0 12,-51 0-12,1 0 2,-1 0-3,51 0 9,-50 0-3,24 0 3,1 25-8,-26-25 8,26 0-6,-25 0-3,-1 0 11,26 0 1,-26 25-11,26-25-1,0 0 3,-1 0-1,-24 0 0,-1 0-1,26 0 1,-26 0 0,26 0 0,-26 0 8,26 26-7,0-1-1,-1-25 1,-24 0-1,25 0 2,50 0-6,-50 0 7,25 0 2,-51 0-5,26 0 1,0 0-1,-26 0 0,26 0-2,0 0 4,-26 0-3,0 0 1,26 0 2,0 0-5,-26 0 12,26 0-8,-26 0-2,1 0 9,24 0-6,-24 0-4,-1 0 2,51 0 2,-25 0 0,25 0 2,-25 0-3,25 0 0,-25 0-2,-1 0 1,-24 0 0,24 0 1,1 0-1,0 0-1,25 0 2,-25-25-2,-1 25 1,27-26 2,24 26-1,-50-50-2,0 50 6,-26 0-1,0 0-7,1 0 4,24 0-2,-24-26 9,-1 26 14,26 0-12,-26 0-2,1-25 457</inkml:trace>
    </iact:actionData>
  </iact:action>
  <iact:action type="add" startTime="55191">
    <iact:property name="dataType"/>
    <iact:actionData xml:id="d3">
      <inkml:trace xmlns:inkml="http://www.w3.org/2003/InkML" xml:id="stk3" contextRef="#ctx0" brushRef="#br0">21664 14485 0,'25'-26'42,"-25"1"-27,26 25-7,-1 0 6,0 0-6,1 0 0,50 0 2,-51 0-2,51-25 6,-50 25-5,50 0-2,-25 0 3,25-26-4,25 26 2,-25 0 1,-50 0 0,75-25-1,-50 25 1,25 0-2,-25-51 3,25 51-5,-26 0 5,27-51-4,49 51 4,-49 0-4,-1 0 4,50 0-4,-75 0 4,25 0-5,-25 0 3,25 0 0,-25 0 0,25 0-1,-25 0 2,25 0-1,-25 0 0,25 0 0,-51 0 0,26 0 0,-1 0 1,27 0-1,-1 0 0,-51 0 0,51 0 0,-25 0 1,25 0-2,-51 0 3,1 0-4,-1 0 3,26 0-3,-26 0 5,1 0-6,50 0 5,-26 0-4,27 0 1,-52 0 2,51 0 0,-51 0-1,1 0-1,50 0 1,-51 0 0,1 0 1,75 0-1,-76 0-1,26 0 1,0 0 1,25 0-1,-51 0 1,26 0-3,0 0 3,-26 0-2,1 0 2,50 0-3,-51 0 6,0 0 4,26 0-12,-25 0 4,24 0 1,1 0-1,0 0 8,-1 0 1,1 0-9,-25 0 8,24 0-8,-24 0 0,-1 0 0,26 0 16,-26 0-16,1 0 0,24 26 0,-24-26 1,-1 0-2,76 25 20,-75-25-6,-1 0-14,1 0 2,-1 0-1,0 0-1,1 0 9,-1 26 1,0-26-10,1 0 2,25 0-3,-1 0 10,26 76-5,-50-76 5,24 0-9,-24 0 3,-1 0-4,51 25 4,0-25 10,-50 0-12,25 0 1,-1 25-2,-24-25 3,24 0-4,1 0 4,0 26-4,25-26 2,-51 0 1,26 0 0,-26 0-1,1 0 0,25 50-1,-1-50 10,1 0-8,-26 0-4,51 0 5,-50 0-4,-1 0 6,26 0-7,0 51 6,-1-51 3,-24 0 2,-1 0-7,1 0-2,-1 0 2,0 0-2,1 0 2,-1 0 5,26 0 9,-26 0 4</inkml:trace>
    </iact:actionData>
  </iact:action>
</iact:actions>
</file>

<file path=ppt/ink/inkAction4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4-13T02:33:54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6676">
    <iact:property name="dataType"/>
    <iact:actionData xml:id="d0">
      <inkml:trace xmlns:inkml="http://www.w3.org/2003/InkML" xml:id="stk0" contextRef="#ctx0" brushRef="#br0">25976 10883 0,'26'0'48,"-1"0"-39,77 0-2,-77 0 1,51 0 0,-50 0 0,24 0-1,26 0 2,-25 0-1,25 0 0,26 0-1,-52 0 2,27 0-1,24 0 0,-50 0-1,-26 0 4,0 0-5,52 0 5,-52 0-6,0 0 7,51 0-8,-50 0 6,50 0-4,-51 0 10,1 0-8,24 0 0,-24 0-1,-1 0 2,0 0-2,1 0 2,25 0 0,-26 0-1,26 0-1,-1-51 2,-24 51 7,25 0 0,-26 0-9,0-25 3,26 25 6,-26 0-11,1 0 6,-1 0-6,26 0 4,-26 0 7,1 0 9,24 0-19,-24 0 2,-1 0 25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05EB1-8E3C-42EA-9336-60AF393A3D83}" type="datetimeFigureOut">
              <a:rPr lang="en-MY" smtClean="0"/>
              <a:t>13/4/2020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22FB6-6919-4746-B7C3-1EB2353D7FB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06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80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54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71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425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9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7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1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76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6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4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0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2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6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38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6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89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5.png"/><Relationship Id="rId5" Type="http://schemas.microsoft.com/office/2011/relationships/inkAction" Target="../ink/inkAction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5" Type="http://schemas.microsoft.com/office/2011/relationships/inkAction" Target="../ink/inkAction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4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microsoft.com/office/2011/relationships/inkAction" Target="../ink/inkAction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microsoft.com/office/2011/relationships/inkAction" Target="../ink/inkAction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6: </a:t>
            </a:r>
            <a:r>
              <a:rPr lang="en-US" dirty="0">
                <a:ea typeface="ＭＳ Ｐゴシック" panose="020B0600070205080204" pitchFamily="34" charset="-128"/>
              </a:rPr>
              <a:t>Architectural Design</a:t>
            </a:r>
            <a:br>
              <a:rPr lang="en-US" dirty="0">
                <a:ea typeface="ＭＳ Ｐゴシック" panose="020B0600070205080204" pitchFamily="34" charset="-128"/>
              </a:rPr>
            </a:br>
            <a:r>
              <a:rPr lang="en-US" dirty="0">
                <a:ea typeface="ＭＳ Ｐゴシック" panose="020B0600070205080204" pitchFamily="34" charset="-128"/>
              </a:rPr>
              <a:t>Part 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Software Engineering</a:t>
            </a:r>
          </a:p>
          <a:p>
            <a:r>
              <a:rPr lang="en-US" sz="2800" dirty="0"/>
              <a:t>School of Computing, Faculty of Engineering</a:t>
            </a:r>
          </a:p>
          <a:p>
            <a:r>
              <a:rPr lang="en-US" sz="2800" dirty="0" err="1"/>
              <a:t>Universiti</a:t>
            </a:r>
            <a:r>
              <a:rPr lang="en-US" sz="2800" dirty="0"/>
              <a:t> </a:t>
            </a:r>
            <a:r>
              <a:rPr lang="en-US" sz="2800" dirty="0" err="1"/>
              <a:t>Teknologi</a:t>
            </a:r>
            <a:r>
              <a:rPr lang="en-US" sz="2800" dirty="0"/>
              <a:t> Malaysia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6FE04069-CE28-4023-BAC8-68B1EFDFDD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06"/>
    </mc:Choice>
    <mc:Fallback>
      <p:transition spd="slow" advTm="65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Outline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>
                <a:ea typeface="ＭＳ Ｐゴシック" panose="020B0600070205080204" pitchFamily="34" charset="-128"/>
              </a:rPr>
              <a:t>Architectural Design and Detailed Design</a:t>
            </a:r>
          </a:p>
          <a:p>
            <a:r>
              <a:rPr lang="en-US">
                <a:ea typeface="ＭＳ Ｐゴシック" panose="020B0600070205080204" pitchFamily="34" charset="-128"/>
              </a:rPr>
              <a:t>Architectural Design Decision</a:t>
            </a:r>
          </a:p>
          <a:p>
            <a:r>
              <a:rPr lang="en-US">
                <a:ea typeface="ＭＳ Ｐゴシック" panose="020B0600070205080204" pitchFamily="34" charset="-128"/>
              </a:rPr>
              <a:t>Architectural View</a:t>
            </a:r>
          </a:p>
          <a:p>
            <a:r>
              <a:rPr lang="en-US">
                <a:ea typeface="ＭＳ Ｐゴシック" panose="020B0600070205080204" pitchFamily="34" charset="-128"/>
              </a:rPr>
              <a:t>Architectural Pattern </a:t>
            </a:r>
          </a:p>
          <a:p>
            <a:pPr lvl="1"/>
            <a:r>
              <a:rPr lang="en-US">
                <a:ea typeface="ＭＳ Ｐゴシック" panose="020B0600070205080204" pitchFamily="34" charset="-128"/>
              </a:rPr>
              <a:t>Model-View-Controller (MVC)</a:t>
            </a:r>
          </a:p>
          <a:p>
            <a:pPr lvl="1"/>
            <a:r>
              <a:rPr lang="en-US">
                <a:ea typeface="ＭＳ Ｐゴシック" panose="020B0600070205080204" pitchFamily="34" charset="-128"/>
              </a:rPr>
              <a:t>Layered</a:t>
            </a:r>
          </a:p>
          <a:p>
            <a:pPr lvl="1"/>
            <a:r>
              <a:rPr lang="en-US">
                <a:ea typeface="ＭＳ Ｐゴシック" panose="020B0600070205080204" pitchFamily="34" charset="-128"/>
              </a:rPr>
              <a:t>Repository</a:t>
            </a:r>
          </a:p>
          <a:p>
            <a:pPr lvl="1"/>
            <a:r>
              <a:rPr lang="en-US">
                <a:ea typeface="ＭＳ Ｐゴシック" panose="020B0600070205080204" pitchFamily="34" charset="-128"/>
              </a:rPr>
              <a:t>Client-Server</a:t>
            </a:r>
          </a:p>
          <a:p>
            <a:pPr lvl="1"/>
            <a:r>
              <a:rPr lang="en-US">
                <a:ea typeface="ＭＳ Ｐゴシック" panose="020B0600070205080204" pitchFamily="34" charset="-128"/>
              </a:rPr>
              <a:t>Pipe and Filter</a:t>
            </a:r>
            <a:endParaRPr lang="en-MY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>
                <a:latin typeface="Calibri"/>
              </a:rPr>
              <a:t>Software Engineering</a:t>
            </a:r>
            <a:endParaRPr lang="en-US">
              <a:latin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974" y="5803033"/>
            <a:ext cx="8392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C00000"/>
                </a:solidFill>
                <a:latin typeface="Calibri"/>
              </a:rPr>
              <a:t>Note: The overall contents of the slide are based on the main reference that is Sommerville (2016) with other references specified directly in respective slides (if any)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88D90A-BE99-4798-A672-1B0171C79AA1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661760" y="3059280"/>
              <a:ext cx="2046240" cy="447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88D90A-BE99-4798-A672-1B0171C79A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2400" y="3049920"/>
                <a:ext cx="2064960" cy="46656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BF8627C-184B-448D-9DA2-41F7D95FDF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16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540"/>
    </mc:Choice>
    <mc:Fallback>
      <p:transition spd="slow" advTm="22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To know 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the purpose of design and the difference between architectural and detailed 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design (use case realization)</a:t>
            </a:r>
            <a:endParaRPr lang="en-US" altLang="en-US" dirty="0">
              <a:solidFill>
                <a:srgbClr val="000000"/>
              </a:solidFill>
              <a:cs typeface="Times New Roman" pitchFamily="18" charset="0"/>
            </a:endParaRPr>
          </a:p>
          <a:p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To understand the architectural design decision </a:t>
            </a:r>
          </a:p>
          <a:p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To know differences in architectural views and representation using UML diagrams (deployment diagram and details of component diagram)</a:t>
            </a:r>
          </a:p>
          <a:p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To identify the use of different architectural patterns</a:t>
            </a:r>
            <a:endParaRPr lang="en-US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3D56D5-166E-422E-ADF2-0C4AF03865F5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744200" y="2657520"/>
              <a:ext cx="7425000" cy="2676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3D56D5-166E-422E-ADF2-0C4AF03865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4840" y="2648160"/>
                <a:ext cx="7443720" cy="269496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15A7E21B-9EBA-4EBE-9579-3CE968E01C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88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379"/>
    </mc:Choice>
    <mc:Fallback>
      <p:transition spd="slow" advTm="423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Architectural design and detailed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Overview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FC38C83F-7A7C-48C8-A231-5974534C04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99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02"/>
    </mc:Choice>
    <mc:Fallback>
      <p:transition spd="slow" advTm="102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Recap on Design Stage</a:t>
            </a:r>
          </a:p>
        </p:txBody>
      </p:sp>
      <p:pic>
        <p:nvPicPr>
          <p:cNvPr id="5" name="Picture 4" descr="2.5 Design-process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450" y="1284288"/>
            <a:ext cx="675005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575051" y="3127375"/>
            <a:ext cx="1584325" cy="86518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35289" y="5317442"/>
            <a:ext cx="1584325" cy="8636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46BCA9E0-3406-4728-B147-5678F13788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99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617"/>
    </mc:Choice>
    <mc:Fallback>
      <p:transition spd="slow" advTm="536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Architecture Analogy for </a:t>
            </a:r>
            <a:br>
              <a:rPr lang="en-US" dirty="0">
                <a:ea typeface="ＭＳ Ｐゴシック" panose="020B0600070205080204" pitchFamily="34" charset="-128"/>
              </a:rPr>
            </a:br>
            <a:r>
              <a:rPr lang="en-US" dirty="0">
                <a:ea typeface="ＭＳ Ｐゴシック" panose="020B0600070205080204" pitchFamily="34" charset="-128"/>
              </a:rPr>
              <a:t>Software vs. House?</a:t>
            </a:r>
            <a:endParaRPr lang="en-MY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525588"/>
            <a:ext cx="3859213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554" y="3810001"/>
            <a:ext cx="3196335" cy="2437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926" y="3124201"/>
            <a:ext cx="1997075" cy="323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8"/>
          <p:cNvSpPr>
            <a:spLocks noChangeArrowheads="1"/>
          </p:cNvSpPr>
          <p:nvPr/>
        </p:nvSpPr>
        <p:spPr bwMode="auto">
          <a:xfrm rot="20020852">
            <a:off x="6229351" y="2281239"/>
            <a:ext cx="1223963" cy="1728787"/>
          </a:xfrm>
          <a:prstGeom prst="lightningBol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89E0D762-828D-4CCA-B3ED-672594C011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5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295"/>
    </mc:Choice>
    <mc:Fallback>
      <p:transition spd="slow" advTm="602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Analogy: Residential Styles</a:t>
            </a:r>
          </a:p>
        </p:txBody>
      </p:sp>
      <p:pic>
        <p:nvPicPr>
          <p:cNvPr id="1026" name="Picture 2" descr="https://s-media-cache-ak0.pinimg.com/736x/df/9e/4e/df9e4e674794aeb310231dd2b00f73d6.jpg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417638"/>
            <a:ext cx="5837725" cy="505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DCA57A6A-19D6-42F6-94AB-B52E072FC1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65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360"/>
    </mc:Choice>
    <mc:Fallback>
      <p:transition spd="slow" advTm="333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Design Discipline Activities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spcBef>
                <a:spcPct val="85000"/>
              </a:spcBef>
            </a:pPr>
            <a:r>
              <a:rPr lang="en-US" altLang="en-US" dirty="0">
                <a:cs typeface="Times New Roman" pitchFamily="18" charset="0"/>
              </a:rPr>
              <a:t>Segmented into 6 major activities:</a:t>
            </a:r>
          </a:p>
          <a:p>
            <a:pPr lvl="1">
              <a:lnSpc>
                <a:spcPct val="85000"/>
              </a:lnSpc>
            </a:pPr>
            <a:r>
              <a:rPr lang="en-US" altLang="en-US" dirty="0">
                <a:cs typeface="Times New Roman" pitchFamily="18" charset="0"/>
              </a:rPr>
              <a:t>Design the support services architecture and deployment environment </a:t>
            </a:r>
            <a:r>
              <a:rPr lang="en-US" altLang="en-US" dirty="0"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1800" dirty="0">
                <a:solidFill>
                  <a:srgbClr val="0070C0"/>
                </a:solidFill>
                <a:cs typeface="Times New Roman" pitchFamily="18" charset="0"/>
                <a:sym typeface="Wingdings" panose="05000000000000000000" pitchFamily="2" charset="2"/>
              </a:rPr>
              <a:t>(network course)</a:t>
            </a:r>
            <a:endParaRPr lang="en-US" altLang="en-US" sz="1800" dirty="0">
              <a:solidFill>
                <a:srgbClr val="0070C0"/>
              </a:solidFill>
              <a:cs typeface="Times New Roman" pitchFamily="18" charset="0"/>
            </a:endParaRPr>
          </a:p>
          <a:p>
            <a:pPr lvl="1">
              <a:lnSpc>
                <a:spcPct val="85000"/>
              </a:lnSpc>
            </a:pPr>
            <a:r>
              <a:rPr lang="en-US" altLang="en-US" dirty="0">
                <a:cs typeface="Times New Roman" pitchFamily="18" charset="0"/>
              </a:rPr>
              <a:t>Design the software architecture </a:t>
            </a:r>
            <a:r>
              <a:rPr lang="en-US" altLang="en-US" dirty="0"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focus of SE lecture</a:t>
            </a:r>
            <a:endParaRPr lang="en-US" altLang="en-US" sz="2000" b="1" dirty="0">
              <a:solidFill>
                <a:srgbClr val="C00000"/>
              </a:solidFill>
              <a:cs typeface="Times New Roman" pitchFamily="18" charset="0"/>
            </a:endParaRPr>
          </a:p>
          <a:p>
            <a:pPr lvl="1">
              <a:lnSpc>
                <a:spcPct val="85000"/>
              </a:lnSpc>
            </a:pPr>
            <a:r>
              <a:rPr lang="en-US" altLang="en-US" dirty="0">
                <a:cs typeface="Times New Roman" pitchFamily="18" charset="0"/>
              </a:rPr>
              <a:t>Design the use case realizations </a:t>
            </a:r>
            <a:r>
              <a:rPr lang="en-US" altLang="en-US" dirty="0"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focus of SE lecture</a:t>
            </a:r>
            <a:endParaRPr lang="en-US" altLang="en-US" sz="2000" b="1" dirty="0">
              <a:solidFill>
                <a:srgbClr val="C00000"/>
              </a:solidFill>
              <a:cs typeface="Times New Roman" pitchFamily="18" charset="0"/>
            </a:endParaRPr>
          </a:p>
          <a:p>
            <a:pPr lvl="1">
              <a:lnSpc>
                <a:spcPct val="85000"/>
              </a:lnSpc>
            </a:pPr>
            <a:r>
              <a:rPr lang="en-US" altLang="en-US" dirty="0">
                <a:cs typeface="Times New Roman" pitchFamily="18" charset="0"/>
              </a:rPr>
              <a:t>Design the database </a:t>
            </a:r>
            <a:r>
              <a:rPr lang="en-US" altLang="en-US" dirty="0">
                <a:cs typeface="Times New Roman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solidFill>
                  <a:srgbClr val="0070C0"/>
                </a:solidFill>
                <a:cs typeface="Times New Roman" pitchFamily="18" charset="0"/>
                <a:sym typeface="Wingdings" panose="05000000000000000000" pitchFamily="2" charset="2"/>
              </a:rPr>
              <a:t>(database course)</a:t>
            </a:r>
            <a:endParaRPr lang="en-US" altLang="en-US" sz="2000" dirty="0">
              <a:solidFill>
                <a:srgbClr val="0070C0"/>
              </a:solidFill>
              <a:cs typeface="Times New Roman" pitchFamily="18" charset="0"/>
            </a:endParaRPr>
          </a:p>
          <a:p>
            <a:pPr lvl="1">
              <a:lnSpc>
                <a:spcPct val="85000"/>
              </a:lnSpc>
            </a:pPr>
            <a:r>
              <a:rPr lang="en-US" altLang="en-US" dirty="0">
                <a:cs typeface="Times New Roman" pitchFamily="18" charset="0"/>
              </a:rPr>
              <a:t>Design the system and user interfaces </a:t>
            </a:r>
            <a:r>
              <a:rPr lang="en-US" altLang="en-US" sz="1800" dirty="0">
                <a:solidFill>
                  <a:srgbClr val="0070C0"/>
                </a:solidFill>
                <a:cs typeface="Times New Roman" pitchFamily="18" charset="0"/>
              </a:rPr>
              <a:t>(HCI course)</a:t>
            </a:r>
          </a:p>
          <a:p>
            <a:pPr lvl="1">
              <a:lnSpc>
                <a:spcPct val="85000"/>
              </a:lnSpc>
            </a:pPr>
            <a:r>
              <a:rPr lang="en-US" altLang="en-US" dirty="0">
                <a:cs typeface="Times New Roman" pitchFamily="18" charset="0"/>
              </a:rPr>
              <a:t>Design the system security and controls </a:t>
            </a:r>
            <a:r>
              <a:rPr lang="en-US" altLang="en-US" sz="1800" dirty="0">
                <a:solidFill>
                  <a:srgbClr val="0070C0"/>
                </a:solidFill>
                <a:cs typeface="Times New Roman" pitchFamily="18" charset="0"/>
                <a:sym typeface="Wingdings" panose="05000000000000000000" pitchFamily="2" charset="2"/>
              </a:rPr>
              <a:t>(network security; database security)</a:t>
            </a:r>
            <a:endParaRPr lang="en-US" altLang="en-US" sz="1800" dirty="0">
              <a:solidFill>
                <a:srgbClr val="0070C0"/>
              </a:solidFill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60D1A76-F87F-4352-B970-6E0EB9A8C6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12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108"/>
    </mc:Choice>
    <mc:Fallback>
      <p:transition spd="slow" advTm="591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From Analysis to Design: </a:t>
            </a:r>
            <a:br>
              <a:rPr lang="en-MY"/>
            </a:br>
            <a:r>
              <a:rPr lang="en-MY"/>
              <a:t>Design Artefacts Metamodel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600"/>
              <a:t>Design model contains exactly </a:t>
            </a:r>
            <a:r>
              <a:rPr lang="en-MY" sz="2600" b="1">
                <a:solidFill>
                  <a:srgbClr val="C00000"/>
                </a:solidFill>
              </a:rPr>
              <a:t>one design system</a:t>
            </a:r>
            <a:r>
              <a:rPr lang="en-MY" sz="2600"/>
              <a:t> that contains </a:t>
            </a:r>
            <a:r>
              <a:rPr lang="en-MY" sz="2600" b="1">
                <a:solidFill>
                  <a:srgbClr val="C00000"/>
                </a:solidFill>
              </a:rPr>
              <a:t>many design subsystems</a:t>
            </a:r>
            <a:r>
              <a:rPr lang="en-MY" sz="2600"/>
              <a:t> (also known as “package” that can also be introduced in the analysis)</a:t>
            </a:r>
          </a:p>
          <a:p>
            <a:endParaRPr lang="en-MY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160" y="2848695"/>
            <a:ext cx="6348041" cy="34600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603" y="4846824"/>
            <a:ext cx="1781175" cy="10763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4600" y="5961433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>
                <a:solidFill>
                  <a:prstClr val="black"/>
                </a:solidFill>
                <a:latin typeface="Calibri"/>
              </a:rPr>
              <a:t>Source: Arlow and Neustadt (2002)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2D4EAD18-42C8-450E-B555-90616A2F9C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07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051"/>
    </mc:Choice>
    <mc:Fallback>
      <p:transition spd="slow" advTm="590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Relationships between Analysis and Design (Model and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400" dirty="0"/>
              <a:t>There is a simple </a:t>
            </a:r>
            <a:r>
              <a:rPr lang="en-MY" sz="2400" b="1" dirty="0">
                <a:solidFill>
                  <a:srgbClr val="C00000"/>
                </a:solidFill>
              </a:rPr>
              <a:t>«trace» relationship </a:t>
            </a:r>
            <a:r>
              <a:rPr lang="en-MY" sz="2400" dirty="0"/>
              <a:t>between the analysis and design models – the design model is based on the analysis model, and can be considered to be just a refinement and elaboration thereof</a:t>
            </a:r>
          </a:p>
          <a:p>
            <a:r>
              <a:rPr lang="en-MY" sz="2400" dirty="0"/>
              <a:t>Similarly, there is a simple, one-to-one «trace» relationship between the analysis system and the design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882" y="3918859"/>
            <a:ext cx="4510319" cy="2272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76800" y="6143202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>
                <a:solidFill>
                  <a:prstClr val="black"/>
                </a:solidFill>
                <a:latin typeface="Calibri"/>
              </a:rPr>
              <a:t>Source: Arlow and Neustadt (2002)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A4E1FA12-1047-4AE7-976B-A30FF50112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20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532"/>
    </mc:Choice>
    <mc:Fallback>
      <p:transition spd="slow" advTm="295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Architectural Design: Design the 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Architectural design is concerned with understanding how a software system should be organized and designing the </a:t>
            </a:r>
            <a:r>
              <a:rPr lang="en-US" sz="2800" b="1" dirty="0">
                <a:solidFill>
                  <a:srgbClr val="C00000"/>
                </a:solidFill>
              </a:rPr>
              <a:t>overall structure</a:t>
            </a:r>
            <a:r>
              <a:rPr lang="en-US" sz="2800" dirty="0"/>
              <a:t> of that system</a:t>
            </a:r>
          </a:p>
          <a:p>
            <a:r>
              <a:rPr lang="en-US" sz="2800" dirty="0"/>
              <a:t>Architectural design is the critical link between design and requirements engineering, as it identifies the </a:t>
            </a:r>
            <a:r>
              <a:rPr lang="en-US" sz="2800" b="1" dirty="0">
                <a:solidFill>
                  <a:srgbClr val="C00000"/>
                </a:solidFill>
              </a:rPr>
              <a:t>main structural components in a system</a:t>
            </a:r>
            <a:r>
              <a:rPr lang="en-US" sz="2800" dirty="0"/>
              <a:t> and the relationships between them</a:t>
            </a:r>
          </a:p>
          <a:p>
            <a:r>
              <a:rPr lang="en-US" sz="2800" dirty="0"/>
              <a:t>The output of the architectural design process is an </a:t>
            </a:r>
            <a:r>
              <a:rPr lang="en-US" sz="2800" b="1" dirty="0">
                <a:solidFill>
                  <a:srgbClr val="C00000"/>
                </a:solidFill>
              </a:rPr>
              <a:t>architectural model</a:t>
            </a:r>
            <a:r>
              <a:rPr lang="en-US" sz="2800" dirty="0"/>
              <a:t> that describes how the system is organized as a set of communicating components </a:t>
            </a:r>
            <a:endParaRPr lang="en-GB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B7CE30-01CF-4AF5-A91F-5B6BC4CE46EA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785320" y="4282920"/>
              <a:ext cx="7425000" cy="1041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B7CE30-01CF-4AF5-A91F-5B6BC4CE46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5960" y="4273560"/>
                <a:ext cx="7443720" cy="10602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118542DA-2A64-4540-B263-BAC131F591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81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082"/>
    </mc:Choice>
    <mc:Fallback>
      <p:transition spd="slow" advTm="620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Example: A</a:t>
            </a:r>
            <a:r>
              <a:rPr lang="en-US"/>
              <a:t>rchitecture of a Packing Robot Control System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Picture 2" descr="6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 b="-8765"/>
          <a:stretch>
            <a:fillRect/>
          </a:stretch>
        </p:blipFill>
        <p:spPr bwMode="auto">
          <a:xfrm>
            <a:off x="3634046" y="1574609"/>
            <a:ext cx="4824154" cy="4673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BA64660-8F08-4385-A4E0-EFC1DC0F77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25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232"/>
    </mc:Choice>
    <mc:Fallback>
      <p:transition spd="slow" advTm="412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Example: High Level Architecture of </a:t>
            </a:r>
            <a:r>
              <a:rPr lang="en-MY"/>
              <a:t>Weather Station System </a:t>
            </a:r>
            <a:endParaRPr lang="en-MY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58244" y="2268968"/>
            <a:ext cx="7075512" cy="3188426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ABCB3BDF-6D06-49BB-8428-B632E2FE65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58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138"/>
    </mc:Choice>
    <mc:Fallback>
      <p:transition spd="slow" advTm="481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</a:t>
            </a:r>
            <a:r>
              <a:rPr lang="en-GB"/>
              <a:t>of Explicit </a:t>
            </a:r>
            <a:r>
              <a:rPr lang="en-GB" dirty="0"/>
              <a:t>A</a:t>
            </a:r>
            <a:r>
              <a:rPr lang="en-GB"/>
              <a:t>rchitecture</a:t>
            </a:r>
            <a:endParaRPr lang="en-GB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Stakeholder communication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Architecture may be used as a </a:t>
            </a:r>
            <a:r>
              <a:rPr lang="en-GB" b="1" dirty="0">
                <a:solidFill>
                  <a:srgbClr val="C00000"/>
                </a:solidFill>
              </a:rPr>
              <a:t>focus of discussion </a:t>
            </a:r>
            <a:r>
              <a:rPr lang="en-GB" dirty="0"/>
              <a:t>by system stakeholders</a:t>
            </a:r>
          </a:p>
          <a:p>
            <a:pPr>
              <a:lnSpc>
                <a:spcPct val="90000"/>
              </a:lnSpc>
            </a:pPr>
            <a:r>
              <a:rPr lang="en-GB" dirty="0"/>
              <a:t>System analysis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Means that analysis of whether the system can </a:t>
            </a:r>
            <a:r>
              <a:rPr lang="en-GB" b="1" dirty="0">
                <a:solidFill>
                  <a:srgbClr val="C00000"/>
                </a:solidFill>
              </a:rPr>
              <a:t>meet its non-functional requirements</a:t>
            </a:r>
            <a:r>
              <a:rPr lang="en-GB" dirty="0"/>
              <a:t> is possible</a:t>
            </a:r>
          </a:p>
          <a:p>
            <a:pPr>
              <a:lnSpc>
                <a:spcPct val="90000"/>
              </a:lnSpc>
            </a:pPr>
            <a:r>
              <a:rPr lang="en-GB" dirty="0"/>
              <a:t>Large-scale reuse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The architecture may be </a:t>
            </a:r>
            <a:r>
              <a:rPr lang="en-GB" b="1" dirty="0">
                <a:solidFill>
                  <a:srgbClr val="C00000"/>
                </a:solidFill>
              </a:rPr>
              <a:t>reusable</a:t>
            </a:r>
            <a:r>
              <a:rPr lang="en-GB" dirty="0"/>
              <a:t> across a range of systems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Product-line architectures may be developed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D121C6D-7DD4-4853-BFA3-C06FF6E78DD5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9351360" y="3890520"/>
              <a:ext cx="758520" cy="27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D121C6D-7DD4-4853-BFA3-C06FF6E78D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42000" y="3881160"/>
                <a:ext cx="777240" cy="464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505FCA9-6FF1-40E7-A4DD-A306192BB9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85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781"/>
    </mc:Choice>
    <mc:Fallback>
      <p:transition spd="slow" advTm="977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Representations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Simple, informal </a:t>
            </a:r>
            <a:r>
              <a:rPr lang="en-US" b="1" dirty="0">
                <a:solidFill>
                  <a:srgbClr val="C00000"/>
                </a:solidFill>
              </a:rPr>
              <a:t>block diagrams</a:t>
            </a:r>
            <a:r>
              <a:rPr lang="en-US" dirty="0"/>
              <a:t> showing entities and relationships are the most frequently used method for documenting software architectures</a:t>
            </a:r>
          </a:p>
          <a:p>
            <a:r>
              <a:rPr lang="en-US" dirty="0"/>
              <a:t>But these have been </a:t>
            </a:r>
            <a:r>
              <a:rPr lang="en-US" dirty="0" err="1"/>
              <a:t>criticised</a:t>
            </a:r>
            <a:r>
              <a:rPr lang="en-US" dirty="0"/>
              <a:t> because they </a:t>
            </a:r>
            <a:r>
              <a:rPr lang="en-US" b="1" dirty="0">
                <a:solidFill>
                  <a:srgbClr val="C00000"/>
                </a:solidFill>
              </a:rPr>
              <a:t>lack semantics</a:t>
            </a:r>
            <a:r>
              <a:rPr lang="en-US" dirty="0"/>
              <a:t>, do not show the types of relationships between entities nor the visible properties of entities in the architecture</a:t>
            </a:r>
          </a:p>
          <a:p>
            <a:r>
              <a:rPr lang="en-US" dirty="0"/>
              <a:t>Depends on the use of architectural models, the  requirements for </a:t>
            </a:r>
            <a:r>
              <a:rPr lang="en-US" b="1" dirty="0">
                <a:solidFill>
                  <a:srgbClr val="C00000"/>
                </a:solidFill>
              </a:rPr>
              <a:t>model semantics depends on how the models are used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FF3ED762-673D-447E-9553-814A9F6703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80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003"/>
    </mc:Choice>
    <mc:Fallback>
      <p:transition spd="slow" advTm="350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</a:t>
            </a:r>
            <a:r>
              <a:rPr lang="en-US"/>
              <a:t>and Line Diagrams</a:t>
            </a:r>
            <a:endParaRPr 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</a:t>
            </a:r>
            <a:r>
              <a:rPr lang="en-US" b="1" dirty="0">
                <a:solidFill>
                  <a:srgbClr val="C00000"/>
                </a:solidFill>
              </a:rPr>
              <a:t>abstract</a:t>
            </a:r>
            <a:r>
              <a:rPr lang="en-US" dirty="0"/>
              <a:t> - they do not show the nature of component relationships nor the externally visible properties of the sub-systems</a:t>
            </a:r>
          </a:p>
          <a:p>
            <a:r>
              <a:rPr lang="en-US" dirty="0"/>
              <a:t>However, </a:t>
            </a:r>
            <a:r>
              <a:rPr lang="en-US" b="1" dirty="0">
                <a:solidFill>
                  <a:srgbClr val="C00000"/>
                </a:solidFill>
              </a:rPr>
              <a:t>useful for communication</a:t>
            </a:r>
            <a:r>
              <a:rPr lang="en-US" dirty="0"/>
              <a:t> with stakeholders and for project planning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0374A49D-E409-447E-AA8A-B7076D3163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87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386"/>
    </mc:Choice>
    <mc:Fallback>
      <p:transition spd="slow" advTm="233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Architectural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599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 a way of </a:t>
            </a:r>
            <a:r>
              <a:rPr lang="en-US" b="1" dirty="0">
                <a:solidFill>
                  <a:srgbClr val="C00000"/>
                </a:solidFill>
              </a:rPr>
              <a:t>facilitating discussion</a:t>
            </a:r>
            <a:r>
              <a:rPr lang="en-US" dirty="0"/>
              <a:t> about the system design </a:t>
            </a:r>
          </a:p>
          <a:p>
            <a:pPr lvl="1"/>
            <a:r>
              <a:rPr lang="en-US" dirty="0"/>
              <a:t>A high-level architectural view of a system is useful for communication with system stakeholders and project planning because it is </a:t>
            </a:r>
            <a:r>
              <a:rPr lang="en-US" b="1" dirty="0">
                <a:solidFill>
                  <a:srgbClr val="C00000"/>
                </a:solidFill>
              </a:rPr>
              <a:t>not cluttered with detail</a:t>
            </a:r>
            <a:endParaRPr lang="en-US" dirty="0"/>
          </a:p>
          <a:p>
            <a:pPr lvl="1"/>
            <a:r>
              <a:rPr lang="en-US" dirty="0"/>
              <a:t>Stakeholders can relate to it and understand an abstract view of the system, then discuss the system as a whole without being confused by detail</a:t>
            </a:r>
            <a:endParaRPr lang="en-GB" dirty="0"/>
          </a:p>
          <a:p>
            <a:r>
              <a:rPr lang="en-US" dirty="0"/>
              <a:t>As a way of </a:t>
            </a:r>
            <a:r>
              <a:rPr lang="en-US" b="1" dirty="0">
                <a:solidFill>
                  <a:srgbClr val="C00000"/>
                </a:solidFill>
              </a:rPr>
              <a:t>documenting an architecture</a:t>
            </a:r>
            <a:r>
              <a:rPr lang="en-US" dirty="0"/>
              <a:t> that has been designed </a:t>
            </a:r>
          </a:p>
          <a:p>
            <a:pPr lvl="1"/>
            <a:r>
              <a:rPr lang="en-US" dirty="0"/>
              <a:t>The aim here is to produce a complete system model that shows the different components in a system, their interfaces and their connections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CA11E8BE-8666-48A3-8269-9DA0AC49DC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88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515"/>
    </mc:Choice>
    <mc:Fallback>
      <p:transition spd="slow" advTm="555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751</Words>
  <Application>Microsoft Office PowerPoint</Application>
  <PresentationFormat>Widescreen</PresentationFormat>
  <Paragraphs>119</Paragraphs>
  <Slides>17</Slides>
  <Notes>4</Notes>
  <HiddenSlides>0</HiddenSlides>
  <MMClips>17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1_Office Theme</vt:lpstr>
      <vt:lpstr>Module 6: Architectural Design Part I</vt:lpstr>
      <vt:lpstr>Outline</vt:lpstr>
      <vt:lpstr>Objectives</vt:lpstr>
      <vt:lpstr>Architectural design and detailed design</vt:lpstr>
      <vt:lpstr>Recap on Design Stage</vt:lpstr>
      <vt:lpstr>Architecture Analogy for  Software vs. House?</vt:lpstr>
      <vt:lpstr>Analogy: Residential Styles</vt:lpstr>
      <vt:lpstr>Design Discipline Activities</vt:lpstr>
      <vt:lpstr>From Analysis to Design:  Design Artefacts Metamodel</vt:lpstr>
      <vt:lpstr>Relationships between Analysis and Design (Model and System)</vt:lpstr>
      <vt:lpstr>Architectural Design: Design the Software Architecture</vt:lpstr>
      <vt:lpstr>Example: Architecture of a Packing Robot Control System</vt:lpstr>
      <vt:lpstr>Example: High Level Architecture of Weather Station System </vt:lpstr>
      <vt:lpstr>Advantages of Explicit Architecture</vt:lpstr>
      <vt:lpstr>Architectural Representations</vt:lpstr>
      <vt:lpstr>Box and Line Diagrams</vt:lpstr>
      <vt:lpstr>Use of Architectural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Architectural Design</dc:title>
  <dc:creator>Norsham Idris</dc:creator>
  <cp:lastModifiedBy>Norsham Idris</cp:lastModifiedBy>
  <cp:revision>4</cp:revision>
  <dcterms:created xsi:type="dcterms:W3CDTF">2020-04-12T21:27:35Z</dcterms:created>
  <dcterms:modified xsi:type="dcterms:W3CDTF">2020-04-13T02:55:52Z</dcterms:modified>
</cp:coreProperties>
</file>