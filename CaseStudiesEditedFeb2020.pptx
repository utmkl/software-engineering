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18"/>
  </p:notesMasterIdLst>
  <p:sldIdLst>
    <p:sldId id="256" r:id="rId3"/>
    <p:sldId id="257" r:id="rId4"/>
    <p:sldId id="275" r:id="rId5"/>
    <p:sldId id="258" r:id="rId6"/>
    <p:sldId id="263" r:id="rId7"/>
    <p:sldId id="264" r:id="rId8"/>
    <p:sldId id="266" r:id="rId9"/>
    <p:sldId id="267" r:id="rId10"/>
    <p:sldId id="268" r:id="rId11"/>
    <p:sldId id="276" r:id="rId12"/>
    <p:sldId id="269" r:id="rId13"/>
    <p:sldId id="271" r:id="rId14"/>
    <p:sldId id="272" r:id="rId15"/>
    <p:sldId id="274" r:id="rId16"/>
    <p:sldId id="277"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47" autoAdjust="0"/>
    <p:restoredTop sz="94660"/>
  </p:normalViewPr>
  <p:slideViewPr>
    <p:cSldViewPr>
      <p:cViewPr varScale="1">
        <p:scale>
          <a:sx n="48" d="100"/>
          <a:sy n="48" d="100"/>
        </p:scale>
        <p:origin x="1354"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ED72AD-98F2-48AA-9584-1CD8673FAED1}" type="datetimeFigureOut">
              <a:rPr lang="en-US" smtClean="0"/>
              <a:pPr/>
              <a:t>2/7/2020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18F6A6-5BDF-41D7-9B84-3DCB4D0C04F4}" type="slidenum">
              <a:rPr lang="en-US" smtClean="0"/>
              <a:pPr/>
              <a:t>‹#›</a:t>
            </a:fld>
            <a:endParaRPr lang="en-US"/>
          </a:p>
        </p:txBody>
      </p:sp>
    </p:spTree>
    <p:extLst>
      <p:ext uri="{BB962C8B-B14F-4D97-AF65-F5344CB8AC3E}">
        <p14:creationId xmlns:p14="http://schemas.microsoft.com/office/powerpoint/2010/main" val="338730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2</a:t>
            </a:fld>
            <a:endParaRPr lang="en-US"/>
          </a:p>
        </p:txBody>
      </p:sp>
    </p:spTree>
    <p:extLst>
      <p:ext uri="{BB962C8B-B14F-4D97-AF65-F5344CB8AC3E}">
        <p14:creationId xmlns:p14="http://schemas.microsoft.com/office/powerpoint/2010/main" val="1700409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2020</a:t>
            </a:r>
          </a:p>
        </p:txBody>
      </p:sp>
      <p:sp>
        <p:nvSpPr>
          <p:cNvPr id="6" name="Footer Placeholder 5"/>
          <p:cNvSpPr>
            <a:spLocks noGrp="1"/>
          </p:cNvSpPr>
          <p:nvPr>
            <p:ph type="ftr" sz="quarter" idx="11"/>
          </p:nvPr>
        </p:nvSpPr>
        <p:spPr/>
        <p:txBody>
          <a:bodyPr/>
          <a:lstStyle/>
          <a:p>
            <a:r>
              <a:rPr lang="en-US"/>
              <a:t>Software Engineering</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2020</a:t>
            </a:r>
          </a:p>
        </p:txBody>
      </p:sp>
      <p:sp>
        <p:nvSpPr>
          <p:cNvPr id="8" name="Footer Placeholder 7"/>
          <p:cNvSpPr>
            <a:spLocks noGrp="1"/>
          </p:cNvSpPr>
          <p:nvPr>
            <p:ph type="ftr" sz="quarter" idx="11"/>
          </p:nvPr>
        </p:nvSpPr>
        <p:spPr/>
        <p:txBody>
          <a:bodyPr/>
          <a:lstStyle/>
          <a:p>
            <a:r>
              <a:rPr lang="en-US"/>
              <a:t>Software Engineering</a:t>
            </a:r>
          </a:p>
        </p:txBody>
      </p:sp>
      <p:sp>
        <p:nvSpPr>
          <p:cNvPr id="9" name="Slide Number Placeholder 8"/>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2020</a:t>
            </a:r>
          </a:p>
        </p:txBody>
      </p:sp>
      <p:sp>
        <p:nvSpPr>
          <p:cNvPr id="4" name="Footer Placeholder 3"/>
          <p:cNvSpPr>
            <a:spLocks noGrp="1"/>
          </p:cNvSpPr>
          <p:nvPr>
            <p:ph type="ftr" sz="quarter" idx="11"/>
          </p:nvPr>
        </p:nvSpPr>
        <p:spPr/>
        <p:txBody>
          <a:bodyPr/>
          <a:lstStyle/>
          <a:p>
            <a:r>
              <a:rPr lang="en-US"/>
              <a:t>Software Engineering</a:t>
            </a:r>
          </a:p>
        </p:txBody>
      </p:sp>
      <p:sp>
        <p:nvSpPr>
          <p:cNvPr id="5" name="Slide Number Placeholder 4"/>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2020</a:t>
            </a:r>
          </a:p>
        </p:txBody>
      </p:sp>
      <p:sp>
        <p:nvSpPr>
          <p:cNvPr id="3" name="Footer Placeholder 2"/>
          <p:cNvSpPr>
            <a:spLocks noGrp="1"/>
          </p:cNvSpPr>
          <p:nvPr>
            <p:ph type="ftr" sz="quarter" idx="11"/>
          </p:nvPr>
        </p:nvSpPr>
        <p:spPr/>
        <p:txBody>
          <a:bodyPr/>
          <a:lstStyle/>
          <a:p>
            <a:r>
              <a:rPr lang="en-US"/>
              <a:t>Software Engineering</a:t>
            </a:r>
          </a:p>
        </p:txBody>
      </p:sp>
      <p:sp>
        <p:nvSpPr>
          <p:cNvPr id="4" name="Slide Number Placeholder 3"/>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2020</a:t>
            </a:r>
          </a:p>
        </p:txBody>
      </p:sp>
      <p:sp>
        <p:nvSpPr>
          <p:cNvPr id="6" name="Footer Placeholder 5"/>
          <p:cNvSpPr>
            <a:spLocks noGrp="1"/>
          </p:cNvSpPr>
          <p:nvPr>
            <p:ph type="ftr" sz="quarter" idx="11"/>
          </p:nvPr>
        </p:nvSpPr>
        <p:spPr/>
        <p:txBody>
          <a:bodyPr/>
          <a:lstStyle/>
          <a:p>
            <a:r>
              <a:rPr lang="en-US"/>
              <a:t>Software Engineering</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2020</a:t>
            </a:r>
          </a:p>
        </p:txBody>
      </p:sp>
      <p:sp>
        <p:nvSpPr>
          <p:cNvPr id="6" name="Footer Placeholder 5"/>
          <p:cNvSpPr>
            <a:spLocks noGrp="1"/>
          </p:cNvSpPr>
          <p:nvPr>
            <p:ph type="ftr" sz="quarter" idx="11"/>
          </p:nvPr>
        </p:nvSpPr>
        <p:spPr/>
        <p:txBody>
          <a:bodyPr/>
          <a:lstStyle/>
          <a:p>
            <a:r>
              <a:rPr lang="en-US"/>
              <a:t>Software Engineering</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heme" Target="../theme/theme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userDrawn="1"/>
        </p:nvPicPr>
        <p:blipFill>
          <a:blip r:embed="rId13" cstate="print"/>
          <a:srcRect/>
          <a:stretch>
            <a:fillRect/>
          </a:stretch>
        </p:blipFill>
        <p:spPr bwMode="auto">
          <a:xfrm>
            <a:off x="-747" y="6487366"/>
            <a:ext cx="9131300" cy="357187"/>
          </a:xfrm>
          <a:prstGeom prst="rect">
            <a:avLst/>
          </a:prstGeom>
          <a:noFill/>
          <a:ln w="9525">
            <a:noFill/>
            <a:miter lim="800000"/>
            <a:headEnd/>
            <a:tailEnd/>
          </a:ln>
        </p:spPr>
      </p:pic>
      <p:sp>
        <p:nvSpPr>
          <p:cNvPr id="9"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pic>
        <p:nvPicPr>
          <p:cNvPr id="10" name="Picture 20" descr="header_UTM"/>
          <p:cNvPicPr>
            <a:picLocks noChangeAspect="1" noChangeArrowheads="1"/>
          </p:cNvPicPr>
          <p:nvPr userDrawn="1"/>
        </p:nvPicPr>
        <p:blipFill>
          <a:blip r:embed="rId14" cstate="print"/>
          <a:srcRect/>
          <a:stretch>
            <a:fillRect/>
          </a:stretch>
        </p:blipFill>
        <p:spPr bwMode="auto">
          <a:xfrm>
            <a:off x="63500" y="106363"/>
            <a:ext cx="1195388" cy="395287"/>
          </a:xfrm>
          <a:prstGeom prst="rect">
            <a:avLst/>
          </a:prstGeom>
          <a:noFill/>
          <a:ln w="9525">
            <a:noFill/>
            <a:miter lim="800000"/>
            <a:headEnd/>
            <a:tailEnd/>
          </a:ln>
        </p:spPr>
      </p:pic>
      <p:pic>
        <p:nvPicPr>
          <p:cNvPr id="11" name="Picture 22" descr="header_url"/>
          <p:cNvPicPr>
            <a:picLocks noChangeAspect="1" noChangeArrowheads="1"/>
          </p:cNvPicPr>
          <p:nvPr userDrawn="1"/>
        </p:nvPicPr>
        <p:blipFill>
          <a:blip r:embed="rId15" cstate="print"/>
          <a:srcRect/>
          <a:stretch>
            <a:fillRect/>
          </a:stretch>
        </p:blipFill>
        <p:spPr bwMode="auto">
          <a:xfrm>
            <a:off x="0" y="1169894"/>
            <a:ext cx="2376488" cy="255588"/>
          </a:xfrm>
          <a:prstGeom prst="rect">
            <a:avLst/>
          </a:prstGeom>
          <a:noFill/>
          <a:ln w="9525">
            <a:noFill/>
            <a:miter lim="800000"/>
            <a:headEnd/>
            <a:tailEnd/>
          </a:ln>
        </p:spPr>
      </p:pic>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598396"/>
            <a:ext cx="2133600" cy="365125"/>
          </a:xfrm>
          <a:prstGeom prst="rect">
            <a:avLst/>
          </a:prstGeom>
        </p:spPr>
        <p:txBody>
          <a:bodyPr vert="horz" lIns="91440" tIns="45720" rIns="91440" bIns="45720" rtlCol="0" anchor="ctr"/>
          <a:lstStyle>
            <a:lvl1pPr algn="l">
              <a:defRPr sz="1200">
                <a:solidFill>
                  <a:sysClr val="windowText" lastClr="000000"/>
                </a:solidFill>
              </a:defRPr>
            </a:lvl1pPr>
          </a:lstStyle>
          <a:p>
            <a:r>
              <a:rPr lang="en-US"/>
              <a:t>2020</a:t>
            </a:r>
          </a:p>
        </p:txBody>
      </p:sp>
      <p:sp>
        <p:nvSpPr>
          <p:cNvPr id="5" name="Footer Placeholder 4"/>
          <p:cNvSpPr>
            <a:spLocks noGrp="1"/>
          </p:cNvSpPr>
          <p:nvPr>
            <p:ph type="ftr" sz="quarter" idx="3"/>
          </p:nvPr>
        </p:nvSpPr>
        <p:spPr>
          <a:xfrm>
            <a:off x="2469777" y="6620436"/>
            <a:ext cx="4191000" cy="304800"/>
          </a:xfrm>
          <a:prstGeom prst="rect">
            <a:avLst/>
          </a:prstGeom>
        </p:spPr>
        <p:txBody>
          <a:bodyPr vert="horz" lIns="91440" tIns="45720" rIns="91440" bIns="45720" rtlCol="0" anchor="ctr"/>
          <a:lstStyle>
            <a:lvl1pPr algn="ctr">
              <a:defRPr sz="1200">
                <a:solidFill>
                  <a:sysClr val="windowText" lastClr="000000"/>
                </a:solidFill>
              </a:defRPr>
            </a:lvl1pPr>
          </a:lstStyle>
          <a:p>
            <a:r>
              <a:rPr lang="en-US"/>
              <a:t>Software Engineering</a:t>
            </a:r>
          </a:p>
        </p:txBody>
      </p:sp>
      <p:sp>
        <p:nvSpPr>
          <p:cNvPr id="6" name="Slide Number Placeholder 5"/>
          <p:cNvSpPr>
            <a:spLocks noGrp="1"/>
          </p:cNvSpPr>
          <p:nvPr>
            <p:ph type="sldNum" sz="quarter" idx="4"/>
          </p:nvPr>
        </p:nvSpPr>
        <p:spPr>
          <a:xfrm>
            <a:off x="6553200" y="6598396"/>
            <a:ext cx="2133600" cy="365125"/>
          </a:xfrm>
          <a:prstGeom prst="rect">
            <a:avLst/>
          </a:prstGeom>
        </p:spPr>
        <p:txBody>
          <a:bodyPr vert="horz" lIns="91440" tIns="45720" rIns="91440" bIns="45720" rtlCol="0" anchor="ctr"/>
          <a:lstStyle>
            <a:lvl1pPr algn="r">
              <a:defRPr sz="1200">
                <a:solidFill>
                  <a:sysClr val="windowText" lastClr="000000"/>
                </a:solidFill>
              </a:defRPr>
            </a:lvl1pPr>
          </a:lstStyle>
          <a:p>
            <a:fld id="{0362C787-829C-4B6B-B21B-90D8981190F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Content Placeholder 2"/>
          <p:cNvSpPr txBox="1">
            <a:spLocks/>
          </p:cNvSpPr>
          <p:nvPr userDrawn="1"/>
        </p:nvSpPr>
        <p:spPr>
          <a:xfrm>
            <a:off x="457200" y="1600200"/>
            <a:ext cx="8229600" cy="4525963"/>
          </a:xfrm>
          <a:prstGeom prst="rect">
            <a:avLst/>
          </a:prstGeom>
        </p:spPr>
        <p:txBody>
          <a:bodyPr/>
          <a:lstStyle/>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5400" b="0" i="0" u="none" strike="noStrike" kern="1200" cap="none" spc="0" normalizeH="0" baseline="0" noProof="0">
              <a:ln>
                <a:noFill/>
              </a:ln>
              <a:solidFill>
                <a:schemeClr val="tx1"/>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5400" b="1" i="0" u="none" strike="noStrike" kern="1200" cap="none" spc="0" normalizeH="0" baseline="0" noProof="0">
                <a:ln>
                  <a:noFill/>
                </a:ln>
                <a:solidFill>
                  <a:schemeClr val="tx1"/>
                </a:solidFill>
                <a:effectLst/>
                <a:uLnTx/>
                <a:uFillTx/>
                <a:latin typeface="+mn-lt"/>
                <a:ea typeface="+mn-ea"/>
                <a:cs typeface="+mn-cs"/>
              </a:rPr>
              <a:t>Terima Kasih</a:t>
            </a: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800" b="0" i="0" u="none" strike="noStrike" kern="1200" cap="none" spc="0" normalizeH="0" baseline="0" noProof="0">
                <a:ln>
                  <a:noFill/>
                </a:ln>
                <a:solidFill>
                  <a:srgbClr val="C00000"/>
                </a:solidFill>
                <a:effectLst/>
                <a:uLnTx/>
                <a:uFillTx/>
                <a:latin typeface="+mn-lt"/>
                <a:ea typeface="+mn-ea"/>
                <a:cs typeface="+mn-cs"/>
              </a:rPr>
              <a:t>atas keprihatinan anda</a:t>
            </a: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800" b="0" i="0" u="none" strike="noStrike" kern="1200" cap="none" spc="0" normalizeH="0" baseline="0" noProof="0">
              <a:ln>
                <a:noFill/>
              </a:ln>
              <a:solidFill>
                <a:srgbClr val="C00000"/>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3600" b="1" i="0" u="none" strike="noStrike" kern="1200" cap="none" spc="0" normalizeH="0" baseline="0" noProof="0">
                <a:ln>
                  <a:noFill/>
                </a:ln>
                <a:solidFill>
                  <a:srgbClr val="002060"/>
                </a:solidFill>
                <a:effectLst/>
                <a:uLnTx/>
                <a:uFillTx/>
                <a:latin typeface="Baskerville Old Face" pitchFamily="18" charset="0"/>
                <a:ea typeface="+mn-ea"/>
                <a:cs typeface="+mn-cs"/>
              </a:rPr>
              <a:t>“I Care, You Care, We Care”</a:t>
            </a:r>
            <a:endParaRPr kumimoji="0" lang="en-US" sz="3600" b="1" i="0" u="none" strike="noStrike" kern="1200" cap="none" spc="0" normalizeH="0" baseline="0" noProof="0" dirty="0">
              <a:ln>
                <a:noFill/>
              </a:ln>
              <a:solidFill>
                <a:srgbClr val="002060"/>
              </a:solidFill>
              <a:effectLst/>
              <a:uLnTx/>
              <a:uFillTx/>
              <a:latin typeface="Baskerville Old Face" pitchFamily="18" charset="0"/>
              <a:ea typeface="+mn-ea"/>
              <a:cs typeface="+mn-cs"/>
            </a:endParaRPr>
          </a:p>
        </p:txBody>
      </p:sp>
      <p:pic>
        <p:nvPicPr>
          <p:cNvPr id="13" name="Picture 10"/>
          <p:cNvPicPr>
            <a:picLocks noChangeAspect="1" noChangeArrowheads="1"/>
          </p:cNvPicPr>
          <p:nvPr userDrawn="1"/>
        </p:nvPicPr>
        <p:blipFill>
          <a:blip r:embed="rId2" cstate="print"/>
          <a:srcRect/>
          <a:stretch>
            <a:fillRect/>
          </a:stretch>
        </p:blipFill>
        <p:spPr bwMode="auto">
          <a:xfrm>
            <a:off x="-747" y="6487366"/>
            <a:ext cx="9131300" cy="357187"/>
          </a:xfrm>
          <a:prstGeom prst="rect">
            <a:avLst/>
          </a:prstGeom>
          <a:noFill/>
          <a:ln w="9525">
            <a:noFill/>
            <a:miter lim="800000"/>
            <a:headEnd/>
            <a:tailEnd/>
          </a:ln>
        </p:spPr>
      </p:pic>
      <p:sp>
        <p:nvSpPr>
          <p:cNvPr id="14" name="Date Placeholder 3"/>
          <p:cNvSpPr>
            <a:spLocks noGrp="1"/>
          </p:cNvSpPr>
          <p:nvPr>
            <p:ph type="dt" sz="half" idx="2"/>
          </p:nvPr>
        </p:nvSpPr>
        <p:spPr>
          <a:xfrm>
            <a:off x="0" y="6600451"/>
            <a:ext cx="1547664"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solidFill>
                <a:latin typeface="+mn-lt"/>
              </a:defRPr>
            </a:lvl1pPr>
          </a:lstStyle>
          <a:p>
            <a:pPr>
              <a:defRPr/>
            </a:pPr>
            <a:r>
              <a:rPr lang="en-US"/>
              <a:t>2020</a:t>
            </a:r>
            <a:endParaRPr lang="en-US" dirty="0"/>
          </a:p>
        </p:txBody>
      </p:sp>
      <p:sp>
        <p:nvSpPr>
          <p:cNvPr id="15" name="Slide Number Placeholder 5"/>
          <p:cNvSpPr>
            <a:spLocks noGrp="1"/>
          </p:cNvSpPr>
          <p:nvPr>
            <p:ph type="sldNum" sz="quarter" idx="4"/>
          </p:nvPr>
        </p:nvSpPr>
        <p:spPr>
          <a:xfrm>
            <a:off x="8316416" y="6600451"/>
            <a:ext cx="4572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solidFill>
                <a:latin typeface="+mn-lt"/>
              </a:defRPr>
            </a:lvl1pPr>
          </a:lstStyle>
          <a:p>
            <a:pPr>
              <a:defRPr/>
            </a:pPr>
            <a:fld id="{C038A795-CA2C-4B96-A1E0-C7053193AEE8}" type="slidenum">
              <a:rPr lang="en-US"/>
              <a:pPr>
                <a:defRPr/>
              </a:pPr>
              <a:t>‹#›</a:t>
            </a:fld>
            <a:endParaRPr lang="en-US"/>
          </a:p>
        </p:txBody>
      </p:sp>
      <p:sp>
        <p:nvSpPr>
          <p:cNvPr id="16"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pic>
        <p:nvPicPr>
          <p:cNvPr id="17" name="Picture 20" descr="header_UTM"/>
          <p:cNvPicPr>
            <a:picLocks noChangeAspect="1" noChangeArrowheads="1"/>
          </p:cNvPicPr>
          <p:nvPr userDrawn="1"/>
        </p:nvPicPr>
        <p:blipFill>
          <a:blip r:embed="rId3" cstate="print"/>
          <a:srcRect/>
          <a:stretch>
            <a:fillRect/>
          </a:stretch>
        </p:blipFill>
        <p:spPr bwMode="auto">
          <a:xfrm>
            <a:off x="63500" y="106363"/>
            <a:ext cx="1195388" cy="395287"/>
          </a:xfrm>
          <a:prstGeom prst="rect">
            <a:avLst/>
          </a:prstGeom>
          <a:noFill/>
          <a:ln w="9525">
            <a:noFill/>
            <a:miter lim="800000"/>
            <a:headEnd/>
            <a:tailEnd/>
          </a:ln>
        </p:spPr>
      </p:pic>
      <p:pic>
        <p:nvPicPr>
          <p:cNvPr id="18" name="Picture 22" descr="header_url"/>
          <p:cNvPicPr>
            <a:picLocks noChangeAspect="1" noChangeArrowheads="1"/>
          </p:cNvPicPr>
          <p:nvPr userDrawn="1"/>
        </p:nvPicPr>
        <p:blipFill>
          <a:blip r:embed="rId4" cstate="print"/>
          <a:srcRect/>
          <a:stretch>
            <a:fillRect/>
          </a:stretch>
        </p:blipFill>
        <p:spPr bwMode="auto">
          <a:xfrm>
            <a:off x="0" y="1009650"/>
            <a:ext cx="2376488" cy="388938"/>
          </a:xfrm>
          <a:prstGeom prst="rect">
            <a:avLst/>
          </a:prstGeom>
          <a:noFill/>
          <a:ln w="9525">
            <a:noFill/>
            <a:miter lim="800000"/>
            <a:headEnd/>
            <a:tailEnd/>
          </a:ln>
        </p:spPr>
      </p:pic>
      <p:pic>
        <p:nvPicPr>
          <p:cNvPr id="19" name="Picture 7"/>
          <p:cNvPicPr>
            <a:picLocks noChangeAspect="1" noChangeArrowheads="1"/>
          </p:cNvPicPr>
          <p:nvPr userDrawn="1"/>
        </p:nvPicPr>
        <p:blipFill>
          <a:blip r:embed="rId5" cstate="print"/>
          <a:srcRect/>
          <a:stretch>
            <a:fillRect/>
          </a:stretch>
        </p:blipFill>
        <p:spPr bwMode="auto">
          <a:xfrm>
            <a:off x="1873008" y="53788"/>
            <a:ext cx="580837" cy="438130"/>
          </a:xfrm>
          <a:prstGeom prst="rect">
            <a:avLst/>
          </a:prstGeom>
          <a:noFill/>
          <a:ln w="9525">
            <a:noFill/>
            <a:miter lim="800000"/>
            <a:headEnd/>
            <a:tailEnd/>
          </a:ln>
        </p:spPr>
      </p:pic>
      <p:pic>
        <p:nvPicPr>
          <p:cNvPr id="20" name="Picture 8" descr="PNG_newlogo"/>
          <p:cNvPicPr>
            <a:picLocks noChangeAspect="1" noChangeArrowheads="1"/>
          </p:cNvPicPr>
          <p:nvPr userDrawn="1"/>
        </p:nvPicPr>
        <p:blipFill>
          <a:blip r:embed="rId6" cstate="print"/>
          <a:srcRect/>
          <a:stretch>
            <a:fillRect/>
          </a:stretch>
        </p:blipFill>
        <p:spPr bwMode="auto">
          <a:xfrm>
            <a:off x="1354633" y="26894"/>
            <a:ext cx="504056" cy="477366"/>
          </a:xfrm>
          <a:prstGeom prst="rect">
            <a:avLst/>
          </a:prstGeom>
          <a:noFill/>
          <a:ln w="9525" algn="in">
            <a:noFill/>
            <a:miter lim="800000"/>
            <a:headEnd/>
            <a:tailEnd/>
          </a:ln>
        </p:spPr>
      </p:pic>
      <p:sp>
        <p:nvSpPr>
          <p:cNvPr id="21" name="Footer Placeholder 4"/>
          <p:cNvSpPr>
            <a:spLocks noGrp="1"/>
          </p:cNvSpPr>
          <p:nvPr>
            <p:ph type="ftr" sz="quarter" idx="3"/>
          </p:nvPr>
        </p:nvSpPr>
        <p:spPr>
          <a:xfrm>
            <a:off x="2281520" y="6647328"/>
            <a:ext cx="4704928" cy="365125"/>
          </a:xfrm>
          <a:prstGeom prst="rect">
            <a:avLst/>
          </a:prstGeom>
        </p:spPr>
        <p:txBody>
          <a:bodyPr/>
          <a:lstStyle>
            <a:lvl1pPr algn="ctr">
              <a:defRPr sz="1100"/>
            </a:lvl1pPr>
          </a:lstStyle>
          <a:p>
            <a:pPr>
              <a:defRPr/>
            </a:pPr>
            <a:r>
              <a:rPr lang="en-US"/>
              <a:t>Software Engineering</a:t>
            </a:r>
            <a:endParaRPr lang="en-US" dirty="0"/>
          </a:p>
        </p:txBody>
      </p:sp>
    </p:spTree>
  </p:cSld>
  <p:clrMap bg1="lt1" tx1="dk1" bg2="lt2" tx2="dk2" accent1="accent1" accent2="accent2" accent3="accent3" accent4="accent4" accent5="accent5" accent6="accent6" hlink="hlink" folHlink="folHlink"/>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Engineering Case Studies</a:t>
            </a:r>
          </a:p>
        </p:txBody>
      </p:sp>
      <p:sp>
        <p:nvSpPr>
          <p:cNvPr id="3" name="Subtitle 2"/>
          <p:cNvSpPr>
            <a:spLocks noGrp="1"/>
          </p:cNvSpPr>
          <p:nvPr>
            <p:ph type="subTitle" idx="1"/>
          </p:nvPr>
        </p:nvSpPr>
        <p:spPr>
          <a:xfrm>
            <a:off x="1143000" y="4168774"/>
            <a:ext cx="6858000" cy="1470025"/>
          </a:xfrm>
        </p:spPr>
        <p:txBody>
          <a:bodyPr>
            <a:normAutofit fontScale="92500" lnSpcReduction="20000"/>
          </a:bodyPr>
          <a:lstStyle/>
          <a:p>
            <a:r>
              <a:rPr lang="en-US" sz="4000" dirty="0">
                <a:solidFill>
                  <a:schemeClr val="tx2"/>
                </a:solidFill>
              </a:rPr>
              <a:t>Software Engineering</a:t>
            </a:r>
            <a:endParaRPr lang="en-US" sz="4000" dirty="0"/>
          </a:p>
          <a:p>
            <a:r>
              <a:rPr lang="en-US" sz="2800" dirty="0"/>
              <a:t>School of Computing, Faculty of Engineering</a:t>
            </a:r>
          </a:p>
          <a:p>
            <a:r>
              <a:rPr lang="en-US" sz="2800" dirty="0" err="1"/>
              <a:t>Universiti</a:t>
            </a:r>
            <a:r>
              <a:rPr lang="en-US" sz="2800" dirty="0"/>
              <a:t> </a:t>
            </a:r>
            <a:r>
              <a:rPr lang="en-US" sz="2800" dirty="0" err="1"/>
              <a:t>Teknologi</a:t>
            </a:r>
            <a:r>
              <a:rPr lang="en-US" sz="2800" dirty="0"/>
              <a:t> Malaysia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Studies</a:t>
            </a:r>
          </a:p>
        </p:txBody>
      </p:sp>
      <p:sp>
        <p:nvSpPr>
          <p:cNvPr id="3" name="Content Placeholder 2"/>
          <p:cNvSpPr>
            <a:spLocks noGrp="1"/>
          </p:cNvSpPr>
          <p:nvPr>
            <p:ph idx="1"/>
          </p:nvPr>
        </p:nvSpPr>
        <p:spPr/>
        <p:txBody>
          <a:bodyPr/>
          <a:lstStyle/>
          <a:p>
            <a:pPr algn="just"/>
            <a:r>
              <a:rPr lang="en-US" sz="2800" dirty="0"/>
              <a:t>Mental Health Care Patient Management System (MHC-PMS)</a:t>
            </a:r>
          </a:p>
          <a:p>
            <a:pPr lvl="1" algn="just"/>
            <a:r>
              <a:rPr lang="en-US" sz="2400" dirty="0"/>
              <a:t>A system used to maintain records of people receiving care for mental health problems.</a:t>
            </a:r>
          </a:p>
          <a:p>
            <a:pPr algn="just"/>
            <a:r>
              <a:rPr lang="en-US" sz="2800" dirty="0"/>
              <a:t>Wilderness Weather Station</a:t>
            </a:r>
          </a:p>
          <a:p>
            <a:pPr lvl="1" algn="just"/>
            <a:r>
              <a:rPr lang="en-US" sz="2400" dirty="0"/>
              <a:t>A data collection system that collects data about weather conditions in remote areas.</a:t>
            </a:r>
          </a:p>
          <a:p>
            <a:pPr marL="0" indent="0" algn="just">
              <a:buNone/>
            </a:pPr>
            <a:endParaRPr lang="en-US"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2</a:t>
            </a:fld>
            <a:endParaRPr lang="en-US"/>
          </a:p>
        </p:txBody>
      </p:sp>
      <p:sp>
        <p:nvSpPr>
          <p:cNvPr id="7" name="TextBox 6"/>
          <p:cNvSpPr txBox="1"/>
          <p:nvPr/>
        </p:nvSpPr>
        <p:spPr>
          <a:xfrm>
            <a:off x="446315" y="5764087"/>
            <a:ext cx="8392886" cy="369332"/>
          </a:xfrm>
          <a:prstGeom prst="rect">
            <a:avLst/>
          </a:prstGeom>
          <a:noFill/>
        </p:spPr>
        <p:txBody>
          <a:bodyPr wrap="square" rtlCol="0">
            <a:spAutoFit/>
          </a:bodyPr>
          <a:lstStyle/>
          <a:p>
            <a:r>
              <a:rPr lang="en-MY" dirty="0">
                <a:solidFill>
                  <a:srgbClr val="C00000"/>
                </a:solidFill>
              </a:rPr>
              <a:t>Note: The case studies are from the main reference that is Sommerville (2016)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Mental health care patient management system (MHC-PMS)</a:t>
            </a:r>
            <a:endParaRPr lang="en-US" dirty="0"/>
          </a:p>
        </p:txBody>
      </p:sp>
      <p:sp>
        <p:nvSpPr>
          <p:cNvPr id="3" name="Text Placeholder 2"/>
          <p:cNvSpPr>
            <a:spLocks noGrp="1"/>
          </p:cNvSpPr>
          <p:nvPr>
            <p:ph type="body" idx="1"/>
          </p:nvPr>
        </p:nvSpPr>
        <p:spPr/>
        <p:txBody>
          <a:bodyPr/>
          <a:lstStyle/>
          <a:p>
            <a:r>
              <a:rPr lang="en-MY"/>
              <a:t>Case Study 1</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3</a:t>
            </a:fld>
            <a:endParaRPr lang="en-US"/>
          </a:p>
        </p:txBody>
      </p:sp>
    </p:spTree>
    <p:extLst>
      <p:ext uri="{BB962C8B-B14F-4D97-AF65-F5344CB8AC3E}">
        <p14:creationId xmlns:p14="http://schemas.microsoft.com/office/powerpoint/2010/main" val="3997885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Mental Health Care Patient Management System (MHC-PMS)</a:t>
            </a:r>
            <a:endParaRPr lang="en-MY" dirty="0"/>
          </a:p>
        </p:txBody>
      </p:sp>
      <p:sp>
        <p:nvSpPr>
          <p:cNvPr id="3" name="Content Placeholder 2"/>
          <p:cNvSpPr>
            <a:spLocks noGrp="1"/>
          </p:cNvSpPr>
          <p:nvPr>
            <p:ph idx="1"/>
          </p:nvPr>
        </p:nvSpPr>
        <p:spPr/>
        <p:txBody>
          <a:bodyPr>
            <a:normAutofit/>
          </a:bodyPr>
          <a:lstStyle/>
          <a:p>
            <a:pPr algn="just"/>
            <a:r>
              <a:rPr lang="en-US" sz="2400" dirty="0"/>
              <a:t>A patient information system to support mental health care is a medical information system that maintains information about patients suffering from mental health problems and the treatments that they have received. </a:t>
            </a:r>
          </a:p>
          <a:p>
            <a:pPr algn="just"/>
            <a:r>
              <a:rPr lang="en-US" sz="2400" dirty="0"/>
              <a:t>Most mental health patients do not require dedicated hospital treatment but need to attend specialist clinics regularly where they can meet a doctor who has detailed knowledge of their problems. </a:t>
            </a:r>
          </a:p>
          <a:p>
            <a:pPr algn="just"/>
            <a:r>
              <a:rPr lang="en-US" sz="2400" dirty="0"/>
              <a:t>To make it easier for patients to attend, these clinics are not just run in hospitals. They may also be held in local medical practices or community </a:t>
            </a:r>
            <a:r>
              <a:rPr lang="en-US" sz="2400" dirty="0" err="1"/>
              <a:t>centres</a:t>
            </a:r>
            <a:r>
              <a:rPr lang="en-US" sz="2400" dirty="0"/>
              <a:t>.</a:t>
            </a:r>
            <a:endParaRPr lang="en-MY" sz="2400"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4</a:t>
            </a:fld>
            <a:endParaRPr lang="en-US"/>
          </a:p>
        </p:txBody>
      </p:sp>
    </p:spTree>
    <p:extLst>
      <p:ext uri="{BB962C8B-B14F-4D97-AF65-F5344CB8AC3E}">
        <p14:creationId xmlns:p14="http://schemas.microsoft.com/office/powerpoint/2010/main" val="3566724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MHC-PMS</a:t>
            </a:r>
            <a:endParaRPr lang="en-MY" dirty="0"/>
          </a:p>
        </p:txBody>
      </p:sp>
      <p:sp>
        <p:nvSpPr>
          <p:cNvPr id="3" name="Content Placeholder 2"/>
          <p:cNvSpPr>
            <a:spLocks noGrp="1"/>
          </p:cNvSpPr>
          <p:nvPr>
            <p:ph idx="1"/>
          </p:nvPr>
        </p:nvSpPr>
        <p:spPr/>
        <p:txBody>
          <a:bodyPr>
            <a:normAutofit/>
          </a:bodyPr>
          <a:lstStyle/>
          <a:p>
            <a:pPr algn="just"/>
            <a:r>
              <a:rPr lang="en-GB" sz="2400" dirty="0"/>
              <a:t>MHC-PMS is an </a:t>
            </a:r>
            <a:r>
              <a:rPr lang="en-GB" sz="2400" b="1" dirty="0">
                <a:solidFill>
                  <a:srgbClr val="C00000"/>
                </a:solidFill>
              </a:rPr>
              <a:t>information system</a:t>
            </a:r>
            <a:r>
              <a:rPr lang="en-GB" sz="2400" dirty="0"/>
              <a:t> that is intended for use in clinics.</a:t>
            </a:r>
          </a:p>
          <a:p>
            <a:pPr algn="just"/>
            <a:r>
              <a:rPr lang="en-GB" sz="2400" dirty="0"/>
              <a:t>It makes use of a centralized database of patient information but has also been designed to run on a PC, so that it may be accessed and used from sites that do not have secure network connectivity.</a:t>
            </a:r>
          </a:p>
          <a:p>
            <a:pPr algn="just"/>
            <a:r>
              <a:rPr lang="en-GB" sz="2400" dirty="0"/>
              <a:t>When the local systems have secure network access, they use patient information in the database, but they can download and use local copies of patient records when they are disconnected. </a:t>
            </a:r>
            <a:endParaRPr lang="en-US" sz="2400" dirty="0"/>
          </a:p>
          <a:p>
            <a:pPr marL="0" indent="0" algn="just">
              <a:buNone/>
            </a:pPr>
            <a:endParaRPr lang="en-MY" sz="2400"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5</a:t>
            </a:fld>
            <a:endParaRPr lang="en-US"/>
          </a:p>
        </p:txBody>
      </p:sp>
    </p:spTree>
    <p:extLst>
      <p:ext uri="{BB962C8B-B14F-4D97-AF65-F5344CB8AC3E}">
        <p14:creationId xmlns:p14="http://schemas.microsoft.com/office/powerpoint/2010/main" val="1697989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MHC-PMS Goals</a:t>
            </a:r>
            <a:endParaRPr lang="en-MY" dirty="0"/>
          </a:p>
        </p:txBody>
      </p:sp>
      <p:sp>
        <p:nvSpPr>
          <p:cNvPr id="3" name="Content Placeholder 2"/>
          <p:cNvSpPr>
            <a:spLocks noGrp="1"/>
          </p:cNvSpPr>
          <p:nvPr>
            <p:ph idx="1"/>
          </p:nvPr>
        </p:nvSpPr>
        <p:spPr/>
        <p:txBody>
          <a:bodyPr>
            <a:normAutofit/>
          </a:bodyPr>
          <a:lstStyle/>
          <a:p>
            <a:pPr algn="just"/>
            <a:r>
              <a:rPr lang="en-GB" sz="2800" dirty="0"/>
              <a:t>To generate management information that allows health service managers to assess performance against local and government targets.</a:t>
            </a:r>
          </a:p>
          <a:p>
            <a:pPr algn="just"/>
            <a:r>
              <a:rPr lang="en-GB" sz="2800" dirty="0"/>
              <a:t>To provide medical staff with timely information to support the treatment of patients.</a:t>
            </a:r>
          </a:p>
          <a:p>
            <a:pPr algn="just"/>
            <a:endParaRPr lang="en-US" sz="2800" dirty="0"/>
          </a:p>
          <a:p>
            <a:pPr marL="0" indent="0" algn="just">
              <a:buNone/>
            </a:pPr>
            <a:endParaRPr lang="en-MY" sz="2800"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6</a:t>
            </a:fld>
            <a:endParaRPr lang="en-US"/>
          </a:p>
        </p:txBody>
      </p:sp>
    </p:spTree>
    <p:extLst>
      <p:ext uri="{BB962C8B-B14F-4D97-AF65-F5344CB8AC3E}">
        <p14:creationId xmlns:p14="http://schemas.microsoft.com/office/powerpoint/2010/main" val="1698891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Organization of the MHC-PMS </a:t>
            </a:r>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7</a:t>
            </a:fld>
            <a:endParaRPr lang="en-US"/>
          </a:p>
        </p:txBody>
      </p:sp>
      <p:pic>
        <p:nvPicPr>
          <p:cNvPr id="7" name="Picture 3" descr="1.6 MHC-PMS.eps"/>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55286" y="3418764"/>
            <a:ext cx="4410982" cy="278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3"/>
          <a:stretch>
            <a:fillRect/>
          </a:stretch>
        </p:blipFill>
        <p:spPr>
          <a:xfrm>
            <a:off x="246743" y="1770725"/>
            <a:ext cx="4029075" cy="3006772"/>
          </a:xfrm>
          <a:prstGeom prst="rect">
            <a:avLst/>
          </a:prstGeom>
        </p:spPr>
      </p:pic>
      <p:pic>
        <p:nvPicPr>
          <p:cNvPr id="8" name="Picture 7"/>
          <p:cNvPicPr>
            <a:picLocks noChangeAspect="1"/>
          </p:cNvPicPr>
          <p:nvPr/>
        </p:nvPicPr>
        <p:blipFill>
          <a:blip r:embed="rId4"/>
          <a:stretch>
            <a:fillRect/>
          </a:stretch>
        </p:blipFill>
        <p:spPr>
          <a:xfrm>
            <a:off x="4275818" y="2007183"/>
            <a:ext cx="1646063" cy="1341236"/>
          </a:xfrm>
          <a:prstGeom prst="rect">
            <a:avLst/>
          </a:prstGeom>
        </p:spPr>
      </p:pic>
    </p:spTree>
    <p:extLst>
      <p:ext uri="{BB962C8B-B14F-4D97-AF65-F5344CB8AC3E}">
        <p14:creationId xmlns:p14="http://schemas.microsoft.com/office/powerpoint/2010/main" val="4196657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MHC-PMS Key Features</a:t>
            </a:r>
            <a:endParaRPr lang="en-MY" dirty="0"/>
          </a:p>
        </p:txBody>
      </p:sp>
      <p:sp>
        <p:nvSpPr>
          <p:cNvPr id="3" name="Content Placeholder 2"/>
          <p:cNvSpPr>
            <a:spLocks noGrp="1"/>
          </p:cNvSpPr>
          <p:nvPr>
            <p:ph idx="1"/>
          </p:nvPr>
        </p:nvSpPr>
        <p:spPr/>
        <p:txBody>
          <a:bodyPr>
            <a:noAutofit/>
          </a:bodyPr>
          <a:lstStyle/>
          <a:p>
            <a:pPr algn="just">
              <a:lnSpc>
                <a:spcPct val="80000"/>
              </a:lnSpc>
            </a:pPr>
            <a:r>
              <a:rPr lang="en-GB" sz="2300" dirty="0"/>
              <a:t>Individual care management</a:t>
            </a:r>
          </a:p>
          <a:p>
            <a:pPr lvl="1" algn="just">
              <a:lnSpc>
                <a:spcPct val="80000"/>
              </a:lnSpc>
            </a:pPr>
            <a:r>
              <a:rPr lang="en-GB" sz="2300" dirty="0"/>
              <a:t>Clinicians can create records for patients, edit the information in the system, view patient history, etc. </a:t>
            </a:r>
          </a:p>
          <a:p>
            <a:pPr lvl="1" algn="just">
              <a:lnSpc>
                <a:spcPct val="80000"/>
              </a:lnSpc>
            </a:pPr>
            <a:r>
              <a:rPr lang="en-GB" sz="2300" dirty="0"/>
              <a:t>The system supports data summaries so that doctors can quickly learn about the key problems and treatments that have been prescribed.</a:t>
            </a:r>
          </a:p>
          <a:p>
            <a:pPr algn="just">
              <a:lnSpc>
                <a:spcPct val="80000"/>
              </a:lnSpc>
            </a:pPr>
            <a:r>
              <a:rPr lang="en-GB" sz="2300" dirty="0"/>
              <a:t>Patient monitoring</a:t>
            </a:r>
          </a:p>
          <a:p>
            <a:pPr lvl="1" algn="just">
              <a:lnSpc>
                <a:spcPct val="80000"/>
              </a:lnSpc>
            </a:pPr>
            <a:r>
              <a:rPr lang="en-GB" sz="2300" dirty="0"/>
              <a:t>The system monitors the records of patients that are involved in treatment and issues warnings if possible, problems are detected.</a:t>
            </a:r>
          </a:p>
          <a:p>
            <a:pPr algn="just">
              <a:lnSpc>
                <a:spcPct val="80000"/>
              </a:lnSpc>
            </a:pPr>
            <a:r>
              <a:rPr lang="en-GB" sz="2300" dirty="0"/>
              <a:t>Administrative reporting</a:t>
            </a:r>
          </a:p>
          <a:p>
            <a:pPr lvl="1" algn="just">
              <a:lnSpc>
                <a:spcPct val="80000"/>
              </a:lnSpc>
            </a:pPr>
            <a:r>
              <a:rPr lang="en-GB" sz="2300" dirty="0"/>
              <a:t>The system generates monthly management reports showing the number of patients treated at each clinic, the number of patients who have entered and left the care system, number of patients sectioned, the drugs prescribed and their costs, etc. </a:t>
            </a:r>
            <a:endParaRPr lang="en-US" sz="2300" dirty="0"/>
          </a:p>
          <a:p>
            <a:pPr marL="0" indent="0" algn="just">
              <a:buNone/>
            </a:pPr>
            <a:endParaRPr lang="en-MY" sz="2300"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8</a:t>
            </a:fld>
            <a:endParaRPr lang="en-US"/>
          </a:p>
        </p:txBody>
      </p:sp>
    </p:spTree>
    <p:extLst>
      <p:ext uri="{BB962C8B-B14F-4D97-AF65-F5344CB8AC3E}">
        <p14:creationId xmlns:p14="http://schemas.microsoft.com/office/powerpoint/2010/main" val="2360177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MHC-PMS Concerns</a:t>
            </a:r>
            <a:endParaRPr lang="en-MY" dirty="0"/>
          </a:p>
        </p:txBody>
      </p:sp>
      <p:sp>
        <p:nvSpPr>
          <p:cNvPr id="3" name="Content Placeholder 2"/>
          <p:cNvSpPr>
            <a:spLocks noGrp="1"/>
          </p:cNvSpPr>
          <p:nvPr>
            <p:ph idx="1"/>
          </p:nvPr>
        </p:nvSpPr>
        <p:spPr/>
        <p:txBody>
          <a:bodyPr>
            <a:normAutofit/>
          </a:bodyPr>
          <a:lstStyle/>
          <a:p>
            <a:pPr algn="just">
              <a:lnSpc>
                <a:spcPct val="80000"/>
              </a:lnSpc>
            </a:pPr>
            <a:r>
              <a:rPr lang="en-US" sz="2400" dirty="0"/>
              <a:t>Privacy</a:t>
            </a:r>
          </a:p>
          <a:p>
            <a:pPr lvl="1" algn="just">
              <a:lnSpc>
                <a:spcPct val="80000"/>
              </a:lnSpc>
            </a:pPr>
            <a:r>
              <a:rPr lang="en-GB" sz="2400" dirty="0"/>
              <a:t>It is essential that patient information is confidential and is never disclosed to anyone apart from authorised medical staff and the patient themselves. </a:t>
            </a:r>
            <a:endParaRPr lang="en-US" sz="2400" dirty="0"/>
          </a:p>
          <a:p>
            <a:pPr algn="just">
              <a:lnSpc>
                <a:spcPct val="80000"/>
              </a:lnSpc>
            </a:pPr>
            <a:r>
              <a:rPr lang="en-US" sz="2400" dirty="0"/>
              <a:t>Safety</a:t>
            </a:r>
          </a:p>
          <a:p>
            <a:pPr lvl="1" algn="just">
              <a:lnSpc>
                <a:spcPct val="80000"/>
              </a:lnSpc>
            </a:pPr>
            <a:r>
              <a:rPr lang="en-GB" sz="2400" dirty="0"/>
              <a:t>Some mental illnesses cause patients to become suicidal or a danger to other people. Wherever possible, the system should warn medical staff about potentially suicidal or dangerous patients.</a:t>
            </a:r>
          </a:p>
          <a:p>
            <a:pPr lvl="1" algn="just">
              <a:lnSpc>
                <a:spcPct val="80000"/>
              </a:lnSpc>
            </a:pPr>
            <a:r>
              <a:rPr lang="en-GB" sz="2400" dirty="0"/>
              <a:t>The system must be available when needed otherwise safety may be compromised and it may be impossible to prescribe the correct medication to patients. </a:t>
            </a:r>
            <a:endParaRPr lang="en-US" sz="2400" dirty="0"/>
          </a:p>
          <a:p>
            <a:pPr marL="0" indent="0" algn="just">
              <a:buNone/>
            </a:pPr>
            <a:endParaRPr lang="en-MY" sz="2400"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9</a:t>
            </a:fld>
            <a:endParaRPr lang="en-US"/>
          </a:p>
        </p:txBody>
      </p:sp>
    </p:spTree>
    <p:extLst>
      <p:ext uri="{BB962C8B-B14F-4D97-AF65-F5344CB8AC3E}">
        <p14:creationId xmlns:p14="http://schemas.microsoft.com/office/powerpoint/2010/main" val="2121500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Wilderness weather station</a:t>
            </a:r>
            <a:endParaRPr lang="en-MY"/>
          </a:p>
        </p:txBody>
      </p:sp>
      <p:sp>
        <p:nvSpPr>
          <p:cNvPr id="3" name="Text Placeholder 2"/>
          <p:cNvSpPr>
            <a:spLocks noGrp="1"/>
          </p:cNvSpPr>
          <p:nvPr>
            <p:ph type="body" idx="1"/>
          </p:nvPr>
        </p:nvSpPr>
        <p:spPr/>
        <p:txBody>
          <a:bodyPr/>
          <a:lstStyle/>
          <a:p>
            <a:r>
              <a:rPr lang="en-MY"/>
              <a:t>Case Study 2</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10</a:t>
            </a:fld>
            <a:endParaRPr lang="en-US"/>
          </a:p>
        </p:txBody>
      </p:sp>
    </p:spTree>
    <p:extLst>
      <p:ext uri="{BB962C8B-B14F-4D97-AF65-F5344CB8AC3E}">
        <p14:creationId xmlns:p14="http://schemas.microsoft.com/office/powerpoint/2010/main" val="3679742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Wilderness Weather Station</a:t>
            </a:r>
            <a:endParaRPr lang="en-MY" dirty="0"/>
          </a:p>
        </p:txBody>
      </p:sp>
      <p:sp>
        <p:nvSpPr>
          <p:cNvPr id="3" name="Content Placeholder 2"/>
          <p:cNvSpPr>
            <a:spLocks noGrp="1"/>
          </p:cNvSpPr>
          <p:nvPr>
            <p:ph idx="1"/>
          </p:nvPr>
        </p:nvSpPr>
        <p:spPr>
          <a:xfrm>
            <a:off x="457200" y="1600200"/>
            <a:ext cx="8229600" cy="4724400"/>
          </a:xfrm>
        </p:spPr>
        <p:txBody>
          <a:bodyPr>
            <a:normAutofit/>
          </a:bodyPr>
          <a:lstStyle/>
          <a:p>
            <a:pPr algn="just">
              <a:lnSpc>
                <a:spcPct val="90000"/>
              </a:lnSpc>
            </a:pPr>
            <a:r>
              <a:rPr lang="en-GB" sz="2400" dirty="0"/>
              <a:t>The government of a country with large areas of wilderness decides to deploy </a:t>
            </a:r>
            <a:r>
              <a:rPr lang="en-GB" sz="2400" b="1" dirty="0">
                <a:solidFill>
                  <a:srgbClr val="C00000"/>
                </a:solidFill>
              </a:rPr>
              <a:t>several hundred weather stations</a:t>
            </a:r>
            <a:r>
              <a:rPr lang="en-GB" sz="2400" dirty="0"/>
              <a:t> in remote areas.</a:t>
            </a:r>
          </a:p>
          <a:p>
            <a:pPr algn="just">
              <a:lnSpc>
                <a:spcPct val="90000"/>
              </a:lnSpc>
            </a:pPr>
            <a:r>
              <a:rPr lang="en-GB" sz="2400" dirty="0"/>
              <a:t>Weather stations collect data from a set of instruments that measure temperature and pressure, sunshine, rainfall, wind speed and </a:t>
            </a:r>
            <a:r>
              <a:rPr lang="en-GB" sz="2400"/>
              <a:t>wind direction.</a:t>
            </a:r>
          </a:p>
          <a:p>
            <a:pPr algn="just">
              <a:lnSpc>
                <a:spcPct val="90000"/>
              </a:lnSpc>
            </a:pPr>
            <a:r>
              <a:rPr lang="en-GB" sz="2400"/>
              <a:t>The </a:t>
            </a:r>
            <a:r>
              <a:rPr lang="en-GB" sz="2400" dirty="0"/>
              <a:t>weather station includes </a:t>
            </a:r>
            <a:r>
              <a:rPr lang="en-GB" sz="2400" b="1" dirty="0">
                <a:solidFill>
                  <a:srgbClr val="C00000"/>
                </a:solidFill>
              </a:rPr>
              <a:t>a number of instruments </a:t>
            </a:r>
            <a:r>
              <a:rPr lang="en-GB" sz="2400" dirty="0"/>
              <a:t>that measure weather parameters such as the wind speed and direction, the ground and air temperatures, the barometric pressure and the rainfall over a 24-hour period</a:t>
            </a:r>
            <a:r>
              <a:rPr lang="en-GB" sz="2400"/>
              <a:t>. </a:t>
            </a:r>
          </a:p>
          <a:p>
            <a:pPr algn="just">
              <a:lnSpc>
                <a:spcPct val="90000"/>
              </a:lnSpc>
            </a:pPr>
            <a:r>
              <a:rPr lang="en-GB" sz="2400"/>
              <a:t>Each </a:t>
            </a:r>
            <a:r>
              <a:rPr lang="en-GB" sz="2400" dirty="0"/>
              <a:t>of these instruments is controlled by a software system that takes parameter readings periodically and manages the data collected from the instruments.  </a:t>
            </a:r>
          </a:p>
          <a:p>
            <a:pPr algn="just">
              <a:lnSpc>
                <a:spcPct val="90000"/>
              </a:lnSpc>
            </a:pPr>
            <a:endParaRPr lang="en-GB" sz="2400" dirty="0"/>
          </a:p>
          <a:p>
            <a:pPr algn="just">
              <a:lnSpc>
                <a:spcPct val="90000"/>
              </a:lnSpc>
            </a:pPr>
            <a:endParaRPr lang="en-US" sz="2400" dirty="0"/>
          </a:p>
          <a:p>
            <a:pPr marL="0" indent="0" algn="just">
              <a:buNone/>
            </a:pPr>
            <a:endParaRPr lang="en-MY" sz="2400"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11</a:t>
            </a:fld>
            <a:endParaRPr lang="en-US"/>
          </a:p>
        </p:txBody>
      </p:sp>
    </p:spTree>
    <p:extLst>
      <p:ext uri="{BB962C8B-B14F-4D97-AF65-F5344CB8AC3E}">
        <p14:creationId xmlns:p14="http://schemas.microsoft.com/office/powerpoint/2010/main" val="89531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Weather Station’s Environment </a:t>
            </a:r>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12</a:t>
            </a:fld>
            <a:endParaRPr lang="en-US"/>
          </a:p>
        </p:txBody>
      </p:sp>
      <p:pic>
        <p:nvPicPr>
          <p:cNvPr id="7" name="Picture 3" descr="1.7 WeatherStationEnv.eps"/>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0" y="3679478"/>
            <a:ext cx="4735288"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3"/>
          <a:stretch>
            <a:fillRect/>
          </a:stretch>
        </p:blipFill>
        <p:spPr>
          <a:xfrm>
            <a:off x="362857" y="1742445"/>
            <a:ext cx="3048000" cy="2276592"/>
          </a:xfrm>
          <a:prstGeom prst="rect">
            <a:avLst/>
          </a:prstGeom>
        </p:spPr>
      </p:pic>
      <p:sp>
        <p:nvSpPr>
          <p:cNvPr id="9" name="Left-Up Arrow 8"/>
          <p:cNvSpPr/>
          <p:nvPr/>
        </p:nvSpPr>
        <p:spPr>
          <a:xfrm flipV="1">
            <a:off x="3704771" y="2075935"/>
            <a:ext cx="1600200" cy="1295401"/>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4244702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Weather Information System</a:t>
            </a:r>
            <a:endParaRPr lang="en-MY" dirty="0"/>
          </a:p>
        </p:txBody>
      </p:sp>
      <p:sp>
        <p:nvSpPr>
          <p:cNvPr id="3" name="Content Placeholder 2"/>
          <p:cNvSpPr>
            <a:spLocks noGrp="1"/>
          </p:cNvSpPr>
          <p:nvPr>
            <p:ph idx="1"/>
          </p:nvPr>
        </p:nvSpPr>
        <p:spPr/>
        <p:txBody>
          <a:bodyPr>
            <a:normAutofit/>
          </a:bodyPr>
          <a:lstStyle/>
          <a:p>
            <a:pPr algn="just"/>
            <a:r>
              <a:rPr lang="en-GB" sz="2200" dirty="0"/>
              <a:t>The weather station system</a:t>
            </a:r>
          </a:p>
          <a:p>
            <a:pPr lvl="1" algn="just"/>
            <a:r>
              <a:rPr lang="en-GB" sz="2200" dirty="0"/>
              <a:t>This is responsible for collecting weather data, carrying out some initial data processing and transmitting it to the data management system.</a:t>
            </a:r>
          </a:p>
          <a:p>
            <a:pPr algn="just"/>
            <a:r>
              <a:rPr lang="en-GB" sz="2200" dirty="0"/>
              <a:t>The data management and archiving system</a:t>
            </a:r>
          </a:p>
          <a:p>
            <a:pPr lvl="1" algn="just"/>
            <a:r>
              <a:rPr lang="en-GB" sz="2200" dirty="0"/>
              <a:t>This system collects the data from all of the wilderness weather stations, carries out data processing and analysis and archives the data.</a:t>
            </a:r>
          </a:p>
          <a:p>
            <a:pPr algn="just"/>
            <a:r>
              <a:rPr lang="en-GB" sz="2200" dirty="0"/>
              <a:t>The station maintenance system</a:t>
            </a:r>
          </a:p>
          <a:p>
            <a:pPr lvl="1" algn="just"/>
            <a:r>
              <a:rPr lang="en-GB" sz="2200" dirty="0"/>
              <a:t>This system can communicate by satellite with all wilderness weather stations to monitor the health of these systems and provide reports of problems.</a:t>
            </a:r>
            <a:endParaRPr lang="en-US" sz="2200" dirty="0"/>
          </a:p>
          <a:p>
            <a:pPr marL="0" indent="0" algn="just">
              <a:buNone/>
            </a:pPr>
            <a:endParaRPr lang="en-MY" sz="2200"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13</a:t>
            </a:fld>
            <a:endParaRPr lang="en-US"/>
          </a:p>
        </p:txBody>
      </p:sp>
    </p:spTree>
    <p:extLst>
      <p:ext uri="{BB962C8B-B14F-4D97-AF65-F5344CB8AC3E}">
        <p14:creationId xmlns:p14="http://schemas.microsoft.com/office/powerpoint/2010/main" val="3576844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Additional Software Functionality</a:t>
            </a:r>
            <a:endParaRPr lang="en-MY" dirty="0"/>
          </a:p>
        </p:txBody>
      </p:sp>
      <p:sp>
        <p:nvSpPr>
          <p:cNvPr id="3" name="Content Placeholder 2"/>
          <p:cNvSpPr>
            <a:spLocks noGrp="1"/>
          </p:cNvSpPr>
          <p:nvPr>
            <p:ph idx="1"/>
          </p:nvPr>
        </p:nvSpPr>
        <p:spPr>
          <a:xfrm>
            <a:off x="491067" y="1600200"/>
            <a:ext cx="8229600" cy="4351868"/>
          </a:xfrm>
        </p:spPr>
        <p:txBody>
          <a:bodyPr>
            <a:noAutofit/>
          </a:bodyPr>
          <a:lstStyle/>
          <a:p>
            <a:pPr algn="just">
              <a:lnSpc>
                <a:spcPct val="80000"/>
              </a:lnSpc>
            </a:pPr>
            <a:r>
              <a:rPr lang="en-GB" sz="2800" dirty="0"/>
              <a:t>Monitor the instruments, power and communication hardware and report faults to the management system.</a:t>
            </a:r>
          </a:p>
          <a:p>
            <a:pPr algn="just">
              <a:lnSpc>
                <a:spcPct val="80000"/>
              </a:lnSpc>
            </a:pPr>
            <a:r>
              <a:rPr lang="en-GB" sz="2800"/>
              <a:t>Manage </a:t>
            </a:r>
            <a:r>
              <a:rPr lang="en-GB" sz="2800" dirty="0"/>
              <a:t>the system power, ensuring that batteries are charged whenever the environmental conditions permit but also that generators are shut down in potentially damaging weather conditions, such as high wind.</a:t>
            </a:r>
          </a:p>
          <a:p>
            <a:pPr algn="just">
              <a:lnSpc>
                <a:spcPct val="80000"/>
              </a:lnSpc>
            </a:pPr>
            <a:r>
              <a:rPr lang="en-GB" sz="2800"/>
              <a:t>Support </a:t>
            </a:r>
            <a:r>
              <a:rPr lang="en-GB" sz="2800" dirty="0"/>
              <a:t>dynamic reconfiguration where parts of the software are replaced with new versions and where backup instruments are switched into the system in the event of system failure.</a:t>
            </a:r>
          </a:p>
          <a:p>
            <a:pPr algn="just">
              <a:lnSpc>
                <a:spcPct val="80000"/>
              </a:lnSpc>
            </a:pPr>
            <a:endParaRPr lang="en-US" sz="2800" dirty="0"/>
          </a:p>
          <a:p>
            <a:pPr marL="0" indent="0" algn="just">
              <a:buNone/>
            </a:pPr>
            <a:endParaRPr lang="en-MY" sz="2800"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14</a:t>
            </a:fld>
            <a:endParaRPr lang="en-US"/>
          </a:p>
        </p:txBody>
      </p:sp>
    </p:spTree>
    <p:extLst>
      <p:ext uri="{BB962C8B-B14F-4D97-AF65-F5344CB8AC3E}">
        <p14:creationId xmlns:p14="http://schemas.microsoft.com/office/powerpoint/2010/main" val="2505949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Examples of System Interface</a:t>
            </a:r>
          </a:p>
        </p:txBody>
      </p:sp>
      <p:pic>
        <p:nvPicPr>
          <p:cNvPr id="7" name="Content Placeholder 6"/>
          <p:cNvPicPr>
            <a:picLocks noGrp="1" noChangeAspect="1"/>
          </p:cNvPicPr>
          <p:nvPr>
            <p:ph idx="1"/>
          </p:nvPr>
        </p:nvPicPr>
        <p:blipFill>
          <a:blip r:embed="rId2"/>
          <a:stretch>
            <a:fillRect/>
          </a:stretch>
        </p:blipFill>
        <p:spPr>
          <a:xfrm>
            <a:off x="5519057" y="3810000"/>
            <a:ext cx="3400425" cy="2409825"/>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15</a:t>
            </a:fld>
            <a:endParaRPr lang="en-US"/>
          </a:p>
        </p:txBody>
      </p:sp>
      <p:pic>
        <p:nvPicPr>
          <p:cNvPr id="8" name="Picture 7"/>
          <p:cNvPicPr>
            <a:picLocks noChangeAspect="1"/>
          </p:cNvPicPr>
          <p:nvPr/>
        </p:nvPicPr>
        <p:blipFill>
          <a:blip r:embed="rId3"/>
          <a:stretch>
            <a:fillRect/>
          </a:stretch>
        </p:blipFill>
        <p:spPr>
          <a:xfrm>
            <a:off x="228600" y="1550329"/>
            <a:ext cx="5257800" cy="3555756"/>
          </a:xfrm>
          <a:prstGeom prst="rect">
            <a:avLst/>
          </a:prstGeom>
        </p:spPr>
      </p:pic>
    </p:spTree>
    <p:extLst>
      <p:ext uri="{BB962C8B-B14F-4D97-AF65-F5344CB8AC3E}">
        <p14:creationId xmlns:p14="http://schemas.microsoft.com/office/powerpoint/2010/main" val="35162977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1595</TotalTime>
  <Words>866</Words>
  <Application>Microsoft Office PowerPoint</Application>
  <PresentationFormat>On-screen Show (4:3)</PresentationFormat>
  <Paragraphs>102</Paragraphs>
  <Slides>15</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15</vt:i4>
      </vt:variant>
    </vt:vector>
  </HeadingPairs>
  <TitlesOfParts>
    <vt:vector size="20" baseType="lpstr">
      <vt:lpstr>Arial</vt:lpstr>
      <vt:lpstr>Baskerville Old Face</vt:lpstr>
      <vt:lpstr>Calibri</vt:lpstr>
      <vt:lpstr>Office Theme</vt:lpstr>
      <vt:lpstr>Custom Design</vt:lpstr>
      <vt:lpstr>Software Engineering Case Studies</vt:lpstr>
      <vt:lpstr>Case Studies</vt:lpstr>
      <vt:lpstr>Mental health care patient management system (MHC-PMS)</vt:lpstr>
      <vt:lpstr>Mental Health Care Patient Management System (MHC-PMS)</vt:lpstr>
      <vt:lpstr>MHC-PMS</vt:lpstr>
      <vt:lpstr>MHC-PMS Goals</vt:lpstr>
      <vt:lpstr>The Organization of the MHC-PMS </vt:lpstr>
      <vt:lpstr>MHC-PMS Key Features</vt:lpstr>
      <vt:lpstr>MHC-PMS Concerns</vt:lpstr>
      <vt:lpstr>Wilderness weather station</vt:lpstr>
      <vt:lpstr>Wilderness Weather Station</vt:lpstr>
      <vt:lpstr>The Weather Station’s Environment </vt:lpstr>
      <vt:lpstr>Weather Information System</vt:lpstr>
      <vt:lpstr>Additional Software Functionality</vt:lpstr>
      <vt:lpstr>Examples of System Interface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Referee</dc:creator>
  <cp:lastModifiedBy>iCARE LENOVO</cp:lastModifiedBy>
  <cp:revision>167</cp:revision>
  <dcterms:created xsi:type="dcterms:W3CDTF">2012-07-30T02:22:03Z</dcterms:created>
  <dcterms:modified xsi:type="dcterms:W3CDTF">2020-02-07T04:54:17Z</dcterms:modified>
</cp:coreProperties>
</file>